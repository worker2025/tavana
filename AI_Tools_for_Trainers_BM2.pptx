
<file path=[Content_Types].xml><?xml version="1.0" encoding="utf-8"?>
<Types xmlns="http://schemas.openxmlformats.org/package/2006/content-types">
  <Default Extension="jpeg" ContentType="image/jpeg"/>
  <Default Extension="mp3" ContentType="audio/mpeg"/>
  <Default Extension="mp4" ContentType="video/mp4"/>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xml" ContentType="application/vnd.openxmlformats-officedocument.presentationml.notesSlide+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5" r:id="rId1"/>
  </p:sldMasterIdLst>
  <p:notesMasterIdLst>
    <p:notesMasterId r:id="rId65"/>
  </p:notesMasterIdLst>
  <p:sldIdLst>
    <p:sldId id="487" r:id="rId2"/>
    <p:sldId id="488" r:id="rId3"/>
    <p:sldId id="490" r:id="rId4"/>
    <p:sldId id="492" r:id="rId5"/>
    <p:sldId id="540" r:id="rId6"/>
    <p:sldId id="541" r:id="rId7"/>
    <p:sldId id="539" r:id="rId8"/>
    <p:sldId id="426" r:id="rId9"/>
    <p:sldId id="424" r:id="rId10"/>
    <p:sldId id="425" r:id="rId11"/>
    <p:sldId id="547" r:id="rId12"/>
    <p:sldId id="528" r:id="rId13"/>
    <p:sldId id="538" r:id="rId14"/>
    <p:sldId id="493" r:id="rId15"/>
    <p:sldId id="494" r:id="rId16"/>
    <p:sldId id="496" r:id="rId17"/>
    <p:sldId id="291" r:id="rId18"/>
    <p:sldId id="543" r:id="rId19"/>
    <p:sldId id="544" r:id="rId20"/>
    <p:sldId id="545" r:id="rId21"/>
    <p:sldId id="468" r:id="rId22"/>
    <p:sldId id="464" r:id="rId23"/>
    <p:sldId id="469" r:id="rId24"/>
    <p:sldId id="470" r:id="rId25"/>
    <p:sldId id="473" r:id="rId26"/>
    <p:sldId id="474" r:id="rId27"/>
    <p:sldId id="526" r:id="rId28"/>
    <p:sldId id="527" r:id="rId29"/>
    <p:sldId id="529" r:id="rId30"/>
    <p:sldId id="530" r:id="rId31"/>
    <p:sldId id="548" r:id="rId32"/>
    <p:sldId id="398" r:id="rId33"/>
    <p:sldId id="400" r:id="rId34"/>
    <p:sldId id="404" r:id="rId35"/>
    <p:sldId id="407" r:id="rId36"/>
    <p:sldId id="410" r:id="rId37"/>
    <p:sldId id="411" r:id="rId38"/>
    <p:sldId id="412" r:id="rId39"/>
    <p:sldId id="418" r:id="rId40"/>
    <p:sldId id="415" r:id="rId41"/>
    <p:sldId id="416" r:id="rId42"/>
    <p:sldId id="417" r:id="rId43"/>
    <p:sldId id="419" r:id="rId44"/>
    <p:sldId id="420" r:id="rId45"/>
    <p:sldId id="421" r:id="rId46"/>
    <p:sldId id="550" r:id="rId47"/>
    <p:sldId id="551" r:id="rId48"/>
    <p:sldId id="461" r:id="rId49"/>
    <p:sldId id="552" r:id="rId50"/>
    <p:sldId id="553" r:id="rId51"/>
    <p:sldId id="554" r:id="rId52"/>
    <p:sldId id="555" r:id="rId53"/>
    <p:sldId id="556" r:id="rId54"/>
    <p:sldId id="531" r:id="rId55"/>
    <p:sldId id="557" r:id="rId56"/>
    <p:sldId id="525" r:id="rId57"/>
    <p:sldId id="546" r:id="rId58"/>
    <p:sldId id="534" r:id="rId59"/>
    <p:sldId id="413" r:id="rId60"/>
    <p:sldId id="532" r:id="rId61"/>
    <p:sldId id="405" r:id="rId62"/>
    <p:sldId id="559" r:id="rId63"/>
    <p:sldId id="560"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9850" autoAdjust="0"/>
  </p:normalViewPr>
  <p:slideViewPr>
    <p:cSldViewPr snapToGrid="0" snapToObjects="1">
      <p:cViewPr varScale="1">
        <p:scale>
          <a:sx n="59" d="100"/>
          <a:sy n="59" d="100"/>
        </p:scale>
        <p:origin x="1336" y="48"/>
      </p:cViewPr>
      <p:guideLst>
        <p:guide orient="horz" pos="2160"/>
        <p:guide pos="2880"/>
      </p:guideLst>
    </p:cSldViewPr>
  </p:slideViewPr>
  <p:outlineViewPr>
    <p:cViewPr>
      <p:scale>
        <a:sx n="33" d="100"/>
        <a:sy n="33" d="100"/>
      </p:scale>
      <p:origin x="0" y="-2307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7:35:52.421"/>
    </inkml:context>
    <inkml:brush xml:id="br0">
      <inkml:brushProperty name="width" value="0.035" units="cm"/>
      <inkml:brushProperty name="height" value="0.035" units="cm"/>
      <inkml:brushProperty name="color" value="#E71224"/>
    </inkml:brush>
  </inkml:definitions>
  <inkml:trace contextRef="#ctx0" brushRef="#br0">1 1 24575,'10'54'0,"3"29"0,0 9 0,-3-10-8191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7:35:58.156"/>
    </inkml:context>
    <inkml:brush xml:id="br0">
      <inkml:brushProperty name="width" value="0.035" units="cm"/>
      <inkml:brushProperty name="height" value="0.035" units="cm"/>
      <inkml:brushProperty name="color" value="#E71224"/>
    </inkml:brush>
  </inkml:definitions>
  <inkml:trace contextRef="#ctx0" brushRef="#br0">14 194 24575,'-1'0'0,"1"0"0,-1 0 0,1 0 0,-1 0 0,1 0 0,0 0 0,-1 0 0,1 0 0,-1 0 0,1 0 0,-1 0 0,1 0 0,0 0 0,-1 0 0,1 0 0,-1 0 0,1-1 0,-1 1 0,1 0 0,0 0 0,-1 0 0,1-1 0,0 1 0,-1 0 0,1-1 0,0 1 0,-1 0 0,1-1 0,0 1 0,0 0 0,-1-1 0,1 1 0,0 0 0,0-1 0,0 1 0,0-1 0,0 1 0,-1-1 0,1 0 0,10-18 0,23-14 0,5 5 0,-20 13 0,1 1 0,0 1 0,1 1 0,0 0 0,1 2 0,0 0 0,28-8 0,-42 18 0,1-1 0,-1 1 0,1 1 0,-1 0 0,1 0 0,-1 0 0,1 1 0,-1 0 0,0 0 0,0 1 0,0 0 0,0 0 0,-1 1 0,1-1 0,-1 1 0,0 1 0,11 9 0,0 1 0,0 1 0,-1 1 0,-1 1 0,21 29 0,-30-36 0,0 0 0,-1 0 0,0 0 0,0 1 0,-2 0 0,1 0 0,-2 0 0,1 1 0,-2-1 0,0 0 0,0 1 0,-1-1 0,0 1 0,-1-1 0,-1 1 0,0-1 0,-1 0 0,0 0 0,0 0 0,-2 0 0,1-1 0,-2 1 0,1-1 0,-2 0 0,1-1 0,-1 1 0,-1-2 0,0 1 0,0-1 0,-1 0 0,-11 9 0,-105 65 0,125-83 0,0 1 0,-1-1 0,1 0 0,0 0 0,0 0 0,0 0 0,-1 1 0,1-1 0,0 0 0,0 0 0,0 0 0,0 1 0,0-1 0,0 0 0,-1 0 0,1 0 0,0 1 0,0-1 0,0 0 0,0 0 0,0 1 0,0-1 0,0 0 0,0 0 0,0 1 0,0-1 0,0 0 0,0 0 0,0 1 0,0-1 0,0 0 0,0 0 0,1 0 0,-1 1 0,0-1 0,0 0 0,0 0 0,0 0 0,0 1 0,0-1 0,1 0 0,-1 0 0,0 0 0,0 0 0,1 1 0,15 7 0,29 1 0,-39-7 0,54 10-74,113 18-1217,-143-28-5535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7:36:01.492"/>
    </inkml:context>
    <inkml:brush xml:id="br0">
      <inkml:brushProperty name="width" value="0.035" units="cm"/>
      <inkml:brushProperty name="height" value="0.035" units="cm"/>
      <inkml:brushProperty name="color" value="#E71224"/>
    </inkml:brush>
  </inkml:definitions>
  <inkml:trace contextRef="#ctx0" brushRef="#br0">0 0 24575,'9'3'0,"-1"-1"0,-1 1 0,1 0 0,0 1 0,-1 0 0,0 0 0,0 0 0,12 10 0,-6-5 0,6 4 0,0-1 0,1 0 0,1-2 0,0 0 0,1-2 0,-1 0 0,1-2 0,1 0 0,-1-1 0,1-1 0,0-2 0,36 1 0,-40-2 0,-1 1 0,1 1 0,-1 1 0,0 0 0,20 9 0,-15-5 0,1-2 0,27 5 0,314 24 0,-328-30 0,0 1 0,38 13 0,38 6 0,-63-17 0,11 2 0,105 4 0,-138-14 0,-3 1 0,-1-1 0,0 0 0,1-2 0,-1-1 0,0-1 0,40-13 0,30-17 0,-38 15 0,-1-3 0,60-32 0,-100 45-195,0 0 0,-1-1 0,0 0 0,0-1 0,-1 0 0,21-25 0,-15 9-6631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7:36:04.492"/>
    </inkml:context>
    <inkml:brush xml:id="br0">
      <inkml:brushProperty name="width" value="0.035" units="cm"/>
      <inkml:brushProperty name="height" value="0.035" units="cm"/>
      <inkml:brushProperty name="color" value="#E71224"/>
    </inkml:brush>
  </inkml:definitions>
  <inkml:trace contextRef="#ctx0" brushRef="#br0">0 107 24575,'1'-1'0,"-1"0"0,1 1 0,-1-1 0,0 0 0,1 0 0,0 0 0,-1 0 0,1 1 0,-1-1 0,1 0 0,0 1 0,0-1 0,-1 0 0,1 1 0,0-1 0,0 1 0,0-1 0,-1 1 0,1-1 0,0 1 0,0 0 0,0-1 0,0 1 0,2 0 0,27-7 0,-27 7 0,147-31 0,30-5 0,-142 28 0,-31 6 0,1 0 0,-1 0 0,0 1 0,1 0 0,-1 0 0,15 1 0,-22 0 0,0 0 0,1 0 0,-1 0 0,0 1 0,1-1 0,-1 0 0,0 0 0,1 0 0,-1 1 0,0-1 0,0 0 0,1 0 0,-1 1 0,0-1 0,0 0 0,0 1 0,1-1 0,-1 0 0,0 1 0,0-1 0,0 0 0,0 1 0,0-1 0,0 0 0,0 1 0,1-1 0,-1 0 0,0 1 0,0-1 0,0 0 0,0 1 0,-1-1 0,1 0 0,0 1 0,0-1 0,0 0 0,0 1 0,0-1 0,0 0 0,0 1 0,-1-1 0,1 0 0,0 1 0,0-1 0,-1 0 0,1 0 0,0 1 0,0-1 0,-1 0 0,1 0 0,0 1 0,-1-1 0,-15 20 0,14-19 0,-84 79 0,57-55 0,2 0 0,-31 36 0,57-59 0,-1-1 0,1 1 0,0 0 0,0-1 0,0 1 0,0 0 0,0-1 0,1 1 0,-1 0 0,0 0 0,1 0 0,-1 0 0,1-1 0,0 1 0,-1 3 0,2-4 0,-1 1 0,0-1 0,1 0 0,-1 0 0,0 0 0,1 0 0,-1 0 0,1 0 0,0 0 0,-1 0 0,1 0 0,0-1 0,0 1 0,-1 0 0,1 0 0,0-1 0,0 1 0,0 0 0,0-1 0,1 1 0,7 3 0,0-1 0,0 0 0,1 0 0,-1-1 0,14 1 0,20 6 0,-35-5 0,0 0 0,0 0 0,0 1 0,0 0 0,-1 0 0,0 1 0,0 0 0,0 0 0,-1 1 0,0 0 0,0 0 0,6 10 0,-9-13 0,0 0 0,-1 1 0,1 0 0,-1 0 0,0-1 0,-1 1 0,1 0 0,-1 1 0,0-1 0,0 0 0,0 0 0,-1 0 0,0 1 0,0-1 0,0 0 0,0 1 0,-1-1 0,0 0 0,0 0 0,-1 0 0,1 0 0,-5 9 0,3-9 5,-1 0-1,0 0 1,0-1-1,0 1 1,-1-1-1,1 0 1,-1 0-1,0 0 1,0-1 0,-1 1-1,1-1 1,-1-1-1,1 1 1,-1-1-1,0 0 1,0 0-1,0-1 1,0 1-1,-8-1 1,-15 2-265,0-1 1,-54-3 0,57-1-419,-12 1-6148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7:36:06.216"/>
    </inkml:context>
    <inkml:brush xml:id="br0">
      <inkml:brushProperty name="width" value="0.035" units="cm"/>
      <inkml:brushProperty name="height" value="0.035" units="cm"/>
      <inkml:brushProperty name="color" value="#E71224"/>
    </inkml:brush>
  </inkml:definitions>
  <inkml:trace contextRef="#ctx0" brushRef="#br0">395 13 24575,'1'-1'0,"0"0"0,0 0 0,0 0 0,0 0 0,0 0 0,0 0 0,0 1 0,0-1 0,0 0 0,0 1 0,0-1 0,0 1 0,0-1 0,1 1 0,-1 0 0,0-1 0,0 1 0,2 0 0,-2 0 0,-1 0 0,1 0 0,-1 1 0,1-1 0,0 0 0,-1 1 0,1-1 0,-1 0 0,1 1 0,-1-1 0,1 1 0,-1-1 0,1 1 0,-1-1 0,0 1 0,1-1 0,-1 1 0,0-1 0,1 1 0,-1 0 0,0-1 0,0 1 0,1-1 0,-1 2 0,1 2 0,-1 0 0,1 0 0,-1 0 0,0 0 0,0-1 0,0 1 0,0 0 0,-1 0 0,0 0 0,-1 4 0,-5 9 0,-2 0 0,0-1 0,-1 0 0,-1 0 0,-1-1 0,0 0 0,-21 19 0,-14 20 0,-173 173 0,193-202 0,24-22 0,0-1 0,1 1 0,-1 0 0,1-1 0,-1 1 0,1 1 0,0-1 0,0 0 0,0 0 0,0 1 0,-1 4 0,3-8 0,0 1 0,0-1 0,0 1 0,0 0 0,0-1 0,0 1 0,0-1 0,1 1 0,-1 0 0,0-1 0,0 1 0,0-1 0,1 1 0,-1-1 0,0 1 0,0-1 0,1 1 0,-1-1 0,0 1 0,1-1 0,-1 1 0,1-1 0,-1 0 0,1 1 0,-1-1 0,1 1 0,28 5 0,168-8 0,-61-2 0,-120 3 0,-1-1 0,0 0 0,0-1 0,0-1 0,0-1 0,16-7 0,-14 6 0,0 0 0,1 0 0,-1 2 0,23-3 0,94 5-281,-104 3-803,1-1-5742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9T07:36:07.111"/>
    </inkml:context>
    <inkml:brush xml:id="br0">
      <inkml:brushProperty name="width" value="0.035" units="cm"/>
      <inkml:brushProperty name="height" value="0.035" units="cm"/>
      <inkml:brushProperty name="color" value="#E71224"/>
    </inkml:brush>
  </inkml:definitions>
  <inkml:trace contextRef="#ctx0" brushRef="#br0">32 1 24575,'2'123'0,"-5"138"0,-11-155 0,7-61 0,-2 65 0,8-82-1365,2-2-5461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2:55:17.697"/>
    </inkml:context>
    <inkml:brush xml:id="br0">
      <inkml:brushProperty name="width" value="0.035" units="cm"/>
      <inkml:brushProperty name="height" value="0.035" units="cm"/>
      <inkml:brushProperty name="color" value="#E71224"/>
    </inkml:brush>
  </inkml:definitions>
  <inkml:trace contextRef="#ctx0" brushRef="#br0">0 1236 24575,'713'-559'0,"-689"542"0,0 0 0,2 2 0,0 1 0,1 1 0,0 1 0,40-12 0,491-123 0,-172 63 98,1220-188-9013,-1183 226 7658,-299 34 794,229 9 0,-328 5 439,1 0 1,0 2-1,-1 1 1,0 1 0,38 15-1,9 16 3904,27 12 1404,55 9-3307,113 11-1977,-166-54 0,-68-11 0,0 1 0,46 13 0,18 9 0,141 21 0,-202-40 0,65 23 0,-72-21 0,0-1 0,0-1 0,56 7 0,-54-11 0,0 1 0,0 1 0,0 2 0,0 2 0,-2 0 0,56 28 0,-35-10 0,0 2 0,86 69 0,-27 5 0,-75-69 0,61 50 0,-8-22 0,79 64 0,-120-85 0,-3 3 0,68 88 0,-3-2 0,57 40 0,-83-89 0,128 164 0,-146-156 0,3-2 0,5-4 0,163 149 0,-82-84 0,-124-116 0,2-1 0,1-1 0,1-2 0,2-1 0,65 39 0,3-12-1365,-79-38-5461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2:55:20.009"/>
    </inkml:context>
    <inkml:brush xml:id="br0">
      <inkml:brushProperty name="width" value="0.035" units="cm"/>
      <inkml:brushProperty name="height" value="0.035" units="cm"/>
      <inkml:brushProperty name="color" value="#E71224"/>
    </inkml:brush>
  </inkml:definitions>
  <inkml:trace contextRef="#ctx0" brushRef="#br0">31 348 24575,'-3'4'0,"0"0"0,0 0 0,0 0 0,0 0 0,1 0 0,0 1 0,0-1 0,0 1 0,0 0 0,1-1 0,-1 1 0,1 0 0,1 0 0,-1 0 0,1 0 0,0 0 0,0 0 0,0 0 0,0-1 0,1 1 0,0 0 0,0 0 0,0 0 0,4 8 0,-2-6 0,0-1 0,0 0 0,1 0 0,-1 0 0,1 0 0,0 0 0,1-1 0,0 0 0,-1 0 0,2 0 0,-1-1 0,0 1 0,1-1 0,0 0 0,0-1 0,12 6 0,33 8 0,-36-13 0,0 0 0,0 1 0,-1 1 0,0 1 0,0 0 0,0 1 0,19 14 0,8 17 0,25 19 0,-61-54 0,0-1 0,0 1 0,0-1 0,1 0 0,0-1 0,-1 1 0,1-1 0,0 0 0,0-1 0,12 3 0,-16-4 0,0 0 0,1-1 0,-1 1 0,0 0 0,0-1 0,1 0 0,-1 1 0,0-1 0,0 0 0,0 0 0,0 0 0,0 0 0,0-1 0,0 1 0,0 0 0,-1-1 0,1 1 0,0-1 0,-1 0 0,1 1 0,-1-1 0,0 0 0,1 0 0,-1 0 0,1-4 0,3-5 0,0 0 0,-2 0 0,5-20 0,-7 28 0,11-69 0,-4-1 0,-3 0 0,-8-143 0,0 61 0,3 113-1365,0 2-5461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2:55:26.609"/>
    </inkml:context>
    <inkml:brush xml:id="br0">
      <inkml:brushProperty name="width" value="0.035" units="cm"/>
      <inkml:brushProperty name="height" value="0.035" units="cm"/>
      <inkml:brushProperty name="color" value="#E71224"/>
    </inkml:brush>
  </inkml:definitions>
  <inkml:trace contextRef="#ctx0" brushRef="#br0">0 0 24575,'23'1'0,"-1"0"0,0 2 0,1 0 0,-2 1 0,1 2 0,0 0 0,-1 1 0,23 12 0,-1 0 0,-1-2 0,2-1 0,0-3 0,1-1 0,0-3 0,74 6 0,-10-1 0,-31-3 0,85 1 0,976-14 0,-1124 2 9,0-1 1,1-1-1,-1 0 0,0-1 0,-1-1 0,1 0 0,-1-1 1,16-7-1,6-7-336,56-39 1,-56 35-469,0 0-6031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2:55:29.395"/>
    </inkml:context>
    <inkml:brush xml:id="br0">
      <inkml:brushProperty name="width" value="0.035" units="cm"/>
      <inkml:brushProperty name="height" value="0.035" units="cm"/>
      <inkml:brushProperty name="color" value="#E71224"/>
    </inkml:brush>
  </inkml:definitions>
  <inkml:trace contextRef="#ctx0" brushRef="#br0">0 0 24575,'1'1'0,"1"-1"0,-1 0 0,0 1 0,1-1 0,-1 1 0,0 0 0,0-1 0,0 1 0,0 0 0,1 0 0,-1-1 0,0 1 0,0 0 0,-1 0 0,1 0 0,0 0 0,0 1 0,0-1 0,-1 0 0,1 0 0,0 0 0,-1 1 0,1-1 0,-1 0 0,0 0 0,1 1 0,-1 1 0,8 41 0,-8-41 0,7 384 0,-10-215 0,3 4-1365,0-138-5461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0T12:55:30.689"/>
    </inkml:context>
    <inkml:brush xml:id="br0">
      <inkml:brushProperty name="width" value="0.035" units="cm"/>
      <inkml:brushProperty name="height" value="0.035" units="cm"/>
      <inkml:brushProperty name="color" value="#E71224"/>
    </inkml:brush>
  </inkml:definitions>
  <inkml:trace contextRef="#ctx0" brushRef="#br0">25 332 24575,'-2'1'0,"1"-1"0,0 0 0,0 0 0,0 0 0,0 1 0,0-1 0,0 1 0,0-1 0,0 1 0,0-1 0,0 1 0,0 0 0,0-1 0,0 1 0,0 0 0,0 0 0,1-1 0,-1 1 0,0 0 0,1 0 0,-1 0 0,0 0 0,1 0 0,-1 0 0,1 0 0,0 0 0,-1 0 0,1 1 0,0-1 0,0 0 0,0 0 0,-1 0 0,1 0 0,0 0 0,0 1 0,1-1 0,-1 0 0,0 0 0,1 1 0,9 47 0,-1-29 0,1 1 0,0-1 0,2 0 0,1-1 0,0-1 0,1 0 0,1-1 0,0 0 0,2-1 0,18 14 0,-32-28 0,0 1 0,0-1 0,0 0 0,1 0 0,-1-1 0,1 1 0,-1-1 0,1 1 0,0-1 0,-1 0 0,1-1 0,0 1 0,0 0 0,-1-1 0,1 0 0,0 0 0,0 0 0,0-1 0,0 1 0,-1-1 0,1 0 0,0 0 0,-1 0 0,1-1 0,-1 1 0,1-1 0,-1 0 0,1 0 0,-1 0 0,5-4 0,6-7 0,-1-1 0,0 0 0,-1-1 0,0 0 0,10-20 0,9-10 0,146-179 0,-137 176-89,2 3-1,54-45 1,-53 50-1008,-9 8-5729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30T15:14:14.427"/>
    </inkml:context>
    <inkml:brush xml:id="br0">
      <inkml:brushProperty name="width" value="0.035" units="cm"/>
      <inkml:brushProperty name="height" value="0.035" units="cm"/>
      <inkml:brushProperty name="color" value="#E71224"/>
    </inkml:brush>
  </inkml:definitions>
  <inkml:trace contextRef="#ctx0" brushRef="#br0">0 531 24575,'11'6'0,"105"58"0,-97-55 0,0 0 0,1-3 0,1 0 0,30 6 0,-5-5 0,-18-5 0,-1 3 0,-1 0 0,1 2 0,26 9 0,-30-7 0,0 0 0,1-3 0,1 0 0,-1-1 0,43 3 0,128-7 0,-102-3 0,1396 2 0,-1454-2 0,59-11 0,-56 7 0,43-1 0,63 8 0,63-2 0,-195-1 0,1-1 0,0 0 0,0-1 0,-1-1 0,0 0 0,23-12 0,-19 9 0,-1 0 0,2 1 0,18-5 0,-9 7 0,-2 2 0,2 0 0,33 2 0,-30 1 0,-1-1 0,39-7 0,2-3 0,0 4 0,1 4 0,87 5 0,-35 0 0,567-2 0,-670 2 0,-1 0 0,0 1 0,0 1 0,1 0 0,21 9 0,-19-6 0,1 0 0,-1-2 0,32 4 0,-16-6 0,18 1 0,1 2 0,79 20 0,-105-20 0,-1 0 0,1-2 0,37 1 0,93-6 0,-56-2 0,-80 2 0,2 0 0,-1-2 0,-1-2 0,1 0 0,27-10 0,0-4 0,63-31 0,-99 42 0,-1 0 0,0-1 0,-1 0 0,0-1 0,0-1 0,15-14 0,-25 21 0,-1 1 0,0-1 0,0 0 0,0 0 0,0 0 0,-1 0 0,0-1 0,1 1 0,-1 0 0,-1-1 0,1 0 0,-1 1 0,0-1 0,1 0 0,-2 0 0,0 0 0,1 1 0,-1-2 0,0 2 0,-1-1 0,1 0 0,-1 0 0,0 0 0,0 0 0,-1 1 0,-2-8 0,-2 0 0,0 1 0,0 1 0,-1-1 0,-1 1 0,1 0 0,-14-13 0,-59-45 0,60 54 0,1-2 0,1 0 0,0-1 0,-27-35 0,33 35-120,6 7-18,-1-1-1,0 1 1,-1 0 0,0 0-1,-1 1 1,0 0 0,0 1-1,-15-11 1,6 11-6688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30T15:14:17.140"/>
    </inkml:context>
    <inkml:brush xml:id="br0">
      <inkml:brushProperty name="width" value="0.035" units="cm"/>
      <inkml:brushProperty name="height" value="0.035" units="cm"/>
      <inkml:brushProperty name="color" value="#E71224"/>
    </inkml:brush>
  </inkml:definitions>
  <inkml:trace contextRef="#ctx0" brushRef="#br0">85 478 24575,'-4'0'0,"0"0"0,1-2 0,0 1 0,-1 1 0,0-2 0,1 1 0,0-1 0,-1 1 0,1-1 0,0 0 0,0 0 0,0-1 0,1 1 0,-1 0 0,1-1 0,-1 1 0,1-1 0,-1 0 0,2 0 0,-1 0 0,0 0 0,0 0 0,0-1 0,2 1 0,-3-6 0,0 2 0,0 0 0,1 0 0,1-1 0,-1 1 0,1 0 0,0 0 0,0-1 0,1 1 0,0-1 0,1 1 0,2-14 0,0 13 0,0 0 0,1 0 0,0-1 0,1 2 0,-1-1 0,1 0 0,1 1 0,0 1 0,8-9 0,11-9 0,29-21 0,-53 44 0,25-17 0,2 1 0,0 1 0,43-17 0,8-5 0,-66 32-195,2-1 0,-1 2 0,1 0 0,-1 1 0,1 0 0,24-2 0,-10 3-6631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CC021-82BA-43DA-A0A8-A1CC0DD45FF8}" type="datetimeFigureOut">
              <a:rPr lang="fa-IR" smtClean="0"/>
              <a:t>23/03/1447</a:t>
            </a:fld>
            <a:endParaRPr lang="fa-I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556CE7-30CD-4DC5-8601-BE3A1E31B49D}" type="slidenum">
              <a:rPr lang="fa-IR" smtClean="0"/>
              <a:t>‹#›</a:t>
            </a:fld>
            <a:endParaRPr lang="fa-IR"/>
          </a:p>
        </p:txBody>
      </p:sp>
    </p:spTree>
    <p:extLst>
      <p:ext uri="{BB962C8B-B14F-4D97-AF65-F5344CB8AC3E}">
        <p14:creationId xmlns:p14="http://schemas.microsoft.com/office/powerpoint/2010/main" val="1593479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a:p>
        </p:txBody>
      </p:sp>
      <p:sp>
        <p:nvSpPr>
          <p:cNvPr id="4" name="Slide Number Placeholder 3"/>
          <p:cNvSpPr>
            <a:spLocks noGrp="1"/>
          </p:cNvSpPr>
          <p:nvPr>
            <p:ph type="sldNum" sz="quarter" idx="5"/>
          </p:nvPr>
        </p:nvSpPr>
        <p:spPr/>
        <p:txBody>
          <a:bodyPr/>
          <a:lstStyle/>
          <a:p>
            <a:fld id="{45556CE7-30CD-4DC5-8601-BE3A1E31B49D}" type="slidenum">
              <a:rPr lang="fa-IR" smtClean="0"/>
              <a:t>36</a:t>
            </a:fld>
            <a:endParaRPr lang="fa-IR"/>
          </a:p>
        </p:txBody>
      </p:sp>
    </p:spTree>
    <p:extLst>
      <p:ext uri="{BB962C8B-B14F-4D97-AF65-F5344CB8AC3E}">
        <p14:creationId xmlns:p14="http://schemas.microsoft.com/office/powerpoint/2010/main" val="1602892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5012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6138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2804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2491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8046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3603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008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6567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725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461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3465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4308054"/>
      </p:ext>
    </p:extLst>
  </p:cSld>
  <p:clrMap bg1="dk1" tx1="lt1" bg2="dk2" tx2="lt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wav"/><Relationship Id="rId1" Type="http://schemas.microsoft.com/office/2007/relationships/media" Target="../media/media2.wav"/><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wav"/><Relationship Id="rId1" Type="http://schemas.microsoft.com/office/2007/relationships/media" Target="../media/media4.wav"/><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wav"/><Relationship Id="rId1" Type="http://schemas.microsoft.com/office/2007/relationships/media" Target="../media/media5.wav"/><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hyperlink" Target="https://elevenlabs.i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customXml" Target="../ink/ink4.xml"/><Relationship Id="rId18" Type="http://schemas.openxmlformats.org/officeDocument/2006/relationships/image" Target="../media/image93.png"/><Relationship Id="rId3" Type="http://schemas.microsoft.com/office/2007/relationships/media" Target="../media/media7.mp3"/><Relationship Id="rId7" Type="http://schemas.openxmlformats.org/officeDocument/2006/relationships/customXml" Target="../ink/ink1.xml"/><Relationship Id="rId12" Type="http://schemas.openxmlformats.org/officeDocument/2006/relationships/image" Target="../media/image90.png"/><Relationship Id="rId17" Type="http://schemas.openxmlformats.org/officeDocument/2006/relationships/customXml" Target="../ink/ink6.xml"/><Relationship Id="rId2" Type="http://schemas.openxmlformats.org/officeDocument/2006/relationships/audio" Target="../media/media6.mp3"/><Relationship Id="rId16" Type="http://schemas.openxmlformats.org/officeDocument/2006/relationships/image" Target="../media/image92.png"/><Relationship Id="rId20" Type="http://schemas.openxmlformats.org/officeDocument/2006/relationships/image" Target="../media/image3.png"/><Relationship Id="rId1" Type="http://schemas.microsoft.com/office/2007/relationships/media" Target="../media/media6.mp3"/><Relationship Id="rId6" Type="http://schemas.openxmlformats.org/officeDocument/2006/relationships/image" Target="../media/image9.png"/><Relationship Id="rId11" Type="http://schemas.openxmlformats.org/officeDocument/2006/relationships/customXml" Target="../ink/ink3.xml"/><Relationship Id="rId5" Type="http://schemas.openxmlformats.org/officeDocument/2006/relationships/slideLayout" Target="../slideLayouts/slideLayout2.xml"/><Relationship Id="rId15" Type="http://schemas.openxmlformats.org/officeDocument/2006/relationships/customXml" Target="../ink/ink5.xml"/><Relationship Id="rId10" Type="http://schemas.openxmlformats.org/officeDocument/2006/relationships/image" Target="../media/image89.png"/><Relationship Id="rId19" Type="http://schemas.openxmlformats.org/officeDocument/2006/relationships/image" Target="../media/image10.png"/><Relationship Id="rId4" Type="http://schemas.openxmlformats.org/officeDocument/2006/relationships/audio" Target="../media/media7.mp3"/><Relationship Id="rId9" Type="http://schemas.openxmlformats.org/officeDocument/2006/relationships/customXml" Target="../ink/ink2.xml"/><Relationship Id="rId14" Type="http://schemas.openxmlformats.org/officeDocument/2006/relationships/image" Target="../media/image91.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8.mp4"/><Relationship Id="rId1" Type="http://schemas.openxmlformats.org/officeDocument/2006/relationships/video" Target="NULL"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customXml" Target="../ink/ink9.xml"/><Relationship Id="rId13" Type="http://schemas.openxmlformats.org/officeDocument/2006/relationships/image" Target="../media/image85.png"/><Relationship Id="rId3" Type="http://schemas.openxmlformats.org/officeDocument/2006/relationships/image" Target="../media/image15.png"/><Relationship Id="rId7" Type="http://schemas.openxmlformats.org/officeDocument/2006/relationships/image" Target="../media/image82.png"/><Relationship Id="rId12" Type="http://schemas.openxmlformats.org/officeDocument/2006/relationships/customXml" Target="../ink/ink11.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84.png"/><Relationship Id="rId5" Type="http://schemas.openxmlformats.org/officeDocument/2006/relationships/image" Target="../media/image81.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83.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2.xml.rels><?xml version="1.0" encoding="UTF-8" standalone="yes"?>
<Relationships xmlns="http://schemas.openxmlformats.org/package/2006/relationships"><Relationship Id="rId2" Type="http://schemas.openxmlformats.org/officeDocument/2006/relationships/hyperlink" Target="https://runware.ai/blog/introducing-flux1-kontext-instruction-based-image-editing-with-ai?utm_source=chatgpt.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3daily.ai/"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supernormal.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storm.genie.stanford.edu/"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kyreels.ai/"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neurodub.ai/"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camb.ai/"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dubverse.ai/"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x-doc.ai/"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magnific.ai/" TargetMode="External"/><Relationship Id="rId2" Type="http://schemas.openxmlformats.org/officeDocument/2006/relationships/hyperlink" Target="https://replicate.com/tencentarc/gfpgan" TargetMode="External"/><Relationship Id="rId1" Type="http://schemas.openxmlformats.org/officeDocument/2006/relationships/slideLayout" Target="../slideLayouts/slideLayout2.xml"/><Relationship Id="rId4" Type="http://schemas.openxmlformats.org/officeDocument/2006/relationships/hyperlink" Target="https://www.fotor.com/" TargetMode="External"/></Relationships>
</file>

<file path=ppt/slides/_rels/slide44.xml.rels><?xml version="1.0" encoding="UTF-8" standalone="yes"?>
<Relationships xmlns="http://schemas.openxmlformats.org/package/2006/relationships"><Relationship Id="rId2" Type="http://schemas.openxmlformats.org/officeDocument/2006/relationships/hyperlink" Target="https://playground.bfl.ai/"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ai-coustics.com/playground/"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duplichecker.com/free-tools.php"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github.com/Lightricks/ltx-video-distilled"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55.xml.rels><?xml version="1.0" encoding="UTF-8" standalone="yes"?>
<Relationships xmlns="http://schemas.openxmlformats.org/package/2006/relationships"><Relationship Id="rId2" Type="http://schemas.openxmlformats.org/officeDocument/2006/relationships/hyperlink" Target="https://www.studyfetch.com/"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2" Type="http://schemas.openxmlformats.org/officeDocument/2006/relationships/hyperlink" Target="https://supertools.therundown.ai/"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www.tirotir.ir/"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090.png"/><Relationship Id="rId5" Type="http://schemas.openxmlformats.org/officeDocument/2006/relationships/customXml" Target="../ink/ink13.xml"/><Relationship Id="rId4" Type="http://schemas.openxmlformats.org/officeDocument/2006/relationships/image" Target="../media/image208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1019" y="251682"/>
            <a:ext cx="7886700" cy="856106"/>
          </a:xfrm>
        </p:spPr>
        <p:txBody>
          <a:bodyPr/>
          <a:lstStyle/>
          <a:p>
            <a:pPr algn="r" rtl="1">
              <a:defRPr sz="3200">
                <a:latin typeface="Tahoma"/>
              </a:defRPr>
            </a:pPr>
            <a:r>
              <a:rPr b="1">
                <a:cs typeface="Titr" panose="00000700000000000000" pitchFamily="2" charset="-78"/>
              </a:rPr>
              <a:t>شروع سریع با NotebookLM</a:t>
            </a:r>
          </a:p>
        </p:txBody>
      </p:sp>
      <p:sp>
        <p:nvSpPr>
          <p:cNvPr id="3" name="Content Placeholder 2"/>
          <p:cNvSpPr>
            <a:spLocks noGrp="1"/>
          </p:cNvSpPr>
          <p:nvPr>
            <p:ph idx="1"/>
          </p:nvPr>
        </p:nvSpPr>
        <p:spPr>
          <a:xfrm>
            <a:off x="1121019" y="1096146"/>
            <a:ext cx="7886700" cy="4351338"/>
          </a:xfrm>
        </p:spPr>
        <p:txBody>
          <a:bodyPr/>
          <a:lstStyle/>
          <a:p>
            <a:pPr algn="r" rtl="1">
              <a:defRPr sz="2400">
                <a:latin typeface="Tahoma"/>
              </a:defRPr>
            </a:pPr>
            <a:r>
              <a:rPr lang="ar-SA">
                <a:cs typeface="Nazanin" panose="00000400000000000000" pitchFamily="2" charset="-78"/>
              </a:rPr>
              <a:t>و</a:t>
            </a:r>
            <a:r>
              <a:rPr>
                <a:cs typeface="Nazanin" panose="00000400000000000000" pitchFamily="2" charset="-78"/>
              </a:rPr>
              <a:t>رود به notebooklm.google.com </a:t>
            </a:r>
            <a:r>
              <a:rPr lang="fa-IR">
                <a:cs typeface="Nazanin" panose="00000400000000000000" pitchFamily="2" charset="-78"/>
              </a:rPr>
              <a:t> </a:t>
            </a:r>
            <a:r>
              <a:rPr>
                <a:cs typeface="Nazanin" panose="00000400000000000000" pitchFamily="2" charset="-78"/>
              </a:rPr>
              <a:t>با حساب گوگل</a:t>
            </a:r>
          </a:p>
          <a:p>
            <a:pPr algn="r" rtl="1">
              <a:defRPr sz="2400">
                <a:latin typeface="Tahoma"/>
              </a:defRPr>
            </a:pPr>
            <a:r>
              <a:rPr>
                <a:cs typeface="Nazanin" panose="00000400000000000000" pitchFamily="2" charset="-78"/>
              </a:rPr>
              <a:t>ایجاد یک Notebook جدید و بارگذاری فایل </a:t>
            </a:r>
            <a:r>
              <a:rPr lang="fa-IR">
                <a:cs typeface="Nazanin" panose="00000400000000000000" pitchFamily="2" charset="-78"/>
              </a:rPr>
              <a:t>(</a:t>
            </a:r>
            <a:r>
              <a:rPr>
                <a:cs typeface="Nazanin" panose="00000400000000000000" pitchFamily="2" charset="-78"/>
              </a:rPr>
              <a:t>PDF، Google Docs و غیره</a:t>
            </a:r>
            <a:r>
              <a:rPr lang="fa-IR">
                <a:cs typeface="Nazanin" panose="00000400000000000000" pitchFamily="2" charset="-78"/>
              </a:rPr>
              <a:t>)</a:t>
            </a:r>
            <a:endParaRPr>
              <a:cs typeface="Nazanin" panose="00000400000000000000" pitchFamily="2" charset="-78"/>
            </a:endParaRPr>
          </a:p>
          <a:p>
            <a:pPr algn="r" rtl="1">
              <a:defRPr sz="2400">
                <a:latin typeface="Tahoma"/>
              </a:defRPr>
            </a:pPr>
            <a:r>
              <a:rPr>
                <a:cs typeface="Nazanin" panose="00000400000000000000" pitchFamily="2" charset="-78"/>
              </a:rPr>
              <a:t>پرسیدن سوال یا درخواست خلاصه‌سازی در کادر گفت‌وگو</a:t>
            </a:r>
          </a:p>
          <a:p>
            <a:pPr marL="0" indent="0" algn="l">
              <a:buNone/>
              <a:defRPr sz="2400">
                <a:latin typeface="Tahoma"/>
              </a:defRPr>
            </a:pPr>
            <a:r>
              <a:rPr>
                <a:cs typeface="Nazanin" panose="00000400000000000000" pitchFamily="2" charset="-78"/>
              </a:rPr>
              <a:t>مثال: «Summarize this document in 5 bullet points»</a:t>
            </a:r>
          </a:p>
          <a:p>
            <a:pPr algn="r" rtl="1">
              <a:defRPr sz="2400">
                <a:latin typeface="Tahoma"/>
              </a:defRPr>
            </a:pPr>
            <a:r>
              <a:rPr>
                <a:cs typeface="Nazanin" panose="00000400000000000000" pitchFamily="2" charset="-78"/>
              </a:rPr>
              <a:t>مشاهده پاسخ‌ها و استفاده از آن‌ها برای یادگیری یا آموزش</a:t>
            </a:r>
          </a:p>
        </p:txBody>
      </p:sp>
      <p:sp>
        <p:nvSpPr>
          <p:cNvPr id="4" name="TextBox 3">
            <a:extLst>
              <a:ext uri="{FF2B5EF4-FFF2-40B4-BE49-F238E27FC236}">
                <a16:creationId xmlns:a16="http://schemas.microsoft.com/office/drawing/2014/main" id="{3433E44B-A5A1-74B6-FD0F-E00FE4CA2D5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70</a:t>
            </a:r>
            <a:endParaRPr lang="fa-I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116" y="100628"/>
            <a:ext cx="7886700" cy="932306"/>
          </a:xfrm>
        </p:spPr>
        <p:txBody>
          <a:bodyPr/>
          <a:lstStyle/>
          <a:p>
            <a:pPr algn="r" rtl="1">
              <a:defRPr sz="3200">
                <a:latin typeface="Tahoma"/>
              </a:defRPr>
            </a:pPr>
            <a:r>
              <a:rPr>
                <a:cs typeface="Titr" panose="00000700000000000000" pitchFamily="2" charset="-78"/>
              </a:rPr>
              <a:t>کاربردهای واقعی در آموزش و کار</a:t>
            </a:r>
          </a:p>
        </p:txBody>
      </p:sp>
      <p:sp>
        <p:nvSpPr>
          <p:cNvPr id="3" name="Content Placeholder 2"/>
          <p:cNvSpPr>
            <a:spLocks noGrp="1"/>
          </p:cNvSpPr>
          <p:nvPr>
            <p:ph idx="1"/>
          </p:nvPr>
        </p:nvSpPr>
        <p:spPr>
          <a:xfrm>
            <a:off x="628650" y="855506"/>
            <a:ext cx="8229600" cy="2057400"/>
          </a:xfrm>
        </p:spPr>
        <p:txBody>
          <a:bodyPr/>
          <a:lstStyle/>
          <a:p>
            <a:pPr algn="r" rtl="1">
              <a:defRPr sz="2400">
                <a:latin typeface="Tahoma"/>
              </a:defRPr>
            </a:pPr>
            <a:r>
              <a:rPr>
                <a:cs typeface="Nazanin" panose="00000400000000000000" pitchFamily="2" charset="-78"/>
              </a:rPr>
              <a:t>معلمان</a:t>
            </a:r>
            <a:r>
              <a:rPr lang="fa-IR">
                <a:cs typeface="Nazanin" panose="00000400000000000000" pitchFamily="2" charset="-78"/>
              </a:rPr>
              <a:t>- </a:t>
            </a:r>
            <a:r>
              <a:rPr>
                <a:cs typeface="Nazanin" panose="00000400000000000000" pitchFamily="2" charset="-78"/>
              </a:rPr>
              <a:t>طراحی سوال، خلاصه درس، تولید اسلاید</a:t>
            </a:r>
          </a:p>
          <a:p>
            <a:pPr algn="r" rtl="1">
              <a:defRPr sz="2400">
                <a:latin typeface="Tahoma"/>
              </a:defRPr>
            </a:pPr>
            <a:r>
              <a:rPr>
                <a:cs typeface="Nazanin" panose="00000400000000000000" pitchFamily="2" charset="-78"/>
              </a:rPr>
              <a:t>دانشجویان</a:t>
            </a:r>
            <a:r>
              <a:rPr lang="fa-IR">
                <a:cs typeface="Nazanin" panose="00000400000000000000" pitchFamily="2" charset="-78"/>
              </a:rPr>
              <a:t>-</a:t>
            </a:r>
            <a:r>
              <a:rPr>
                <a:cs typeface="Nazanin" panose="00000400000000000000" pitchFamily="2" charset="-78"/>
              </a:rPr>
              <a:t> خلاصه‌سازی مقاله، استخراج مفاهیم، آماده‌سازی آزمون</a:t>
            </a:r>
          </a:p>
          <a:p>
            <a:pPr algn="r" rtl="1">
              <a:defRPr sz="2400">
                <a:latin typeface="Tahoma"/>
              </a:defRPr>
            </a:pPr>
            <a:r>
              <a:rPr>
                <a:cs typeface="Nazanin" panose="00000400000000000000" pitchFamily="2" charset="-78"/>
              </a:rPr>
              <a:t>کسب‌وکارها</a:t>
            </a:r>
            <a:r>
              <a:rPr lang="fa-IR">
                <a:cs typeface="Nazanin" panose="00000400000000000000" pitchFamily="2" charset="-78"/>
              </a:rPr>
              <a:t>- </a:t>
            </a:r>
            <a:r>
              <a:rPr>
                <a:cs typeface="Nazanin" panose="00000400000000000000" pitchFamily="2" charset="-78"/>
              </a:rPr>
              <a:t>تحلیل گزارش، خلاصه قراردادها، یادداشت جلسات</a:t>
            </a:r>
          </a:p>
        </p:txBody>
      </p:sp>
      <p:pic>
        <p:nvPicPr>
          <p:cNvPr id="7" name="Picture 6" descr="A screenshot of a computer&#10;&#10;AI-generated content may be incorrect.">
            <a:extLst>
              <a:ext uri="{FF2B5EF4-FFF2-40B4-BE49-F238E27FC236}">
                <a16:creationId xmlns:a16="http://schemas.microsoft.com/office/drawing/2014/main" id="{A98D922B-CCE3-36EE-9549-0D71C7E20DD7}"/>
              </a:ext>
            </a:extLst>
          </p:cNvPr>
          <p:cNvPicPr>
            <a:picLocks noChangeAspect="1"/>
          </p:cNvPicPr>
          <p:nvPr/>
        </p:nvPicPr>
        <p:blipFill>
          <a:blip r:embed="rId2"/>
          <a:stretch>
            <a:fillRect/>
          </a:stretch>
        </p:blipFill>
        <p:spPr>
          <a:xfrm>
            <a:off x="971549" y="2304843"/>
            <a:ext cx="7886701" cy="4138290"/>
          </a:xfrm>
          <a:prstGeom prst="rect">
            <a:avLst/>
          </a:prstGeom>
        </p:spPr>
      </p:pic>
      <p:sp>
        <p:nvSpPr>
          <p:cNvPr id="4" name="TextBox 3">
            <a:extLst>
              <a:ext uri="{FF2B5EF4-FFF2-40B4-BE49-F238E27FC236}">
                <a16:creationId xmlns:a16="http://schemas.microsoft.com/office/drawing/2014/main" id="{A999D9B8-E774-E1AF-CEE6-2EF376BF75E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71</a:t>
            </a:r>
            <a:endParaRPr lang="fa-I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defRPr sz="3200">
                <a:latin typeface="Tahoma"/>
              </a:defRPr>
            </a:pPr>
            <a:r>
              <a:rPr>
                <a:cs typeface="Titr" panose="00000700000000000000" pitchFamily="2" charset="-78"/>
              </a:rPr>
              <a:t>نکات حرفه‌ای برای استفاده بهتر</a:t>
            </a:r>
          </a:p>
        </p:txBody>
      </p:sp>
      <p:sp>
        <p:nvSpPr>
          <p:cNvPr id="3" name="Content Placeholder 2"/>
          <p:cNvSpPr>
            <a:spLocks noGrp="1"/>
          </p:cNvSpPr>
          <p:nvPr>
            <p:ph idx="1"/>
          </p:nvPr>
        </p:nvSpPr>
        <p:spPr>
          <a:xfrm>
            <a:off x="628650" y="1825625"/>
            <a:ext cx="8247336" cy="4351338"/>
          </a:xfrm>
        </p:spPr>
        <p:txBody>
          <a:bodyPr/>
          <a:lstStyle/>
          <a:p>
            <a:pPr algn="r" rtl="1">
              <a:defRPr sz="2400">
                <a:latin typeface="Tahoma"/>
              </a:defRPr>
            </a:pPr>
            <a:r>
              <a:rPr>
                <a:cs typeface="Nazanin" panose="00000400000000000000" pitchFamily="2" charset="-78"/>
              </a:rPr>
              <a:t>درخواست تولید سوال تستی</a:t>
            </a:r>
            <a:r>
              <a:rPr lang="fa-IR">
                <a:cs typeface="Nazanin" panose="00000400000000000000" pitchFamily="2" charset="-78"/>
              </a:rPr>
              <a:t>: </a:t>
            </a:r>
            <a:r>
              <a:rPr>
                <a:cs typeface="Nazanin" panose="00000400000000000000" pitchFamily="2" charset="-78"/>
              </a:rPr>
              <a:t> Generate multiple-choice questions</a:t>
            </a:r>
          </a:p>
          <a:p>
            <a:pPr algn="r" rtl="1">
              <a:defRPr sz="2400">
                <a:latin typeface="Tahoma"/>
              </a:defRPr>
            </a:pPr>
            <a:r>
              <a:rPr>
                <a:cs typeface="Nazanin" panose="00000400000000000000" pitchFamily="2" charset="-78"/>
              </a:rPr>
              <a:t>ساده‌سازی مطالب برای سطح پایین‌تر</a:t>
            </a:r>
            <a:r>
              <a:rPr lang="fa-IR">
                <a:cs typeface="Nazanin" panose="00000400000000000000" pitchFamily="2" charset="-78"/>
              </a:rPr>
              <a:t>: </a:t>
            </a:r>
            <a:r>
              <a:rPr>
                <a:cs typeface="Nazanin" panose="00000400000000000000" pitchFamily="2" charset="-78"/>
              </a:rPr>
              <a:t> Explain to a 7th grader</a:t>
            </a:r>
          </a:p>
          <a:p>
            <a:pPr algn="r" rtl="1">
              <a:defRPr sz="2400">
                <a:latin typeface="Tahoma"/>
              </a:defRPr>
            </a:pPr>
            <a:r>
              <a:rPr>
                <a:cs typeface="Nazanin" panose="00000400000000000000" pitchFamily="2" charset="-78"/>
              </a:rPr>
              <a:t>درخواست فلش‌کارت برای مرور مطالب کلیدی</a:t>
            </a:r>
          </a:p>
          <a:p>
            <a:pPr algn="r" rtl="1">
              <a:defRPr sz="2400">
                <a:latin typeface="Tahoma"/>
              </a:defRPr>
            </a:pPr>
            <a:r>
              <a:rPr>
                <a:cs typeface="Nazanin" panose="00000400000000000000" pitchFamily="2" charset="-78"/>
              </a:rPr>
              <a:t>توجه</a:t>
            </a:r>
            <a:r>
              <a:rPr lang="fa-IR">
                <a:cs typeface="Nazanin" panose="00000400000000000000" pitchFamily="2" charset="-78"/>
              </a:rPr>
              <a:t>: </a:t>
            </a:r>
            <a:r>
              <a:rPr>
                <a:cs typeface="Nazanin" panose="00000400000000000000" pitchFamily="2" charset="-78"/>
              </a:rPr>
              <a:t>فقط روی فایل‌های شما کار می‌کند و جستجوی وب انجام نمی‌دهد</a:t>
            </a:r>
          </a:p>
        </p:txBody>
      </p:sp>
      <p:sp>
        <p:nvSpPr>
          <p:cNvPr id="4" name="TextBox 3">
            <a:extLst>
              <a:ext uri="{FF2B5EF4-FFF2-40B4-BE49-F238E27FC236}">
                <a16:creationId xmlns:a16="http://schemas.microsoft.com/office/drawing/2014/main" id="{2EFC33FB-B418-7869-EEA2-842D0D8AAD3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72</a:t>
            </a:r>
            <a:endParaRPr lang="fa-IR"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defRPr sz="3200">
                <a:latin typeface="Tahoma"/>
              </a:defRPr>
            </a:pPr>
            <a:r>
              <a:rPr b="1">
                <a:cs typeface="Titr" panose="00000700000000000000" pitchFamily="2" charset="-78"/>
              </a:rPr>
              <a:t>ساخت پادکست با کمک NotebookLM</a:t>
            </a:r>
          </a:p>
        </p:txBody>
      </p:sp>
      <p:sp>
        <p:nvSpPr>
          <p:cNvPr id="3" name="Content Placeholder 2"/>
          <p:cNvSpPr>
            <a:spLocks noGrp="1"/>
          </p:cNvSpPr>
          <p:nvPr>
            <p:ph idx="1"/>
          </p:nvPr>
        </p:nvSpPr>
        <p:spPr>
          <a:xfrm>
            <a:off x="110359" y="1494549"/>
            <a:ext cx="8576441" cy="2651782"/>
          </a:xfrm>
        </p:spPr>
        <p:txBody>
          <a:bodyPr/>
          <a:lstStyle/>
          <a:p>
            <a:pPr algn="r" rtl="1">
              <a:defRPr sz="2400">
                <a:latin typeface="Tahoma"/>
              </a:defRPr>
            </a:pPr>
            <a:r>
              <a:rPr lang="ar-SA">
                <a:cs typeface="Nazanin" panose="00000400000000000000" pitchFamily="2" charset="-78"/>
              </a:rPr>
              <a:t>متن آموزشی در </a:t>
            </a:r>
            <a:r>
              <a:rPr lang="en-US">
                <a:cs typeface="Nazanin" panose="00000400000000000000" pitchFamily="2" charset="-78"/>
              </a:rPr>
              <a:t>NotebookLM</a:t>
            </a:r>
          </a:p>
          <a:p>
            <a:pPr algn="r" rtl="1">
              <a:defRPr sz="2400">
                <a:latin typeface="Tahoma"/>
              </a:defRPr>
            </a:pPr>
            <a:r>
              <a:rPr lang="ar-SA">
                <a:cs typeface="Nazanin" panose="00000400000000000000" pitchFamily="2" charset="-78"/>
              </a:rPr>
              <a:t>درخواست خلاصه صوتی: </a:t>
            </a:r>
            <a:r>
              <a:rPr lang="en-US">
                <a:cs typeface="Nazanin" panose="00000400000000000000" pitchFamily="2" charset="-78"/>
              </a:rPr>
              <a:t>Summarize this for a podcast script</a:t>
            </a:r>
          </a:p>
          <a:p>
            <a:pPr algn="r" rtl="1">
              <a:defRPr sz="2400">
                <a:latin typeface="Tahoma"/>
              </a:defRPr>
            </a:pPr>
            <a:r>
              <a:rPr lang="ar-SA">
                <a:cs typeface="Nazanin" panose="00000400000000000000" pitchFamily="2" charset="-78"/>
              </a:rPr>
              <a:t>ویرایش متن نهایی به‌عنوان سناریوی پادکست</a:t>
            </a:r>
          </a:p>
          <a:p>
            <a:pPr algn="r" rtl="1">
              <a:defRPr sz="2400">
                <a:latin typeface="Tahoma"/>
              </a:defRPr>
            </a:pPr>
            <a:r>
              <a:rPr lang="ar-SA">
                <a:cs typeface="Nazanin" panose="00000400000000000000" pitchFamily="2" charset="-78"/>
              </a:rPr>
              <a:t>استفاده از ابزارهای تبدیل متن به گفتار (</a:t>
            </a:r>
            <a:r>
              <a:rPr lang="en-US">
                <a:cs typeface="Nazanin" panose="00000400000000000000" pitchFamily="2" charset="-78"/>
              </a:rPr>
              <a:t>TTS</a:t>
            </a:r>
            <a:r>
              <a:rPr lang="fa-IR">
                <a:cs typeface="Nazanin" panose="00000400000000000000" pitchFamily="2" charset="-78"/>
              </a:rPr>
              <a:t>)</a:t>
            </a:r>
            <a:r>
              <a:rPr lang="en-US">
                <a:cs typeface="Nazanin" panose="00000400000000000000" pitchFamily="2" charset="-78"/>
              </a:rPr>
              <a:t> </a:t>
            </a:r>
            <a:r>
              <a:rPr lang="ar-SA">
                <a:cs typeface="Nazanin" panose="00000400000000000000" pitchFamily="2" charset="-78"/>
              </a:rPr>
              <a:t>مثل </a:t>
            </a:r>
            <a:r>
              <a:rPr lang="en-US">
                <a:cs typeface="Nazanin" panose="00000400000000000000" pitchFamily="2" charset="-78"/>
              </a:rPr>
              <a:t>Google TTS </a:t>
            </a:r>
            <a:r>
              <a:rPr lang="ar-SA">
                <a:cs typeface="Nazanin" panose="00000400000000000000" pitchFamily="2" charset="-78"/>
              </a:rPr>
              <a:t>یا </a:t>
            </a:r>
            <a:r>
              <a:rPr lang="en-US">
                <a:cs typeface="Nazanin" panose="00000400000000000000" pitchFamily="2" charset="-78"/>
              </a:rPr>
              <a:t>Podcastle</a:t>
            </a:r>
          </a:p>
          <a:p>
            <a:pPr algn="r" rtl="1">
              <a:defRPr sz="2400">
                <a:latin typeface="Tahoma"/>
              </a:defRPr>
            </a:pPr>
            <a:r>
              <a:rPr lang="ar-SA">
                <a:cs typeface="Nazanin" panose="00000400000000000000" pitchFamily="2" charset="-78"/>
              </a:rPr>
              <a:t>انتشار در پلتفرم‌هایی مثل</a:t>
            </a:r>
            <a:r>
              <a:rPr>
                <a:cs typeface="Nazanin" panose="00000400000000000000" pitchFamily="2" charset="-78"/>
              </a:rPr>
              <a:t>. بارگذاری مقاله یا Castbox، Spotify یا تلگرام</a:t>
            </a:r>
          </a:p>
        </p:txBody>
      </p:sp>
      <p:sp>
        <p:nvSpPr>
          <p:cNvPr id="4" name="TextBox 3">
            <a:extLst>
              <a:ext uri="{FF2B5EF4-FFF2-40B4-BE49-F238E27FC236}">
                <a16:creationId xmlns:a16="http://schemas.microsoft.com/office/drawing/2014/main" id="{A0C04AC0-C00D-E387-8AEC-330BB44A4102}"/>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73</a:t>
            </a:r>
            <a:endParaRPr lang="fa-IR"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383" y="365126"/>
            <a:ext cx="7886700" cy="845607"/>
          </a:xfrm>
        </p:spPr>
        <p:txBody>
          <a:bodyPr>
            <a:normAutofit/>
          </a:bodyPr>
          <a:lstStyle/>
          <a:p>
            <a:pPr algn="r" rtl="1"/>
            <a:r>
              <a:rPr sz="3200">
                <a:cs typeface="2  Titr" panose="00000700000000000000" pitchFamily="2" charset="-78"/>
              </a:rPr>
              <a:t>قابلیت‌های کلیدی </a:t>
            </a:r>
            <a:r>
              <a:rPr sz="3200">
                <a:latin typeface="Arial Black" panose="020B0A04020102020204" pitchFamily="34" charset="0"/>
                <a:cs typeface="2  Titr" panose="00000700000000000000" pitchFamily="2" charset="-78"/>
              </a:rPr>
              <a:t>Google AI Studio</a:t>
            </a:r>
          </a:p>
        </p:txBody>
      </p:sp>
      <p:sp>
        <p:nvSpPr>
          <p:cNvPr id="3" name="Content Placeholder 2"/>
          <p:cNvSpPr>
            <a:spLocks noGrp="1"/>
          </p:cNvSpPr>
          <p:nvPr>
            <p:ph idx="1"/>
          </p:nvPr>
        </p:nvSpPr>
        <p:spPr>
          <a:xfrm>
            <a:off x="1033509" y="1097492"/>
            <a:ext cx="7886700" cy="3327400"/>
          </a:xfrm>
        </p:spPr>
        <p:txBody>
          <a:bodyPr>
            <a:normAutofit/>
          </a:bodyPr>
          <a:lstStyle/>
          <a:p>
            <a:pPr algn="r" rtl="1"/>
            <a:r>
              <a:rPr sz="2000">
                <a:cs typeface="2  Nazanin" panose="00000400000000000000" pitchFamily="2" charset="-78"/>
              </a:rPr>
              <a:t>🌐 محیط تحت وب بدون نیاز به نصب نرم‌افزار</a:t>
            </a:r>
          </a:p>
          <a:p>
            <a:pPr algn="r" rtl="1"/>
            <a:r>
              <a:rPr sz="2000">
                <a:cs typeface="2  Nazanin" panose="00000400000000000000" pitchFamily="2" charset="-78"/>
              </a:rPr>
              <a:t>🧠 پشتیبانی از مدل‌های Gemini </a:t>
            </a:r>
            <a:r>
              <a:rPr lang="fa-IR" sz="2000">
                <a:cs typeface="2  Nazanin" panose="00000400000000000000" pitchFamily="2" charset="-78"/>
              </a:rPr>
              <a:t> </a:t>
            </a:r>
            <a:r>
              <a:rPr sz="2000">
                <a:cs typeface="2  Nazanin" panose="00000400000000000000" pitchFamily="2" charset="-78"/>
              </a:rPr>
              <a:t>برای متن، تصویر، صدا و ویدیو</a:t>
            </a:r>
          </a:p>
          <a:p>
            <a:pPr algn="r" rtl="1"/>
            <a:r>
              <a:rPr sz="2000">
                <a:cs typeface="2  Nazanin" panose="00000400000000000000" pitchFamily="2" charset="-78"/>
              </a:rPr>
              <a:t>🧩 حالت‌های تعامل متنوع</a:t>
            </a:r>
            <a:r>
              <a:rPr lang="fa-IR" sz="2000">
                <a:cs typeface="2  Nazanin" panose="00000400000000000000" pitchFamily="2" charset="-78"/>
              </a:rPr>
              <a:t> </a:t>
            </a:r>
            <a:r>
              <a:rPr sz="2000">
                <a:cs typeface="2  Nazanin" panose="00000400000000000000" pitchFamily="2" charset="-78"/>
              </a:rPr>
              <a:t>: Chat، Stream، Video Generation</a:t>
            </a:r>
          </a:p>
          <a:p>
            <a:pPr algn="r" rtl="1"/>
            <a:r>
              <a:rPr sz="2000">
                <a:cs typeface="2  Nazanin" panose="00000400000000000000" pitchFamily="2" charset="-78"/>
              </a:rPr>
              <a:t>🧰 گالری Starter Apps </a:t>
            </a:r>
            <a:r>
              <a:rPr lang="fa-IR" sz="2000">
                <a:cs typeface="2  Nazanin" panose="00000400000000000000" pitchFamily="2" charset="-78"/>
              </a:rPr>
              <a:t> </a:t>
            </a:r>
            <a:r>
              <a:rPr sz="2000">
                <a:cs typeface="2  Nazanin" panose="00000400000000000000" pitchFamily="2" charset="-78"/>
              </a:rPr>
              <a:t>برای پروژه‌های آماده </a:t>
            </a:r>
            <a:r>
              <a:rPr lang="fa-IR" sz="2000">
                <a:cs typeface="2  Nazanin" panose="00000400000000000000" pitchFamily="2" charset="-78"/>
              </a:rPr>
              <a:t>(</a:t>
            </a:r>
            <a:r>
              <a:rPr sz="2000">
                <a:cs typeface="2  Nazanin" panose="00000400000000000000" pitchFamily="2" charset="-78"/>
              </a:rPr>
              <a:t>مانند تولید GIF، چت‌بات، ویرایشگر ویدیو</a:t>
            </a:r>
            <a:r>
              <a:rPr lang="fa-IR" sz="2000">
                <a:cs typeface="2  Nazanin" panose="00000400000000000000" pitchFamily="2" charset="-78"/>
              </a:rPr>
              <a:t>)</a:t>
            </a:r>
            <a:endParaRPr sz="2000">
              <a:cs typeface="2  Nazanin" panose="00000400000000000000" pitchFamily="2" charset="-78"/>
            </a:endParaRPr>
          </a:p>
          <a:p>
            <a:pPr algn="r" rtl="1"/>
            <a:r>
              <a:rPr sz="2000">
                <a:cs typeface="2  Nazanin" panose="00000400000000000000" pitchFamily="2" charset="-78"/>
              </a:rPr>
              <a:t>🔐 خروجی‌های قابل تنظیم </a:t>
            </a:r>
            <a:r>
              <a:rPr lang="fa-IR" sz="2000">
                <a:cs typeface="2  Nazanin" panose="00000400000000000000" pitchFamily="2" charset="-78"/>
              </a:rPr>
              <a:t>(</a:t>
            </a:r>
            <a:r>
              <a:rPr sz="2000">
                <a:cs typeface="2  Nazanin" panose="00000400000000000000" pitchFamily="2" charset="-78"/>
              </a:rPr>
              <a:t>متن خام، JSON، ایمن‌سازی‌شده</a:t>
            </a:r>
            <a:r>
              <a:rPr lang="fa-IR" sz="2000">
                <a:cs typeface="2  Nazanin" panose="00000400000000000000" pitchFamily="2" charset="-78"/>
              </a:rPr>
              <a:t>)</a:t>
            </a:r>
            <a:endParaRPr sz="2000">
              <a:cs typeface="2  Nazanin" panose="00000400000000000000" pitchFamily="2" charset="-78"/>
            </a:endParaRPr>
          </a:p>
          <a:p>
            <a:pPr algn="r" rtl="1"/>
            <a:r>
              <a:rPr sz="2000">
                <a:cs typeface="2  Nazanin" panose="00000400000000000000" pitchFamily="2" charset="-78"/>
              </a:rPr>
              <a:t>📦 امکان ذخیره، ویرایش و </a:t>
            </a:r>
            <a:r>
              <a:rPr lang="fa-IR" sz="2000">
                <a:cs typeface="2  Nazanin" panose="00000400000000000000" pitchFamily="2" charset="-78"/>
              </a:rPr>
              <a:t>ارسال</a:t>
            </a:r>
            <a:r>
              <a:rPr sz="2000">
                <a:cs typeface="2  Nazanin" panose="00000400000000000000" pitchFamily="2" charset="-78"/>
              </a:rPr>
              <a:t> پروژه‌ها به برنامه‌های شخصی</a:t>
            </a:r>
          </a:p>
          <a:p>
            <a:pPr algn="r" rtl="1"/>
            <a:r>
              <a:rPr sz="2000">
                <a:cs typeface="2  Nazanin" panose="00000400000000000000" pitchFamily="2" charset="-78"/>
              </a:rPr>
              <a:t>💳 پلن رایگان بدون نیاز به کارت اعتباری + API </a:t>
            </a:r>
            <a:r>
              <a:rPr lang="fa-IR" sz="2000">
                <a:cs typeface="2  Nazanin" panose="00000400000000000000" pitchFamily="2" charset="-78"/>
              </a:rPr>
              <a:t> </a:t>
            </a:r>
            <a:r>
              <a:rPr sz="2000">
                <a:cs typeface="2  Nazanin" panose="00000400000000000000" pitchFamily="2" charset="-78"/>
              </a:rPr>
              <a:t>قابل استفاده برای توسعه‌دهندگان</a:t>
            </a:r>
          </a:p>
          <a:p>
            <a:pPr algn="r" rtl="1"/>
            <a:r>
              <a:rPr sz="2000">
                <a:cs typeface="2  Nazanin" panose="00000400000000000000" pitchFamily="2" charset="-78"/>
              </a:rPr>
              <a:t>👩‍🏫 مناسب برای آموزش، پژوهش و تولید محتوا در سطوح مختلف</a:t>
            </a:r>
          </a:p>
        </p:txBody>
      </p:sp>
      <p:sp>
        <p:nvSpPr>
          <p:cNvPr id="4" name="TextBox 3">
            <a:extLst>
              <a:ext uri="{FF2B5EF4-FFF2-40B4-BE49-F238E27FC236}">
                <a16:creationId xmlns:a16="http://schemas.microsoft.com/office/drawing/2014/main" id="{356F3DC1-1574-5924-908D-2976034F2DFE}"/>
              </a:ext>
            </a:extLst>
          </p:cNvPr>
          <p:cNvSpPr txBox="1"/>
          <p:nvPr/>
        </p:nvSpPr>
        <p:spPr>
          <a:xfrm>
            <a:off x="1533587" y="5668659"/>
            <a:ext cx="6547879" cy="584775"/>
          </a:xfrm>
          <a:prstGeom prst="rect">
            <a:avLst/>
          </a:prstGeom>
          <a:noFill/>
        </p:spPr>
        <p:txBody>
          <a:bodyPr wrap="square">
            <a:spAutoFit/>
          </a:bodyPr>
          <a:lstStyle/>
          <a:p>
            <a:pPr algn="ctr"/>
            <a:r>
              <a:rPr lang="en-US" sz="3200" b="1" dirty="0">
                <a:solidFill>
                  <a:srgbClr val="FFFF00"/>
                </a:solidFill>
              </a:rPr>
              <a:t>https://aistudio.google</a:t>
            </a:r>
            <a:r>
              <a:rPr lang="en-US" sz="3200" b="1">
                <a:solidFill>
                  <a:srgbClr val="FFFF00"/>
                </a:solidFill>
              </a:rPr>
              <a:t>.com</a:t>
            </a:r>
            <a:endParaRPr lang="en-US" sz="3200" b="1" dirty="0">
              <a:solidFill>
                <a:srgbClr val="FFFF00"/>
              </a:solidFill>
            </a:endParaRPr>
          </a:p>
        </p:txBody>
      </p:sp>
      <p:sp>
        <p:nvSpPr>
          <p:cNvPr id="5" name="TextBox 4">
            <a:extLst>
              <a:ext uri="{FF2B5EF4-FFF2-40B4-BE49-F238E27FC236}">
                <a16:creationId xmlns:a16="http://schemas.microsoft.com/office/drawing/2014/main" id="{D5068E08-49E5-C18C-28AF-004944FB657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74</a:t>
            </a:r>
            <a:endParaRPr lang="fa-I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771" y="38893"/>
            <a:ext cx="8481848" cy="1325563"/>
          </a:xfrm>
        </p:spPr>
        <p:txBody>
          <a:bodyPr>
            <a:normAutofit/>
          </a:bodyPr>
          <a:lstStyle/>
          <a:p>
            <a:pPr algn="r" rtl="1"/>
            <a:r>
              <a:rPr sz="3600" b="1">
                <a:cs typeface="2  Titr" panose="00000700000000000000" pitchFamily="2" charset="-78"/>
              </a:rPr>
              <a:t>کاربرد </a:t>
            </a:r>
            <a:r>
              <a:rPr sz="3200" b="1">
                <a:latin typeface="Arial Black" panose="020B0A04020102020204" pitchFamily="34" charset="0"/>
                <a:cs typeface="2  Titr" panose="00000700000000000000" pitchFamily="2" charset="-78"/>
              </a:rPr>
              <a:t>Google AI Studio </a:t>
            </a:r>
            <a:r>
              <a:rPr lang="fa-IR" sz="3200" b="1">
                <a:latin typeface="Arial Black" panose="020B0A04020102020204" pitchFamily="34" charset="0"/>
                <a:cs typeface="2  Titr" panose="00000700000000000000" pitchFamily="2" charset="-78"/>
              </a:rPr>
              <a:t> </a:t>
            </a:r>
            <a:r>
              <a:rPr sz="3600" b="1">
                <a:cs typeface="2  Titr" panose="00000700000000000000" pitchFamily="2" charset="-78"/>
              </a:rPr>
              <a:t>در آموزش و توسعه</a:t>
            </a:r>
          </a:p>
        </p:txBody>
      </p:sp>
      <p:sp>
        <p:nvSpPr>
          <p:cNvPr id="3" name="Content Placeholder 2"/>
          <p:cNvSpPr>
            <a:spLocks noGrp="1"/>
          </p:cNvSpPr>
          <p:nvPr>
            <p:ph idx="1"/>
          </p:nvPr>
        </p:nvSpPr>
        <p:spPr>
          <a:xfrm>
            <a:off x="926224" y="1122891"/>
            <a:ext cx="7886700" cy="4351338"/>
          </a:xfrm>
        </p:spPr>
        <p:txBody>
          <a:bodyPr>
            <a:normAutofit/>
          </a:bodyPr>
          <a:lstStyle/>
          <a:p>
            <a:pPr algn="r" rtl="1"/>
            <a:r>
              <a:rPr sz="2400">
                <a:cs typeface="2  Nazanin" panose="00000400000000000000" pitchFamily="2" charset="-78"/>
              </a:rPr>
              <a:t>🎓 آموزش مفاهیم اولیه هوش مصنوعی با رابط کاربری ساده و جذاب</a:t>
            </a:r>
          </a:p>
          <a:p>
            <a:pPr algn="r" rtl="1"/>
            <a:r>
              <a:rPr sz="2400">
                <a:cs typeface="2  Nazanin" panose="00000400000000000000" pitchFamily="2" charset="-78"/>
              </a:rPr>
              <a:t>🧪 تمرین‌های عملی prompt engineering </a:t>
            </a:r>
            <a:r>
              <a:rPr lang="fa-IR" sz="2400">
                <a:cs typeface="2  Nazanin" panose="00000400000000000000" pitchFamily="2" charset="-78"/>
              </a:rPr>
              <a:t> </a:t>
            </a:r>
            <a:r>
              <a:rPr sz="2400">
                <a:cs typeface="2  Nazanin" panose="00000400000000000000" pitchFamily="2" charset="-78"/>
              </a:rPr>
              <a:t>با حالت Chat</a:t>
            </a:r>
          </a:p>
          <a:p>
            <a:pPr algn="r" rtl="1"/>
            <a:r>
              <a:rPr sz="2400">
                <a:cs typeface="2  Nazanin" panose="00000400000000000000" pitchFamily="2" charset="-78"/>
              </a:rPr>
              <a:t>🎬 تولید محتوای ویدیویی آموزشی با Video Generation</a:t>
            </a:r>
          </a:p>
          <a:p>
            <a:pPr algn="r" rtl="1"/>
            <a:r>
              <a:rPr sz="2400">
                <a:cs typeface="2  Nazanin" panose="00000400000000000000" pitchFamily="2" charset="-78"/>
              </a:rPr>
              <a:t>🖼️ تمرین ویرایش تصویر و تعامل بصری با Co-Drawing</a:t>
            </a:r>
          </a:p>
          <a:p>
            <a:pPr algn="r" rtl="1"/>
            <a:r>
              <a:rPr sz="2400">
                <a:cs typeface="2  Nazanin" panose="00000400000000000000" pitchFamily="2" charset="-78"/>
              </a:rPr>
              <a:t>👨‍💻 توسعه پروژه‌های ساده تا پیشرفته با Starter Apps</a:t>
            </a:r>
          </a:p>
          <a:p>
            <a:pPr algn="r" rtl="1"/>
            <a:r>
              <a:rPr sz="2400">
                <a:cs typeface="2  Nazanin" panose="00000400000000000000" pitchFamily="2" charset="-78"/>
              </a:rPr>
              <a:t>📊 استفاده در کارگاه‌ها و کلاس‌ها برای تدریس عملی AI</a:t>
            </a:r>
          </a:p>
          <a:p>
            <a:pPr algn="r" rtl="1"/>
            <a:r>
              <a:rPr sz="2400">
                <a:cs typeface="2  Nazanin" panose="00000400000000000000" pitchFamily="2" charset="-78"/>
              </a:rPr>
              <a:t>💼 اتصال به API </a:t>
            </a:r>
            <a:r>
              <a:rPr lang="fa-IR" sz="2400">
                <a:cs typeface="2  Nazanin" panose="00000400000000000000" pitchFamily="2" charset="-78"/>
              </a:rPr>
              <a:t> </a:t>
            </a:r>
            <a:r>
              <a:rPr sz="2400">
                <a:cs typeface="2  Nazanin" panose="00000400000000000000" pitchFamily="2" charset="-78"/>
              </a:rPr>
              <a:t>برای ساخت برنامه‌های حرفه‌ای در دنیای واقعی</a:t>
            </a:r>
          </a:p>
          <a:p>
            <a:pPr algn="r" rtl="1"/>
            <a:r>
              <a:rPr sz="2400">
                <a:cs typeface="2  Nazanin" panose="00000400000000000000" pitchFamily="2" charset="-78"/>
              </a:rPr>
              <a:t>🧠 مناسب برای پروژه‌های تحقیقاتی، پایان‌نامه و مستندسازی</a:t>
            </a:r>
          </a:p>
        </p:txBody>
      </p:sp>
      <p:sp>
        <p:nvSpPr>
          <p:cNvPr id="4" name="TextBox 3">
            <a:extLst>
              <a:ext uri="{FF2B5EF4-FFF2-40B4-BE49-F238E27FC236}">
                <a16:creationId xmlns:a16="http://schemas.microsoft.com/office/drawing/2014/main" id="{A2ED9601-391B-31B0-EEB8-2475EB8AE273}"/>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75</a:t>
            </a:r>
            <a:endParaRPr lang="fa-I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159F2B-5FCF-3C68-401B-349E8FF9DD67}"/>
              </a:ext>
            </a:extLst>
          </p:cNvPr>
          <p:cNvPicPr>
            <a:picLocks noChangeAspect="1"/>
          </p:cNvPicPr>
          <p:nvPr/>
        </p:nvPicPr>
        <p:blipFill>
          <a:blip r:embed="rId4"/>
          <a:stretch>
            <a:fillRect/>
          </a:stretch>
        </p:blipFill>
        <p:spPr>
          <a:xfrm>
            <a:off x="339328" y="857250"/>
            <a:ext cx="8312804" cy="5143500"/>
          </a:xfrm>
          <a:prstGeom prst="rect">
            <a:avLst/>
          </a:prstGeom>
        </p:spPr>
      </p:pic>
      <p:pic>
        <p:nvPicPr>
          <p:cNvPr id="6" name="download">
            <a:hlinkClick r:id="" action="ppaction://media"/>
            <a:extLst>
              <a:ext uri="{FF2B5EF4-FFF2-40B4-BE49-F238E27FC236}">
                <a16:creationId xmlns:a16="http://schemas.microsoft.com/office/drawing/2014/main" id="{2944335E-3CEE-C566-2904-DD5A04BF38C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156736" y="5436474"/>
            <a:ext cx="457201" cy="457200"/>
          </a:xfrm>
          <a:prstGeom prst="rect">
            <a:avLst/>
          </a:prstGeom>
        </p:spPr>
      </p:pic>
      <p:sp>
        <p:nvSpPr>
          <p:cNvPr id="10" name="TextBox 9">
            <a:extLst>
              <a:ext uri="{FF2B5EF4-FFF2-40B4-BE49-F238E27FC236}">
                <a16:creationId xmlns:a16="http://schemas.microsoft.com/office/drawing/2014/main" id="{412F0D7A-0A11-E606-82CC-57327C3F6D87}"/>
              </a:ext>
            </a:extLst>
          </p:cNvPr>
          <p:cNvSpPr txBox="1"/>
          <p:nvPr/>
        </p:nvSpPr>
        <p:spPr>
          <a:xfrm>
            <a:off x="2349874" y="3002339"/>
            <a:ext cx="5294778" cy="1708160"/>
          </a:xfrm>
          <a:prstGeom prst="rect">
            <a:avLst/>
          </a:prstGeom>
          <a:noFill/>
        </p:spPr>
        <p:txBody>
          <a:bodyPr wrap="square">
            <a:spAutoFit/>
          </a:bodyPr>
          <a:lstStyle/>
          <a:p>
            <a:pPr algn="r"/>
            <a:r>
              <a:rPr lang="ar-SA" sz="2100" dirty="0">
                <a:cs typeface="2  Titr" panose="00000700000000000000" pitchFamily="2" charset="-78"/>
              </a:rPr>
              <a:t>«به نام خالق اندیشه و آگاهی،</a:t>
            </a:r>
            <a:br>
              <a:rPr lang="ar-SA" sz="2100" dirty="0">
                <a:cs typeface="2  Titr" panose="00000700000000000000" pitchFamily="2" charset="-78"/>
              </a:rPr>
            </a:br>
            <a:r>
              <a:rPr lang="ar-SA" sz="2100" dirty="0">
                <a:cs typeface="2  Titr" panose="00000700000000000000" pitchFamily="2" charset="-78"/>
              </a:rPr>
              <a:t>به کارگاه آموزشی هوش مصنوعی خوش آمدید.</a:t>
            </a:r>
            <a:br>
              <a:rPr lang="ar-SA" sz="2100" dirty="0">
                <a:cs typeface="2  Titr" panose="00000700000000000000" pitchFamily="2" charset="-78"/>
              </a:rPr>
            </a:br>
            <a:r>
              <a:rPr lang="ar-SA" sz="2100" dirty="0">
                <a:cs typeface="2  Titr" panose="00000700000000000000" pitchFamily="2" charset="-78"/>
              </a:rPr>
              <a:t>امروز اینجا گرد هم آمده‌ایم تا با هم سفری را آغاز کنیم از مرزهای دانش فعلی تا آینده‌ای که به کمک هوش مصنوعی می‌سازیم.»</a:t>
            </a:r>
            <a:endParaRPr lang="en-US" sz="2100" dirty="0">
              <a:cs typeface="2  Titr" panose="00000700000000000000" pitchFamily="2" charset="-78"/>
            </a:endParaRPr>
          </a:p>
        </p:txBody>
      </p:sp>
      <p:sp>
        <p:nvSpPr>
          <p:cNvPr id="12" name="TextBox 11">
            <a:extLst>
              <a:ext uri="{FF2B5EF4-FFF2-40B4-BE49-F238E27FC236}">
                <a16:creationId xmlns:a16="http://schemas.microsoft.com/office/drawing/2014/main" id="{C950A255-FD06-199C-7C05-A821964AD6E0}"/>
              </a:ext>
            </a:extLst>
          </p:cNvPr>
          <p:cNvSpPr txBox="1"/>
          <p:nvPr/>
        </p:nvSpPr>
        <p:spPr>
          <a:xfrm>
            <a:off x="1096773" y="1582046"/>
            <a:ext cx="6547879" cy="1200329"/>
          </a:xfrm>
          <a:prstGeom prst="rect">
            <a:avLst/>
          </a:prstGeom>
          <a:noFill/>
        </p:spPr>
        <p:txBody>
          <a:bodyPr wrap="square">
            <a:spAutoFit/>
          </a:bodyPr>
          <a:lstStyle/>
          <a:p>
            <a:pPr algn="ctr"/>
            <a:r>
              <a:rPr lang="en-US" sz="3600" b="1" dirty="0">
                <a:solidFill>
                  <a:srgbClr val="FFFF00"/>
                </a:solidFill>
              </a:rPr>
              <a:t>https://aistudio.google.com/generate-speech</a:t>
            </a:r>
          </a:p>
        </p:txBody>
      </p:sp>
      <p:sp>
        <p:nvSpPr>
          <p:cNvPr id="2" name="Title 1">
            <a:extLst>
              <a:ext uri="{FF2B5EF4-FFF2-40B4-BE49-F238E27FC236}">
                <a16:creationId xmlns:a16="http://schemas.microsoft.com/office/drawing/2014/main" id="{ACFBAF36-C6DE-5E1E-6FEF-81FF8E66FA5B}"/>
              </a:ext>
            </a:extLst>
          </p:cNvPr>
          <p:cNvSpPr>
            <a:spLocks noGrp="1"/>
          </p:cNvSpPr>
          <p:nvPr>
            <p:ph type="title"/>
          </p:nvPr>
        </p:nvSpPr>
        <p:spPr>
          <a:xfrm>
            <a:off x="628650" y="18255"/>
            <a:ext cx="8312804" cy="946071"/>
          </a:xfrm>
        </p:spPr>
        <p:txBody>
          <a:bodyPr>
            <a:normAutofit/>
          </a:bodyPr>
          <a:lstStyle/>
          <a:p>
            <a:pPr algn="r" rtl="1"/>
            <a:r>
              <a:rPr sz="3600" b="1">
                <a:cs typeface="2  Titr" panose="00000700000000000000" pitchFamily="2" charset="-78"/>
              </a:rPr>
              <a:t>کاربرد </a:t>
            </a:r>
            <a:r>
              <a:rPr sz="3200" b="1">
                <a:latin typeface="Arial Black" panose="020B0A04020102020204" pitchFamily="34" charset="0"/>
                <a:cs typeface="2  Titr" panose="00000700000000000000" pitchFamily="2" charset="-78"/>
              </a:rPr>
              <a:t>Google AI Studio</a:t>
            </a:r>
            <a:endParaRPr sz="3600" b="1">
              <a:cs typeface="2  Titr" panose="00000700000000000000" pitchFamily="2" charset="-78"/>
            </a:endParaRPr>
          </a:p>
        </p:txBody>
      </p:sp>
      <p:sp>
        <p:nvSpPr>
          <p:cNvPr id="3" name="TextBox 2">
            <a:extLst>
              <a:ext uri="{FF2B5EF4-FFF2-40B4-BE49-F238E27FC236}">
                <a16:creationId xmlns:a16="http://schemas.microsoft.com/office/drawing/2014/main" id="{15361DBC-B7B7-C330-772F-A2CC80ECBF53}"/>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76</a:t>
            </a:r>
            <a:endParaRPr lang="fa-IR" sz="1200"/>
          </a:p>
        </p:txBody>
      </p:sp>
    </p:spTree>
    <p:extLst>
      <p:ext uri="{BB962C8B-B14F-4D97-AF65-F5344CB8AC3E}">
        <p14:creationId xmlns:p14="http://schemas.microsoft.com/office/powerpoint/2010/main" val="277595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21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99546FC-D895-D9FE-4D2B-31DEBA779781}"/>
              </a:ext>
            </a:extLst>
          </p:cNvPr>
          <p:cNvSpPr txBox="1"/>
          <p:nvPr/>
        </p:nvSpPr>
        <p:spPr>
          <a:xfrm>
            <a:off x="3884333" y="1220071"/>
            <a:ext cx="5105679" cy="4455066"/>
          </a:xfrm>
          <a:prstGeom prst="rect">
            <a:avLst/>
          </a:prstGeom>
          <a:noFill/>
        </p:spPr>
        <p:txBody>
          <a:bodyPr wrap="square">
            <a:spAutoFit/>
          </a:bodyPr>
          <a:lstStyle/>
          <a:p>
            <a:pPr algn="r"/>
            <a:r>
              <a:rPr lang="en-US" sz="1350" b="1" dirty="0">
                <a:cs typeface="2  Nazanin" panose="00000400000000000000" pitchFamily="2" charset="-78"/>
              </a:rPr>
              <a:t>Speaker 1: </a:t>
            </a:r>
            <a:r>
              <a:rPr lang="ar-SA" sz="1350" b="1" dirty="0">
                <a:cs typeface="2  Nazanin" panose="00000400000000000000" pitchFamily="2" charset="-78"/>
              </a:rPr>
              <a:t>سلام و خوش آمدید، مربیان عزیز!  </a:t>
            </a:r>
          </a:p>
          <a:p>
            <a:pPr algn="r"/>
            <a:r>
              <a:rPr lang="ar-SA" sz="1350" b="1" dirty="0">
                <a:cs typeface="2  Nazanin" panose="00000400000000000000" pitchFamily="2" charset="-78"/>
              </a:rPr>
              <a:t>ما می‌دانیم که منتظر یک کارگاه معمولی بودید...</a:t>
            </a:r>
          </a:p>
          <a:p>
            <a:pPr algn="r"/>
            <a:endParaRPr lang="ar-SA" sz="1350" b="1" dirty="0">
              <a:cs typeface="2  Nazanin" panose="00000400000000000000" pitchFamily="2" charset="-78"/>
            </a:endParaRPr>
          </a:p>
          <a:p>
            <a:pPr algn="r"/>
            <a:r>
              <a:rPr lang="en-US" sz="1350" b="1" dirty="0">
                <a:cs typeface="2  Nazanin" panose="00000400000000000000" pitchFamily="2" charset="-78"/>
              </a:rPr>
              <a:t>Speaker 2: </a:t>
            </a:r>
            <a:r>
              <a:rPr lang="ar-SA" sz="1350" b="1" dirty="0">
                <a:cs typeface="2  Nazanin" panose="00000400000000000000" pitchFamily="2" charset="-78"/>
              </a:rPr>
              <a:t>اما این جلسه، یک جلسه‌ی معمولی نیست...  </a:t>
            </a:r>
          </a:p>
          <a:p>
            <a:pPr algn="r"/>
            <a:r>
              <a:rPr lang="ar-SA" sz="1350" b="1" dirty="0">
                <a:cs typeface="2  Nazanin" panose="00000400000000000000" pitchFamily="2" charset="-78"/>
              </a:rPr>
              <a:t>این آغاز سفری‌ست به دنیای شگفت‌انگیز هوش مصنوعی!</a:t>
            </a:r>
          </a:p>
          <a:p>
            <a:pPr algn="r"/>
            <a:endParaRPr lang="ar-SA" sz="1350" b="1" dirty="0">
              <a:cs typeface="2  Nazanin" panose="00000400000000000000" pitchFamily="2" charset="-78"/>
            </a:endParaRPr>
          </a:p>
          <a:p>
            <a:pPr algn="r"/>
            <a:r>
              <a:rPr lang="en-US" sz="1350" b="1" dirty="0">
                <a:cs typeface="2  Nazanin" panose="00000400000000000000" pitchFamily="2" charset="-78"/>
              </a:rPr>
              <a:t>Speaker 1: </a:t>
            </a:r>
            <a:r>
              <a:rPr lang="ar-SA" sz="1350" b="1" dirty="0">
                <a:cs typeface="2  Nazanin" panose="00000400000000000000" pitchFamily="2" charset="-78"/>
              </a:rPr>
              <a:t>راستی، من انسان نیستم...  </a:t>
            </a:r>
          </a:p>
          <a:p>
            <a:pPr algn="r"/>
            <a:r>
              <a:rPr lang="ar-SA" sz="1350" b="1" dirty="0">
                <a:cs typeface="2  Nazanin" panose="00000400000000000000" pitchFamily="2" charset="-78"/>
              </a:rPr>
              <a:t>من یک صدای مصنوعی هستم، ساخته شده توسط هوش مصنوعی.  </a:t>
            </a:r>
          </a:p>
          <a:p>
            <a:pPr algn="r"/>
            <a:r>
              <a:rPr lang="ar-SA" sz="1350" b="1" dirty="0">
                <a:cs typeface="2  Nazanin" panose="00000400000000000000" pitchFamily="2" charset="-78"/>
              </a:rPr>
              <a:t>و بله — من اینجام تا شما رو شگفت‌زده کنم!</a:t>
            </a:r>
          </a:p>
          <a:p>
            <a:pPr algn="r"/>
            <a:endParaRPr lang="ar-SA" sz="1350" b="1" dirty="0">
              <a:cs typeface="2  Nazanin" panose="00000400000000000000" pitchFamily="2" charset="-78"/>
            </a:endParaRPr>
          </a:p>
          <a:p>
            <a:pPr algn="r"/>
            <a:r>
              <a:rPr lang="en-US" sz="1350" b="1" dirty="0">
                <a:cs typeface="2  Nazanin" panose="00000400000000000000" pitchFamily="2" charset="-78"/>
              </a:rPr>
              <a:t>Speaker 2: </a:t>
            </a:r>
            <a:r>
              <a:rPr lang="ar-SA" sz="1350" b="1" dirty="0">
                <a:cs typeface="2  Nazanin" panose="00000400000000000000" pitchFamily="2" charset="-78"/>
              </a:rPr>
              <a:t>دقیقاً! در این کارگاه با دنیایی آشنا می‌شید که در اون ماشین‌ها می‌تونن صحبت کنن، فکر کنن، خلق کنن — درست مثل من!</a:t>
            </a:r>
          </a:p>
          <a:p>
            <a:pPr algn="r"/>
            <a:endParaRPr lang="ar-SA" sz="1350" b="1" dirty="0">
              <a:cs typeface="2  Nazanin" panose="00000400000000000000" pitchFamily="2" charset="-78"/>
            </a:endParaRPr>
          </a:p>
          <a:p>
            <a:pPr algn="r"/>
            <a:r>
              <a:rPr lang="en-US" sz="1350" b="1" dirty="0">
                <a:cs typeface="2  Nazanin" panose="00000400000000000000" pitchFamily="2" charset="-78"/>
              </a:rPr>
              <a:t>Speaker 1: </a:t>
            </a:r>
            <a:r>
              <a:rPr lang="ar-SA" sz="1350" b="1" dirty="0">
                <a:cs typeface="2  Nazanin" panose="00000400000000000000" pitchFamily="2" charset="-78"/>
              </a:rPr>
              <a:t>ولی نگران نباشید، ما اینجا نیستیم که جای معلم‌ها رو بگیریم...  </a:t>
            </a:r>
          </a:p>
          <a:p>
            <a:pPr algn="r"/>
            <a:r>
              <a:rPr lang="ar-SA" sz="1350" b="1" dirty="0">
                <a:cs typeface="2  Nazanin" panose="00000400000000000000" pitchFamily="2" charset="-78"/>
              </a:rPr>
              <a:t>ما اینجاییم که به شما قدرت بدیم — به شما مربیان، راهنمایان و سازندگان آینده.</a:t>
            </a:r>
          </a:p>
          <a:p>
            <a:pPr algn="r"/>
            <a:endParaRPr lang="ar-SA" sz="1350" b="1" dirty="0">
              <a:cs typeface="2  Nazanin" panose="00000400000000000000" pitchFamily="2" charset="-78"/>
            </a:endParaRPr>
          </a:p>
          <a:p>
            <a:pPr algn="r"/>
            <a:r>
              <a:rPr lang="en-US" sz="1350" b="1" dirty="0">
                <a:cs typeface="2  Nazanin" panose="00000400000000000000" pitchFamily="2" charset="-78"/>
              </a:rPr>
              <a:t>Speaker 2: </a:t>
            </a:r>
            <a:r>
              <a:rPr lang="ar-SA" sz="1350" b="1" dirty="0">
                <a:cs typeface="2  Nazanin" panose="00000400000000000000" pitchFamily="2" charset="-78"/>
              </a:rPr>
              <a:t>پس کنجکاوی‌تون رو همراه بیارید،  </a:t>
            </a:r>
          </a:p>
          <a:p>
            <a:pPr algn="r"/>
            <a:r>
              <a:rPr lang="ar-SA" sz="1350" b="1" dirty="0">
                <a:cs typeface="2  Nazanin" panose="00000400000000000000" pitchFamily="2" charset="-78"/>
              </a:rPr>
              <a:t>دفتر یا ذهنتون رو باز کنید،  </a:t>
            </a:r>
          </a:p>
          <a:p>
            <a:pPr algn="r"/>
            <a:r>
              <a:rPr lang="ar-SA" sz="1350" b="1" dirty="0">
                <a:cs typeface="2  Nazanin" panose="00000400000000000000" pitchFamily="2" charset="-78"/>
              </a:rPr>
              <a:t>و با هم قدم بگذاریم به آینده‌ی آموزش...</a:t>
            </a:r>
          </a:p>
          <a:p>
            <a:pPr algn="r"/>
            <a:endParaRPr lang="ar-SA" sz="1350" b="1" dirty="0">
              <a:cs typeface="2  Nazanin" panose="00000400000000000000" pitchFamily="2" charset="-78"/>
            </a:endParaRPr>
          </a:p>
          <a:p>
            <a:pPr algn="r"/>
            <a:r>
              <a:rPr lang="en-US" sz="1350" b="1" dirty="0">
                <a:cs typeface="2  Nazanin" panose="00000400000000000000" pitchFamily="2" charset="-78"/>
              </a:rPr>
              <a:t>Speaker 1 &amp; Speaker 2: </a:t>
            </a:r>
            <a:r>
              <a:rPr lang="ar-SA" sz="1350" b="1" dirty="0">
                <a:cs typeface="2  Nazanin" panose="00000400000000000000" pitchFamily="2" charset="-78"/>
              </a:rPr>
              <a:t>به کارگاه «هوش مصنوعی برای مربیان» خوش آمدید! </a:t>
            </a:r>
            <a:endParaRPr lang="en-US" sz="1350" b="1" dirty="0">
              <a:cs typeface="2  Nazanin" panose="00000400000000000000" pitchFamily="2" charset="-78"/>
            </a:endParaRPr>
          </a:p>
        </p:txBody>
      </p:sp>
      <p:pic>
        <p:nvPicPr>
          <p:cNvPr id="11" name="download (3)">
            <a:hlinkClick r:id="" action="ppaction://media"/>
            <a:extLst>
              <a:ext uri="{FF2B5EF4-FFF2-40B4-BE49-F238E27FC236}">
                <a16:creationId xmlns:a16="http://schemas.microsoft.com/office/drawing/2014/main" id="{DFCAA9D5-6B73-DE08-7480-2398CAF9ABC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3655733" y="5631203"/>
            <a:ext cx="457200" cy="457200"/>
          </a:xfrm>
          <a:prstGeom prst="rect">
            <a:avLst/>
          </a:prstGeom>
        </p:spPr>
      </p:pic>
      <p:pic>
        <p:nvPicPr>
          <p:cNvPr id="13" name="Picture 12">
            <a:extLst>
              <a:ext uri="{FF2B5EF4-FFF2-40B4-BE49-F238E27FC236}">
                <a16:creationId xmlns:a16="http://schemas.microsoft.com/office/drawing/2014/main" id="{122BA1DD-E13D-6321-C0F2-6B254FE17269}"/>
              </a:ext>
            </a:extLst>
          </p:cNvPr>
          <p:cNvPicPr>
            <a:picLocks noChangeAspect="1"/>
          </p:cNvPicPr>
          <p:nvPr/>
        </p:nvPicPr>
        <p:blipFill>
          <a:blip r:embed="rId5"/>
          <a:stretch>
            <a:fillRect/>
          </a:stretch>
        </p:blipFill>
        <p:spPr>
          <a:xfrm>
            <a:off x="153988" y="1099299"/>
            <a:ext cx="8793073" cy="4538630"/>
          </a:xfrm>
          <a:prstGeom prst="rect">
            <a:avLst/>
          </a:prstGeom>
        </p:spPr>
      </p:pic>
      <p:sp>
        <p:nvSpPr>
          <p:cNvPr id="2" name="Title 1">
            <a:extLst>
              <a:ext uri="{FF2B5EF4-FFF2-40B4-BE49-F238E27FC236}">
                <a16:creationId xmlns:a16="http://schemas.microsoft.com/office/drawing/2014/main" id="{0A10F734-8225-6849-BA94-8846E7906133}"/>
              </a:ext>
            </a:extLst>
          </p:cNvPr>
          <p:cNvSpPr>
            <a:spLocks noGrp="1"/>
          </p:cNvSpPr>
          <p:nvPr>
            <p:ph type="title"/>
          </p:nvPr>
        </p:nvSpPr>
        <p:spPr>
          <a:xfrm>
            <a:off x="628650" y="18255"/>
            <a:ext cx="8312804" cy="946071"/>
          </a:xfrm>
        </p:spPr>
        <p:txBody>
          <a:bodyPr>
            <a:normAutofit/>
          </a:bodyPr>
          <a:lstStyle/>
          <a:p>
            <a:pPr algn="r" rtl="1"/>
            <a:r>
              <a:rPr sz="3600" b="1">
                <a:cs typeface="2  Titr" panose="00000700000000000000" pitchFamily="2" charset="-78"/>
              </a:rPr>
              <a:t>کاربرد </a:t>
            </a:r>
            <a:r>
              <a:rPr sz="3200" b="1">
                <a:latin typeface="Arial Black" panose="020B0A04020102020204" pitchFamily="34" charset="0"/>
                <a:cs typeface="2  Titr" panose="00000700000000000000" pitchFamily="2" charset="-78"/>
              </a:rPr>
              <a:t>Google AI Studio</a:t>
            </a:r>
            <a:endParaRPr sz="3600" b="1">
              <a:cs typeface="2  Titr" panose="00000700000000000000" pitchFamily="2" charset="-78"/>
            </a:endParaRPr>
          </a:p>
        </p:txBody>
      </p:sp>
      <p:sp>
        <p:nvSpPr>
          <p:cNvPr id="3" name="TextBox 2">
            <a:extLst>
              <a:ext uri="{FF2B5EF4-FFF2-40B4-BE49-F238E27FC236}">
                <a16:creationId xmlns:a16="http://schemas.microsoft.com/office/drawing/2014/main" id="{1554D6A1-027F-4514-94EA-A258EDBC9384}"/>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77</a:t>
            </a:r>
            <a:endParaRPr lang="fa-IR" sz="1200"/>
          </a:p>
        </p:txBody>
      </p:sp>
    </p:spTree>
    <p:extLst>
      <p:ext uri="{BB962C8B-B14F-4D97-AF65-F5344CB8AC3E}">
        <p14:creationId xmlns:p14="http://schemas.microsoft.com/office/powerpoint/2010/main" val="259743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50" fill="hold"/>
                                        <p:tgtEl>
                                          <p:spTgt spid="11"/>
                                        </p:tgtEl>
                                      </p:cBhvr>
                                    </p:cmd>
                                  </p:childTnLst>
                                </p:cTn>
                              </p:par>
                            </p:childTnLst>
                          </p:cTn>
                        </p:par>
                        <p:par>
                          <p:cTn id="7" fill="hold">
                            <p:stCondLst>
                              <p:cond delay="60050"/>
                            </p:stCondLst>
                            <p:childTnLst>
                              <p:par>
                                <p:cTn id="8" presetID="1" presetClass="entr" presetSubtype="0" fill="hold"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101C69-FA5D-8619-078F-987D32A4A291}"/>
              </a:ext>
            </a:extLst>
          </p:cNvPr>
          <p:cNvSpPr txBox="1"/>
          <p:nvPr/>
        </p:nvSpPr>
        <p:spPr>
          <a:xfrm>
            <a:off x="3359524" y="964326"/>
            <a:ext cx="5395632" cy="2585323"/>
          </a:xfrm>
          <a:prstGeom prst="rect">
            <a:avLst/>
          </a:prstGeom>
          <a:noFill/>
        </p:spPr>
        <p:txBody>
          <a:bodyPr wrap="square">
            <a:spAutoFit/>
          </a:bodyPr>
          <a:lstStyle/>
          <a:p>
            <a:pPr algn="r" rtl="1"/>
            <a:r>
              <a:rPr lang="ar-SA" sz="2700" dirty="0">
                <a:cs typeface="2  Nazanin" panose="00000400000000000000" pitchFamily="2" charset="-78"/>
              </a:rPr>
              <a:t>«هوش مصنوعی دیگر فقط یک فناوری نیست، بلکه زبان جدیدی است که جهان آینده با آن سخن می‌گوید.</a:t>
            </a:r>
            <a:br>
              <a:rPr lang="ar-SA" sz="2700" dirty="0">
                <a:cs typeface="2  Nazanin" panose="00000400000000000000" pitchFamily="2" charset="-78"/>
              </a:rPr>
            </a:br>
            <a:r>
              <a:rPr lang="ar-SA" sz="2700" dirty="0">
                <a:cs typeface="2  Nazanin" panose="00000400000000000000" pitchFamily="2" charset="-78"/>
              </a:rPr>
              <a:t>و شما، مربیان آینده‌ساز، قرار است پیام‌آوران این زبان در کلاس‌ها، کتابخانه‌ها، و نهادهای فرهنگی باشید.»</a:t>
            </a:r>
            <a:endParaRPr lang="en-US" sz="2700" dirty="0">
              <a:cs typeface="2  Nazanin" panose="00000400000000000000" pitchFamily="2" charset="-78"/>
            </a:endParaRPr>
          </a:p>
        </p:txBody>
      </p:sp>
      <p:pic>
        <p:nvPicPr>
          <p:cNvPr id="6" name="download (1)">
            <a:hlinkClick r:id="" action="ppaction://media"/>
            <a:extLst>
              <a:ext uri="{FF2B5EF4-FFF2-40B4-BE49-F238E27FC236}">
                <a16:creationId xmlns:a16="http://schemas.microsoft.com/office/drawing/2014/main" id="{C2B8CFD7-E479-0D11-33D0-0EB69B3A8B8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417360" y="5287990"/>
            <a:ext cx="457200" cy="457200"/>
          </a:xfrm>
          <a:prstGeom prst="rect">
            <a:avLst/>
          </a:prstGeom>
        </p:spPr>
      </p:pic>
      <p:pic>
        <p:nvPicPr>
          <p:cNvPr id="8" name="Picture 7">
            <a:extLst>
              <a:ext uri="{FF2B5EF4-FFF2-40B4-BE49-F238E27FC236}">
                <a16:creationId xmlns:a16="http://schemas.microsoft.com/office/drawing/2014/main" id="{A2F877A7-A580-7D04-8C83-C2A028B46DBD}"/>
              </a:ext>
            </a:extLst>
          </p:cNvPr>
          <p:cNvPicPr>
            <a:picLocks noChangeAspect="1"/>
          </p:cNvPicPr>
          <p:nvPr/>
        </p:nvPicPr>
        <p:blipFill>
          <a:blip r:embed="rId5"/>
          <a:stretch>
            <a:fillRect/>
          </a:stretch>
        </p:blipFill>
        <p:spPr>
          <a:xfrm>
            <a:off x="1" y="1194157"/>
            <a:ext cx="3210485" cy="4469687"/>
          </a:xfrm>
          <a:prstGeom prst="rect">
            <a:avLst/>
          </a:prstGeom>
        </p:spPr>
      </p:pic>
      <p:sp>
        <p:nvSpPr>
          <p:cNvPr id="2" name="Title 1">
            <a:extLst>
              <a:ext uri="{FF2B5EF4-FFF2-40B4-BE49-F238E27FC236}">
                <a16:creationId xmlns:a16="http://schemas.microsoft.com/office/drawing/2014/main" id="{3E87DD88-93B7-7CC3-EF47-4DF0093C9882}"/>
              </a:ext>
            </a:extLst>
          </p:cNvPr>
          <p:cNvSpPr>
            <a:spLocks noGrp="1"/>
          </p:cNvSpPr>
          <p:nvPr>
            <p:ph type="title"/>
          </p:nvPr>
        </p:nvSpPr>
        <p:spPr>
          <a:xfrm>
            <a:off x="628650" y="18255"/>
            <a:ext cx="8312804" cy="946071"/>
          </a:xfrm>
        </p:spPr>
        <p:txBody>
          <a:bodyPr>
            <a:normAutofit/>
          </a:bodyPr>
          <a:lstStyle/>
          <a:p>
            <a:pPr algn="r" rtl="1"/>
            <a:r>
              <a:rPr sz="3600" b="1">
                <a:cs typeface="2  Titr" panose="00000700000000000000" pitchFamily="2" charset="-78"/>
              </a:rPr>
              <a:t>کاربرد </a:t>
            </a:r>
            <a:r>
              <a:rPr sz="3200" b="1">
                <a:latin typeface="Arial Black" panose="020B0A04020102020204" pitchFamily="34" charset="0"/>
                <a:cs typeface="2  Titr" panose="00000700000000000000" pitchFamily="2" charset="-78"/>
              </a:rPr>
              <a:t>Google AI Studio</a:t>
            </a:r>
            <a:endParaRPr sz="3600" b="1">
              <a:cs typeface="2  Titr" panose="00000700000000000000" pitchFamily="2" charset="-78"/>
            </a:endParaRPr>
          </a:p>
        </p:txBody>
      </p:sp>
      <p:sp>
        <p:nvSpPr>
          <p:cNvPr id="3" name="TextBox 2">
            <a:extLst>
              <a:ext uri="{FF2B5EF4-FFF2-40B4-BE49-F238E27FC236}">
                <a16:creationId xmlns:a16="http://schemas.microsoft.com/office/drawing/2014/main" id="{7AC76451-26ED-AA75-95CB-01D531B79761}"/>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78</a:t>
            </a:r>
            <a:endParaRPr lang="fa-IR" sz="1200"/>
          </a:p>
        </p:txBody>
      </p:sp>
    </p:spTree>
    <p:extLst>
      <p:ext uri="{BB962C8B-B14F-4D97-AF65-F5344CB8AC3E}">
        <p14:creationId xmlns:p14="http://schemas.microsoft.com/office/powerpoint/2010/main" val="731103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01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101C69-FA5D-8619-078F-987D32A4A291}"/>
              </a:ext>
            </a:extLst>
          </p:cNvPr>
          <p:cNvSpPr txBox="1"/>
          <p:nvPr/>
        </p:nvSpPr>
        <p:spPr>
          <a:xfrm>
            <a:off x="450976" y="1249024"/>
            <a:ext cx="5708277" cy="1754326"/>
          </a:xfrm>
          <a:prstGeom prst="rect">
            <a:avLst/>
          </a:prstGeom>
          <a:noFill/>
        </p:spPr>
        <p:txBody>
          <a:bodyPr wrap="square">
            <a:spAutoFit/>
          </a:bodyPr>
          <a:lstStyle/>
          <a:p>
            <a:pPr algn="r" rtl="1"/>
            <a:r>
              <a:rPr lang="ar-SA" sz="2700" dirty="0">
                <a:cs typeface="2  Nazanin" panose="00000400000000000000" pitchFamily="2" charset="-78"/>
              </a:rPr>
              <a:t>«در این کارگاه، نمی‌خواهیم فقط با ابزارها و الگوریتم‌ها آشنا شویم؛</a:t>
            </a:r>
          </a:p>
          <a:p>
            <a:pPr algn="r" rtl="1"/>
            <a:r>
              <a:rPr lang="ar-SA" sz="2700" dirty="0">
                <a:cs typeface="2  Nazanin" panose="00000400000000000000" pitchFamily="2" charset="-78"/>
              </a:rPr>
              <a:t>می‌خواهیم نگاه‌مان به آموزش، خلاقیت، و آینده‌ی یادگیری را بازتعریف کنیم.»</a:t>
            </a:r>
            <a:endParaRPr lang="en-US" sz="2700" dirty="0">
              <a:cs typeface="2  Nazanin" panose="00000400000000000000" pitchFamily="2" charset="-78"/>
            </a:endParaRPr>
          </a:p>
        </p:txBody>
      </p:sp>
      <p:pic>
        <p:nvPicPr>
          <p:cNvPr id="2" name="download (2)">
            <a:hlinkClick r:id="" action="ppaction://media"/>
            <a:extLst>
              <a:ext uri="{FF2B5EF4-FFF2-40B4-BE49-F238E27FC236}">
                <a16:creationId xmlns:a16="http://schemas.microsoft.com/office/drawing/2014/main" id="{33F1AD7B-4110-8E39-A527-21D77D275C3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616869" y="4279106"/>
            <a:ext cx="457200" cy="457200"/>
          </a:xfrm>
          <a:prstGeom prst="rect">
            <a:avLst/>
          </a:prstGeom>
        </p:spPr>
      </p:pic>
      <p:pic>
        <p:nvPicPr>
          <p:cNvPr id="4" name="Picture 3">
            <a:extLst>
              <a:ext uri="{FF2B5EF4-FFF2-40B4-BE49-F238E27FC236}">
                <a16:creationId xmlns:a16="http://schemas.microsoft.com/office/drawing/2014/main" id="{89A0023E-348F-7184-E160-B1427B7E108C}"/>
              </a:ext>
            </a:extLst>
          </p:cNvPr>
          <p:cNvPicPr>
            <a:picLocks noChangeAspect="1"/>
          </p:cNvPicPr>
          <p:nvPr/>
        </p:nvPicPr>
        <p:blipFill>
          <a:blip r:embed="rId5"/>
          <a:stretch>
            <a:fillRect/>
          </a:stretch>
        </p:blipFill>
        <p:spPr>
          <a:xfrm>
            <a:off x="6548717" y="2015699"/>
            <a:ext cx="2400300" cy="3657600"/>
          </a:xfrm>
          <a:prstGeom prst="rect">
            <a:avLst/>
          </a:prstGeom>
        </p:spPr>
      </p:pic>
      <p:sp>
        <p:nvSpPr>
          <p:cNvPr id="3" name="Title 1">
            <a:extLst>
              <a:ext uri="{FF2B5EF4-FFF2-40B4-BE49-F238E27FC236}">
                <a16:creationId xmlns:a16="http://schemas.microsoft.com/office/drawing/2014/main" id="{8412A537-905E-33E3-5F2D-999AC4106B1D}"/>
              </a:ext>
            </a:extLst>
          </p:cNvPr>
          <p:cNvSpPr>
            <a:spLocks noGrp="1"/>
          </p:cNvSpPr>
          <p:nvPr>
            <p:ph type="title"/>
          </p:nvPr>
        </p:nvSpPr>
        <p:spPr>
          <a:xfrm>
            <a:off x="628650" y="18255"/>
            <a:ext cx="8312804" cy="946071"/>
          </a:xfrm>
        </p:spPr>
        <p:txBody>
          <a:bodyPr>
            <a:normAutofit/>
          </a:bodyPr>
          <a:lstStyle/>
          <a:p>
            <a:pPr algn="r" rtl="1"/>
            <a:r>
              <a:rPr sz="3600" b="1">
                <a:cs typeface="2  Titr" panose="00000700000000000000" pitchFamily="2" charset="-78"/>
              </a:rPr>
              <a:t>کاربرد </a:t>
            </a:r>
            <a:r>
              <a:rPr sz="3200" b="1">
                <a:latin typeface="Arial Black" panose="020B0A04020102020204" pitchFamily="34" charset="0"/>
                <a:cs typeface="2  Titr" panose="00000700000000000000" pitchFamily="2" charset="-78"/>
              </a:rPr>
              <a:t>Google AI Studio</a:t>
            </a:r>
            <a:endParaRPr sz="3600" b="1">
              <a:cs typeface="2  Titr" panose="00000700000000000000" pitchFamily="2" charset="-78"/>
            </a:endParaRPr>
          </a:p>
        </p:txBody>
      </p:sp>
      <p:sp>
        <p:nvSpPr>
          <p:cNvPr id="6" name="TextBox 5">
            <a:extLst>
              <a:ext uri="{FF2B5EF4-FFF2-40B4-BE49-F238E27FC236}">
                <a16:creationId xmlns:a16="http://schemas.microsoft.com/office/drawing/2014/main" id="{5EDD2231-755E-9CC5-A6CC-91DA7210EC9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79</a:t>
            </a:r>
            <a:endParaRPr lang="fa-IR" sz="1200"/>
          </a:p>
        </p:txBody>
      </p:sp>
    </p:spTree>
    <p:extLst>
      <p:ext uri="{BB962C8B-B14F-4D97-AF65-F5344CB8AC3E}">
        <p14:creationId xmlns:p14="http://schemas.microsoft.com/office/powerpoint/2010/main" val="133343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09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719447-4B88-9840-E1AB-70DE7544BADB}"/>
              </a:ext>
            </a:extLst>
          </p:cNvPr>
          <p:cNvPicPr>
            <a:picLocks noChangeAspect="1"/>
          </p:cNvPicPr>
          <p:nvPr/>
        </p:nvPicPr>
        <p:blipFill>
          <a:blip r:embed="rId4"/>
          <a:stretch>
            <a:fillRect/>
          </a:stretch>
        </p:blipFill>
        <p:spPr>
          <a:xfrm>
            <a:off x="152400" y="108137"/>
            <a:ext cx="8839200" cy="3790950"/>
          </a:xfrm>
          <a:prstGeom prst="rect">
            <a:avLst/>
          </a:prstGeom>
        </p:spPr>
      </p:pic>
      <p:pic>
        <p:nvPicPr>
          <p:cNvPr id="7" name="Picture 6">
            <a:extLst>
              <a:ext uri="{FF2B5EF4-FFF2-40B4-BE49-F238E27FC236}">
                <a16:creationId xmlns:a16="http://schemas.microsoft.com/office/drawing/2014/main" id="{C17DFB19-6616-6FFC-5FCE-DD4B1DA953BA}"/>
              </a:ext>
            </a:extLst>
          </p:cNvPr>
          <p:cNvPicPr>
            <a:picLocks noChangeAspect="1"/>
          </p:cNvPicPr>
          <p:nvPr/>
        </p:nvPicPr>
        <p:blipFill>
          <a:blip r:embed="rId5"/>
          <a:stretch>
            <a:fillRect/>
          </a:stretch>
        </p:blipFill>
        <p:spPr>
          <a:xfrm>
            <a:off x="1022350" y="4059128"/>
            <a:ext cx="7296430" cy="2798872"/>
          </a:xfrm>
          <a:prstGeom prst="rect">
            <a:avLst/>
          </a:prstGeom>
        </p:spPr>
      </p:pic>
      <p:pic>
        <p:nvPicPr>
          <p:cNvPr id="8" name="download (7)">
            <a:hlinkClick r:id="" action="ppaction://media"/>
            <a:extLst>
              <a:ext uri="{FF2B5EF4-FFF2-40B4-BE49-F238E27FC236}">
                <a16:creationId xmlns:a16="http://schemas.microsoft.com/office/drawing/2014/main" id="{9C2B0DCF-4344-9B96-C08B-20DA72B7F46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17550" y="5773738"/>
            <a:ext cx="609600" cy="609600"/>
          </a:xfrm>
          <a:prstGeom prst="rect">
            <a:avLst/>
          </a:prstGeom>
        </p:spPr>
      </p:pic>
      <p:sp>
        <p:nvSpPr>
          <p:cNvPr id="10" name="TextBox 9">
            <a:extLst>
              <a:ext uri="{FF2B5EF4-FFF2-40B4-BE49-F238E27FC236}">
                <a16:creationId xmlns:a16="http://schemas.microsoft.com/office/drawing/2014/main" id="{3906A262-61EC-9769-297A-9FA5F0D7E944}"/>
              </a:ext>
            </a:extLst>
          </p:cNvPr>
          <p:cNvSpPr txBox="1"/>
          <p:nvPr/>
        </p:nvSpPr>
        <p:spPr>
          <a:xfrm>
            <a:off x="609600" y="4782700"/>
            <a:ext cx="5145741" cy="461665"/>
          </a:xfrm>
          <a:prstGeom prst="rect">
            <a:avLst/>
          </a:prstGeom>
          <a:noFill/>
        </p:spPr>
        <p:txBody>
          <a:bodyPr wrap="square">
            <a:spAutoFit/>
          </a:bodyPr>
          <a:lstStyle/>
          <a:p>
            <a:pPr algn="r" rtl="1"/>
            <a:r>
              <a:rPr lang="ar-SA" sz="2400" b="1" i="0">
                <a:solidFill>
                  <a:schemeClr val="bg1"/>
                </a:solidFill>
                <a:effectLst/>
                <a:latin typeface="Google Sans Text"/>
                <a:cs typeface="2  Nazanin" panose="00000400000000000000" pitchFamily="2" charset="-78"/>
              </a:rPr>
              <a:t>عنوان اصلی این اس</a:t>
            </a:r>
            <a:r>
              <a:rPr lang="fa-IR" sz="2400" b="1" i="0">
                <a:solidFill>
                  <a:schemeClr val="bg1"/>
                </a:solidFill>
                <a:effectLst/>
                <a:latin typeface="Google Sans Text"/>
                <a:cs typeface="2  Nazanin" panose="00000400000000000000" pitchFamily="2" charset="-78"/>
              </a:rPr>
              <a:t>لای</a:t>
            </a:r>
            <a:r>
              <a:rPr lang="ar-SA" sz="2400" b="1" i="0">
                <a:solidFill>
                  <a:schemeClr val="bg1"/>
                </a:solidFill>
                <a:effectLst/>
                <a:latin typeface="Google Sans Text"/>
                <a:cs typeface="2  Nazanin" panose="00000400000000000000" pitchFamily="2" charset="-78"/>
              </a:rPr>
              <a:t>د</a:t>
            </a:r>
            <a:r>
              <a:rPr lang="fa-IR" sz="2400" b="1" i="0">
                <a:solidFill>
                  <a:schemeClr val="bg1"/>
                </a:solidFill>
                <a:effectLst/>
                <a:latin typeface="Google Sans Text"/>
                <a:cs typeface="2  Nazanin" panose="00000400000000000000" pitchFamily="2" charset="-78"/>
              </a:rPr>
              <a:t>؟</a:t>
            </a:r>
            <a:r>
              <a:rPr lang="ar-SA" sz="2400" b="1" i="0">
                <a:solidFill>
                  <a:schemeClr val="bg1"/>
                </a:solidFill>
                <a:effectLst/>
                <a:latin typeface="Google Sans Text"/>
                <a:cs typeface="2  Nazanin" panose="00000400000000000000" pitchFamily="2" charset="-78"/>
              </a:rPr>
              <a:t> در مورد منوها</a:t>
            </a:r>
            <a:r>
              <a:rPr lang="fa-IR" sz="2400" b="1" i="0">
                <a:solidFill>
                  <a:schemeClr val="bg1"/>
                </a:solidFill>
                <a:effectLst/>
                <a:latin typeface="Google Sans Text"/>
                <a:cs typeface="2  Nazanin" panose="00000400000000000000" pitchFamily="2" charset="-78"/>
              </a:rPr>
              <a:t>؟</a:t>
            </a:r>
            <a:r>
              <a:rPr lang="ar-SA" sz="2400" b="1" i="0">
                <a:solidFill>
                  <a:schemeClr val="bg1"/>
                </a:solidFill>
                <a:effectLst/>
                <a:latin typeface="Google Sans Text"/>
                <a:cs typeface="2  Nazanin" panose="00000400000000000000" pitchFamily="2" charset="-78"/>
              </a:rPr>
              <a:t> </a:t>
            </a:r>
            <a:endParaRPr lang="fa-IR" sz="2400" b="1">
              <a:solidFill>
                <a:schemeClr val="bg1"/>
              </a:solidFill>
              <a:cs typeface="2  Nazanin" panose="00000400000000000000" pitchFamily="2" charset="-78"/>
            </a:endParaRPr>
          </a:p>
        </p:txBody>
      </p:sp>
      <p:sp>
        <p:nvSpPr>
          <p:cNvPr id="11" name="Title 1">
            <a:extLst>
              <a:ext uri="{FF2B5EF4-FFF2-40B4-BE49-F238E27FC236}">
                <a16:creationId xmlns:a16="http://schemas.microsoft.com/office/drawing/2014/main" id="{F38251E6-F0A4-0974-4318-B3A61540B264}"/>
              </a:ext>
            </a:extLst>
          </p:cNvPr>
          <p:cNvSpPr>
            <a:spLocks noGrp="1"/>
          </p:cNvSpPr>
          <p:nvPr>
            <p:ph type="title"/>
          </p:nvPr>
        </p:nvSpPr>
        <p:spPr>
          <a:xfrm>
            <a:off x="2689412" y="18255"/>
            <a:ext cx="6252042" cy="946071"/>
          </a:xfrm>
        </p:spPr>
        <p:txBody>
          <a:bodyPr>
            <a:normAutofit/>
          </a:bodyPr>
          <a:lstStyle/>
          <a:p>
            <a:pPr algn="r" rtl="1"/>
            <a:r>
              <a:rPr sz="3600" b="1">
                <a:cs typeface="2  Titr" panose="00000700000000000000" pitchFamily="2" charset="-78"/>
              </a:rPr>
              <a:t>کاربرد </a:t>
            </a:r>
            <a:r>
              <a:rPr sz="3200" b="1">
                <a:latin typeface="Arial Black" panose="020B0A04020102020204" pitchFamily="34" charset="0"/>
                <a:cs typeface="2  Titr" panose="00000700000000000000" pitchFamily="2" charset="-78"/>
              </a:rPr>
              <a:t>Google AI Studio</a:t>
            </a:r>
            <a:endParaRPr sz="3600" b="1">
              <a:cs typeface="2  Titr" panose="00000700000000000000" pitchFamily="2" charset="-78"/>
            </a:endParaRPr>
          </a:p>
        </p:txBody>
      </p:sp>
      <p:sp>
        <p:nvSpPr>
          <p:cNvPr id="2" name="TextBox 1">
            <a:extLst>
              <a:ext uri="{FF2B5EF4-FFF2-40B4-BE49-F238E27FC236}">
                <a16:creationId xmlns:a16="http://schemas.microsoft.com/office/drawing/2014/main" id="{62DA39F2-6055-B35B-50A1-8218CDEB1403}"/>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80</a:t>
            </a:r>
            <a:endParaRPr lang="fa-IR" sz="1200"/>
          </a:p>
        </p:txBody>
      </p:sp>
    </p:spTree>
    <p:extLst>
      <p:ext uri="{BB962C8B-B14F-4D97-AF65-F5344CB8AC3E}">
        <p14:creationId xmlns:p14="http://schemas.microsoft.com/office/powerpoint/2010/main" val="9903199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9080"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53506A-4B37-EB3A-0E47-9D009E466C6F}"/>
              </a:ext>
            </a:extLst>
          </p:cNvPr>
          <p:cNvSpPr txBox="1"/>
          <p:nvPr/>
        </p:nvSpPr>
        <p:spPr>
          <a:xfrm>
            <a:off x="61513" y="317580"/>
            <a:ext cx="9144000" cy="584775"/>
          </a:xfrm>
          <a:prstGeom prst="rect">
            <a:avLst/>
          </a:prstGeom>
          <a:noFill/>
        </p:spPr>
        <p:txBody>
          <a:bodyPr wrap="square">
            <a:spAutoFit/>
          </a:bodyPr>
          <a:lstStyle/>
          <a:p>
            <a:pPr algn="r" rtl="1"/>
            <a:r>
              <a:rPr lang="en-US" sz="3200" b="1">
                <a:cs typeface="2  Titr" panose="00000700000000000000" pitchFamily="2" charset="-78"/>
              </a:rPr>
              <a:t>🎙️ </a:t>
            </a:r>
            <a:r>
              <a:rPr lang="ar-SA" sz="3200" b="1">
                <a:cs typeface="2  Titr" panose="00000700000000000000" pitchFamily="2" charset="-78"/>
              </a:rPr>
              <a:t>معرفی </a:t>
            </a:r>
            <a:r>
              <a:rPr lang="en-US" sz="3200" b="1">
                <a:cs typeface="2  Titr" panose="00000700000000000000" pitchFamily="2" charset="-78"/>
              </a:rPr>
              <a:t>ElevenLabs </a:t>
            </a:r>
            <a:r>
              <a:rPr lang="fa-IR" sz="3200" b="1">
                <a:cs typeface="2  Titr" panose="00000700000000000000" pitchFamily="2" charset="-78"/>
              </a:rPr>
              <a:t>-</a:t>
            </a:r>
            <a:r>
              <a:rPr lang="en-US" sz="3200" b="1">
                <a:cs typeface="2  Titr" panose="00000700000000000000" pitchFamily="2" charset="-78"/>
              </a:rPr>
              <a:t> </a:t>
            </a:r>
            <a:r>
              <a:rPr lang="ar-SA" sz="3200" b="1">
                <a:cs typeface="2  Titr" panose="00000700000000000000" pitchFamily="2" charset="-78"/>
              </a:rPr>
              <a:t>صداسازی هوشمند با هوش مصنوعی</a:t>
            </a:r>
            <a:endParaRPr lang="fa-IR" sz="3200" b="1">
              <a:cs typeface="2  Titr" panose="00000700000000000000" pitchFamily="2" charset="-78"/>
            </a:endParaRPr>
          </a:p>
        </p:txBody>
      </p:sp>
      <p:sp>
        <p:nvSpPr>
          <p:cNvPr id="6" name="Rectangle 1">
            <a:extLst>
              <a:ext uri="{FF2B5EF4-FFF2-40B4-BE49-F238E27FC236}">
                <a16:creationId xmlns:a16="http://schemas.microsoft.com/office/drawing/2014/main" id="{6BF443C9-028C-FA41-E018-98C79F08BBD2}"/>
              </a:ext>
            </a:extLst>
          </p:cNvPr>
          <p:cNvSpPr>
            <a:spLocks noChangeArrowheads="1"/>
          </p:cNvSpPr>
          <p:nvPr/>
        </p:nvSpPr>
        <p:spPr bwMode="auto">
          <a:xfrm>
            <a:off x="2" y="872039"/>
            <a:ext cx="9143999"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تبدیل متن به گفتار طبیعی</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با کیفیت انسانی، پشتیبانی از بیش از </a:t>
            </a:r>
            <a:r>
              <a:rPr kumimoji="0" lang="fa-IR"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۷۰</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زبان از جمله فارسی</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342900" marR="0" lvl="0" indent="-342900" algn="r" defTabSz="914400" rtl="1"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قابلیت شبیه‌سازی صدا</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(Voice Cloning)</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تنها با چند ثانیه صدای نمونه</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342900" marR="0" lvl="0" indent="-342900" algn="r" defTabSz="914400" rtl="1"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VoiceLab</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برای ساخت صدای دلخواه با تنظیم سن، لحن و لهجه</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342900" marR="0" lvl="0" indent="-342900" algn="r" defTabSz="914400" rtl="1"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کاربردها</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کتاب صوتی، پادکست، بازی، آموزش، و دستیارهای صوتی</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342900" marR="0" lvl="0" indent="-342900" algn="r" defTabSz="914400" rtl="1"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API </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برای توسعه‌دهندگان</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(پایتون، جاوااسکریپت) جهت استفاده در اپ‌ها و وب‌سایت‌ها</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342900" marR="0" lvl="0" indent="-342900" algn="r" defTabSz="914400" rtl="1" eaLnBrk="0" fontAlgn="base" latinLnBrk="0" hangingPunct="0">
              <a:lnSpc>
                <a:spcPct val="100000"/>
              </a:lnSpc>
              <a:spcBef>
                <a:spcPct val="0"/>
              </a:spcBef>
              <a:spcAft>
                <a:spcPts val="600"/>
              </a:spcAft>
              <a:buClrTx/>
              <a:buSzTx/>
              <a:buFont typeface="Wingdings" panose="05000000000000000000" pitchFamily="2" charset="2"/>
              <a:buChar char="§"/>
              <a:tabLst/>
            </a:pP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دسترسی آنلاین و آسان</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بدون نیاز به نصب – قابل استفاده برای افراد، شرکت‌ها و تولیدکنندگان محتوا</a:t>
            </a:r>
            <a:r>
              <a:rPr kumimoji="0" lang="en-US" altLang="en-US"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8" name="TextBox 7">
            <a:extLst>
              <a:ext uri="{FF2B5EF4-FFF2-40B4-BE49-F238E27FC236}">
                <a16:creationId xmlns:a16="http://schemas.microsoft.com/office/drawing/2014/main" id="{EF5D345D-DF33-2B24-22EB-582A00D19CD1}"/>
              </a:ext>
            </a:extLst>
          </p:cNvPr>
          <p:cNvSpPr txBox="1"/>
          <p:nvPr/>
        </p:nvSpPr>
        <p:spPr>
          <a:xfrm>
            <a:off x="155642" y="1517445"/>
            <a:ext cx="3005847" cy="369332"/>
          </a:xfrm>
          <a:prstGeom prst="rect">
            <a:avLst/>
          </a:prstGeom>
          <a:noFill/>
        </p:spPr>
        <p:txBody>
          <a:bodyPr wrap="square">
            <a:spAutoFit/>
          </a:bodyPr>
          <a:lstStyle/>
          <a:p>
            <a:r>
              <a:rPr lang="en-US"/>
              <a:t>🔗 </a:t>
            </a:r>
            <a:r>
              <a:rPr lang="en-US">
                <a:hlinkClick r:id="rId2"/>
              </a:rPr>
              <a:t>https://elevenlabs.io</a:t>
            </a:r>
            <a:endParaRPr lang="fa-IR"/>
          </a:p>
        </p:txBody>
      </p:sp>
      <p:sp>
        <p:nvSpPr>
          <p:cNvPr id="9" name="TextBox 8">
            <a:extLst>
              <a:ext uri="{FF2B5EF4-FFF2-40B4-BE49-F238E27FC236}">
                <a16:creationId xmlns:a16="http://schemas.microsoft.com/office/drawing/2014/main" id="{6BD403FE-A156-5EE0-D3DA-31916FAAB6EE}"/>
              </a:ext>
            </a:extLst>
          </p:cNvPr>
          <p:cNvSpPr txBox="1"/>
          <p:nvPr/>
        </p:nvSpPr>
        <p:spPr>
          <a:xfrm>
            <a:off x="4740518" y="3265434"/>
            <a:ext cx="4464995" cy="369332"/>
          </a:xfrm>
          <a:prstGeom prst="rect">
            <a:avLst/>
          </a:prstGeom>
          <a:noFill/>
        </p:spPr>
        <p:txBody>
          <a:bodyPr wrap="square">
            <a:spAutoFit/>
          </a:bodyPr>
          <a:lstStyle/>
          <a:p>
            <a:pPr algn="r" rtl="1"/>
            <a:r>
              <a:rPr lang="en-US" b="1">
                <a:cs typeface="2  Titr" panose="00000700000000000000" pitchFamily="2" charset="-78"/>
              </a:rPr>
              <a:t>📌 </a:t>
            </a:r>
            <a:r>
              <a:rPr lang="ar-SA" b="1">
                <a:cs typeface="2  Titr" panose="00000700000000000000" pitchFamily="2" charset="-78"/>
              </a:rPr>
              <a:t>پروژه ۱: تولید کتاب صوتی با صدای مصنوعی</a:t>
            </a:r>
            <a:endParaRPr lang="fa-IR" b="1">
              <a:cs typeface="2  Titr" panose="00000700000000000000" pitchFamily="2" charset="-78"/>
            </a:endParaRPr>
          </a:p>
        </p:txBody>
      </p:sp>
      <p:sp>
        <p:nvSpPr>
          <p:cNvPr id="10" name="TextBox 9">
            <a:extLst>
              <a:ext uri="{FF2B5EF4-FFF2-40B4-BE49-F238E27FC236}">
                <a16:creationId xmlns:a16="http://schemas.microsoft.com/office/drawing/2014/main" id="{75E2E248-9E54-6BA7-11FF-1D4ABB71E9E8}"/>
              </a:ext>
            </a:extLst>
          </p:cNvPr>
          <p:cNvSpPr txBox="1"/>
          <p:nvPr/>
        </p:nvSpPr>
        <p:spPr>
          <a:xfrm>
            <a:off x="1822221" y="3710273"/>
            <a:ext cx="7383292" cy="369332"/>
          </a:xfrm>
          <a:prstGeom prst="rect">
            <a:avLst/>
          </a:prstGeom>
          <a:noFill/>
        </p:spPr>
        <p:txBody>
          <a:bodyPr wrap="square">
            <a:spAutoFit/>
          </a:bodyPr>
          <a:lstStyle/>
          <a:p>
            <a:pPr algn="r" rtl="1"/>
            <a:r>
              <a:rPr lang="en-US" b="1">
                <a:cs typeface="2  Titr" panose="00000700000000000000" pitchFamily="2" charset="-78"/>
              </a:rPr>
              <a:t>🎭 </a:t>
            </a:r>
            <a:r>
              <a:rPr lang="ar-SA" b="1">
                <a:cs typeface="2  Titr" panose="00000700000000000000" pitchFamily="2" charset="-78"/>
              </a:rPr>
              <a:t>پروژه </a:t>
            </a:r>
            <a:r>
              <a:rPr lang="fa-IR" b="1">
                <a:cs typeface="2  Titr" panose="00000700000000000000" pitchFamily="2" charset="-78"/>
              </a:rPr>
              <a:t>۲</a:t>
            </a:r>
            <a:r>
              <a:rPr lang="ar-SA" b="1">
                <a:cs typeface="2  Titr" panose="00000700000000000000" pitchFamily="2" charset="-78"/>
              </a:rPr>
              <a:t>: دوبله هوش‌مند یک انیمیشن کوتاه یا ویدیو آموزشی</a:t>
            </a:r>
            <a:endParaRPr lang="fa-IR" b="1">
              <a:cs typeface="2  Titr" panose="00000700000000000000" pitchFamily="2" charset="-78"/>
            </a:endParaRPr>
          </a:p>
        </p:txBody>
      </p:sp>
      <p:sp>
        <p:nvSpPr>
          <p:cNvPr id="2" name="TextBox 1">
            <a:extLst>
              <a:ext uri="{FF2B5EF4-FFF2-40B4-BE49-F238E27FC236}">
                <a16:creationId xmlns:a16="http://schemas.microsoft.com/office/drawing/2014/main" id="{7583A5C8-7480-F043-7931-ED3439834E6E}"/>
              </a:ext>
            </a:extLst>
          </p:cNvPr>
          <p:cNvSpPr txBox="1"/>
          <p:nvPr/>
        </p:nvSpPr>
        <p:spPr>
          <a:xfrm>
            <a:off x="564777" y="4155112"/>
            <a:ext cx="8640736" cy="646331"/>
          </a:xfrm>
          <a:prstGeom prst="rect">
            <a:avLst/>
          </a:prstGeom>
          <a:noFill/>
        </p:spPr>
        <p:txBody>
          <a:bodyPr wrap="square">
            <a:spAutoFit/>
          </a:bodyPr>
          <a:lstStyle/>
          <a:p>
            <a:pPr algn="r" rtl="1"/>
            <a:r>
              <a:rPr lang="en-US" b="1">
                <a:cs typeface="2  Titr" panose="00000700000000000000" pitchFamily="2" charset="-78"/>
              </a:rPr>
              <a:t>📌 </a:t>
            </a:r>
            <a:r>
              <a:rPr lang="ar-SA" b="1">
                <a:cs typeface="2  Titr" panose="00000700000000000000" pitchFamily="2" charset="-78"/>
              </a:rPr>
              <a:t>پروژه </a:t>
            </a:r>
            <a:r>
              <a:rPr lang="fa-IR" b="1">
                <a:cs typeface="2  Titr" panose="00000700000000000000" pitchFamily="2" charset="-78"/>
              </a:rPr>
              <a:t>۳</a:t>
            </a:r>
            <a:r>
              <a:rPr lang="ar-SA" b="1">
                <a:cs typeface="2  Titr" panose="00000700000000000000" pitchFamily="2" charset="-78"/>
              </a:rPr>
              <a:t>: </a:t>
            </a:r>
            <a:r>
              <a:rPr lang="fa-IR" b="1">
                <a:cs typeface="2  Titr" panose="00000700000000000000" pitchFamily="2" charset="-78"/>
              </a:rPr>
              <a:t>یک متن با احساس‌های مختلف!!!</a:t>
            </a:r>
            <a:endParaRPr lang="ar-SA" b="1">
              <a:cs typeface="2  Titr" panose="00000700000000000000" pitchFamily="2" charset="-78"/>
            </a:endParaRPr>
          </a:p>
          <a:p>
            <a:pPr algn="r" rtl="1"/>
            <a:endParaRPr lang="fa-IR" b="1">
              <a:cs typeface="2  Titr" panose="00000700000000000000" pitchFamily="2" charset="-78"/>
            </a:endParaRPr>
          </a:p>
        </p:txBody>
      </p:sp>
      <p:sp>
        <p:nvSpPr>
          <p:cNvPr id="3" name="TextBox 2">
            <a:extLst>
              <a:ext uri="{FF2B5EF4-FFF2-40B4-BE49-F238E27FC236}">
                <a16:creationId xmlns:a16="http://schemas.microsoft.com/office/drawing/2014/main" id="{E17827C1-9F4D-A720-986D-1554986CA15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81</a:t>
            </a:r>
            <a:endParaRPr lang="fa-IR" sz="1200"/>
          </a:p>
        </p:txBody>
      </p:sp>
    </p:spTree>
    <p:extLst>
      <p:ext uri="{BB962C8B-B14F-4D97-AF65-F5344CB8AC3E}">
        <p14:creationId xmlns:p14="http://schemas.microsoft.com/office/powerpoint/2010/main" val="1302818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D0B5897-32C0-99F4-9D06-7BF60523D321}"/>
              </a:ext>
            </a:extLst>
          </p:cNvPr>
          <p:cNvPicPr>
            <a:picLocks noChangeAspect="1"/>
          </p:cNvPicPr>
          <p:nvPr/>
        </p:nvPicPr>
        <p:blipFill>
          <a:blip r:embed="rId6"/>
          <a:stretch>
            <a:fillRect/>
          </a:stretch>
        </p:blipFill>
        <p:spPr>
          <a:xfrm>
            <a:off x="1372257" y="884640"/>
            <a:ext cx="6079577" cy="4314771"/>
          </a:xfrm>
          <a:prstGeom prst="rect">
            <a:avLst/>
          </a:prstGeom>
        </p:spPr>
      </p:pic>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41855324-DEAF-81EC-B14B-F3529CB1FFF2}"/>
                  </a:ext>
                </a:extLst>
              </p14:cNvPr>
              <p14:cNvContentPartPr/>
              <p14:nvPr/>
            </p14:nvContentPartPr>
            <p14:xfrm>
              <a:off x="5874890" y="588186"/>
              <a:ext cx="16920" cy="112320"/>
            </p14:xfrm>
          </p:contentPart>
        </mc:Choice>
        <mc:Fallback xmlns="">
          <p:pic>
            <p:nvPicPr>
              <p:cNvPr id="12" name="Ink 11">
                <a:extLst>
                  <a:ext uri="{FF2B5EF4-FFF2-40B4-BE49-F238E27FC236}">
                    <a16:creationId xmlns:a16="http://schemas.microsoft.com/office/drawing/2014/main" id="{41855324-DEAF-81EC-B14B-F3529CB1FFF2}"/>
                  </a:ext>
                </a:extLst>
              </p:cNvPr>
              <p:cNvPicPr/>
              <p:nvPr/>
            </p:nvPicPr>
            <p:blipFill>
              <a:blip r:embed="rId8"/>
              <a:stretch>
                <a:fillRect/>
              </a:stretch>
            </p:blipFill>
            <p:spPr>
              <a:xfrm>
                <a:off x="5868770" y="582066"/>
                <a:ext cx="291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BF6FDBDE-A017-E51B-7D5D-788637FC76F8}"/>
                  </a:ext>
                </a:extLst>
              </p14:cNvPr>
              <p14:cNvContentPartPr/>
              <p14:nvPr/>
            </p14:nvContentPartPr>
            <p14:xfrm>
              <a:off x="3169130" y="1832346"/>
              <a:ext cx="232920" cy="249120"/>
            </p14:xfrm>
          </p:contentPart>
        </mc:Choice>
        <mc:Fallback xmlns="">
          <p:pic>
            <p:nvPicPr>
              <p:cNvPr id="13" name="Ink 12">
                <a:extLst>
                  <a:ext uri="{FF2B5EF4-FFF2-40B4-BE49-F238E27FC236}">
                    <a16:creationId xmlns:a16="http://schemas.microsoft.com/office/drawing/2014/main" id="{BF6FDBDE-A017-E51B-7D5D-788637FC76F8}"/>
                  </a:ext>
                </a:extLst>
              </p:cNvPr>
              <p:cNvPicPr/>
              <p:nvPr/>
            </p:nvPicPr>
            <p:blipFill>
              <a:blip r:embed="rId10"/>
              <a:stretch>
                <a:fillRect/>
              </a:stretch>
            </p:blipFill>
            <p:spPr>
              <a:xfrm>
                <a:off x="3163010" y="1826226"/>
                <a:ext cx="2451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A49CE2B0-135E-CEA6-85FE-6785C217A9B8}"/>
                  </a:ext>
                </a:extLst>
              </p14:cNvPr>
              <p14:cNvContentPartPr/>
              <p14:nvPr/>
            </p14:nvContentPartPr>
            <p14:xfrm>
              <a:off x="4214210" y="4603266"/>
              <a:ext cx="804960" cy="117000"/>
            </p14:xfrm>
          </p:contentPart>
        </mc:Choice>
        <mc:Fallback xmlns="">
          <p:pic>
            <p:nvPicPr>
              <p:cNvPr id="14" name="Ink 13">
                <a:extLst>
                  <a:ext uri="{FF2B5EF4-FFF2-40B4-BE49-F238E27FC236}">
                    <a16:creationId xmlns:a16="http://schemas.microsoft.com/office/drawing/2014/main" id="{A49CE2B0-135E-CEA6-85FE-6785C217A9B8}"/>
                  </a:ext>
                </a:extLst>
              </p:cNvPr>
              <p:cNvPicPr/>
              <p:nvPr/>
            </p:nvPicPr>
            <p:blipFill>
              <a:blip r:embed="rId12"/>
              <a:stretch>
                <a:fillRect/>
              </a:stretch>
            </p:blipFill>
            <p:spPr>
              <a:xfrm>
                <a:off x="4208090" y="4597146"/>
                <a:ext cx="8172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12A16EA2-5A43-D00D-5E92-FA1FD9EC77B3}"/>
                  </a:ext>
                </a:extLst>
              </p14:cNvPr>
              <p14:cNvContentPartPr/>
              <p14:nvPr/>
            </p14:nvContentPartPr>
            <p14:xfrm>
              <a:off x="4414010" y="4207266"/>
              <a:ext cx="181800" cy="209520"/>
            </p14:xfrm>
          </p:contentPart>
        </mc:Choice>
        <mc:Fallback xmlns="">
          <p:pic>
            <p:nvPicPr>
              <p:cNvPr id="15" name="Ink 14">
                <a:extLst>
                  <a:ext uri="{FF2B5EF4-FFF2-40B4-BE49-F238E27FC236}">
                    <a16:creationId xmlns:a16="http://schemas.microsoft.com/office/drawing/2014/main" id="{12A16EA2-5A43-D00D-5E92-FA1FD9EC77B3}"/>
                  </a:ext>
                </a:extLst>
              </p:cNvPr>
              <p:cNvPicPr/>
              <p:nvPr/>
            </p:nvPicPr>
            <p:blipFill>
              <a:blip r:embed="rId14"/>
              <a:stretch>
                <a:fillRect/>
              </a:stretch>
            </p:blipFill>
            <p:spPr>
              <a:xfrm>
                <a:off x="4407890" y="4201146"/>
                <a:ext cx="194040" cy="221760"/>
              </a:xfrm>
              <a:prstGeom prst="rect">
                <a:avLst/>
              </a:prstGeom>
            </p:spPr>
          </p:pic>
        </mc:Fallback>
      </mc:AlternateContent>
      <p:grpSp>
        <p:nvGrpSpPr>
          <p:cNvPr id="18" name="Group 17">
            <a:extLst>
              <a:ext uri="{FF2B5EF4-FFF2-40B4-BE49-F238E27FC236}">
                <a16:creationId xmlns:a16="http://schemas.microsoft.com/office/drawing/2014/main" id="{7586161C-788E-C590-C5C2-CD286B43D76C}"/>
              </a:ext>
            </a:extLst>
          </p:cNvPr>
          <p:cNvGrpSpPr/>
          <p:nvPr/>
        </p:nvGrpSpPr>
        <p:grpSpPr>
          <a:xfrm>
            <a:off x="5596250" y="4146786"/>
            <a:ext cx="286560" cy="371880"/>
            <a:chOff x="5596250" y="4146786"/>
            <a:chExt cx="286560" cy="371880"/>
          </a:xfrm>
        </p:grpSpPr>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D2E217B2-C28A-9384-C397-5E45A818F152}"/>
                    </a:ext>
                  </a:extLst>
                </p14:cNvPr>
                <p14:cNvContentPartPr/>
                <p14:nvPr/>
              </p14:nvContentPartPr>
              <p14:xfrm>
                <a:off x="5596250" y="4146786"/>
                <a:ext cx="286560" cy="206280"/>
              </p14:xfrm>
            </p:contentPart>
          </mc:Choice>
          <mc:Fallback xmlns="">
            <p:pic>
              <p:nvPicPr>
                <p:cNvPr id="16" name="Ink 15">
                  <a:extLst>
                    <a:ext uri="{FF2B5EF4-FFF2-40B4-BE49-F238E27FC236}">
                      <a16:creationId xmlns:a16="http://schemas.microsoft.com/office/drawing/2014/main" id="{D2E217B2-C28A-9384-C397-5E45A818F152}"/>
                    </a:ext>
                  </a:extLst>
                </p:cNvPr>
                <p:cNvPicPr/>
                <p:nvPr/>
              </p:nvPicPr>
              <p:blipFill>
                <a:blip r:embed="rId16"/>
                <a:stretch>
                  <a:fillRect/>
                </a:stretch>
              </p:blipFill>
              <p:spPr>
                <a:xfrm>
                  <a:off x="5590130" y="4140666"/>
                  <a:ext cx="2988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F7090E40-CC9C-B7BB-48B5-AF7C1945AA56}"/>
                    </a:ext>
                  </a:extLst>
                </p14:cNvPr>
                <p14:cNvContentPartPr/>
                <p14:nvPr/>
              </p14:nvContentPartPr>
              <p14:xfrm>
                <a:off x="5800730" y="4266666"/>
                <a:ext cx="12240" cy="252000"/>
              </p14:xfrm>
            </p:contentPart>
          </mc:Choice>
          <mc:Fallback xmlns="">
            <p:pic>
              <p:nvPicPr>
                <p:cNvPr id="17" name="Ink 16">
                  <a:extLst>
                    <a:ext uri="{FF2B5EF4-FFF2-40B4-BE49-F238E27FC236}">
                      <a16:creationId xmlns:a16="http://schemas.microsoft.com/office/drawing/2014/main" id="{F7090E40-CC9C-B7BB-48B5-AF7C1945AA56}"/>
                    </a:ext>
                  </a:extLst>
                </p:cNvPr>
                <p:cNvPicPr/>
                <p:nvPr/>
              </p:nvPicPr>
              <p:blipFill>
                <a:blip r:embed="rId18"/>
                <a:stretch>
                  <a:fillRect/>
                </a:stretch>
              </p:blipFill>
              <p:spPr>
                <a:xfrm>
                  <a:off x="5794610" y="4260546"/>
                  <a:ext cx="24480" cy="264240"/>
                </a:xfrm>
                <a:prstGeom prst="rect">
                  <a:avLst/>
                </a:prstGeom>
              </p:spPr>
            </p:pic>
          </mc:Fallback>
        </mc:AlternateContent>
      </p:grpSp>
      <p:sp>
        <p:nvSpPr>
          <p:cNvPr id="10" name="TextBox 9">
            <a:extLst>
              <a:ext uri="{FF2B5EF4-FFF2-40B4-BE49-F238E27FC236}">
                <a16:creationId xmlns:a16="http://schemas.microsoft.com/office/drawing/2014/main" id="{989D6EFE-C905-F40F-1111-5A4348B5F82A}"/>
              </a:ext>
            </a:extLst>
          </p:cNvPr>
          <p:cNvSpPr txBox="1"/>
          <p:nvPr/>
        </p:nvSpPr>
        <p:spPr>
          <a:xfrm>
            <a:off x="1813034" y="5622386"/>
            <a:ext cx="4572000" cy="923330"/>
          </a:xfrm>
          <a:prstGeom prst="rect">
            <a:avLst/>
          </a:prstGeom>
          <a:noFill/>
        </p:spPr>
        <p:txBody>
          <a:bodyPr wrap="square">
            <a:spAutoFit/>
          </a:bodyPr>
          <a:lstStyle/>
          <a:p>
            <a:pPr algn="r" rtl="1"/>
            <a:r>
              <a:rPr lang="fa-IR">
                <a:ln w="0"/>
                <a:effectLst>
                  <a:outerShdw blurRad="38100" dist="19050" dir="2700000" algn="tl" rotWithShape="0">
                    <a:schemeClr val="dk1">
                      <a:alpha val="40000"/>
                    </a:schemeClr>
                  </a:outerShdw>
                </a:effectLst>
                <a:cs typeface="2  Titr" panose="00000700000000000000" pitchFamily="2" charset="-78"/>
              </a:rPr>
              <a:t>«در روزگار قاجار، از انقلاب صنعتی عقب ماندیم…</a:t>
            </a:r>
          </a:p>
          <a:p>
            <a:pPr algn="r" rtl="1"/>
            <a:r>
              <a:rPr lang="fa-IR">
                <a:ln w="0"/>
                <a:effectLst>
                  <a:outerShdw blurRad="38100" dist="19050" dir="2700000" algn="tl" rotWithShape="0">
                    <a:schemeClr val="dk1">
                      <a:alpha val="40000"/>
                    </a:schemeClr>
                  </a:outerShdw>
                </a:effectLst>
                <a:cs typeface="2  Titr" panose="00000700000000000000" pitchFamily="2" charset="-78"/>
              </a:rPr>
              <a:t>این‌بار نگذاریم تاریخ تکرار شود.</a:t>
            </a:r>
          </a:p>
          <a:p>
            <a:pPr algn="r" rtl="1"/>
            <a:r>
              <a:rPr lang="fa-IR">
                <a:ln w="0"/>
                <a:effectLst>
                  <a:outerShdw blurRad="38100" dist="19050" dir="2700000" algn="tl" rotWithShape="0">
                    <a:schemeClr val="dk1">
                      <a:alpha val="40000"/>
                    </a:schemeClr>
                  </a:outerShdw>
                </a:effectLst>
                <a:cs typeface="2  Titr" panose="00000700000000000000" pitchFamily="2" charset="-78"/>
              </a:rPr>
              <a:t>ما مسئول‌یم؛ ما می‌توانیم آینده را بسازیم.»</a:t>
            </a:r>
          </a:p>
        </p:txBody>
      </p:sp>
      <p:pic>
        <p:nvPicPr>
          <p:cNvPr id="4" name="Picture 3">
            <a:extLst>
              <a:ext uri="{FF2B5EF4-FFF2-40B4-BE49-F238E27FC236}">
                <a16:creationId xmlns:a16="http://schemas.microsoft.com/office/drawing/2014/main" id="{10B8F574-AB3C-364E-23B6-7020C34C6BF2}"/>
              </a:ext>
            </a:extLst>
          </p:cNvPr>
          <p:cNvPicPr>
            <a:picLocks noChangeAspect="1"/>
          </p:cNvPicPr>
          <p:nvPr/>
        </p:nvPicPr>
        <p:blipFill>
          <a:blip r:embed="rId19"/>
          <a:stretch>
            <a:fillRect/>
          </a:stretch>
        </p:blipFill>
        <p:spPr>
          <a:xfrm>
            <a:off x="2642585" y="166390"/>
            <a:ext cx="3143250" cy="590550"/>
          </a:xfrm>
          <a:prstGeom prst="rect">
            <a:avLst/>
          </a:prstGeom>
        </p:spPr>
      </p:pic>
      <p:pic>
        <p:nvPicPr>
          <p:cNvPr id="7" name="ElevenLabs_2025-06-09T11_26_21__s50_v3">
            <a:hlinkClick r:id="" action="ppaction://media"/>
            <a:extLst>
              <a:ext uri="{FF2B5EF4-FFF2-40B4-BE49-F238E27FC236}">
                <a16:creationId xmlns:a16="http://schemas.microsoft.com/office/drawing/2014/main" id="{443CBCC2-4DF7-F5C1-7972-A161E04A5AAA}"/>
              </a:ext>
            </a:extLst>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8189640" y="3124200"/>
            <a:ext cx="609600" cy="609600"/>
          </a:xfrm>
          <a:prstGeom prst="rect">
            <a:avLst/>
          </a:prstGeom>
        </p:spPr>
      </p:pic>
      <p:pic>
        <p:nvPicPr>
          <p:cNvPr id="9" name="ElevenLabs_2025-06-09T11_46_29__s50_v3">
            <a:hlinkClick r:id="" action="ppaction://media"/>
            <a:extLst>
              <a:ext uri="{FF2B5EF4-FFF2-40B4-BE49-F238E27FC236}">
                <a16:creationId xmlns:a16="http://schemas.microsoft.com/office/drawing/2014/main" id="{10E2AD89-0769-B04D-89A1-CCE7282553FB}"/>
              </a:ext>
            </a:extLst>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8229600" y="4894611"/>
            <a:ext cx="609600" cy="609600"/>
          </a:xfrm>
          <a:prstGeom prst="rect">
            <a:avLst/>
          </a:prstGeom>
        </p:spPr>
      </p:pic>
      <p:sp>
        <p:nvSpPr>
          <p:cNvPr id="2" name="TextBox 1">
            <a:extLst>
              <a:ext uri="{FF2B5EF4-FFF2-40B4-BE49-F238E27FC236}">
                <a16:creationId xmlns:a16="http://schemas.microsoft.com/office/drawing/2014/main" id="{B3674F2B-0FA8-9697-905E-1A870C3112FF}"/>
              </a:ext>
            </a:extLst>
          </p:cNvPr>
          <p:cNvSpPr txBox="1"/>
          <p:nvPr/>
        </p:nvSpPr>
        <p:spPr>
          <a:xfrm>
            <a:off x="8051893" y="239126"/>
            <a:ext cx="747347" cy="276999"/>
          </a:xfrm>
          <a:prstGeom prst="rect">
            <a:avLst/>
          </a:prstGeom>
          <a:noFill/>
        </p:spPr>
        <p:txBody>
          <a:bodyPr wrap="square">
            <a:spAutoFit/>
          </a:bodyPr>
          <a:lstStyle/>
          <a:p>
            <a:pPr algn="ctr"/>
            <a:r>
              <a:rPr lang="fa-IR" sz="1200">
                <a:cs typeface="2  Nazanin" panose="00000400000000000000" pitchFamily="2" charset="-78"/>
              </a:rPr>
              <a:t>اسلاید 82</a:t>
            </a:r>
            <a:endParaRPr lang="fa-IR" sz="1200"/>
          </a:p>
        </p:txBody>
      </p:sp>
    </p:spTree>
    <p:extLst>
      <p:ext uri="{BB962C8B-B14F-4D97-AF65-F5344CB8AC3E}">
        <p14:creationId xmlns:p14="http://schemas.microsoft.com/office/powerpoint/2010/main" val="145351330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639" fill="hold"/>
                                        <p:tgtEl>
                                          <p:spTgt spid="9"/>
                                        </p:tgtEl>
                                      </p:cBhvr>
                                    </p:cmd>
                                  </p:childTnLst>
                                </p:cTn>
                              </p:par>
                            </p:childTnLst>
                          </p:cTn>
                        </p:par>
                      </p:childTnLst>
                    </p:cTn>
                  </p:par>
                </p:childTnLst>
              </p:cTn>
              <p:nextCondLst>
                <p:cond evt="onClick" delay="0">
                  <p:tgtEl>
                    <p:spTgt spid="9"/>
                  </p:tgtEl>
                </p:cond>
              </p:nextCondLst>
            </p:seq>
            <p:audio>
              <p:cMediaNode vol="80000">
                <p:cTn id="7" fill="hold" display="0">
                  <p:stCondLst>
                    <p:cond delay="indefinite"/>
                  </p:stCondLst>
                  <p:endCondLst>
                    <p:cond evt="onStopAudio" delay="0">
                      <p:tgtEl>
                        <p:sldTgt/>
                      </p:tgtEl>
                    </p:cond>
                  </p:endCondLst>
                </p:cTn>
                <p:tgtEl>
                  <p:spTgt spid="9"/>
                </p:tgtEl>
              </p:cMediaNode>
            </p:audi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2277" fill="hold"/>
                                        <p:tgtEl>
                                          <p:spTgt spid="7"/>
                                        </p:tgtEl>
                                      </p:cBhvr>
                                    </p:cmd>
                                  </p:childTnLst>
                                </p:cTn>
                              </p:par>
                            </p:childTnLst>
                          </p:cTn>
                        </p:par>
                      </p:childTnLst>
                    </p:cTn>
                  </p:par>
                </p:childTnLst>
              </p:cTn>
              <p:nextCondLst>
                <p:cond evt="onClick" delay="0">
                  <p:tgtEl>
                    <p:spTgt spid="7"/>
                  </p:tgtEl>
                </p:cond>
              </p:nextCondLst>
            </p:seq>
            <p:audio>
              <p:cMediaNode vol="80000">
                <p:cTn id="13" fill="hold" display="0">
                  <p:stCondLst>
                    <p:cond delay="indefinite"/>
                  </p:stCondLst>
                  <p:endCondLst>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5" y="150813"/>
            <a:ext cx="8315325" cy="1325563"/>
          </a:xfrm>
        </p:spPr>
        <p:txBody>
          <a:bodyPr>
            <a:normAutofit/>
          </a:bodyPr>
          <a:lstStyle/>
          <a:p>
            <a:pPr algn="r" rtl="1"/>
            <a:r>
              <a:rPr sz="3200" b="1">
                <a:cs typeface="Titr" panose="00000700000000000000" pitchFamily="2" charset="-78"/>
              </a:rPr>
              <a:t>معرفی </a:t>
            </a:r>
            <a:r>
              <a:rPr sz="4000" b="1">
                <a:cs typeface="Titr" panose="00000700000000000000" pitchFamily="2" charset="-78"/>
              </a:rPr>
              <a:t>HeyGen</a:t>
            </a:r>
            <a:r>
              <a:rPr sz="3200" b="1">
                <a:cs typeface="Titr" panose="00000700000000000000" pitchFamily="2" charset="-78"/>
              </a:rPr>
              <a:t> </a:t>
            </a:r>
            <a:r>
              <a:rPr lang="fa-IR" sz="3200" b="1">
                <a:cs typeface="Titr" panose="00000700000000000000" pitchFamily="2" charset="-78"/>
              </a:rPr>
              <a:t> </a:t>
            </a:r>
            <a:r>
              <a:rPr sz="3200" b="1">
                <a:cs typeface="Titr" panose="00000700000000000000" pitchFamily="2" charset="-78"/>
              </a:rPr>
              <a:t>و کاربردهای آن</a:t>
            </a:r>
          </a:p>
        </p:txBody>
      </p:sp>
      <p:sp>
        <p:nvSpPr>
          <p:cNvPr id="3" name="Content Placeholder 2"/>
          <p:cNvSpPr>
            <a:spLocks noGrp="1"/>
          </p:cNvSpPr>
          <p:nvPr>
            <p:ph idx="1"/>
          </p:nvPr>
        </p:nvSpPr>
        <p:spPr>
          <a:xfrm>
            <a:off x="1" y="1600201"/>
            <a:ext cx="8943974" cy="2246586"/>
          </a:xfrm>
        </p:spPr>
        <p:txBody>
          <a:bodyPr>
            <a:normAutofit/>
          </a:bodyPr>
          <a:lstStyle/>
          <a:p>
            <a:pPr algn="r" rtl="1"/>
            <a:r>
              <a:rPr sz="2000">
                <a:cs typeface="2  Nazanin" panose="00000400000000000000" pitchFamily="2" charset="-78"/>
              </a:rPr>
              <a:t>HeyGen چیست؟</a:t>
            </a:r>
            <a:endParaRPr lang="fa-IR" sz="2000">
              <a:cs typeface="2  Nazanin" panose="00000400000000000000" pitchFamily="2" charset="-78"/>
            </a:endParaRPr>
          </a:p>
          <a:p>
            <a:pPr marL="0" indent="0" algn="r" rtl="1">
              <a:buNone/>
            </a:pPr>
            <a:r>
              <a:rPr sz="2000" i="1">
                <a:cs typeface="2  Nazanin" panose="00000400000000000000" pitchFamily="2" charset="-78"/>
              </a:rPr>
              <a:t> - ساخت ویدیو با آواتار و صدای شما با هوش مصنوعی</a:t>
            </a:r>
          </a:p>
          <a:p>
            <a:pPr algn="r" rtl="1"/>
            <a:r>
              <a:rPr sz="2000">
                <a:cs typeface="2  Nazanin" panose="00000400000000000000" pitchFamily="2" charset="-78"/>
              </a:rPr>
              <a:t>کاربردها</a:t>
            </a:r>
            <a:r>
              <a:rPr lang="fa-IR" sz="2000">
                <a:cs typeface="2  Nazanin" panose="00000400000000000000" pitchFamily="2" charset="-78"/>
              </a:rPr>
              <a:t>:</a:t>
            </a:r>
            <a:r>
              <a:rPr sz="2000">
                <a:cs typeface="2  Nazanin" panose="00000400000000000000" pitchFamily="2" charset="-78"/>
              </a:rPr>
              <a:t> ویدیوهای آموزشی، تبلیغاتی، شخصی‌سازی‌شده</a:t>
            </a:r>
          </a:p>
          <a:p>
            <a:pPr algn="r" rtl="1"/>
            <a:r>
              <a:rPr sz="2000">
                <a:cs typeface="2  Nazanin" panose="00000400000000000000" pitchFamily="2" charset="-78"/>
              </a:rPr>
              <a:t>امکانات</a:t>
            </a:r>
            <a:r>
              <a:rPr lang="fa-IR" sz="2000">
                <a:cs typeface="2  Nazanin" panose="00000400000000000000" pitchFamily="2" charset="-78"/>
              </a:rPr>
              <a:t>:</a:t>
            </a:r>
            <a:r>
              <a:rPr sz="2000">
                <a:cs typeface="2  Nazanin" panose="00000400000000000000" pitchFamily="2" charset="-78"/>
              </a:rPr>
              <a:t> ترجمه و دوبله، آواتار آماده یا سفارشی</a:t>
            </a:r>
          </a:p>
          <a:p>
            <a:pPr algn="r" rtl="1"/>
            <a:r>
              <a:rPr sz="2000">
                <a:cs typeface="2  Nazanin" panose="00000400000000000000" pitchFamily="2" charset="-78"/>
              </a:rPr>
              <a:t>مناسب برای</a:t>
            </a:r>
            <a:r>
              <a:rPr lang="fa-IR" sz="2000">
                <a:cs typeface="2  Nazanin" panose="00000400000000000000" pitchFamily="2" charset="-78"/>
              </a:rPr>
              <a:t>: </a:t>
            </a:r>
            <a:r>
              <a:rPr sz="2000">
                <a:cs typeface="2  Nazanin" panose="00000400000000000000" pitchFamily="2" charset="-78"/>
              </a:rPr>
              <a:t>مدرسان، بازاریاب‌ها، تولیدکنندگان محتوا</a:t>
            </a:r>
          </a:p>
        </p:txBody>
      </p:sp>
      <p:pic>
        <p:nvPicPr>
          <p:cNvPr id="7" name="Picture 6">
            <a:extLst>
              <a:ext uri="{FF2B5EF4-FFF2-40B4-BE49-F238E27FC236}">
                <a16:creationId xmlns:a16="http://schemas.microsoft.com/office/drawing/2014/main" id="{725D3501-FEF6-FAC5-3C61-5A9DA96C0027}"/>
              </a:ext>
            </a:extLst>
          </p:cNvPr>
          <p:cNvPicPr>
            <a:picLocks noChangeAspect="1"/>
          </p:cNvPicPr>
          <p:nvPr/>
        </p:nvPicPr>
        <p:blipFill>
          <a:blip r:embed="rId2"/>
          <a:stretch>
            <a:fillRect/>
          </a:stretch>
        </p:blipFill>
        <p:spPr>
          <a:xfrm>
            <a:off x="2500311" y="3846787"/>
            <a:ext cx="4572000" cy="2466339"/>
          </a:xfrm>
          <a:prstGeom prst="rect">
            <a:avLst/>
          </a:prstGeom>
        </p:spPr>
      </p:pic>
      <p:sp>
        <p:nvSpPr>
          <p:cNvPr id="9" name="TextBox 8">
            <a:extLst>
              <a:ext uri="{FF2B5EF4-FFF2-40B4-BE49-F238E27FC236}">
                <a16:creationId xmlns:a16="http://schemas.microsoft.com/office/drawing/2014/main" id="{943DC04B-12F8-CA15-7447-BEE5B07DB76B}"/>
              </a:ext>
            </a:extLst>
          </p:cNvPr>
          <p:cNvSpPr txBox="1"/>
          <p:nvPr/>
        </p:nvSpPr>
        <p:spPr>
          <a:xfrm>
            <a:off x="269780" y="6309436"/>
            <a:ext cx="9033062" cy="584775"/>
          </a:xfrm>
          <a:prstGeom prst="rect">
            <a:avLst/>
          </a:prstGeom>
          <a:noFill/>
        </p:spPr>
        <p:txBody>
          <a:bodyPr wrap="square">
            <a:spAutoFit/>
          </a:bodyPr>
          <a:lstStyle/>
          <a:p>
            <a:pPr algn="ctr"/>
            <a:r>
              <a:rPr lang="en-US" sz="3200" b="1" dirty="0"/>
              <a:t>https://app.heygen.com</a:t>
            </a:r>
          </a:p>
        </p:txBody>
      </p:sp>
      <p:sp>
        <p:nvSpPr>
          <p:cNvPr id="4" name="TextBox 3">
            <a:extLst>
              <a:ext uri="{FF2B5EF4-FFF2-40B4-BE49-F238E27FC236}">
                <a16:creationId xmlns:a16="http://schemas.microsoft.com/office/drawing/2014/main" id="{6F402E8B-DF6A-A04D-1BE1-D19D9B9FB9B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83</a:t>
            </a:r>
            <a:endParaRPr lang="fa-I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073917" cy="1325563"/>
          </a:xfrm>
        </p:spPr>
        <p:txBody>
          <a:bodyPr>
            <a:normAutofit/>
          </a:bodyPr>
          <a:lstStyle/>
          <a:p>
            <a:pPr algn="r" rtl="1"/>
            <a:r>
              <a:rPr sz="3200">
                <a:cs typeface="Titr" panose="00000700000000000000" pitchFamily="2" charset="-78"/>
              </a:rPr>
              <a:t>مراحل ساخت آواتار شخصی با </a:t>
            </a:r>
            <a:r>
              <a:rPr sz="3600" b="1">
                <a:cs typeface="Titr" panose="00000700000000000000" pitchFamily="2" charset="-78"/>
              </a:rPr>
              <a:t>HeyGen</a:t>
            </a:r>
            <a:endParaRPr sz="3200" b="1">
              <a:cs typeface="Titr" panose="00000700000000000000" pitchFamily="2" charset="-78"/>
            </a:endParaRPr>
          </a:p>
        </p:txBody>
      </p:sp>
      <p:sp>
        <p:nvSpPr>
          <p:cNvPr id="3" name="Content Placeholder 2"/>
          <p:cNvSpPr>
            <a:spLocks noGrp="1"/>
          </p:cNvSpPr>
          <p:nvPr>
            <p:ph idx="1"/>
          </p:nvPr>
        </p:nvSpPr>
        <p:spPr>
          <a:xfrm>
            <a:off x="628651" y="1431488"/>
            <a:ext cx="7886700" cy="1784678"/>
          </a:xfrm>
        </p:spPr>
        <p:txBody>
          <a:bodyPr>
            <a:normAutofit/>
          </a:bodyPr>
          <a:lstStyle/>
          <a:p>
            <a:pPr marL="0" indent="0" algn="r" rtl="1">
              <a:buNone/>
            </a:pPr>
            <a:r>
              <a:rPr sz="2000">
                <a:cs typeface="Nazanin" panose="00000400000000000000" pitchFamily="2" charset="-78"/>
              </a:rPr>
              <a:t>۱. ورود به حساب در https://app.heygen.com</a:t>
            </a:r>
          </a:p>
          <a:p>
            <a:pPr marL="0" indent="0" algn="r" rtl="1">
              <a:buNone/>
            </a:pPr>
            <a:r>
              <a:rPr sz="2000">
                <a:cs typeface="Nazanin" panose="00000400000000000000" pitchFamily="2" charset="-78"/>
              </a:rPr>
              <a:t>۲. رفتن به بخش Avatar </a:t>
            </a:r>
            <a:r>
              <a:rPr lang="fa-IR" sz="2000">
                <a:cs typeface="Nazanin" panose="00000400000000000000" pitchFamily="2" charset="-78"/>
              </a:rPr>
              <a:t> </a:t>
            </a:r>
            <a:r>
              <a:rPr sz="2000">
                <a:cs typeface="Nazanin" panose="00000400000000000000" pitchFamily="2" charset="-78"/>
              </a:rPr>
              <a:t>و انتخاب Create Avatar</a:t>
            </a:r>
          </a:p>
          <a:p>
            <a:pPr marL="0" indent="0" algn="r" rtl="1">
              <a:buNone/>
            </a:pPr>
            <a:r>
              <a:rPr sz="2000">
                <a:cs typeface="Nazanin" panose="00000400000000000000" pitchFamily="2" charset="-78"/>
              </a:rPr>
              <a:t>۳. آپلود عکس یا ویدیو طبق راهنما </a:t>
            </a:r>
            <a:r>
              <a:rPr lang="fa-IR" sz="2000">
                <a:cs typeface="Nazanin" panose="00000400000000000000" pitchFamily="2" charset="-78"/>
              </a:rPr>
              <a:t>(</a:t>
            </a:r>
            <a:r>
              <a:rPr sz="2000">
                <a:cs typeface="Nazanin" panose="00000400000000000000" pitchFamily="2" charset="-78"/>
              </a:rPr>
              <a:t>مثلاً خواندن یک متن مشخص</a:t>
            </a:r>
            <a:r>
              <a:rPr lang="fa-IR" sz="2000">
                <a:cs typeface="Nazanin" panose="00000400000000000000" pitchFamily="2" charset="-78"/>
              </a:rPr>
              <a:t>)</a:t>
            </a:r>
            <a:endParaRPr sz="2000">
              <a:cs typeface="Nazanin" panose="00000400000000000000" pitchFamily="2" charset="-78"/>
            </a:endParaRPr>
          </a:p>
          <a:p>
            <a:pPr marL="0" indent="0" algn="r" rtl="1">
              <a:buNone/>
            </a:pPr>
            <a:r>
              <a:rPr sz="2000">
                <a:cs typeface="Nazanin" panose="00000400000000000000" pitchFamily="2" charset="-78"/>
              </a:rPr>
              <a:t>۴. پردازش آواتار </a:t>
            </a:r>
            <a:r>
              <a:rPr lang="fa-IR" sz="2000">
                <a:cs typeface="Nazanin" panose="00000400000000000000" pitchFamily="2" charset="-78"/>
              </a:rPr>
              <a:t>(</a:t>
            </a:r>
            <a:r>
              <a:rPr sz="2000">
                <a:cs typeface="Nazanin" panose="00000400000000000000" pitchFamily="2" charset="-78"/>
              </a:rPr>
              <a:t>مدت زمان: حدود ۱۰ تا ۲۰ دقیقه</a:t>
            </a:r>
            <a:r>
              <a:rPr lang="fa-IR" sz="2000">
                <a:cs typeface="Nazanin" panose="00000400000000000000" pitchFamily="2" charset="-78"/>
              </a:rPr>
              <a:t>)</a:t>
            </a:r>
            <a:endParaRPr sz="2000">
              <a:cs typeface="Nazanin" panose="00000400000000000000" pitchFamily="2" charset="-78"/>
            </a:endParaRPr>
          </a:p>
        </p:txBody>
      </p:sp>
      <p:sp>
        <p:nvSpPr>
          <p:cNvPr id="4" name="Title 1"/>
          <p:cNvSpPr txBox="1">
            <a:spLocks/>
          </p:cNvSpPr>
          <p:nvPr/>
        </p:nvSpPr>
        <p:spPr>
          <a:xfrm>
            <a:off x="815866" y="320040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r>
              <a:rPr lang="ar-SA" sz="3200">
                <a:cs typeface="Titr" panose="00000700000000000000" pitchFamily="2" charset="-78"/>
              </a:rPr>
              <a:t> تولید ویدیو با آواتار شما</a:t>
            </a:r>
          </a:p>
        </p:txBody>
      </p:sp>
      <p:sp>
        <p:nvSpPr>
          <p:cNvPr id="5" name="Content Placeholder 2"/>
          <p:cNvSpPr txBox="1">
            <a:spLocks/>
          </p:cNvSpPr>
          <p:nvPr/>
        </p:nvSpPr>
        <p:spPr>
          <a:xfrm>
            <a:off x="815866" y="4282528"/>
            <a:ext cx="7886700" cy="19896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buFont typeface="Arial" panose="020B0604020202020204" pitchFamily="34" charset="0"/>
              <a:buNone/>
            </a:pPr>
            <a:r>
              <a:rPr lang="ar-SA" sz="2400">
                <a:cs typeface="Nazanin" panose="00000400000000000000" pitchFamily="2" charset="-78"/>
              </a:rPr>
              <a:t>۱. انتخاب گزینه </a:t>
            </a:r>
            <a:r>
              <a:rPr lang="en-US" sz="2400">
                <a:cs typeface="Nazanin" panose="00000400000000000000" pitchFamily="2" charset="-78"/>
              </a:rPr>
              <a:t>Create Video  </a:t>
            </a:r>
            <a:r>
              <a:rPr lang="ar-SA" sz="2400">
                <a:cs typeface="Nazanin" panose="00000400000000000000" pitchFamily="2" charset="-78"/>
              </a:rPr>
              <a:t>از داشبورد</a:t>
            </a:r>
          </a:p>
          <a:p>
            <a:pPr marL="0" indent="0" algn="r" rtl="1">
              <a:buFont typeface="Arial" panose="020B0604020202020204" pitchFamily="34" charset="0"/>
              <a:buNone/>
            </a:pPr>
            <a:r>
              <a:rPr lang="ar-SA" sz="2400">
                <a:cs typeface="Nazanin" panose="00000400000000000000" pitchFamily="2" charset="-78"/>
              </a:rPr>
              <a:t>۲. انتخاب آواتار، وارد کردن متن، تنظیم زبان و لهجه</a:t>
            </a:r>
          </a:p>
          <a:p>
            <a:pPr marL="0" indent="0" algn="r" rtl="1">
              <a:buFont typeface="Arial" panose="020B0604020202020204" pitchFamily="34" charset="0"/>
              <a:buNone/>
            </a:pPr>
            <a:r>
              <a:rPr lang="ar-SA" sz="2400">
                <a:cs typeface="Nazanin" panose="00000400000000000000" pitchFamily="2" charset="-78"/>
              </a:rPr>
              <a:t>۳. کلیک روی </a:t>
            </a:r>
            <a:r>
              <a:rPr lang="en-US" sz="2400">
                <a:cs typeface="Nazanin" panose="00000400000000000000" pitchFamily="2" charset="-78"/>
              </a:rPr>
              <a:t>Generate  </a:t>
            </a:r>
            <a:r>
              <a:rPr lang="ar-SA" sz="2400">
                <a:cs typeface="Nazanin" panose="00000400000000000000" pitchFamily="2" charset="-78"/>
              </a:rPr>
              <a:t>برای ساخت ویدیو</a:t>
            </a:r>
          </a:p>
          <a:p>
            <a:pPr marL="0" indent="0" algn="r" rtl="1">
              <a:buFont typeface="Arial" panose="020B0604020202020204" pitchFamily="34" charset="0"/>
              <a:buNone/>
            </a:pPr>
            <a:r>
              <a:rPr lang="ar-SA" sz="2400">
                <a:cs typeface="Nazanin" panose="00000400000000000000" pitchFamily="2" charset="-78"/>
              </a:rPr>
              <a:t>۴. دانلود یا اشتراک‌گذاری ویدیو</a:t>
            </a:r>
          </a:p>
        </p:txBody>
      </p:sp>
      <p:sp>
        <p:nvSpPr>
          <p:cNvPr id="6" name="TextBox 5">
            <a:extLst>
              <a:ext uri="{FF2B5EF4-FFF2-40B4-BE49-F238E27FC236}">
                <a16:creationId xmlns:a16="http://schemas.microsoft.com/office/drawing/2014/main" id="{53EE3768-11DB-4215-F887-7E9275AE119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84</a:t>
            </a:r>
            <a:endParaRPr lang="fa-I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a:cs typeface="Titr" panose="00000700000000000000" pitchFamily="2" charset="-78"/>
              </a:rPr>
              <a:t> امکانات پیشرفته و اضافی</a:t>
            </a:r>
          </a:p>
        </p:txBody>
      </p:sp>
      <p:sp>
        <p:nvSpPr>
          <p:cNvPr id="3" name="Content Placeholder 2"/>
          <p:cNvSpPr>
            <a:spLocks noGrp="1"/>
          </p:cNvSpPr>
          <p:nvPr>
            <p:ph idx="1"/>
          </p:nvPr>
        </p:nvSpPr>
        <p:spPr>
          <a:xfrm>
            <a:off x="457200" y="1600200"/>
            <a:ext cx="8229600" cy="3686175"/>
          </a:xfrm>
        </p:spPr>
        <p:txBody>
          <a:bodyPr/>
          <a:lstStyle/>
          <a:p>
            <a:pPr algn="r" rtl="1"/>
            <a:r>
              <a:rPr>
                <a:cs typeface="Nazanin" panose="00000400000000000000" pitchFamily="2" charset="-78"/>
              </a:rPr>
              <a:t>Voice Clone </a:t>
            </a:r>
            <a:r>
              <a:rPr lang="fa-IR">
                <a:cs typeface="Nazanin" panose="00000400000000000000" pitchFamily="2" charset="-78"/>
              </a:rPr>
              <a:t>-</a:t>
            </a:r>
            <a:r>
              <a:rPr>
                <a:cs typeface="Nazanin" panose="00000400000000000000" pitchFamily="2" charset="-78"/>
              </a:rPr>
              <a:t> </a:t>
            </a:r>
            <a:r>
              <a:rPr lang="fa-IR">
                <a:cs typeface="Nazanin" panose="00000400000000000000" pitchFamily="2" charset="-78"/>
              </a:rPr>
              <a:t> </a:t>
            </a:r>
            <a:r>
              <a:rPr>
                <a:cs typeface="Nazanin" panose="00000400000000000000" pitchFamily="2" charset="-78"/>
              </a:rPr>
              <a:t>شبیه‌سازی صدای شما</a:t>
            </a:r>
          </a:p>
          <a:p>
            <a:pPr algn="r" rtl="1"/>
            <a:r>
              <a:rPr>
                <a:cs typeface="Nazanin" panose="00000400000000000000" pitchFamily="2" charset="-78"/>
              </a:rPr>
              <a:t>Multilingual Video </a:t>
            </a:r>
            <a:r>
              <a:rPr lang="fa-IR">
                <a:cs typeface="Nazanin" panose="00000400000000000000" pitchFamily="2" charset="-78"/>
              </a:rPr>
              <a:t>-</a:t>
            </a:r>
            <a:r>
              <a:rPr>
                <a:cs typeface="Nazanin" panose="00000400000000000000" pitchFamily="2" charset="-78"/>
              </a:rPr>
              <a:t> </a:t>
            </a:r>
            <a:r>
              <a:rPr lang="fa-IR">
                <a:cs typeface="Nazanin" panose="00000400000000000000" pitchFamily="2" charset="-78"/>
              </a:rPr>
              <a:t> </a:t>
            </a:r>
            <a:r>
              <a:rPr>
                <a:cs typeface="Nazanin" panose="00000400000000000000" pitchFamily="2" charset="-78"/>
              </a:rPr>
              <a:t>تولید ویدیو چندزبانه</a:t>
            </a:r>
          </a:p>
          <a:p>
            <a:pPr algn="r" rtl="1"/>
            <a:r>
              <a:rPr>
                <a:cs typeface="Nazanin" panose="00000400000000000000" pitchFamily="2" charset="-78"/>
              </a:rPr>
              <a:t>AI Script Assistant </a:t>
            </a:r>
            <a:r>
              <a:rPr lang="fa-IR">
                <a:cs typeface="Nazanin" panose="00000400000000000000" pitchFamily="2" charset="-78"/>
              </a:rPr>
              <a:t>-</a:t>
            </a:r>
            <a:r>
              <a:rPr>
                <a:cs typeface="Nazanin" panose="00000400000000000000" pitchFamily="2" charset="-78"/>
              </a:rPr>
              <a:t> </a:t>
            </a:r>
            <a:r>
              <a:rPr lang="fa-IR">
                <a:cs typeface="Nazanin" panose="00000400000000000000" pitchFamily="2" charset="-78"/>
              </a:rPr>
              <a:t> </a:t>
            </a:r>
            <a:r>
              <a:rPr>
                <a:cs typeface="Nazanin" panose="00000400000000000000" pitchFamily="2" charset="-78"/>
              </a:rPr>
              <a:t>پیشنهاد متن خودکار</a:t>
            </a:r>
          </a:p>
          <a:p>
            <a:pPr algn="r" rtl="1"/>
            <a:r>
              <a:rPr>
                <a:cs typeface="Nazanin" panose="00000400000000000000" pitchFamily="2" charset="-78"/>
              </a:rPr>
              <a:t>Templates </a:t>
            </a:r>
            <a:r>
              <a:rPr lang="fa-IR">
                <a:cs typeface="Nazanin" panose="00000400000000000000" pitchFamily="2" charset="-78"/>
              </a:rPr>
              <a:t>-</a:t>
            </a:r>
            <a:r>
              <a:rPr>
                <a:cs typeface="Nazanin" panose="00000400000000000000" pitchFamily="2" charset="-78"/>
              </a:rPr>
              <a:t> </a:t>
            </a:r>
            <a:r>
              <a:rPr lang="fa-IR">
                <a:cs typeface="Nazanin" panose="00000400000000000000" pitchFamily="2" charset="-78"/>
              </a:rPr>
              <a:t> </a:t>
            </a:r>
            <a:r>
              <a:rPr>
                <a:cs typeface="Nazanin" panose="00000400000000000000" pitchFamily="2" charset="-78"/>
              </a:rPr>
              <a:t>قالب‌های آماده ویدیو</a:t>
            </a:r>
          </a:p>
          <a:p>
            <a:pPr algn="r" rtl="1"/>
            <a:r>
              <a:rPr>
                <a:cs typeface="Nazanin" panose="00000400000000000000" pitchFamily="2" charset="-78"/>
              </a:rPr>
              <a:t>Team Collaboration </a:t>
            </a:r>
            <a:r>
              <a:rPr lang="fa-IR">
                <a:cs typeface="Nazanin" panose="00000400000000000000" pitchFamily="2" charset="-78"/>
              </a:rPr>
              <a:t>-</a:t>
            </a:r>
            <a:r>
              <a:rPr>
                <a:cs typeface="Nazanin" panose="00000400000000000000" pitchFamily="2" charset="-78"/>
              </a:rPr>
              <a:t> </a:t>
            </a:r>
            <a:r>
              <a:rPr lang="fa-IR">
                <a:cs typeface="Nazanin" panose="00000400000000000000" pitchFamily="2" charset="-78"/>
              </a:rPr>
              <a:t> </a:t>
            </a:r>
            <a:r>
              <a:rPr>
                <a:cs typeface="Nazanin" panose="00000400000000000000" pitchFamily="2" charset="-78"/>
              </a:rPr>
              <a:t>همکاری تیمی</a:t>
            </a:r>
          </a:p>
          <a:p>
            <a:pPr algn="r" rtl="1"/>
            <a:r>
              <a:rPr>
                <a:cs typeface="Nazanin" panose="00000400000000000000" pitchFamily="2" charset="-78"/>
              </a:rPr>
              <a:t>Export &amp; Share </a:t>
            </a:r>
            <a:r>
              <a:rPr lang="fa-IR">
                <a:cs typeface="Nazanin" panose="00000400000000000000" pitchFamily="2" charset="-78"/>
              </a:rPr>
              <a:t>-</a:t>
            </a:r>
            <a:r>
              <a:rPr>
                <a:cs typeface="Nazanin" panose="00000400000000000000" pitchFamily="2" charset="-78"/>
              </a:rPr>
              <a:t> </a:t>
            </a:r>
            <a:r>
              <a:rPr lang="fa-IR">
                <a:cs typeface="Nazanin" panose="00000400000000000000" pitchFamily="2" charset="-78"/>
              </a:rPr>
              <a:t> </a:t>
            </a:r>
            <a:r>
              <a:rPr>
                <a:cs typeface="Nazanin" panose="00000400000000000000" pitchFamily="2" charset="-78"/>
              </a:rPr>
              <a:t>خروجی MP4 </a:t>
            </a:r>
            <a:r>
              <a:rPr lang="fa-IR">
                <a:cs typeface="Nazanin" panose="00000400000000000000" pitchFamily="2" charset="-78"/>
              </a:rPr>
              <a:t> </a:t>
            </a:r>
            <a:r>
              <a:rPr>
                <a:cs typeface="Nazanin" panose="00000400000000000000" pitchFamily="2" charset="-78"/>
              </a:rPr>
              <a:t>و اشتراک‌گذاری سریع</a:t>
            </a:r>
          </a:p>
        </p:txBody>
      </p:sp>
      <p:sp>
        <p:nvSpPr>
          <p:cNvPr id="5" name="TextBox 4">
            <a:extLst>
              <a:ext uri="{FF2B5EF4-FFF2-40B4-BE49-F238E27FC236}">
                <a16:creationId xmlns:a16="http://schemas.microsoft.com/office/drawing/2014/main" id="{A4C534A0-768D-A4E2-AB17-D51A09BC2186}"/>
              </a:ext>
            </a:extLst>
          </p:cNvPr>
          <p:cNvSpPr txBox="1"/>
          <p:nvPr/>
        </p:nvSpPr>
        <p:spPr>
          <a:xfrm>
            <a:off x="3200399" y="5813921"/>
            <a:ext cx="4572000" cy="769441"/>
          </a:xfrm>
          <a:prstGeom prst="rect">
            <a:avLst/>
          </a:prstGeom>
          <a:noFill/>
        </p:spPr>
        <p:txBody>
          <a:bodyPr wrap="square">
            <a:spAutoFit/>
          </a:bodyPr>
          <a:lstStyle/>
          <a:p>
            <a:r>
              <a:rPr lang="fa-IR" sz="4400" b="1"/>
              <a:t>Avatar IV Video</a:t>
            </a:r>
          </a:p>
        </p:txBody>
      </p:sp>
      <p:sp>
        <p:nvSpPr>
          <p:cNvPr id="4" name="TextBox 3">
            <a:extLst>
              <a:ext uri="{FF2B5EF4-FFF2-40B4-BE49-F238E27FC236}">
                <a16:creationId xmlns:a16="http://schemas.microsoft.com/office/drawing/2014/main" id="{6A78BDB3-675A-8659-23AF-84188B8236C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85</a:t>
            </a:r>
            <a:endParaRPr lang="fa-I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480FC6-268F-4230-B2EF-FF08D3395E42}"/>
              </a:ext>
            </a:extLst>
          </p:cNvPr>
          <p:cNvPicPr>
            <a:picLocks noChangeAspect="1"/>
          </p:cNvPicPr>
          <p:nvPr/>
        </p:nvPicPr>
        <p:blipFill>
          <a:blip r:embed="rId4"/>
          <a:stretch>
            <a:fillRect/>
          </a:stretch>
        </p:blipFill>
        <p:spPr>
          <a:xfrm>
            <a:off x="-26909" y="2208980"/>
            <a:ext cx="8243888" cy="4036219"/>
          </a:xfrm>
          <a:prstGeom prst="rect">
            <a:avLst/>
          </a:prstGeom>
        </p:spPr>
      </p:pic>
      <p:sp>
        <p:nvSpPr>
          <p:cNvPr id="8" name="TextBox 7">
            <a:extLst>
              <a:ext uri="{FF2B5EF4-FFF2-40B4-BE49-F238E27FC236}">
                <a16:creationId xmlns:a16="http://schemas.microsoft.com/office/drawing/2014/main" id="{68F1A2D7-D8C6-43C2-8328-2FEA5EED5F99}"/>
              </a:ext>
            </a:extLst>
          </p:cNvPr>
          <p:cNvSpPr txBox="1"/>
          <p:nvPr/>
        </p:nvSpPr>
        <p:spPr>
          <a:xfrm>
            <a:off x="2027385" y="1779509"/>
            <a:ext cx="4579274" cy="507831"/>
          </a:xfrm>
          <a:prstGeom prst="rect">
            <a:avLst/>
          </a:prstGeom>
          <a:noFill/>
        </p:spPr>
        <p:txBody>
          <a:bodyPr wrap="square">
            <a:spAutoFit/>
          </a:bodyPr>
          <a:lstStyle/>
          <a:p>
            <a:r>
              <a:rPr lang="en-US" sz="2700" b="1" dirty="0"/>
              <a:t>https://studio.d-id.com</a:t>
            </a:r>
          </a:p>
        </p:txBody>
      </p:sp>
      <p:sp>
        <p:nvSpPr>
          <p:cNvPr id="7" name="Title 1">
            <a:extLst>
              <a:ext uri="{FF2B5EF4-FFF2-40B4-BE49-F238E27FC236}">
                <a16:creationId xmlns:a16="http://schemas.microsoft.com/office/drawing/2014/main" id="{7EA706BE-0954-4F52-B0C0-372A2492AB45}"/>
              </a:ext>
            </a:extLst>
          </p:cNvPr>
          <p:cNvSpPr>
            <a:spLocks noGrp="1"/>
          </p:cNvSpPr>
          <p:nvPr>
            <p:ph type="title"/>
          </p:nvPr>
        </p:nvSpPr>
        <p:spPr>
          <a:xfrm>
            <a:off x="1308467" y="421092"/>
            <a:ext cx="7429499" cy="670799"/>
          </a:xfrm>
        </p:spPr>
        <p:txBody>
          <a:bodyPr>
            <a:normAutofit fontScale="90000"/>
          </a:bodyPr>
          <a:lstStyle/>
          <a:p>
            <a:pPr algn="r" rtl="1"/>
            <a:r>
              <a:rPr lang="fa-IR" sz="3200" b="0" i="0">
                <a:effectLst/>
                <a:latin typeface="Google Sans"/>
                <a:cs typeface="2  Titr" panose="00000700000000000000" pitchFamily="2" charset="-78"/>
              </a:rPr>
              <a:t>معرفی </a:t>
            </a:r>
            <a:r>
              <a:rPr lang="en-US" sz="3200" b="0" i="0">
                <a:effectLst/>
                <a:latin typeface="Google Sans"/>
                <a:cs typeface="2  Titr" panose="00000700000000000000" pitchFamily="2" charset="-78"/>
              </a:rPr>
              <a:t>D‑ID Studio (Creative Reality™ Studio)</a:t>
            </a:r>
            <a:endParaRPr lang="fa-IR" sz="3200" b="0" i="0" dirty="0">
              <a:effectLst/>
              <a:latin typeface="Google Sans"/>
              <a:cs typeface="2  Titr" panose="00000700000000000000" pitchFamily="2" charset="-78"/>
            </a:endParaRPr>
          </a:p>
        </p:txBody>
      </p:sp>
      <p:pic>
        <p:nvPicPr>
          <p:cNvPr id="9" name="Screen Recording 4">
            <a:hlinkClick r:id="" action="ppaction://media"/>
            <a:extLst>
              <a:ext uri="{FF2B5EF4-FFF2-40B4-BE49-F238E27FC236}">
                <a16:creationId xmlns:a16="http://schemas.microsoft.com/office/drawing/2014/main" id="{67639A8B-650A-4B1D-B732-860D17AE8FE3}"/>
              </a:ext>
            </a:extLst>
          </p:cNvPr>
          <p:cNvPicPr>
            <a:picLocks noChangeAspect="1"/>
          </p:cNvPicPr>
          <p:nvPr>
            <a:videoFile r:link="rId1"/>
            <p:extLst>
              <p:ext uri="{DAA4B4D4-6D71-4841-9C94-3DE7FCFB9230}">
                <p14:media xmlns:p14="http://schemas.microsoft.com/office/powerpoint/2010/main" r:embed="rId2">
                  <p14:trim st="3362" end="9636.1"/>
                </p14:media>
              </p:ext>
            </p:extLst>
          </p:nvPr>
        </p:nvPicPr>
        <p:blipFill>
          <a:blip r:embed="rId5"/>
          <a:stretch>
            <a:fillRect/>
          </a:stretch>
        </p:blipFill>
        <p:spPr>
          <a:xfrm>
            <a:off x="6988012" y="5260207"/>
            <a:ext cx="1614488" cy="1414463"/>
          </a:xfrm>
          <a:prstGeom prst="ellipse">
            <a:avLst/>
          </a:prstGeom>
          <a:ln>
            <a:noFill/>
          </a:ln>
          <a:effectLst>
            <a:softEdge rad="112500"/>
          </a:effectLst>
        </p:spPr>
      </p:pic>
      <p:sp>
        <p:nvSpPr>
          <p:cNvPr id="4" name="TextBox 3">
            <a:extLst>
              <a:ext uri="{FF2B5EF4-FFF2-40B4-BE49-F238E27FC236}">
                <a16:creationId xmlns:a16="http://schemas.microsoft.com/office/drawing/2014/main" id="{74C4F8CC-E94B-104D-9BCE-9E00C24EDAAA}"/>
              </a:ext>
            </a:extLst>
          </p:cNvPr>
          <p:cNvSpPr txBox="1"/>
          <p:nvPr/>
        </p:nvSpPr>
        <p:spPr>
          <a:xfrm>
            <a:off x="1081983" y="1205678"/>
            <a:ext cx="7655983" cy="646331"/>
          </a:xfrm>
          <a:prstGeom prst="rect">
            <a:avLst/>
          </a:prstGeom>
          <a:noFill/>
        </p:spPr>
        <p:txBody>
          <a:bodyPr wrap="square">
            <a:spAutoFit/>
          </a:bodyPr>
          <a:lstStyle/>
          <a:p>
            <a:pPr algn="r" rtl="1"/>
            <a:r>
              <a:rPr lang="ar-SA">
                <a:cs typeface="2  Nazanin" panose="00000400000000000000" pitchFamily="2" charset="-78"/>
              </a:rPr>
              <a:t>تبدیل عکس یا تصویر ثابت به </a:t>
            </a:r>
            <a:r>
              <a:rPr lang="ar-SA" b="1">
                <a:cs typeface="2  Nazanin" panose="00000400000000000000" pitchFamily="2" charset="-78"/>
              </a:rPr>
              <a:t>ویدئوی سخن‌گو</a:t>
            </a:r>
            <a:r>
              <a:rPr lang="ar-SA">
                <a:cs typeface="2  Nazanin" panose="00000400000000000000" pitchFamily="2" charset="-78"/>
              </a:rPr>
              <a:t> با چهره‌های دیجیتالی واقع‌گرایانه؛ کافی‌ست تصویر + متن یا صدا وارد شود .</a:t>
            </a:r>
            <a:endParaRPr lang="fa-IR">
              <a:cs typeface="2  Nazanin" panose="00000400000000000000" pitchFamily="2" charset="-78"/>
            </a:endParaRPr>
          </a:p>
        </p:txBody>
      </p:sp>
      <p:sp>
        <p:nvSpPr>
          <p:cNvPr id="2" name="TextBox 1">
            <a:extLst>
              <a:ext uri="{FF2B5EF4-FFF2-40B4-BE49-F238E27FC236}">
                <a16:creationId xmlns:a16="http://schemas.microsoft.com/office/drawing/2014/main" id="{E36CE56A-CC17-B733-8225-EAC126636A8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86</a:t>
            </a:r>
            <a:endParaRPr lang="fa-IR" sz="1200"/>
          </a:p>
        </p:txBody>
      </p:sp>
    </p:spTree>
    <p:extLst>
      <p:ext uri="{BB962C8B-B14F-4D97-AF65-F5344CB8AC3E}">
        <p14:creationId xmlns:p14="http://schemas.microsoft.com/office/powerpoint/2010/main" val="285863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255"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vol="80000">
                <p:cTn id="12" fill="hold" display="0">
                  <p:stCondLst>
                    <p:cond delay="indefinite"/>
                  </p:stCondLst>
                </p:cTn>
                <p:tgtEl>
                  <p:spTgt spid="9"/>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ild sitting on the floor looking at a robot&#10;&#10;AI-generated content may be incorrect.">
            <a:extLst>
              <a:ext uri="{FF2B5EF4-FFF2-40B4-BE49-F238E27FC236}">
                <a16:creationId xmlns:a16="http://schemas.microsoft.com/office/drawing/2014/main" id="{DDC61959-59F3-5DB1-A365-46CEA73A5A59}"/>
              </a:ext>
            </a:extLst>
          </p:cNvPr>
          <p:cNvPicPr>
            <a:picLocks noChangeAspect="1"/>
          </p:cNvPicPr>
          <p:nvPr/>
        </p:nvPicPr>
        <p:blipFill>
          <a:blip r:embed="rId2"/>
          <a:stretch>
            <a:fillRect/>
          </a:stretch>
        </p:blipFill>
        <p:spPr>
          <a:xfrm>
            <a:off x="1524385" y="3951052"/>
            <a:ext cx="2380130" cy="2380130"/>
          </a:xfrm>
          <a:prstGeom prst="rect">
            <a:avLst/>
          </a:prstGeom>
        </p:spPr>
      </p:pic>
      <p:sp>
        <p:nvSpPr>
          <p:cNvPr id="11" name="TextBox 10">
            <a:extLst>
              <a:ext uri="{FF2B5EF4-FFF2-40B4-BE49-F238E27FC236}">
                <a16:creationId xmlns:a16="http://schemas.microsoft.com/office/drawing/2014/main" id="{BE4C947F-C62B-123D-4388-22BEBB46DA7F}"/>
              </a:ext>
            </a:extLst>
          </p:cNvPr>
          <p:cNvSpPr txBox="1"/>
          <p:nvPr/>
        </p:nvSpPr>
        <p:spPr>
          <a:xfrm>
            <a:off x="1425387" y="6264056"/>
            <a:ext cx="4572000" cy="369332"/>
          </a:xfrm>
          <a:prstGeom prst="rect">
            <a:avLst/>
          </a:prstGeom>
          <a:noFill/>
        </p:spPr>
        <p:txBody>
          <a:bodyPr wrap="square">
            <a:spAutoFit/>
          </a:bodyPr>
          <a:lstStyle/>
          <a:p>
            <a:r>
              <a:rPr lang="fa-IR"/>
              <a:t>https://app.klingai.com</a:t>
            </a:r>
          </a:p>
        </p:txBody>
      </p:sp>
      <p:pic>
        <p:nvPicPr>
          <p:cNvPr id="13" name="Picture 12">
            <a:extLst>
              <a:ext uri="{FF2B5EF4-FFF2-40B4-BE49-F238E27FC236}">
                <a16:creationId xmlns:a16="http://schemas.microsoft.com/office/drawing/2014/main" id="{2DA756FB-A2B5-8745-365F-7121F39E300B}"/>
              </a:ext>
            </a:extLst>
          </p:cNvPr>
          <p:cNvPicPr>
            <a:picLocks noChangeAspect="1"/>
          </p:cNvPicPr>
          <p:nvPr/>
        </p:nvPicPr>
        <p:blipFill>
          <a:blip r:embed="rId3"/>
          <a:stretch>
            <a:fillRect/>
          </a:stretch>
        </p:blipFill>
        <p:spPr>
          <a:xfrm>
            <a:off x="5116286" y="0"/>
            <a:ext cx="4027714" cy="6858000"/>
          </a:xfrm>
          <a:prstGeom prst="rect">
            <a:avLst/>
          </a:prstGeom>
        </p:spPr>
      </p:pic>
      <p:grpSp>
        <p:nvGrpSpPr>
          <p:cNvPr id="16" name="Group 15">
            <a:extLst>
              <a:ext uri="{FF2B5EF4-FFF2-40B4-BE49-F238E27FC236}">
                <a16:creationId xmlns:a16="http://schemas.microsoft.com/office/drawing/2014/main" id="{C83BB43A-9E0B-0877-02D9-76F9C171886D}"/>
              </a:ext>
            </a:extLst>
          </p:cNvPr>
          <p:cNvGrpSpPr/>
          <p:nvPr/>
        </p:nvGrpSpPr>
        <p:grpSpPr>
          <a:xfrm rot="18657568">
            <a:off x="3172193" y="3401036"/>
            <a:ext cx="3229920" cy="1135080"/>
            <a:chOff x="3213784" y="1773762"/>
            <a:chExt cx="3229920" cy="1135080"/>
          </a:xfrm>
        </p:grpSpPr>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2227B9E8-C03D-6BC3-57F5-0858B56583B9}"/>
                    </a:ext>
                  </a:extLst>
                </p14:cNvPr>
                <p14:cNvContentPartPr/>
                <p14:nvPr/>
              </p14:nvContentPartPr>
              <p14:xfrm>
                <a:off x="3213784" y="1773762"/>
                <a:ext cx="3166560" cy="1040400"/>
              </p14:xfrm>
            </p:contentPart>
          </mc:Choice>
          <mc:Fallback xmlns="">
            <p:pic>
              <p:nvPicPr>
                <p:cNvPr id="14" name="Ink 13">
                  <a:extLst>
                    <a:ext uri="{FF2B5EF4-FFF2-40B4-BE49-F238E27FC236}">
                      <a16:creationId xmlns:a16="http://schemas.microsoft.com/office/drawing/2014/main" id="{2227B9E8-C03D-6BC3-57F5-0858B56583B9}"/>
                    </a:ext>
                  </a:extLst>
                </p:cNvPr>
                <p:cNvPicPr/>
                <p:nvPr/>
              </p:nvPicPr>
              <p:blipFill>
                <a:blip r:embed="rId5"/>
                <a:stretch>
                  <a:fillRect/>
                </a:stretch>
              </p:blipFill>
              <p:spPr>
                <a:xfrm>
                  <a:off x="3207664" y="1767642"/>
                  <a:ext cx="3178800" cy="1052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F0789C3D-DBD9-9AF9-233C-D22C27819C31}"/>
                    </a:ext>
                  </a:extLst>
                </p14:cNvPr>
                <p14:cNvContentPartPr/>
                <p14:nvPr/>
              </p14:nvContentPartPr>
              <p14:xfrm>
                <a:off x="6241384" y="2630922"/>
                <a:ext cx="202320" cy="277920"/>
              </p14:xfrm>
            </p:contentPart>
          </mc:Choice>
          <mc:Fallback xmlns="">
            <p:pic>
              <p:nvPicPr>
                <p:cNvPr id="15" name="Ink 14">
                  <a:extLst>
                    <a:ext uri="{FF2B5EF4-FFF2-40B4-BE49-F238E27FC236}">
                      <a16:creationId xmlns:a16="http://schemas.microsoft.com/office/drawing/2014/main" id="{F0789C3D-DBD9-9AF9-233C-D22C27819C31}"/>
                    </a:ext>
                  </a:extLst>
                </p:cNvPr>
                <p:cNvPicPr/>
                <p:nvPr/>
              </p:nvPicPr>
              <p:blipFill>
                <a:blip r:embed="rId7"/>
                <a:stretch>
                  <a:fillRect/>
                </a:stretch>
              </p:blipFill>
              <p:spPr>
                <a:xfrm>
                  <a:off x="6235264" y="2624802"/>
                  <a:ext cx="214560" cy="29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8A72308B-F56D-24BB-428F-03F36151F1D8}"/>
                  </a:ext>
                </a:extLst>
              </p14:cNvPr>
              <p14:cNvContentPartPr/>
              <p14:nvPr/>
            </p14:nvContentPartPr>
            <p14:xfrm>
              <a:off x="8027704" y="4356762"/>
              <a:ext cx="878760" cy="68040"/>
            </p14:xfrm>
          </p:contentPart>
        </mc:Choice>
        <mc:Fallback xmlns="">
          <p:pic>
            <p:nvPicPr>
              <p:cNvPr id="17" name="Ink 16">
                <a:extLst>
                  <a:ext uri="{FF2B5EF4-FFF2-40B4-BE49-F238E27FC236}">
                    <a16:creationId xmlns:a16="http://schemas.microsoft.com/office/drawing/2014/main" id="{8A72308B-F56D-24BB-428F-03F36151F1D8}"/>
                  </a:ext>
                </a:extLst>
              </p:cNvPr>
              <p:cNvPicPr/>
              <p:nvPr/>
            </p:nvPicPr>
            <p:blipFill>
              <a:blip r:embed="rId9"/>
              <a:stretch>
                <a:fillRect/>
              </a:stretch>
            </p:blipFill>
            <p:spPr>
              <a:xfrm>
                <a:off x="8021584" y="4350642"/>
                <a:ext cx="891000" cy="80280"/>
              </a:xfrm>
              <a:prstGeom prst="rect">
                <a:avLst/>
              </a:prstGeom>
            </p:spPr>
          </p:pic>
        </mc:Fallback>
      </mc:AlternateContent>
      <p:grpSp>
        <p:nvGrpSpPr>
          <p:cNvPr id="20" name="Group 19">
            <a:extLst>
              <a:ext uri="{FF2B5EF4-FFF2-40B4-BE49-F238E27FC236}">
                <a16:creationId xmlns:a16="http://schemas.microsoft.com/office/drawing/2014/main" id="{CDD3CF70-E661-6DA2-3433-D52509FF8EAB}"/>
              </a:ext>
            </a:extLst>
          </p:cNvPr>
          <p:cNvGrpSpPr/>
          <p:nvPr/>
        </p:nvGrpSpPr>
        <p:grpSpPr>
          <a:xfrm>
            <a:off x="8516584" y="6091242"/>
            <a:ext cx="302400" cy="357480"/>
            <a:chOff x="8516584" y="6091242"/>
            <a:chExt cx="302400" cy="357480"/>
          </a:xfrm>
        </p:grpSpPr>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9E8E2CAD-E8A4-188D-79EA-289476382435}"/>
                    </a:ext>
                  </a:extLst>
                </p14:cNvPr>
                <p14:cNvContentPartPr/>
                <p14:nvPr/>
              </p14:nvContentPartPr>
              <p14:xfrm>
                <a:off x="8565544" y="6091242"/>
                <a:ext cx="14760" cy="305640"/>
              </p14:xfrm>
            </p:contentPart>
          </mc:Choice>
          <mc:Fallback xmlns="">
            <p:pic>
              <p:nvPicPr>
                <p:cNvPr id="18" name="Ink 17">
                  <a:extLst>
                    <a:ext uri="{FF2B5EF4-FFF2-40B4-BE49-F238E27FC236}">
                      <a16:creationId xmlns:a16="http://schemas.microsoft.com/office/drawing/2014/main" id="{9E8E2CAD-E8A4-188D-79EA-289476382435}"/>
                    </a:ext>
                  </a:extLst>
                </p:cNvPr>
                <p:cNvPicPr/>
                <p:nvPr/>
              </p:nvPicPr>
              <p:blipFill>
                <a:blip r:embed="rId11"/>
                <a:stretch>
                  <a:fillRect/>
                </a:stretch>
              </p:blipFill>
              <p:spPr>
                <a:xfrm>
                  <a:off x="8559424" y="6085122"/>
                  <a:ext cx="270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AA72D12A-E43F-42E1-CD09-79CCD44C7CDF}"/>
                    </a:ext>
                  </a:extLst>
                </p14:cNvPr>
                <p14:cNvContentPartPr/>
                <p14:nvPr/>
              </p14:nvContentPartPr>
              <p14:xfrm>
                <a:off x="8516584" y="6213642"/>
                <a:ext cx="302400" cy="235080"/>
              </p14:xfrm>
            </p:contentPart>
          </mc:Choice>
          <mc:Fallback xmlns="">
            <p:pic>
              <p:nvPicPr>
                <p:cNvPr id="19" name="Ink 18">
                  <a:extLst>
                    <a:ext uri="{FF2B5EF4-FFF2-40B4-BE49-F238E27FC236}">
                      <a16:creationId xmlns:a16="http://schemas.microsoft.com/office/drawing/2014/main" id="{AA72D12A-E43F-42E1-CD09-79CCD44C7CDF}"/>
                    </a:ext>
                  </a:extLst>
                </p:cNvPr>
                <p:cNvPicPr/>
                <p:nvPr/>
              </p:nvPicPr>
              <p:blipFill>
                <a:blip r:embed="rId13"/>
                <a:stretch>
                  <a:fillRect/>
                </a:stretch>
              </p:blipFill>
              <p:spPr>
                <a:xfrm>
                  <a:off x="8510464" y="6207522"/>
                  <a:ext cx="314640" cy="247320"/>
                </a:xfrm>
                <a:prstGeom prst="rect">
                  <a:avLst/>
                </a:prstGeom>
              </p:spPr>
            </p:pic>
          </mc:Fallback>
        </mc:AlternateContent>
      </p:grpSp>
      <p:sp>
        <p:nvSpPr>
          <p:cNvPr id="22" name="TextBox 21">
            <a:extLst>
              <a:ext uri="{FF2B5EF4-FFF2-40B4-BE49-F238E27FC236}">
                <a16:creationId xmlns:a16="http://schemas.microsoft.com/office/drawing/2014/main" id="{00504EC6-5C39-07AD-D1A2-2B0E40170226}"/>
              </a:ext>
            </a:extLst>
          </p:cNvPr>
          <p:cNvSpPr txBox="1"/>
          <p:nvPr/>
        </p:nvSpPr>
        <p:spPr>
          <a:xfrm>
            <a:off x="591672" y="409278"/>
            <a:ext cx="4195482" cy="830997"/>
          </a:xfrm>
          <a:prstGeom prst="rect">
            <a:avLst/>
          </a:prstGeom>
          <a:noFill/>
        </p:spPr>
        <p:txBody>
          <a:bodyPr wrap="square">
            <a:spAutoFit/>
          </a:bodyPr>
          <a:lstStyle/>
          <a:p>
            <a:pPr algn="r" rtl="1"/>
            <a:r>
              <a:rPr lang="fa-IR" sz="2400">
                <a:cs typeface="2  Titr" panose="00000700000000000000" pitchFamily="2" charset="-78"/>
              </a:rPr>
              <a:t> </a:t>
            </a:r>
            <a:r>
              <a:rPr lang="en-US" sz="2400">
                <a:cs typeface="2  Titr" panose="00000700000000000000" pitchFamily="2" charset="-78"/>
              </a:rPr>
              <a:t>Kling.ai</a:t>
            </a:r>
            <a:r>
              <a:rPr lang="fa-IR" sz="2400">
                <a:cs typeface="2  Titr" panose="00000700000000000000" pitchFamily="2" charset="-78"/>
              </a:rPr>
              <a:t>-</a:t>
            </a:r>
            <a:r>
              <a:rPr lang="en-US" sz="2400">
                <a:cs typeface="2  Titr" panose="00000700000000000000" pitchFamily="2" charset="-78"/>
              </a:rPr>
              <a:t> </a:t>
            </a:r>
            <a:r>
              <a:rPr lang="ar-SA" sz="2400">
                <a:cs typeface="2  Titr" panose="00000700000000000000" pitchFamily="2" charset="-78"/>
              </a:rPr>
              <a:t>آینده‌ی ساخت ویدیو با هوش مصنوعی</a:t>
            </a:r>
            <a:endParaRPr lang="fa-IR" sz="2400">
              <a:cs typeface="2  Titr" panose="00000700000000000000" pitchFamily="2" charset="-78"/>
            </a:endParaRPr>
          </a:p>
        </p:txBody>
      </p:sp>
      <p:sp>
        <p:nvSpPr>
          <p:cNvPr id="24" name="TextBox 23">
            <a:extLst>
              <a:ext uri="{FF2B5EF4-FFF2-40B4-BE49-F238E27FC236}">
                <a16:creationId xmlns:a16="http://schemas.microsoft.com/office/drawing/2014/main" id="{5D568648-56B7-0491-E6E2-65F83DF28726}"/>
              </a:ext>
            </a:extLst>
          </p:cNvPr>
          <p:cNvSpPr txBox="1"/>
          <p:nvPr/>
        </p:nvSpPr>
        <p:spPr>
          <a:xfrm>
            <a:off x="0" y="1500375"/>
            <a:ext cx="5003447" cy="1938992"/>
          </a:xfrm>
          <a:prstGeom prst="rect">
            <a:avLst/>
          </a:prstGeom>
          <a:noFill/>
        </p:spPr>
        <p:txBody>
          <a:bodyPr wrap="square">
            <a:spAutoFit/>
          </a:bodyPr>
          <a:lstStyle/>
          <a:p>
            <a:pPr algn="r" rtl="1">
              <a:buNone/>
            </a:pPr>
            <a:r>
              <a:rPr lang="en-US" sz="2400">
                <a:cs typeface="2  Nazanin" panose="00000400000000000000" pitchFamily="2" charset="-78"/>
              </a:rPr>
              <a:t>🎨 </a:t>
            </a:r>
            <a:r>
              <a:rPr lang="ar-SA" sz="2400" b="1">
                <a:cs typeface="2  Nazanin" panose="00000400000000000000" pitchFamily="2" charset="-78"/>
              </a:rPr>
              <a:t>ویژگی‌ها:</a:t>
            </a:r>
            <a:endParaRPr lang="ar-SA" sz="2400">
              <a:cs typeface="2  Nazanin" panose="00000400000000000000" pitchFamily="2" charset="-78"/>
            </a:endParaRPr>
          </a:p>
          <a:p>
            <a:pPr algn="r" rtl="1">
              <a:buFont typeface="Arial" panose="020B0604020202020204" pitchFamily="34" charset="0"/>
              <a:buChar char="•"/>
            </a:pPr>
            <a:r>
              <a:rPr lang="ar-SA" sz="2400">
                <a:cs typeface="2  Nazanin" panose="00000400000000000000" pitchFamily="2" charset="-78"/>
              </a:rPr>
              <a:t>ساخت ویدیو از متن (</a:t>
            </a:r>
            <a:r>
              <a:rPr lang="en-US" sz="2400">
                <a:cs typeface="2  Nazanin" panose="00000400000000000000" pitchFamily="2" charset="-78"/>
              </a:rPr>
              <a:t>Text-to-Video)</a:t>
            </a:r>
          </a:p>
          <a:p>
            <a:pPr algn="r" rtl="1">
              <a:buFont typeface="Arial" panose="020B0604020202020204" pitchFamily="34" charset="0"/>
              <a:buChar char="•"/>
            </a:pPr>
            <a:r>
              <a:rPr lang="ar-SA" sz="2400">
                <a:cs typeface="2  Nazanin" panose="00000400000000000000" pitchFamily="2" charset="-78"/>
              </a:rPr>
              <a:t>پشتیبانی از حرکت‌ طبیعی انسان، اشیاء و دوربین</a:t>
            </a:r>
          </a:p>
          <a:p>
            <a:pPr algn="r" rtl="1">
              <a:buFont typeface="Arial" panose="020B0604020202020204" pitchFamily="34" charset="0"/>
              <a:buChar char="•"/>
            </a:pPr>
            <a:r>
              <a:rPr lang="ar-SA" sz="2400">
                <a:cs typeface="2  Nazanin" panose="00000400000000000000" pitchFamily="2" charset="-78"/>
              </a:rPr>
              <a:t>مناسب برای فیلم‌سازها، تولیدکنندگان محتوا و طراحان تبلیغات</a:t>
            </a:r>
          </a:p>
        </p:txBody>
      </p:sp>
      <p:sp>
        <p:nvSpPr>
          <p:cNvPr id="2" name="TextBox 1">
            <a:extLst>
              <a:ext uri="{FF2B5EF4-FFF2-40B4-BE49-F238E27FC236}">
                <a16:creationId xmlns:a16="http://schemas.microsoft.com/office/drawing/2014/main" id="{A83B510F-5CFE-344C-AA48-E2C8B2215678}"/>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87</a:t>
            </a:r>
            <a:endParaRPr lang="fa-IR" sz="1200"/>
          </a:p>
        </p:txBody>
      </p:sp>
    </p:spTree>
    <p:extLst>
      <p:ext uri="{BB962C8B-B14F-4D97-AF65-F5344CB8AC3E}">
        <p14:creationId xmlns:p14="http://schemas.microsoft.com/office/powerpoint/2010/main" val="3608269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33B13A-EB31-EAA2-B4D8-9EA90445E192}"/>
              </a:ext>
            </a:extLst>
          </p:cNvPr>
          <p:cNvPicPr>
            <a:picLocks noChangeAspect="1"/>
          </p:cNvPicPr>
          <p:nvPr/>
        </p:nvPicPr>
        <p:blipFill>
          <a:blip r:embed="rId2"/>
          <a:stretch>
            <a:fillRect/>
          </a:stretch>
        </p:blipFill>
        <p:spPr>
          <a:xfrm>
            <a:off x="408625" y="0"/>
            <a:ext cx="3297549" cy="6858000"/>
          </a:xfrm>
          <a:prstGeom prst="rect">
            <a:avLst/>
          </a:prstGeom>
        </p:spPr>
      </p:pic>
      <p:sp>
        <p:nvSpPr>
          <p:cNvPr id="7" name="TextBox 6">
            <a:extLst>
              <a:ext uri="{FF2B5EF4-FFF2-40B4-BE49-F238E27FC236}">
                <a16:creationId xmlns:a16="http://schemas.microsoft.com/office/drawing/2014/main" id="{6CAF1104-7E83-1A47-DF91-9A5C572187EB}"/>
              </a:ext>
            </a:extLst>
          </p:cNvPr>
          <p:cNvSpPr txBox="1"/>
          <p:nvPr/>
        </p:nvSpPr>
        <p:spPr>
          <a:xfrm>
            <a:off x="2514599" y="411495"/>
            <a:ext cx="6341799" cy="461665"/>
          </a:xfrm>
          <a:prstGeom prst="rect">
            <a:avLst/>
          </a:prstGeom>
          <a:noFill/>
        </p:spPr>
        <p:txBody>
          <a:bodyPr wrap="square">
            <a:spAutoFit/>
          </a:bodyPr>
          <a:lstStyle/>
          <a:p>
            <a:pPr algn="r" rtl="1"/>
            <a:r>
              <a:rPr lang="en-US" sz="2400">
                <a:cs typeface="2  Titr" panose="00000700000000000000" pitchFamily="2" charset="-78"/>
              </a:rPr>
              <a:t>Character.ai</a:t>
            </a:r>
            <a:r>
              <a:rPr lang="fa-IR" sz="2400">
                <a:cs typeface="2  Titr" panose="00000700000000000000" pitchFamily="2" charset="-78"/>
              </a:rPr>
              <a:t>-</a:t>
            </a:r>
            <a:r>
              <a:rPr lang="en-US" sz="2400">
                <a:cs typeface="2  Titr" panose="00000700000000000000" pitchFamily="2" charset="-78"/>
              </a:rPr>
              <a:t> </a:t>
            </a:r>
            <a:r>
              <a:rPr lang="ar-SA" sz="2400">
                <a:cs typeface="2  Titr" panose="00000700000000000000" pitchFamily="2" charset="-78"/>
              </a:rPr>
              <a:t>گفت‌وگو با هوش مصنوعی</a:t>
            </a:r>
            <a:endParaRPr lang="fa-IR" sz="2400">
              <a:cs typeface="2  Titr" panose="00000700000000000000" pitchFamily="2" charset="-78"/>
            </a:endParaRPr>
          </a:p>
        </p:txBody>
      </p:sp>
      <p:sp>
        <p:nvSpPr>
          <p:cNvPr id="9" name="TextBox 8">
            <a:extLst>
              <a:ext uri="{FF2B5EF4-FFF2-40B4-BE49-F238E27FC236}">
                <a16:creationId xmlns:a16="http://schemas.microsoft.com/office/drawing/2014/main" id="{5C7E023C-91AB-C05C-7B8B-C30C483F365B}"/>
              </a:ext>
            </a:extLst>
          </p:cNvPr>
          <p:cNvSpPr txBox="1"/>
          <p:nvPr/>
        </p:nvSpPr>
        <p:spPr>
          <a:xfrm>
            <a:off x="4397188" y="1026930"/>
            <a:ext cx="4572000" cy="1323439"/>
          </a:xfrm>
          <a:prstGeom prst="rect">
            <a:avLst/>
          </a:prstGeom>
          <a:noFill/>
        </p:spPr>
        <p:txBody>
          <a:bodyPr wrap="square">
            <a:spAutoFit/>
          </a:bodyPr>
          <a:lstStyle/>
          <a:p>
            <a:pPr algn="r" rtl="1"/>
            <a:r>
              <a:rPr lang="ar-SA" sz="2000">
                <a:cs typeface="2  Nazanin" panose="00000400000000000000" pitchFamily="2" charset="-78"/>
              </a:rPr>
              <a:t>یک پلتفرم چت هوش مصنوعی است که به کاربران اجازه می‌دهد با شخصیت‌های مجازی گفت‌وگو کنند — از دانشمندان و نویسندگان گرفته تا شخصیت‌های خیالی و ساخته‌شده توسط خودتان.</a:t>
            </a:r>
            <a:endParaRPr lang="fa-IR" sz="2000">
              <a:cs typeface="2  Nazanin" panose="00000400000000000000" pitchFamily="2" charset="-78"/>
            </a:endParaRPr>
          </a:p>
        </p:txBody>
      </p:sp>
      <p:sp>
        <p:nvSpPr>
          <p:cNvPr id="2" name="TextBox 1">
            <a:extLst>
              <a:ext uri="{FF2B5EF4-FFF2-40B4-BE49-F238E27FC236}">
                <a16:creationId xmlns:a16="http://schemas.microsoft.com/office/drawing/2014/main" id="{81E3E3E1-A61E-CE0F-9AF0-491757EA5E9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88</a:t>
            </a:r>
            <a:endParaRPr lang="fa-IR" sz="1200"/>
          </a:p>
        </p:txBody>
      </p:sp>
    </p:spTree>
    <p:extLst>
      <p:ext uri="{BB962C8B-B14F-4D97-AF65-F5344CB8AC3E}">
        <p14:creationId xmlns:p14="http://schemas.microsoft.com/office/powerpoint/2010/main" val="121459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E69E3A-50FA-A15E-A1D7-88486C676C54}"/>
              </a:ext>
            </a:extLst>
          </p:cNvPr>
          <p:cNvPicPr>
            <a:picLocks noChangeAspect="1"/>
          </p:cNvPicPr>
          <p:nvPr/>
        </p:nvPicPr>
        <p:blipFill>
          <a:blip r:embed="rId2"/>
          <a:stretch>
            <a:fillRect/>
          </a:stretch>
        </p:blipFill>
        <p:spPr>
          <a:xfrm>
            <a:off x="2375506" y="550258"/>
            <a:ext cx="4392987" cy="3688230"/>
          </a:xfrm>
          <a:prstGeom prst="rect">
            <a:avLst/>
          </a:prstGeom>
        </p:spPr>
      </p:pic>
      <p:sp>
        <p:nvSpPr>
          <p:cNvPr id="7" name="TextBox 6">
            <a:extLst>
              <a:ext uri="{FF2B5EF4-FFF2-40B4-BE49-F238E27FC236}">
                <a16:creationId xmlns:a16="http://schemas.microsoft.com/office/drawing/2014/main" id="{931F79E1-7226-CE07-DAB6-ACEE1BAA4ACE}"/>
              </a:ext>
            </a:extLst>
          </p:cNvPr>
          <p:cNvSpPr txBox="1"/>
          <p:nvPr/>
        </p:nvSpPr>
        <p:spPr>
          <a:xfrm>
            <a:off x="1956547" y="2541024"/>
            <a:ext cx="5812118" cy="523220"/>
          </a:xfrm>
          <a:prstGeom prst="rect">
            <a:avLst/>
          </a:prstGeom>
          <a:noFill/>
        </p:spPr>
        <p:txBody>
          <a:bodyPr wrap="square">
            <a:spAutoFit/>
          </a:bodyPr>
          <a:lstStyle/>
          <a:p>
            <a:r>
              <a:rPr lang="fa-IR" sz="2800" b="1">
                <a:solidFill>
                  <a:srgbClr val="0070C0"/>
                </a:solidFill>
              </a:rPr>
              <a:t>https://www.morphstudio.com/</a:t>
            </a:r>
          </a:p>
        </p:txBody>
      </p:sp>
      <p:pic>
        <p:nvPicPr>
          <p:cNvPr id="9" name="Picture 8">
            <a:extLst>
              <a:ext uri="{FF2B5EF4-FFF2-40B4-BE49-F238E27FC236}">
                <a16:creationId xmlns:a16="http://schemas.microsoft.com/office/drawing/2014/main" id="{DE256FC0-B27E-8125-C736-8DFACF2700E3}"/>
              </a:ext>
            </a:extLst>
          </p:cNvPr>
          <p:cNvPicPr>
            <a:picLocks noChangeAspect="1"/>
          </p:cNvPicPr>
          <p:nvPr/>
        </p:nvPicPr>
        <p:blipFill>
          <a:blip r:embed="rId3"/>
          <a:stretch>
            <a:fillRect/>
          </a:stretch>
        </p:blipFill>
        <p:spPr>
          <a:xfrm>
            <a:off x="1956547" y="4316976"/>
            <a:ext cx="5230906" cy="2555802"/>
          </a:xfrm>
          <a:prstGeom prst="rect">
            <a:avLst/>
          </a:prstGeom>
        </p:spPr>
      </p:pic>
      <p:sp>
        <p:nvSpPr>
          <p:cNvPr id="2" name="TextBox 1">
            <a:extLst>
              <a:ext uri="{FF2B5EF4-FFF2-40B4-BE49-F238E27FC236}">
                <a16:creationId xmlns:a16="http://schemas.microsoft.com/office/drawing/2014/main" id="{7671C102-13D7-FEA1-8D6D-9AF29A80C53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89</a:t>
            </a:r>
            <a:endParaRPr lang="fa-IR" sz="1200"/>
          </a:p>
        </p:txBody>
      </p:sp>
    </p:spTree>
    <p:extLst>
      <p:ext uri="{BB962C8B-B14F-4D97-AF65-F5344CB8AC3E}">
        <p14:creationId xmlns:p14="http://schemas.microsoft.com/office/powerpoint/2010/main" val="486611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291" y="965848"/>
            <a:ext cx="7886700" cy="1325563"/>
          </a:xfrm>
        </p:spPr>
        <p:txBody>
          <a:bodyPr/>
          <a:lstStyle/>
          <a:p>
            <a:pPr algn="r" rtl="1"/>
            <a:r>
              <a:rPr b="1">
                <a:cs typeface="Titr" panose="00000700000000000000" pitchFamily="2" charset="-78"/>
              </a:rPr>
              <a:t>معرفی Flux1.ai </a:t>
            </a:r>
            <a:br>
              <a:rPr lang="fa-IR" b="1">
                <a:cs typeface="Titr" panose="00000700000000000000" pitchFamily="2" charset="-78"/>
              </a:rPr>
            </a:br>
            <a:r>
              <a:rPr b="1">
                <a:cs typeface="Titr" panose="00000700000000000000" pitchFamily="2" charset="-78"/>
              </a:rPr>
              <a:t> </a:t>
            </a:r>
            <a:r>
              <a:rPr sz="3200" b="1">
                <a:cs typeface="Nazanin" panose="00000400000000000000" pitchFamily="2" charset="-78"/>
              </a:rPr>
              <a:t>ویرایش تصویر با دستور متنی</a:t>
            </a:r>
            <a:endParaRPr b="1">
              <a:cs typeface="Nazanin" panose="00000400000000000000" pitchFamily="2" charset="-78"/>
            </a:endParaRPr>
          </a:p>
        </p:txBody>
      </p:sp>
      <p:sp>
        <p:nvSpPr>
          <p:cNvPr id="3" name="Content Placeholder 2"/>
          <p:cNvSpPr>
            <a:spLocks noGrp="1"/>
          </p:cNvSpPr>
          <p:nvPr>
            <p:ph idx="1"/>
          </p:nvPr>
        </p:nvSpPr>
        <p:spPr>
          <a:xfrm>
            <a:off x="628650" y="2393184"/>
            <a:ext cx="7886700" cy="4351338"/>
          </a:xfrm>
        </p:spPr>
        <p:txBody>
          <a:bodyPr>
            <a:normAutofit/>
          </a:bodyPr>
          <a:lstStyle/>
          <a:p>
            <a:pPr algn="r" rtl="1"/>
            <a:r>
              <a:rPr>
                <a:cs typeface="Nazanin" panose="00000400000000000000" pitchFamily="2" charset="-78"/>
              </a:rPr>
              <a:t>🔹 Flux1.ai یک پلتفرم هوش مصنوعی برای ویرایش هوشمند تصاویر با استفاده از متن است.</a:t>
            </a:r>
          </a:p>
          <a:p>
            <a:pPr algn="r" rtl="1"/>
            <a:r>
              <a:rPr>
                <a:cs typeface="Nazanin" panose="00000400000000000000" pitchFamily="2" charset="-78"/>
              </a:rPr>
              <a:t>✅ فقط کافی‌ست بنویسید: «make the sky pink with stars»</a:t>
            </a:r>
          </a:p>
          <a:p>
            <a:pPr algn="r" rtl="1"/>
            <a:r>
              <a:rPr>
                <a:cs typeface="Nazanin" panose="00000400000000000000" pitchFamily="2" charset="-78"/>
              </a:rPr>
              <a:t>✅ تصویر شما با دقت بالا و بدون نیاز به فتوشاپ ویرایش می‌شود</a:t>
            </a:r>
          </a:p>
          <a:p>
            <a:pPr algn="r" rtl="1"/>
            <a:r>
              <a:rPr>
                <a:cs typeface="Nazanin" panose="00000400000000000000" pitchFamily="2" charset="-78"/>
              </a:rPr>
              <a:t>✅ بر پایه مدل‌های دیفیوژن (Diffusion Models)</a:t>
            </a:r>
          </a:p>
          <a:p>
            <a:pPr algn="r" rtl="1"/>
            <a:r>
              <a:rPr>
                <a:cs typeface="Nazanin" panose="00000400000000000000" pitchFamily="2" charset="-78"/>
              </a:rPr>
              <a:t>✅ مناسب برای طراحان، هنرمندان و تولیدکنندگان محتوا</a:t>
            </a:r>
          </a:p>
          <a:p>
            <a:pPr algn="r" rtl="1"/>
            <a:r>
              <a:rPr>
                <a:cs typeface="Nazanin" panose="00000400000000000000" pitchFamily="2" charset="-78"/>
              </a:rPr>
              <a:t>🌐 لینک دسترسی</a:t>
            </a:r>
            <a:r>
              <a:rPr lang="fa-IR">
                <a:cs typeface="Nazanin" panose="00000400000000000000" pitchFamily="2" charset="-78"/>
              </a:rPr>
              <a:t>: </a:t>
            </a:r>
            <a:r>
              <a:rPr>
                <a:cs typeface="Nazanin" panose="00000400000000000000" pitchFamily="2" charset="-78"/>
              </a:rPr>
              <a:t> https://flux1.ai</a:t>
            </a:r>
          </a:p>
        </p:txBody>
      </p:sp>
      <p:pic>
        <p:nvPicPr>
          <p:cNvPr id="5" name="Picture 4">
            <a:extLst>
              <a:ext uri="{FF2B5EF4-FFF2-40B4-BE49-F238E27FC236}">
                <a16:creationId xmlns:a16="http://schemas.microsoft.com/office/drawing/2014/main" id="{48469B9C-1E21-B0A3-89E7-AA43DBF440AA}"/>
              </a:ext>
            </a:extLst>
          </p:cNvPr>
          <p:cNvPicPr>
            <a:picLocks noChangeAspect="1"/>
          </p:cNvPicPr>
          <p:nvPr/>
        </p:nvPicPr>
        <p:blipFill>
          <a:blip r:embed="rId2"/>
          <a:stretch>
            <a:fillRect/>
          </a:stretch>
        </p:blipFill>
        <p:spPr>
          <a:xfrm>
            <a:off x="0" y="358937"/>
            <a:ext cx="9144000" cy="581597"/>
          </a:xfrm>
          <a:prstGeom prst="rect">
            <a:avLst/>
          </a:prstGeom>
        </p:spPr>
      </p:pic>
      <p:pic>
        <p:nvPicPr>
          <p:cNvPr id="4" name="Graphic 3" descr="Lightbulb and gear with solid fill">
            <a:extLst>
              <a:ext uri="{FF2B5EF4-FFF2-40B4-BE49-F238E27FC236}">
                <a16:creationId xmlns:a16="http://schemas.microsoft.com/office/drawing/2014/main" id="{C3EC1E2F-FE12-6433-CCA8-2E5B0FE068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4856" y="5618826"/>
            <a:ext cx="914400" cy="914400"/>
          </a:xfrm>
          <a:prstGeom prst="rect">
            <a:avLst/>
          </a:prstGeom>
        </p:spPr>
      </p:pic>
      <p:sp>
        <p:nvSpPr>
          <p:cNvPr id="6" name="TextBox 5">
            <a:extLst>
              <a:ext uri="{FF2B5EF4-FFF2-40B4-BE49-F238E27FC236}">
                <a16:creationId xmlns:a16="http://schemas.microsoft.com/office/drawing/2014/main" id="{A6BD5B1E-4C6A-CB4F-54EA-5CA81E2159C3}"/>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90</a:t>
            </a:r>
            <a:endParaRPr lang="fa-IR" sz="1200"/>
          </a:p>
        </p:txBody>
      </p:sp>
    </p:spTree>
    <p:extLst>
      <p:ext uri="{BB962C8B-B14F-4D97-AF65-F5344CB8AC3E}">
        <p14:creationId xmlns:p14="http://schemas.microsoft.com/office/powerpoint/2010/main" val="914357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1B491-F23B-1BFD-F207-882B7F2C11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865995-3A89-EA71-45F5-DBD13285A099}"/>
              </a:ext>
            </a:extLst>
          </p:cNvPr>
          <p:cNvSpPr txBox="1"/>
          <p:nvPr/>
        </p:nvSpPr>
        <p:spPr>
          <a:xfrm>
            <a:off x="630621" y="474345"/>
            <a:ext cx="8276895" cy="5447645"/>
          </a:xfrm>
          <a:prstGeom prst="rect">
            <a:avLst/>
          </a:prstGeom>
          <a:noFill/>
        </p:spPr>
        <p:txBody>
          <a:bodyPr wrap="square">
            <a:spAutoFit/>
          </a:bodyPr>
          <a:lstStyle/>
          <a:p>
            <a:pPr algn="r" rtl="1">
              <a:buNone/>
            </a:pPr>
            <a:r>
              <a:rPr lang="ar-SA" sz="3200" b="1">
                <a:cs typeface="2  Titr" panose="00000700000000000000" pitchFamily="2" charset="-78"/>
              </a:rPr>
              <a:t>ابزارهای </a:t>
            </a:r>
            <a:r>
              <a:rPr lang="en-US" sz="3200" b="1">
                <a:cs typeface="2  Titr" panose="00000700000000000000" pitchFamily="2" charset="-78"/>
              </a:rPr>
              <a:t>Flux Tools</a:t>
            </a:r>
          </a:p>
          <a:p>
            <a:pPr algn="r" rtl="1">
              <a:buFont typeface="Arial" panose="020B0604020202020204" pitchFamily="34" charset="0"/>
              <a:buChar char="•"/>
            </a:pPr>
            <a:r>
              <a:rPr lang="en-US" sz="2400" b="1">
                <a:cs typeface="Nazanin" panose="00000400000000000000" pitchFamily="2" charset="-78"/>
              </a:rPr>
              <a:t>Flux Kontext</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ویرایش تصویر بر اساس دستور متنی؛ به‌عنوان مثال، با نوشتن "تغییر رنگ ماشین به قرمز"، مدل فقط همان بخش را ویرایش می‌کند و سایر قسمت‌ها را دست‌نخورده باقی می‌گذارد. </a:t>
            </a:r>
            <a:r>
              <a:rPr lang="en-US" sz="2400">
                <a:cs typeface="Nazanin" panose="00000400000000000000" pitchFamily="2" charset="-78"/>
                <a:hlinkClick r:id="rId2"/>
              </a:rPr>
              <a:t>runware.ai</a:t>
            </a:r>
            <a:endParaRPr lang="en-US" sz="2400">
              <a:cs typeface="Nazanin" panose="00000400000000000000" pitchFamily="2" charset="-78"/>
            </a:endParaRPr>
          </a:p>
          <a:p>
            <a:pPr algn="r" rtl="1">
              <a:buFont typeface="Arial" panose="020B0604020202020204" pitchFamily="34" charset="0"/>
              <a:buChar char="•"/>
            </a:pPr>
            <a:r>
              <a:rPr lang="en-US" sz="2400" b="1">
                <a:cs typeface="Nazanin" panose="00000400000000000000" pitchFamily="2" charset="-78"/>
              </a:rPr>
              <a:t>Flux Inpainting</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بازسازی بخش‌های حذف‌شده یا آسیب‌دیده‌ی تصویر.</a:t>
            </a:r>
          </a:p>
          <a:p>
            <a:pPr algn="r" rtl="1">
              <a:buFont typeface="Arial" panose="020B0604020202020204" pitchFamily="34" charset="0"/>
              <a:buChar char="•"/>
            </a:pPr>
            <a:r>
              <a:rPr lang="en-US" sz="2400" b="1">
                <a:cs typeface="Nazanin" panose="00000400000000000000" pitchFamily="2" charset="-78"/>
              </a:rPr>
              <a:t>Flux Outpainting</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گسترش تصویر به بیرون از قاب اصلی با حفظ سبک و بافت.</a:t>
            </a:r>
          </a:p>
          <a:p>
            <a:pPr algn="r" rtl="1">
              <a:buFont typeface="Arial" panose="020B0604020202020204" pitchFamily="34" charset="0"/>
              <a:buChar char="•"/>
            </a:pPr>
            <a:r>
              <a:rPr lang="en-US" sz="2400" b="1">
                <a:cs typeface="Nazanin" panose="00000400000000000000" pitchFamily="2" charset="-78"/>
              </a:rPr>
              <a:t>Flux Redux</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بازسازی و بهبود کیفیت تصاویر قدیمی یا کم‌کیفیت.</a:t>
            </a:r>
          </a:p>
          <a:p>
            <a:pPr algn="r" rtl="1">
              <a:buFont typeface="Arial" panose="020B0604020202020204" pitchFamily="34" charset="0"/>
              <a:buChar char="•"/>
            </a:pPr>
            <a:r>
              <a:rPr lang="en-US" sz="2400" b="1">
                <a:cs typeface="Nazanin" panose="00000400000000000000" pitchFamily="2" charset="-78"/>
              </a:rPr>
              <a:t>Flux Canny</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تولید تصویر بر اساس لبه‌ها و خطوط اصلی (</a:t>
            </a:r>
            <a:r>
              <a:rPr lang="en-US" sz="2400">
                <a:cs typeface="Nazanin" panose="00000400000000000000" pitchFamily="2" charset="-78"/>
              </a:rPr>
              <a:t>edge-based generation).</a:t>
            </a:r>
          </a:p>
          <a:p>
            <a:pPr algn="r" rtl="1">
              <a:buFont typeface="Arial" panose="020B0604020202020204" pitchFamily="34" charset="0"/>
              <a:buChar char="•"/>
            </a:pPr>
            <a:r>
              <a:rPr lang="en-US" sz="2400" b="1">
                <a:cs typeface="Nazanin" panose="00000400000000000000" pitchFamily="2" charset="-78"/>
              </a:rPr>
              <a:t>Flux Depth</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تولید تصویر با درک عمق و ساختار سه‌بعدی.</a:t>
            </a:r>
          </a:p>
          <a:p>
            <a:pPr algn="r" rtl="1">
              <a:buFont typeface="Arial" panose="020B0604020202020204" pitchFamily="34" charset="0"/>
              <a:buChar char="•"/>
            </a:pPr>
            <a:r>
              <a:rPr lang="en-US" sz="2400" b="1">
                <a:cs typeface="Nazanin" panose="00000400000000000000" pitchFamily="2" charset="-78"/>
              </a:rPr>
              <a:t>Flux Fill</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تکمیل خودکار بخش‌های ناقص یا حذف‌شده‌ی تصویر.</a:t>
            </a:r>
          </a:p>
          <a:p>
            <a:pPr algn="r" rtl="1">
              <a:buFont typeface="Arial" panose="020B0604020202020204" pitchFamily="34" charset="0"/>
              <a:buChar char="•"/>
            </a:pPr>
            <a:r>
              <a:rPr lang="en-US" sz="2400" b="1">
                <a:cs typeface="Nazanin" panose="00000400000000000000" pitchFamily="2" charset="-78"/>
              </a:rPr>
              <a:t>Flux Image to Image</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تبدیل یک تصویر به تصویر دیگر با حفظ سبک یا اعمال تغییرات دلخواه.</a:t>
            </a:r>
          </a:p>
          <a:p>
            <a:pPr algn="r" rtl="1">
              <a:buFont typeface="Arial" panose="020B0604020202020204" pitchFamily="34" charset="0"/>
              <a:buChar char="•"/>
            </a:pPr>
            <a:r>
              <a:rPr lang="en-US" sz="2400" b="1">
                <a:cs typeface="Nazanin" panose="00000400000000000000" pitchFamily="2" charset="-78"/>
              </a:rPr>
              <a:t>Flux Image Edit</a:t>
            </a:r>
            <a:r>
              <a:rPr lang="fa-IR" sz="2400">
                <a:cs typeface="Nazanin" panose="00000400000000000000" pitchFamily="2" charset="-78"/>
              </a:rPr>
              <a:t> -</a:t>
            </a:r>
            <a:r>
              <a:rPr lang="en-US" sz="2400">
                <a:cs typeface="Nazanin" panose="00000400000000000000" pitchFamily="2" charset="-78"/>
              </a:rPr>
              <a:t> </a:t>
            </a:r>
            <a:r>
              <a:rPr lang="ar-SA" sz="2400">
                <a:cs typeface="Nazanin" panose="00000400000000000000" pitchFamily="2" charset="-78"/>
              </a:rPr>
              <a:t>ویرایش مستقیم تصاویر با ابزارهای هوش مصنوعی.</a:t>
            </a:r>
          </a:p>
        </p:txBody>
      </p:sp>
      <p:sp>
        <p:nvSpPr>
          <p:cNvPr id="2" name="TextBox 1">
            <a:extLst>
              <a:ext uri="{FF2B5EF4-FFF2-40B4-BE49-F238E27FC236}">
                <a16:creationId xmlns:a16="http://schemas.microsoft.com/office/drawing/2014/main" id="{5A8CB053-ABC5-A6AD-7459-A4F9D9E08CA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91</a:t>
            </a:r>
            <a:endParaRPr lang="fa-IR" sz="1200"/>
          </a:p>
        </p:txBody>
      </p:sp>
    </p:spTree>
    <p:extLst>
      <p:ext uri="{BB962C8B-B14F-4D97-AF65-F5344CB8AC3E}">
        <p14:creationId xmlns:p14="http://schemas.microsoft.com/office/powerpoint/2010/main" val="2455184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7D44-ECAC-7FCA-FE7B-943FF864A3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E0C4AC-F56A-274A-FA60-4A12D34ED403}"/>
              </a:ext>
            </a:extLst>
          </p:cNvPr>
          <p:cNvSpPr txBox="1"/>
          <p:nvPr/>
        </p:nvSpPr>
        <p:spPr>
          <a:xfrm>
            <a:off x="524350" y="256764"/>
            <a:ext cx="8466083" cy="6617196"/>
          </a:xfrm>
          <a:prstGeom prst="rect">
            <a:avLst/>
          </a:prstGeom>
          <a:noFill/>
        </p:spPr>
        <p:txBody>
          <a:bodyPr wrap="square">
            <a:spAutoFit/>
          </a:bodyPr>
          <a:lstStyle/>
          <a:p>
            <a:pPr algn="r" rtl="1">
              <a:buNone/>
            </a:pPr>
            <a:r>
              <a:rPr lang="ar-SA" sz="3200" b="1">
                <a:cs typeface="Titr" panose="00000700000000000000" pitchFamily="2" charset="-78"/>
              </a:rPr>
              <a:t>ابزارهای جادویی (</a:t>
            </a:r>
            <a:r>
              <a:rPr lang="en-US" sz="3200" b="1">
                <a:cs typeface="Titr" panose="00000700000000000000" pitchFamily="2" charset="-78"/>
              </a:rPr>
              <a:t>Magic Tools</a:t>
            </a:r>
            <a:r>
              <a:rPr lang="fa-IR" sz="3200" b="1">
                <a:cs typeface="Titr" panose="00000700000000000000" pitchFamily="2" charset="-78"/>
              </a:rPr>
              <a:t>)</a:t>
            </a:r>
            <a:endParaRPr lang="en-US" sz="3200" b="1">
              <a:cs typeface="Titr" panose="00000700000000000000" pitchFamily="2" charset="-78"/>
            </a:endParaRPr>
          </a:p>
          <a:p>
            <a:pPr algn="r" rtl="1">
              <a:buNone/>
            </a:pPr>
            <a:endParaRPr lang="en-US" sz="2400" b="1">
              <a:cs typeface="Titr" panose="00000700000000000000" pitchFamily="2" charset="-78"/>
            </a:endParaRPr>
          </a:p>
          <a:p>
            <a:pPr algn="r" rtl="1">
              <a:buFont typeface="Arial" panose="020B0604020202020204" pitchFamily="34" charset="0"/>
              <a:buChar char="•"/>
            </a:pPr>
            <a:r>
              <a:rPr lang="en-US" sz="2400" b="1">
                <a:cs typeface="Nazanin" panose="00000400000000000000" pitchFamily="2" charset="-78"/>
              </a:rPr>
              <a:t>GPT Image 1</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تولید تصویر با استفاده از مدل‌های زبانی پیشرفته.</a:t>
            </a:r>
          </a:p>
          <a:p>
            <a:pPr algn="r" rtl="1">
              <a:buFont typeface="Arial" panose="020B0604020202020204" pitchFamily="34" charset="0"/>
              <a:buChar char="•"/>
            </a:pPr>
            <a:r>
              <a:rPr lang="en-US" sz="2400" b="1">
                <a:cs typeface="Nazanin" panose="00000400000000000000" pitchFamily="2" charset="-78"/>
              </a:rPr>
              <a:t>AI Headshot Generator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تولید تصاویر پرتره حرفه‌ای.</a:t>
            </a:r>
          </a:p>
          <a:p>
            <a:pPr algn="r" rtl="1">
              <a:buFont typeface="Arial" panose="020B0604020202020204" pitchFamily="34" charset="0"/>
              <a:buChar char="•"/>
            </a:pPr>
            <a:r>
              <a:rPr lang="en-US" sz="2400" b="1">
                <a:cs typeface="Nazanin" panose="00000400000000000000" pitchFamily="2" charset="-78"/>
              </a:rPr>
              <a:t>AI Barbie Box</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ساخت تصاویر در سبک عروسک باربی.</a:t>
            </a:r>
          </a:p>
          <a:p>
            <a:pPr algn="r" rtl="1">
              <a:buFont typeface="Arial" panose="020B0604020202020204" pitchFamily="34" charset="0"/>
              <a:buChar char="•"/>
            </a:pPr>
            <a:r>
              <a:rPr lang="en-US" sz="2400" b="1">
                <a:cs typeface="Nazanin" panose="00000400000000000000" pitchFamily="2" charset="-78"/>
              </a:rPr>
              <a:t>Studio Ghibli AI</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تولید تصاویر در سبک انیمه‌های استودیو جیبلی.</a:t>
            </a:r>
          </a:p>
          <a:p>
            <a:pPr algn="r" rtl="1">
              <a:buFont typeface="Arial" panose="020B0604020202020204" pitchFamily="34" charset="0"/>
              <a:buChar char="•"/>
            </a:pPr>
            <a:r>
              <a:rPr lang="en-US" sz="2400" b="1">
                <a:cs typeface="Nazanin" panose="00000400000000000000" pitchFamily="2" charset="-78"/>
              </a:rPr>
              <a:t>Flux Coloring Book</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تبدیل تصاویر به کتاب‌های رنگ‌آمیزی.</a:t>
            </a:r>
          </a:p>
          <a:p>
            <a:pPr algn="r" rtl="1">
              <a:buFont typeface="Arial" panose="020B0604020202020204" pitchFamily="34" charset="0"/>
              <a:buChar char="•"/>
            </a:pPr>
            <a:r>
              <a:rPr lang="en-US" sz="2400" b="1">
                <a:cs typeface="Nazanin" panose="00000400000000000000" pitchFamily="2" charset="-78"/>
              </a:rPr>
              <a:t>Magic Edit</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ویرایش سریع و هوشمند تصاویر.</a:t>
            </a:r>
          </a:p>
          <a:p>
            <a:pPr algn="r" rtl="1">
              <a:buFont typeface="Arial" panose="020B0604020202020204" pitchFamily="34" charset="0"/>
              <a:buChar char="•"/>
            </a:pPr>
            <a:r>
              <a:rPr lang="en-US" sz="2400" b="1">
                <a:cs typeface="Nazanin" panose="00000400000000000000" pitchFamily="2" charset="-78"/>
              </a:rPr>
              <a:t>AI Background Change</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تغییر پس‌زمینه‌ی تصاویر به‌صورت خودکار.</a:t>
            </a:r>
          </a:p>
          <a:p>
            <a:pPr algn="r" rtl="1">
              <a:buFont typeface="Arial" panose="020B0604020202020204" pitchFamily="34" charset="0"/>
              <a:buChar char="•"/>
            </a:pPr>
            <a:r>
              <a:rPr lang="en-US" sz="2400" b="1">
                <a:cs typeface="Nazanin" panose="00000400000000000000" pitchFamily="2" charset="-78"/>
              </a:rPr>
              <a:t>Logo Mockup Generator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ساخت نمونه‌های لوگو در محیط‌های مختلف.</a:t>
            </a:r>
          </a:p>
          <a:p>
            <a:pPr algn="r" rtl="1">
              <a:buFont typeface="Arial" panose="020B0604020202020204" pitchFamily="34" charset="0"/>
              <a:buChar char="•"/>
            </a:pPr>
            <a:r>
              <a:rPr lang="en-US" sz="2400" b="1">
                <a:cs typeface="Nazanin" panose="00000400000000000000" pitchFamily="2" charset="-78"/>
              </a:rPr>
              <a:t>Object Remover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حذف اشیاء ناخواسته از تصاویر.</a:t>
            </a:r>
          </a:p>
          <a:p>
            <a:pPr algn="r" rtl="1">
              <a:buFont typeface="Arial" panose="020B0604020202020204" pitchFamily="34" charset="0"/>
              <a:buChar char="•"/>
            </a:pPr>
            <a:r>
              <a:rPr lang="en-US" sz="2400" b="1">
                <a:cs typeface="Nazanin" panose="00000400000000000000" pitchFamily="2" charset="-78"/>
              </a:rPr>
              <a:t>AI Image Upscaler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افزایش وضوح و کیفیت تصاویر.</a:t>
            </a:r>
          </a:p>
          <a:p>
            <a:pPr algn="r" rtl="1">
              <a:buFont typeface="Arial" panose="020B0604020202020204" pitchFamily="34" charset="0"/>
              <a:buChar char="•"/>
            </a:pPr>
            <a:r>
              <a:rPr lang="en-US" sz="2400" b="1">
                <a:cs typeface="Nazanin" panose="00000400000000000000" pitchFamily="2" charset="-78"/>
              </a:rPr>
              <a:t>Disney AI Poster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تولید پوسترهای سبک دیزنی.</a:t>
            </a:r>
          </a:p>
          <a:p>
            <a:pPr algn="r" rtl="1">
              <a:buFont typeface="Arial" panose="020B0604020202020204" pitchFamily="34" charset="0"/>
              <a:buChar char="•"/>
            </a:pPr>
            <a:r>
              <a:rPr lang="en-US" sz="2400" b="1">
                <a:cs typeface="Nazanin" panose="00000400000000000000" pitchFamily="2" charset="-78"/>
              </a:rPr>
              <a:t>AI Emoji Generator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ساخت ایموجی‌های شخصی‌سازی‌شده.</a:t>
            </a:r>
          </a:p>
          <a:p>
            <a:pPr algn="r" rtl="1">
              <a:buFont typeface="Arial" panose="020B0604020202020204" pitchFamily="34" charset="0"/>
              <a:buChar char="•"/>
            </a:pPr>
            <a:r>
              <a:rPr lang="en-US" sz="2400" b="1">
                <a:cs typeface="Nazanin" panose="00000400000000000000" pitchFamily="2" charset="-78"/>
              </a:rPr>
              <a:t>AI Logo Generator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تولید لوگوهای منحصر‌به‌فرد با هوش مصنوعی.</a:t>
            </a:r>
          </a:p>
          <a:p>
            <a:pPr algn="r" rtl="1">
              <a:buFont typeface="Arial" panose="020B0604020202020204" pitchFamily="34" charset="0"/>
              <a:buChar char="•"/>
            </a:pPr>
            <a:r>
              <a:rPr lang="en-US" sz="2400" b="1">
                <a:cs typeface="Nazanin" panose="00000400000000000000" pitchFamily="2" charset="-78"/>
              </a:rPr>
              <a:t>AI Icon Generator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ساخت آیکون‌های متنوع و خلاقانه.</a:t>
            </a:r>
          </a:p>
          <a:p>
            <a:pPr algn="r" rtl="1">
              <a:buFont typeface="Arial" panose="020B0604020202020204" pitchFamily="34" charset="0"/>
              <a:buChar char="•"/>
            </a:pPr>
            <a:r>
              <a:rPr lang="en-US" sz="2400" b="1">
                <a:cs typeface="Nazanin" panose="00000400000000000000" pitchFamily="2" charset="-78"/>
              </a:rPr>
              <a:t>AI Vector Generator</a:t>
            </a:r>
            <a:r>
              <a:rPr lang="fa-IR" sz="2400">
                <a:cs typeface="Nazanin" panose="00000400000000000000" pitchFamily="2" charset="-78"/>
              </a:rPr>
              <a:t>-</a:t>
            </a:r>
            <a:r>
              <a:rPr lang="en-US" sz="2400">
                <a:cs typeface="Nazanin" panose="00000400000000000000" pitchFamily="2" charset="-78"/>
              </a:rPr>
              <a:t> </a:t>
            </a:r>
            <a:r>
              <a:rPr lang="ar-SA" sz="2400">
                <a:cs typeface="Nazanin" panose="00000400000000000000" pitchFamily="2" charset="-78"/>
              </a:rPr>
              <a:t>تبدیل تصاویر به وکتورهای قابل ویرایش.</a:t>
            </a:r>
          </a:p>
        </p:txBody>
      </p:sp>
      <p:sp>
        <p:nvSpPr>
          <p:cNvPr id="2" name="TextBox 1">
            <a:extLst>
              <a:ext uri="{FF2B5EF4-FFF2-40B4-BE49-F238E27FC236}">
                <a16:creationId xmlns:a16="http://schemas.microsoft.com/office/drawing/2014/main" id="{8C2EDC3B-4714-6D89-BEF3-DB1E29A66AD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92</a:t>
            </a:r>
            <a:endParaRPr lang="fa-IR" sz="1200"/>
          </a:p>
        </p:txBody>
      </p:sp>
    </p:spTree>
    <p:extLst>
      <p:ext uri="{BB962C8B-B14F-4D97-AF65-F5344CB8AC3E}">
        <p14:creationId xmlns:p14="http://schemas.microsoft.com/office/powerpoint/2010/main" val="2366575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51AEB-52D5-40F0-009D-26EB87EF4A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A56EC9-7747-588A-C6F2-B53C4D2DE144}"/>
              </a:ext>
            </a:extLst>
          </p:cNvPr>
          <p:cNvSpPr txBox="1"/>
          <p:nvPr/>
        </p:nvSpPr>
        <p:spPr>
          <a:xfrm>
            <a:off x="2285999" y="551793"/>
            <a:ext cx="6353503" cy="1938992"/>
          </a:xfrm>
          <a:prstGeom prst="rect">
            <a:avLst/>
          </a:prstGeom>
          <a:noFill/>
        </p:spPr>
        <p:txBody>
          <a:bodyPr wrap="square">
            <a:spAutoFit/>
          </a:bodyPr>
          <a:lstStyle/>
          <a:p>
            <a:pPr algn="r" rtl="1">
              <a:buNone/>
            </a:pPr>
            <a:r>
              <a:rPr lang="ar-SA" sz="2000" b="1">
                <a:cs typeface="Titr" panose="00000700000000000000" pitchFamily="2" charset="-78"/>
              </a:rPr>
              <a:t>ابزارهای رایگان (</a:t>
            </a:r>
            <a:r>
              <a:rPr lang="en-US" sz="2000" b="1">
                <a:cs typeface="Titr" panose="00000700000000000000" pitchFamily="2" charset="-78"/>
              </a:rPr>
              <a:t>Free Tools</a:t>
            </a:r>
            <a:r>
              <a:rPr lang="fa-IR" sz="2000" b="1">
                <a:cs typeface="Titr" panose="00000700000000000000" pitchFamily="2" charset="-78"/>
              </a:rPr>
              <a:t>)</a:t>
            </a:r>
            <a:endParaRPr lang="en-US" sz="2000" b="1">
              <a:cs typeface="Titr" panose="00000700000000000000" pitchFamily="2" charset="-78"/>
            </a:endParaRPr>
          </a:p>
          <a:p>
            <a:pPr algn="r" rtl="1">
              <a:buFont typeface="Arial" panose="020B0604020202020204" pitchFamily="34" charset="0"/>
              <a:buChar char="•"/>
            </a:pPr>
            <a:r>
              <a:rPr lang="en-US" sz="2000" b="1">
                <a:cs typeface="Nazanin" panose="00000400000000000000" pitchFamily="2" charset="-78"/>
              </a:rPr>
              <a:t>Image To Caption</a:t>
            </a:r>
            <a:r>
              <a:rPr lang="en-US" sz="2000">
                <a:cs typeface="Nazanin" panose="00000400000000000000" pitchFamily="2" charset="-78"/>
              </a:rPr>
              <a:t>: </a:t>
            </a:r>
            <a:r>
              <a:rPr lang="ar-SA" sz="2000">
                <a:cs typeface="Nazanin" panose="00000400000000000000" pitchFamily="2" charset="-78"/>
              </a:rPr>
              <a:t>تولید توضیح متنی برای تصاویر.</a:t>
            </a:r>
          </a:p>
          <a:p>
            <a:pPr algn="r" rtl="1">
              <a:buFont typeface="Arial" panose="020B0604020202020204" pitchFamily="34" charset="0"/>
              <a:buChar char="•"/>
            </a:pPr>
            <a:r>
              <a:rPr lang="en-US" sz="2000" b="1">
                <a:cs typeface="Nazanin" panose="00000400000000000000" pitchFamily="2" charset="-78"/>
              </a:rPr>
              <a:t>Image To Prompt</a:t>
            </a:r>
            <a:r>
              <a:rPr lang="en-US" sz="2000">
                <a:cs typeface="Nazanin" panose="00000400000000000000" pitchFamily="2" charset="-78"/>
              </a:rPr>
              <a:t>: </a:t>
            </a:r>
            <a:r>
              <a:rPr lang="ar-SA" sz="2000">
                <a:cs typeface="Nazanin" panose="00000400000000000000" pitchFamily="2" charset="-78"/>
              </a:rPr>
              <a:t>تبدیل تصویر به دستور متنی برای تولید تصویر مشابه.</a:t>
            </a:r>
          </a:p>
          <a:p>
            <a:pPr algn="r" rtl="1">
              <a:buFont typeface="Arial" panose="020B0604020202020204" pitchFamily="34" charset="0"/>
              <a:buChar char="•"/>
            </a:pPr>
            <a:r>
              <a:rPr lang="en-US" sz="2000" b="1">
                <a:cs typeface="Nazanin" panose="00000400000000000000" pitchFamily="2" charset="-78"/>
              </a:rPr>
              <a:t>Prompt Generator</a:t>
            </a:r>
            <a:r>
              <a:rPr lang="en-US" sz="2000">
                <a:cs typeface="Nazanin" panose="00000400000000000000" pitchFamily="2" charset="-78"/>
              </a:rPr>
              <a:t>: </a:t>
            </a:r>
            <a:r>
              <a:rPr lang="ar-SA" sz="2000">
                <a:cs typeface="Nazanin" panose="00000400000000000000" pitchFamily="2" charset="-78"/>
              </a:rPr>
              <a:t>ساخت دستورهای متنی خلاقانه برای تولید تصویر.</a:t>
            </a:r>
          </a:p>
          <a:p>
            <a:pPr algn="r" rtl="1">
              <a:buFont typeface="Arial" panose="020B0604020202020204" pitchFamily="34" charset="0"/>
              <a:buChar char="•"/>
            </a:pPr>
            <a:r>
              <a:rPr lang="en-US" sz="2000" b="1">
                <a:cs typeface="Nazanin" panose="00000400000000000000" pitchFamily="2" charset="-78"/>
              </a:rPr>
              <a:t>Remove Background</a:t>
            </a:r>
            <a:r>
              <a:rPr lang="en-US" sz="2000">
                <a:cs typeface="Nazanin" panose="00000400000000000000" pitchFamily="2" charset="-78"/>
              </a:rPr>
              <a:t>: </a:t>
            </a:r>
            <a:r>
              <a:rPr lang="ar-SA" sz="2000">
                <a:cs typeface="Nazanin" panose="00000400000000000000" pitchFamily="2" charset="-78"/>
              </a:rPr>
              <a:t>حذف پس‌زمینه‌ی تصاویر به‌صورت خودکار.</a:t>
            </a:r>
          </a:p>
          <a:p>
            <a:pPr algn="r" rtl="1">
              <a:buFont typeface="Arial" panose="020B0604020202020204" pitchFamily="34" charset="0"/>
              <a:buChar char="•"/>
            </a:pPr>
            <a:r>
              <a:rPr lang="en-US" sz="2000" b="1">
                <a:cs typeface="Nazanin" panose="00000400000000000000" pitchFamily="2" charset="-78"/>
              </a:rPr>
              <a:t>AI Photo Restore</a:t>
            </a:r>
            <a:r>
              <a:rPr lang="en-US" sz="2000">
                <a:cs typeface="Nazanin" panose="00000400000000000000" pitchFamily="2" charset="-78"/>
              </a:rPr>
              <a:t>: </a:t>
            </a:r>
            <a:r>
              <a:rPr lang="ar-SA" sz="2000">
                <a:cs typeface="Nazanin" panose="00000400000000000000" pitchFamily="2" charset="-78"/>
              </a:rPr>
              <a:t>بازسازی و ترمیم عکس‌های قدیمی یا آسیب‌دیده.</a:t>
            </a:r>
          </a:p>
        </p:txBody>
      </p:sp>
      <p:sp>
        <p:nvSpPr>
          <p:cNvPr id="5" name="TextBox 4">
            <a:extLst>
              <a:ext uri="{FF2B5EF4-FFF2-40B4-BE49-F238E27FC236}">
                <a16:creationId xmlns:a16="http://schemas.microsoft.com/office/drawing/2014/main" id="{F53389FF-9768-ED2A-9D6B-393DDA2A0F09}"/>
              </a:ext>
            </a:extLst>
          </p:cNvPr>
          <p:cNvSpPr txBox="1"/>
          <p:nvPr/>
        </p:nvSpPr>
        <p:spPr>
          <a:xfrm>
            <a:off x="693683" y="2625070"/>
            <a:ext cx="7772398" cy="1600438"/>
          </a:xfrm>
          <a:prstGeom prst="rect">
            <a:avLst/>
          </a:prstGeom>
          <a:noFill/>
        </p:spPr>
        <p:txBody>
          <a:bodyPr wrap="square">
            <a:spAutoFit/>
          </a:bodyPr>
          <a:lstStyle/>
          <a:p>
            <a:pPr algn="r" rtl="1">
              <a:buNone/>
            </a:pPr>
            <a:r>
              <a:rPr lang="ar-SA" b="1">
                <a:cs typeface="Titr" panose="00000700000000000000" pitchFamily="2" charset="-78"/>
              </a:rPr>
              <a:t>مدل‌های تولید تصویر</a:t>
            </a:r>
            <a:endParaRPr lang="ar-SA" sz="2000">
              <a:cs typeface="Titr" panose="00000700000000000000" pitchFamily="2" charset="-78"/>
            </a:endParaRPr>
          </a:p>
          <a:p>
            <a:pPr algn="r" rtl="1">
              <a:buFont typeface="Arial" panose="020B0604020202020204" pitchFamily="34" charset="0"/>
              <a:buChar char="•"/>
            </a:pPr>
            <a:r>
              <a:rPr lang="en-US" sz="2000">
                <a:cs typeface="Nazanin" panose="00000400000000000000" pitchFamily="2" charset="-78"/>
              </a:rPr>
              <a:t>Flux.1 Schnell: </a:t>
            </a:r>
            <a:r>
              <a:rPr lang="ar-SA" sz="2000">
                <a:cs typeface="Nazanin" panose="00000400000000000000" pitchFamily="2" charset="-78"/>
              </a:rPr>
              <a:t>مدل سریع و سبک برای تولید تصاویر با سرعت بالا.</a:t>
            </a:r>
          </a:p>
          <a:p>
            <a:pPr algn="r" rtl="1">
              <a:buFont typeface="Arial" panose="020B0604020202020204" pitchFamily="34" charset="0"/>
              <a:buChar char="•"/>
            </a:pPr>
            <a:r>
              <a:rPr lang="en-US" sz="2000">
                <a:cs typeface="Nazanin" panose="00000400000000000000" pitchFamily="2" charset="-78"/>
              </a:rPr>
              <a:t>Flux.1 Dev: </a:t>
            </a:r>
            <a:r>
              <a:rPr lang="ar-SA" sz="2000">
                <a:cs typeface="Nazanin" panose="00000400000000000000" pitchFamily="2" charset="-78"/>
              </a:rPr>
              <a:t>مدل توسعه‌دهنده برای آزمایش و توسعه پروژه‌های شخصی.</a:t>
            </a:r>
          </a:p>
          <a:p>
            <a:pPr algn="r" rtl="1">
              <a:buFont typeface="Arial" panose="020B0604020202020204" pitchFamily="34" charset="0"/>
              <a:buChar char="•"/>
            </a:pPr>
            <a:r>
              <a:rPr lang="en-US" sz="2000">
                <a:cs typeface="Nazanin" panose="00000400000000000000" pitchFamily="2" charset="-78"/>
              </a:rPr>
              <a:t>Flux.1 Pro: </a:t>
            </a:r>
            <a:r>
              <a:rPr lang="ar-SA" sz="2000">
                <a:cs typeface="Nazanin" panose="00000400000000000000" pitchFamily="2" charset="-78"/>
              </a:rPr>
              <a:t>مدل حرفه‌ای با کیفیت بالا و دقت در تطابق با دستور متنی.</a:t>
            </a:r>
          </a:p>
          <a:p>
            <a:pPr algn="r" rtl="1">
              <a:buFont typeface="Arial" panose="020B0604020202020204" pitchFamily="34" charset="0"/>
              <a:buChar char="•"/>
            </a:pPr>
            <a:r>
              <a:rPr lang="en-US" sz="2000">
                <a:cs typeface="Nazanin" panose="00000400000000000000" pitchFamily="2" charset="-78"/>
              </a:rPr>
              <a:t>Flux.1 Pro Ultra: </a:t>
            </a:r>
            <a:r>
              <a:rPr lang="ar-SA" sz="2000">
                <a:cs typeface="Nazanin" panose="00000400000000000000" pitchFamily="2" charset="-78"/>
              </a:rPr>
              <a:t>نسخه‌ی پیشرفته با وضوح بالا و امکانات بیشتر برای کاربران حرفه‌ای.</a:t>
            </a:r>
          </a:p>
        </p:txBody>
      </p:sp>
      <p:sp>
        <p:nvSpPr>
          <p:cNvPr id="7" name="TextBox 6">
            <a:extLst>
              <a:ext uri="{FF2B5EF4-FFF2-40B4-BE49-F238E27FC236}">
                <a16:creationId xmlns:a16="http://schemas.microsoft.com/office/drawing/2014/main" id="{B2DF9DB2-5BA9-05A2-2600-0DA9D6AF3A63}"/>
              </a:ext>
            </a:extLst>
          </p:cNvPr>
          <p:cNvSpPr txBox="1"/>
          <p:nvPr/>
        </p:nvSpPr>
        <p:spPr>
          <a:xfrm>
            <a:off x="1087821" y="4551881"/>
            <a:ext cx="7551681" cy="1938992"/>
          </a:xfrm>
          <a:prstGeom prst="rect">
            <a:avLst/>
          </a:prstGeom>
          <a:noFill/>
        </p:spPr>
        <p:txBody>
          <a:bodyPr wrap="square">
            <a:spAutoFit/>
          </a:bodyPr>
          <a:lstStyle/>
          <a:p>
            <a:pPr algn="r" rtl="1">
              <a:buNone/>
            </a:pPr>
            <a:r>
              <a:rPr lang="ar-SA" sz="2000" b="1">
                <a:cs typeface="Nazanin" panose="00000400000000000000" pitchFamily="2" charset="-78"/>
              </a:rPr>
              <a:t>ابزارهای ویدیویی</a:t>
            </a:r>
          </a:p>
          <a:p>
            <a:pPr algn="r" rtl="1">
              <a:buFont typeface="Arial" panose="020B0604020202020204" pitchFamily="34" charset="0"/>
              <a:buChar char="•"/>
            </a:pPr>
            <a:r>
              <a:rPr lang="en-US" sz="2000" b="1">
                <a:cs typeface="Nazanin" panose="00000400000000000000" pitchFamily="2" charset="-78"/>
              </a:rPr>
              <a:t>AI Video VEO 3</a:t>
            </a:r>
            <a:r>
              <a:rPr lang="en-US" sz="2000">
                <a:cs typeface="Nazanin" panose="00000400000000000000" pitchFamily="2" charset="-78"/>
              </a:rPr>
              <a:t>: </a:t>
            </a:r>
            <a:r>
              <a:rPr lang="ar-SA" sz="2000">
                <a:cs typeface="Nazanin" panose="00000400000000000000" pitchFamily="2" charset="-78"/>
              </a:rPr>
              <a:t>تولید ویدیوهای با کیفیت بالا با استفاده از هوش مصنوعی.</a:t>
            </a:r>
          </a:p>
          <a:p>
            <a:pPr algn="r" rtl="1">
              <a:buFont typeface="Arial" panose="020B0604020202020204" pitchFamily="34" charset="0"/>
              <a:buChar char="•"/>
            </a:pPr>
            <a:r>
              <a:rPr lang="en-US" sz="2000" b="1">
                <a:cs typeface="Nazanin" panose="00000400000000000000" pitchFamily="2" charset="-78"/>
              </a:rPr>
              <a:t>Photo to Video AI</a:t>
            </a:r>
            <a:r>
              <a:rPr lang="en-US" sz="2000">
                <a:cs typeface="Nazanin" panose="00000400000000000000" pitchFamily="2" charset="-78"/>
              </a:rPr>
              <a:t>: </a:t>
            </a:r>
            <a:r>
              <a:rPr lang="ar-SA" sz="2000">
                <a:cs typeface="Nazanin" panose="00000400000000000000" pitchFamily="2" charset="-78"/>
              </a:rPr>
              <a:t>تبدیل عکس‌ها به ویدیوهای پویا.</a:t>
            </a:r>
          </a:p>
          <a:p>
            <a:pPr algn="r" rtl="1">
              <a:buFont typeface="Arial" panose="020B0604020202020204" pitchFamily="34" charset="0"/>
              <a:buChar char="•"/>
            </a:pPr>
            <a:r>
              <a:rPr lang="en-US" sz="2000" b="1">
                <a:cs typeface="Nazanin" panose="00000400000000000000" pitchFamily="2" charset="-78"/>
              </a:rPr>
              <a:t>AI Ciuman</a:t>
            </a:r>
            <a:r>
              <a:rPr lang="en-US" sz="2000">
                <a:cs typeface="Nazanin" panose="00000400000000000000" pitchFamily="2" charset="-78"/>
              </a:rPr>
              <a:t>: </a:t>
            </a:r>
            <a:r>
              <a:rPr lang="ar-SA" sz="2000">
                <a:cs typeface="Nazanin" panose="00000400000000000000" pitchFamily="2" charset="-78"/>
              </a:rPr>
              <a:t>ساخت ویدیوهای رمانتیک با هوش مصنوعی.</a:t>
            </a:r>
          </a:p>
          <a:p>
            <a:pPr algn="r" rtl="1">
              <a:buFont typeface="Arial" panose="020B0604020202020204" pitchFamily="34" charset="0"/>
              <a:buChar char="•"/>
            </a:pPr>
            <a:r>
              <a:rPr lang="en-US" sz="2000" b="1">
                <a:cs typeface="Nazanin" panose="00000400000000000000" pitchFamily="2" charset="-78"/>
              </a:rPr>
              <a:t>French Kiss AI</a:t>
            </a:r>
            <a:r>
              <a:rPr lang="en-US" sz="2000">
                <a:cs typeface="Nazanin" panose="00000400000000000000" pitchFamily="2" charset="-78"/>
              </a:rPr>
              <a:t>: </a:t>
            </a:r>
            <a:r>
              <a:rPr lang="ar-SA" sz="2000">
                <a:cs typeface="Nazanin" panose="00000400000000000000" pitchFamily="2" charset="-78"/>
              </a:rPr>
              <a:t>تولید ویدیوهای عاشقانه با سبک خاص.</a:t>
            </a:r>
          </a:p>
          <a:p>
            <a:pPr algn="r" rtl="1">
              <a:buFont typeface="Arial" panose="020B0604020202020204" pitchFamily="34" charset="0"/>
              <a:buChar char="•"/>
            </a:pPr>
            <a:r>
              <a:rPr lang="en-US" sz="2000" b="1">
                <a:cs typeface="Nazanin" panose="00000400000000000000" pitchFamily="2" charset="-78"/>
              </a:rPr>
              <a:t>AI Hug Video Generator</a:t>
            </a:r>
            <a:r>
              <a:rPr lang="en-US" sz="2000">
                <a:cs typeface="Nazanin" panose="00000400000000000000" pitchFamily="2" charset="-78"/>
              </a:rPr>
              <a:t>: </a:t>
            </a:r>
            <a:r>
              <a:rPr lang="ar-SA" sz="2000">
                <a:cs typeface="Nazanin" panose="00000400000000000000" pitchFamily="2" charset="-78"/>
              </a:rPr>
              <a:t>ساخت ویدیوهای احساسی با موضوع در آغوش گرفتن.</a:t>
            </a:r>
          </a:p>
        </p:txBody>
      </p:sp>
      <p:sp>
        <p:nvSpPr>
          <p:cNvPr id="2" name="TextBox 1">
            <a:extLst>
              <a:ext uri="{FF2B5EF4-FFF2-40B4-BE49-F238E27FC236}">
                <a16:creationId xmlns:a16="http://schemas.microsoft.com/office/drawing/2014/main" id="{5E7A264F-61A5-DF9F-1E2A-FA29FFB852B4}"/>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93</a:t>
            </a:r>
            <a:endParaRPr lang="fa-IR" sz="1200"/>
          </a:p>
        </p:txBody>
      </p:sp>
    </p:spTree>
    <p:extLst>
      <p:ext uri="{BB962C8B-B14F-4D97-AF65-F5344CB8AC3E}">
        <p14:creationId xmlns:p14="http://schemas.microsoft.com/office/powerpoint/2010/main" val="41751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1E188-A1A3-D41D-F6DF-5FDF4C617E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8CBFFC-D74D-074E-BFDD-1821AE85976F}"/>
              </a:ext>
            </a:extLst>
          </p:cNvPr>
          <p:cNvSpPr txBox="1"/>
          <p:nvPr/>
        </p:nvSpPr>
        <p:spPr>
          <a:xfrm>
            <a:off x="472965" y="322089"/>
            <a:ext cx="8450318" cy="523220"/>
          </a:xfrm>
          <a:prstGeom prst="rect">
            <a:avLst/>
          </a:prstGeom>
          <a:noFill/>
        </p:spPr>
        <p:txBody>
          <a:bodyPr wrap="square">
            <a:spAutoFit/>
          </a:bodyPr>
          <a:lstStyle/>
          <a:p>
            <a:pPr algn="r" rtl="1"/>
            <a:r>
              <a:rPr lang="ar-SA" sz="2800" b="1">
                <a:effectLst/>
                <a:latin typeface="Aptos" panose="020B0004020202020204" pitchFamily="34" charset="0"/>
                <a:ea typeface="Aptos" panose="020B0004020202020204" pitchFamily="34" charset="0"/>
                <a:cs typeface="2  Titr" panose="00000700000000000000" pitchFamily="2" charset="-78"/>
              </a:rPr>
              <a:t>چند پروژه‌ی عملی پیشنهادی برای استفاده از ابزارهای</a:t>
            </a:r>
            <a:r>
              <a:rPr lang="fa-IR" sz="2800" b="1">
                <a:effectLst/>
                <a:latin typeface="Aptos" panose="020B0004020202020204" pitchFamily="34" charset="0"/>
                <a:ea typeface="Aptos" panose="020B0004020202020204" pitchFamily="34" charset="0"/>
                <a:cs typeface="2  Titr" panose="00000700000000000000" pitchFamily="2" charset="-78"/>
              </a:rPr>
              <a:t> </a:t>
            </a:r>
            <a:r>
              <a:rPr lang="en-US" sz="2800" b="1">
                <a:effectLst/>
                <a:latin typeface="Aptos" panose="020B0004020202020204" pitchFamily="34" charset="0"/>
                <a:ea typeface="Aptos" panose="020B0004020202020204" pitchFamily="34" charset="0"/>
                <a:cs typeface="2  Titr" panose="00000700000000000000" pitchFamily="2" charset="-78"/>
              </a:rPr>
              <a:t> Flux1.ai</a:t>
            </a:r>
            <a:endParaRPr lang="fa-IR" sz="2800" b="1">
              <a:cs typeface="2  Titr" panose="00000700000000000000" pitchFamily="2" charset="-78"/>
            </a:endParaRPr>
          </a:p>
        </p:txBody>
      </p:sp>
      <p:sp>
        <p:nvSpPr>
          <p:cNvPr id="5" name="TextBox 4">
            <a:extLst>
              <a:ext uri="{FF2B5EF4-FFF2-40B4-BE49-F238E27FC236}">
                <a16:creationId xmlns:a16="http://schemas.microsoft.com/office/drawing/2014/main" id="{4EB25B56-B626-1225-BD3E-EAD2DD19C005}"/>
              </a:ext>
            </a:extLst>
          </p:cNvPr>
          <p:cNvSpPr txBox="1"/>
          <p:nvPr/>
        </p:nvSpPr>
        <p:spPr>
          <a:xfrm>
            <a:off x="346842" y="977902"/>
            <a:ext cx="8576442" cy="2451953"/>
          </a:xfrm>
          <a:prstGeom prst="rect">
            <a:avLst/>
          </a:prstGeom>
          <a:noFill/>
        </p:spPr>
        <p:txBody>
          <a:bodyPr wrap="square">
            <a:spAutoFit/>
          </a:bodyPr>
          <a:lstStyle/>
          <a:p>
            <a:pPr algn="r" rtl="1">
              <a:spcAft>
                <a:spcPts val="2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۱</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ویرایش هوشمند یک تصویر واقعی با</a:t>
            </a:r>
            <a:r>
              <a:rPr lang="en-US" sz="1800" b="1" kern="100">
                <a:effectLst/>
                <a:latin typeface="Aptos" panose="020B0004020202020204" pitchFamily="34" charset="0"/>
                <a:ea typeface="Aptos" panose="020B0004020202020204" pitchFamily="34" charset="0"/>
                <a:cs typeface="2  Nazanin" panose="00000400000000000000" pitchFamily="2" charset="-78"/>
              </a:rPr>
              <a:t> Kontext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spcAft>
                <a:spcPts val="2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هدف</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t>
            </a:r>
            <a:r>
              <a:rPr lang="ar-SA" sz="1800" kern="100">
                <a:effectLst/>
                <a:latin typeface="Aptos" panose="020B0004020202020204" pitchFamily="34" charset="0"/>
                <a:ea typeface="Aptos" panose="020B0004020202020204" pitchFamily="34" charset="0"/>
                <a:cs typeface="2  Nazanin" panose="00000400000000000000" pitchFamily="2" charset="-78"/>
              </a:rPr>
              <a:t>آشنایی با ویرایش دقیق مبتنی بر متن</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یک عکس پرتره یا منظره بارگذاری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از ابزار </a:t>
            </a:r>
            <a:r>
              <a:rPr lang="en-US" sz="1800" b="1" kern="100">
                <a:effectLst/>
                <a:latin typeface="Aptos" panose="020B0004020202020204" pitchFamily="34" charset="0"/>
                <a:ea typeface="Aptos" panose="020B0004020202020204" pitchFamily="34" charset="0"/>
                <a:cs typeface="2  Nazanin" panose="00000400000000000000" pitchFamily="2" charset="-78"/>
              </a:rPr>
              <a:t>Flux Kontext</a:t>
            </a:r>
            <a:r>
              <a:rPr lang="en-US" sz="1800" kern="100">
                <a:effectLst/>
                <a:latin typeface="Aptos" panose="020B0004020202020204" pitchFamily="34" charset="0"/>
                <a:ea typeface="Aptos" panose="020B0004020202020204" pitchFamily="34" charset="0"/>
                <a:cs typeface="2  Nazanin" panose="00000400000000000000" pitchFamily="2" charset="-78"/>
              </a:rPr>
              <a:t> </a:t>
            </a:r>
            <a:r>
              <a:rPr lang="ar-SA" sz="1800" kern="100">
                <a:effectLst/>
                <a:latin typeface="Aptos" panose="020B0004020202020204" pitchFamily="34" charset="0"/>
                <a:ea typeface="Aptos" panose="020B0004020202020204" pitchFamily="34" charset="0"/>
                <a:cs typeface="2  Nazanin" panose="00000400000000000000" pitchFamily="2" charset="-78"/>
              </a:rPr>
              <a:t>برای تغییر جزئی (مثلاً تغییر رنگ لباس، افزودن عینک، حذف یک شیء) استفاده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نسخه قبل و بعد را مقایسه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موضوع برای تمرین</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fa-IR" sz="1800" b="1" kern="100">
              <a:effectLst/>
              <a:latin typeface="Aptos" panose="020B0004020202020204" pitchFamily="34" charset="0"/>
              <a:ea typeface="Aptos" panose="020B0004020202020204" pitchFamily="34" charset="0"/>
              <a:cs typeface="2  Nazanin" panose="00000400000000000000" pitchFamily="2" charset="-78"/>
            </a:endParaRPr>
          </a:p>
          <a:p>
            <a:pPr lvl="0" algn="l">
              <a:spcAft>
                <a:spcPts val="200"/>
              </a:spcAft>
              <a:buSzPts val="1000"/>
              <a:tabLst>
                <a:tab pos="457200" algn="l"/>
              </a:tabLst>
            </a:pPr>
            <a:br>
              <a:rPr lang="en-US" sz="100" kern="100">
                <a:effectLst/>
                <a:latin typeface="Aptos" panose="020B0004020202020204" pitchFamily="34" charset="0"/>
                <a:ea typeface="Aptos" panose="020B0004020202020204" pitchFamily="34" charset="0"/>
                <a:cs typeface="2  Nazanin" panose="00000400000000000000" pitchFamily="2" charset="-78"/>
              </a:rPr>
            </a:br>
            <a:r>
              <a:rPr lang="en-US" sz="1800" kern="100">
                <a:effectLst/>
                <a:latin typeface="Aptos" panose="020B0004020202020204" pitchFamily="34" charset="0"/>
                <a:ea typeface="Aptos" panose="020B0004020202020204" pitchFamily="34" charset="0"/>
                <a:cs typeface="2  Nazanin" panose="00000400000000000000" pitchFamily="2" charset="-78"/>
              </a:rPr>
              <a:t>Change the sky to sunset colors. </a:t>
            </a:r>
            <a:r>
              <a:rPr lang="ar-SA" sz="1800" kern="100">
                <a:effectLst/>
                <a:latin typeface="Aptos" panose="020B0004020202020204" pitchFamily="34" charset="0"/>
                <a:ea typeface="Aptos" panose="020B0004020202020204" pitchFamily="34" charset="0"/>
                <a:cs typeface="2  Nazanin" panose="00000400000000000000" pitchFamily="2" charset="-78"/>
              </a:rPr>
              <a:t>یا </a:t>
            </a:r>
            <a:r>
              <a:rPr lang="en-US" sz="1800" kern="100">
                <a:effectLst/>
                <a:latin typeface="Aptos" panose="020B0004020202020204" pitchFamily="34" charset="0"/>
                <a:ea typeface="Aptos" panose="020B0004020202020204" pitchFamily="34" charset="0"/>
                <a:cs typeface="2  Nazanin" panose="00000400000000000000" pitchFamily="2" charset="-78"/>
              </a:rPr>
              <a:t>Make the person smile.</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35177CA-B1DF-37A3-97B0-6F5FB3E0497E}"/>
              </a:ext>
            </a:extLst>
          </p:cNvPr>
          <p:cNvSpPr txBox="1"/>
          <p:nvPr/>
        </p:nvSpPr>
        <p:spPr>
          <a:xfrm>
            <a:off x="-914398" y="3704316"/>
            <a:ext cx="9837682" cy="2436564"/>
          </a:xfrm>
          <a:prstGeom prst="rect">
            <a:avLst/>
          </a:prstGeom>
          <a:noFill/>
        </p:spPr>
        <p:txBody>
          <a:bodyPr wrap="square">
            <a:spAutoFit/>
          </a:bodyPr>
          <a:lstStyle/>
          <a:p>
            <a:pPr algn="r" rtl="1">
              <a:spcAft>
                <a:spcPts val="2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۲</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طراحی پوستر با</a:t>
            </a:r>
            <a:r>
              <a:rPr lang="en-US" sz="1800" b="1" kern="100">
                <a:effectLst/>
                <a:latin typeface="Aptos" panose="020B0004020202020204" pitchFamily="34" charset="0"/>
                <a:ea typeface="Aptos" panose="020B0004020202020204" pitchFamily="34" charset="0"/>
                <a:cs typeface="2  Nazanin" panose="00000400000000000000" pitchFamily="2" charset="-78"/>
              </a:rPr>
              <a:t> Flux.1 </a:t>
            </a:r>
            <a:r>
              <a:rPr lang="ar-SA" sz="1800" b="1" kern="100">
                <a:effectLst/>
                <a:latin typeface="Aptos" panose="020B0004020202020204" pitchFamily="34" charset="0"/>
                <a:ea typeface="Aptos" panose="020B0004020202020204" pitchFamily="34" charset="0"/>
                <a:cs typeface="2  Nazanin" panose="00000400000000000000" pitchFamily="2" charset="-78"/>
              </a:rPr>
              <a:t>و ابزار</a:t>
            </a:r>
            <a:r>
              <a:rPr lang="en-US" sz="1800" b="1" kern="100">
                <a:effectLst/>
                <a:latin typeface="Aptos" panose="020B0004020202020204" pitchFamily="34" charset="0"/>
                <a:ea typeface="Aptos" panose="020B0004020202020204" pitchFamily="34" charset="0"/>
                <a:cs typeface="2  Nazanin" panose="00000400000000000000" pitchFamily="2" charset="-78"/>
              </a:rPr>
              <a:t> Prompt Generator</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spcAft>
                <a:spcPts val="2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هدف</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t>
            </a:r>
            <a:r>
              <a:rPr lang="ar-SA" sz="1800" kern="100">
                <a:effectLst/>
                <a:latin typeface="Aptos" panose="020B0004020202020204" pitchFamily="34" charset="0"/>
                <a:ea typeface="Aptos" panose="020B0004020202020204" pitchFamily="34" charset="0"/>
                <a:cs typeface="2  Nazanin" panose="00000400000000000000" pitchFamily="2" charset="-78"/>
              </a:rPr>
              <a:t>تمرین تولید تصویر خلاقانه با دستور متنی</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موضوعی انتخاب کنید (مثلاً یک فیلم خیالی یا یک کمپین محیط‌زیستی)</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با کمک ابزار </a:t>
            </a:r>
            <a:r>
              <a:rPr lang="en-US" sz="1800" b="1" kern="100">
                <a:effectLst/>
                <a:latin typeface="Aptos" panose="020B0004020202020204" pitchFamily="34" charset="0"/>
                <a:ea typeface="Aptos" panose="020B0004020202020204" pitchFamily="34" charset="0"/>
                <a:cs typeface="2  Nazanin" panose="00000400000000000000" pitchFamily="2" charset="-78"/>
              </a:rPr>
              <a:t>Prompt Generator</a:t>
            </a:r>
            <a:r>
              <a:rPr lang="ar-SA" sz="1800" kern="100">
                <a:effectLst/>
                <a:latin typeface="Aptos" panose="020B0004020202020204" pitchFamily="34" charset="0"/>
                <a:ea typeface="Aptos" panose="020B0004020202020204" pitchFamily="34" charset="0"/>
                <a:cs typeface="2  Nazanin" panose="00000400000000000000" pitchFamily="2" charset="-78"/>
              </a:rPr>
              <a:t>، یک</a:t>
            </a:r>
            <a:r>
              <a:rPr lang="en-US" sz="1800" kern="100">
                <a:effectLst/>
                <a:latin typeface="Aptos" panose="020B0004020202020204" pitchFamily="34" charset="0"/>
                <a:ea typeface="Aptos" panose="020B0004020202020204" pitchFamily="34" charset="0"/>
                <a:cs typeface="2  Nazanin" panose="00000400000000000000" pitchFamily="2" charset="-78"/>
              </a:rPr>
              <a:t> prompt </a:t>
            </a:r>
            <a:r>
              <a:rPr lang="ar-SA" sz="1800" kern="100">
                <a:effectLst/>
                <a:latin typeface="Aptos" panose="020B0004020202020204" pitchFamily="34" charset="0"/>
                <a:ea typeface="Aptos" panose="020B0004020202020204" pitchFamily="34" charset="0"/>
                <a:cs typeface="2  Nazanin" panose="00000400000000000000" pitchFamily="2" charset="-78"/>
              </a:rPr>
              <a:t>دقیق بسازید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با مدل</a:t>
            </a:r>
            <a:r>
              <a:rPr lang="en-US" sz="1800" kern="100">
                <a:effectLst/>
                <a:latin typeface="Aptos" panose="020B0004020202020204" pitchFamily="34" charset="0"/>
                <a:ea typeface="Aptos" panose="020B0004020202020204" pitchFamily="34" charset="0"/>
                <a:cs typeface="2  Nazanin" panose="00000400000000000000" pitchFamily="2" charset="-78"/>
              </a:rPr>
              <a:t> Flux.1 </a:t>
            </a:r>
            <a:r>
              <a:rPr lang="ar-SA" sz="1800" kern="100">
                <a:effectLst/>
                <a:latin typeface="Aptos" panose="020B0004020202020204" pitchFamily="34" charset="0"/>
                <a:ea typeface="Aptos" panose="020B0004020202020204" pitchFamily="34" charset="0"/>
                <a:cs typeface="2  Nazanin" panose="00000400000000000000" pitchFamily="2" charset="-78"/>
              </a:rPr>
              <a:t>تصویر نهایی را تولید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spcAft>
                <a:spcPts val="2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آن را در</a:t>
            </a:r>
            <a:r>
              <a:rPr lang="en-US" sz="1800" kern="100">
                <a:effectLst/>
                <a:latin typeface="Aptos" panose="020B0004020202020204" pitchFamily="34" charset="0"/>
                <a:ea typeface="Aptos" panose="020B0004020202020204" pitchFamily="34" charset="0"/>
                <a:cs typeface="2  Nazanin" panose="00000400000000000000" pitchFamily="2" charset="-78"/>
              </a:rPr>
              <a:t> Canva </a:t>
            </a:r>
            <a:r>
              <a:rPr lang="ar-SA" sz="1800" kern="100">
                <a:effectLst/>
                <a:latin typeface="Aptos" panose="020B0004020202020204" pitchFamily="34" charset="0"/>
                <a:ea typeface="Aptos" panose="020B0004020202020204" pitchFamily="34" charset="0"/>
                <a:cs typeface="2  Nazanin" panose="00000400000000000000" pitchFamily="2" charset="-78"/>
              </a:rPr>
              <a:t>یا</a:t>
            </a:r>
            <a:r>
              <a:rPr lang="en-US" sz="1800" kern="100">
                <a:effectLst/>
                <a:latin typeface="Aptos" panose="020B0004020202020204" pitchFamily="34" charset="0"/>
                <a:ea typeface="Aptos" panose="020B0004020202020204" pitchFamily="34" charset="0"/>
                <a:cs typeface="2  Nazanin" panose="00000400000000000000" pitchFamily="2" charset="-78"/>
              </a:rPr>
              <a:t> PowerPoint </a:t>
            </a:r>
            <a:r>
              <a:rPr lang="ar-SA" sz="1800" kern="100">
                <a:effectLst/>
                <a:latin typeface="Aptos" panose="020B0004020202020204" pitchFamily="34" charset="0"/>
                <a:ea typeface="Aptos" panose="020B0004020202020204" pitchFamily="34" charset="0"/>
                <a:cs typeface="2  Nazanin" panose="00000400000000000000" pitchFamily="2" charset="-78"/>
              </a:rPr>
              <a:t>برای پوستر استفاده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پیشنهاد موضوع</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"Future of Earth in 2100"</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pic>
        <p:nvPicPr>
          <p:cNvPr id="2" name="Graphic 1" descr="Lightbulb and gear with solid fill">
            <a:extLst>
              <a:ext uri="{FF2B5EF4-FFF2-40B4-BE49-F238E27FC236}">
                <a16:creationId xmlns:a16="http://schemas.microsoft.com/office/drawing/2014/main" id="{B46A7F8F-FE92-6523-35E2-51418C65D1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4856" y="5618826"/>
            <a:ext cx="914400" cy="914400"/>
          </a:xfrm>
          <a:prstGeom prst="rect">
            <a:avLst/>
          </a:prstGeom>
        </p:spPr>
      </p:pic>
      <p:sp>
        <p:nvSpPr>
          <p:cNvPr id="4" name="TextBox 3">
            <a:extLst>
              <a:ext uri="{FF2B5EF4-FFF2-40B4-BE49-F238E27FC236}">
                <a16:creationId xmlns:a16="http://schemas.microsoft.com/office/drawing/2014/main" id="{F9A618FD-9F58-1214-4E6F-234FF8D9B63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94</a:t>
            </a:r>
            <a:endParaRPr lang="fa-IR" sz="1200"/>
          </a:p>
        </p:txBody>
      </p:sp>
    </p:spTree>
    <p:extLst>
      <p:ext uri="{BB962C8B-B14F-4D97-AF65-F5344CB8AC3E}">
        <p14:creationId xmlns:p14="http://schemas.microsoft.com/office/powerpoint/2010/main" val="1731463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379D4-45E6-A6E6-B283-924D603EA0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411C09-BEDB-4D1D-1DAD-CE088B83B24D}"/>
              </a:ext>
            </a:extLst>
          </p:cNvPr>
          <p:cNvSpPr txBox="1"/>
          <p:nvPr/>
        </p:nvSpPr>
        <p:spPr>
          <a:xfrm>
            <a:off x="472965" y="322089"/>
            <a:ext cx="8450318" cy="523220"/>
          </a:xfrm>
          <a:prstGeom prst="rect">
            <a:avLst/>
          </a:prstGeom>
          <a:noFill/>
        </p:spPr>
        <p:txBody>
          <a:bodyPr wrap="square">
            <a:spAutoFit/>
          </a:bodyPr>
          <a:lstStyle/>
          <a:p>
            <a:pPr algn="r" rtl="1"/>
            <a:r>
              <a:rPr lang="ar-SA" sz="2800" b="1">
                <a:effectLst/>
                <a:latin typeface="Aptos" panose="020B0004020202020204" pitchFamily="34" charset="0"/>
                <a:ea typeface="Aptos" panose="020B0004020202020204" pitchFamily="34" charset="0"/>
                <a:cs typeface="2  Titr" panose="00000700000000000000" pitchFamily="2" charset="-78"/>
              </a:rPr>
              <a:t>چند پروژه‌ی عملی پیشنهادی برای استفاده از ابزارهای</a:t>
            </a:r>
            <a:r>
              <a:rPr lang="fa-IR" sz="2800" b="1">
                <a:effectLst/>
                <a:latin typeface="Aptos" panose="020B0004020202020204" pitchFamily="34" charset="0"/>
                <a:ea typeface="Aptos" panose="020B0004020202020204" pitchFamily="34" charset="0"/>
                <a:cs typeface="2  Titr" panose="00000700000000000000" pitchFamily="2" charset="-78"/>
              </a:rPr>
              <a:t> </a:t>
            </a:r>
            <a:r>
              <a:rPr lang="en-US" sz="2800" b="1">
                <a:effectLst/>
                <a:latin typeface="Aptos" panose="020B0004020202020204" pitchFamily="34" charset="0"/>
                <a:ea typeface="Aptos" panose="020B0004020202020204" pitchFamily="34" charset="0"/>
                <a:cs typeface="2  Titr" panose="00000700000000000000" pitchFamily="2" charset="-78"/>
              </a:rPr>
              <a:t> Flux1.ai</a:t>
            </a:r>
            <a:endParaRPr lang="fa-IR" sz="2800" b="1">
              <a:cs typeface="2  Titr" panose="00000700000000000000" pitchFamily="2" charset="-78"/>
            </a:endParaRPr>
          </a:p>
        </p:txBody>
      </p:sp>
      <p:sp>
        <p:nvSpPr>
          <p:cNvPr id="4" name="TextBox 3">
            <a:extLst>
              <a:ext uri="{FF2B5EF4-FFF2-40B4-BE49-F238E27FC236}">
                <a16:creationId xmlns:a16="http://schemas.microsoft.com/office/drawing/2014/main" id="{BB9E29B4-7169-4036-441B-74CF0CDFABDD}"/>
              </a:ext>
            </a:extLst>
          </p:cNvPr>
          <p:cNvSpPr txBox="1"/>
          <p:nvPr/>
        </p:nvSpPr>
        <p:spPr>
          <a:xfrm>
            <a:off x="693684" y="1028218"/>
            <a:ext cx="8229600" cy="2413994"/>
          </a:xfrm>
          <a:prstGeom prst="rect">
            <a:avLst/>
          </a:prstGeom>
          <a:noFill/>
        </p:spPr>
        <p:txBody>
          <a:bodyPr wrap="square">
            <a:spAutoFit/>
          </a:bodyPr>
          <a:lstStyle/>
          <a:p>
            <a:pPr algn="r" rtl="1">
              <a:lnSpc>
                <a:spcPct val="115000"/>
              </a:lnSpc>
              <a:spcAft>
                <a:spcPts val="8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۳</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ساخت کاراکتر کارتونی شخصی با</a:t>
            </a:r>
            <a:r>
              <a:rPr lang="en-US" sz="1800" b="1" kern="100">
                <a:effectLst/>
                <a:latin typeface="Aptos" panose="020B0004020202020204" pitchFamily="34" charset="0"/>
                <a:ea typeface="Aptos" panose="020B0004020202020204" pitchFamily="34" charset="0"/>
                <a:cs typeface="2  Nazanin" panose="00000400000000000000" pitchFamily="2" charset="-78"/>
              </a:rPr>
              <a:t> Studio Ghibli AI</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هدف</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t>
            </a:r>
            <a:r>
              <a:rPr lang="ar-SA" sz="1800" kern="100">
                <a:effectLst/>
                <a:latin typeface="Aptos" panose="020B0004020202020204" pitchFamily="34" charset="0"/>
                <a:ea typeface="Aptos" panose="020B0004020202020204" pitchFamily="34" charset="0"/>
                <a:cs typeface="2  Nazanin" panose="00000400000000000000" pitchFamily="2" charset="-78"/>
              </a:rPr>
              <a:t>ساخت شخصیت کارتونی از روی عکس یا توصیف</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یک عکس پرتره از خود دانشجو گرفته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در ابزار</a:t>
            </a:r>
            <a:r>
              <a:rPr lang="en-US" sz="1800" kern="100">
                <a:effectLst/>
                <a:latin typeface="Aptos" panose="020B0004020202020204" pitchFamily="34" charset="0"/>
                <a:ea typeface="Aptos" panose="020B0004020202020204" pitchFamily="34" charset="0"/>
                <a:cs typeface="2  Nazanin" panose="00000400000000000000" pitchFamily="2" charset="-78"/>
              </a:rPr>
              <a:t> Studio Ghibli AI </a:t>
            </a:r>
            <a:r>
              <a:rPr lang="ar-SA" sz="1800" kern="100">
                <a:effectLst/>
                <a:latin typeface="Aptos" panose="020B0004020202020204" pitchFamily="34" charset="0"/>
                <a:ea typeface="Aptos" panose="020B0004020202020204" pitchFamily="34" charset="0"/>
                <a:cs typeface="2  Nazanin" panose="00000400000000000000" pitchFamily="2" charset="-78"/>
              </a:rPr>
              <a:t>بارگذاری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شخصیت کارتونی تولید شده ذخیره و چاپ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8F2E3C6-17E7-D033-F6A2-34B3837E6171}"/>
              </a:ext>
            </a:extLst>
          </p:cNvPr>
          <p:cNvSpPr txBox="1"/>
          <p:nvPr/>
        </p:nvSpPr>
        <p:spPr>
          <a:xfrm>
            <a:off x="583324" y="3684009"/>
            <a:ext cx="8339960" cy="2413994"/>
          </a:xfrm>
          <a:prstGeom prst="rect">
            <a:avLst/>
          </a:prstGeom>
          <a:noFill/>
        </p:spPr>
        <p:txBody>
          <a:bodyPr wrap="square">
            <a:spAutoFit/>
          </a:bodyPr>
          <a:lstStyle/>
          <a:p>
            <a:pPr algn="r" rtl="1">
              <a:lnSpc>
                <a:spcPct val="115000"/>
              </a:lnSpc>
              <a:spcAft>
                <a:spcPts val="8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۴</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ساخت کتاب رنگ‌آمیزی با</a:t>
            </a:r>
            <a:r>
              <a:rPr lang="en-US" sz="1800" b="1" kern="100">
                <a:effectLst/>
                <a:latin typeface="Aptos" panose="020B0004020202020204" pitchFamily="34" charset="0"/>
                <a:ea typeface="Aptos" panose="020B0004020202020204" pitchFamily="34" charset="0"/>
                <a:cs typeface="2  Nazanin" panose="00000400000000000000" pitchFamily="2" charset="-78"/>
              </a:rPr>
              <a:t> Flux Coloring Book</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هدف</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t>
            </a:r>
            <a:r>
              <a:rPr lang="ar-SA" sz="1800" kern="100">
                <a:effectLst/>
                <a:latin typeface="Aptos" panose="020B0004020202020204" pitchFamily="34" charset="0"/>
                <a:ea typeface="Aptos" panose="020B0004020202020204" pitchFamily="34" charset="0"/>
                <a:cs typeface="2  Nazanin" panose="00000400000000000000" pitchFamily="2" charset="-78"/>
              </a:rPr>
              <a:t>تولید محتوای آموزشی یا سرگرمی برای کودکان</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تصاویر مختلف از حیوانات، طبیعت یا اشیا تولید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با</a:t>
            </a:r>
            <a:r>
              <a:rPr lang="en-US" sz="1800" kern="100">
                <a:effectLst/>
                <a:latin typeface="Aptos" panose="020B0004020202020204" pitchFamily="34" charset="0"/>
                <a:ea typeface="Aptos" panose="020B0004020202020204" pitchFamily="34" charset="0"/>
                <a:cs typeface="2  Nazanin" panose="00000400000000000000" pitchFamily="2" charset="-78"/>
              </a:rPr>
              <a:t> Flux Coloring Book </a:t>
            </a:r>
            <a:r>
              <a:rPr lang="ar-SA" sz="1800" kern="100">
                <a:effectLst/>
                <a:latin typeface="Aptos" panose="020B0004020202020204" pitchFamily="34" charset="0"/>
                <a:ea typeface="Aptos" panose="020B0004020202020204" pitchFamily="34" charset="0"/>
                <a:cs typeface="2  Nazanin" panose="00000400000000000000" pitchFamily="2" charset="-78"/>
              </a:rPr>
              <a:t>آنها را تبدیل به نسخه‌های سیاه‌سفید مناسب رنگ‌آمیزی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در قالب یک فایل</a:t>
            </a:r>
            <a:r>
              <a:rPr lang="en-US" sz="1800" kern="100">
                <a:effectLst/>
                <a:latin typeface="Aptos" panose="020B0004020202020204" pitchFamily="34" charset="0"/>
                <a:ea typeface="Aptos" panose="020B0004020202020204" pitchFamily="34" charset="0"/>
                <a:cs typeface="2  Nazanin" panose="00000400000000000000" pitchFamily="2" charset="-78"/>
              </a:rPr>
              <a:t> PDF </a:t>
            </a:r>
            <a:r>
              <a:rPr lang="ar-SA" sz="1800" kern="100">
                <a:effectLst/>
                <a:latin typeface="Aptos" panose="020B0004020202020204" pitchFamily="34" charset="0"/>
                <a:ea typeface="Aptos" panose="020B0004020202020204" pitchFamily="34" charset="0"/>
                <a:cs typeface="2  Nazanin" panose="00000400000000000000" pitchFamily="2" charset="-78"/>
              </a:rPr>
              <a:t>کتاب رنگ‌آمیزی خروجی بگیرید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pic>
        <p:nvPicPr>
          <p:cNvPr id="3" name="Graphic 2" descr="Lightbulb and gear with solid fill">
            <a:extLst>
              <a:ext uri="{FF2B5EF4-FFF2-40B4-BE49-F238E27FC236}">
                <a16:creationId xmlns:a16="http://schemas.microsoft.com/office/drawing/2014/main" id="{F7ECABDA-0E61-41C1-B1BC-EC333D54D7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4856" y="5618826"/>
            <a:ext cx="914400" cy="914400"/>
          </a:xfrm>
          <a:prstGeom prst="rect">
            <a:avLst/>
          </a:prstGeom>
        </p:spPr>
      </p:pic>
      <p:sp>
        <p:nvSpPr>
          <p:cNvPr id="5" name="TextBox 4">
            <a:extLst>
              <a:ext uri="{FF2B5EF4-FFF2-40B4-BE49-F238E27FC236}">
                <a16:creationId xmlns:a16="http://schemas.microsoft.com/office/drawing/2014/main" id="{4BEF83F4-926A-8E31-B3F3-41A257011D48}"/>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95</a:t>
            </a:r>
            <a:endParaRPr lang="fa-IR" sz="1200"/>
          </a:p>
        </p:txBody>
      </p:sp>
    </p:spTree>
    <p:extLst>
      <p:ext uri="{BB962C8B-B14F-4D97-AF65-F5344CB8AC3E}">
        <p14:creationId xmlns:p14="http://schemas.microsoft.com/office/powerpoint/2010/main" val="189730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5B4FD-5586-43CA-4B73-C5DCA57C83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206754-EFC4-E80E-8D7A-0B0BE5FAD37E}"/>
              </a:ext>
            </a:extLst>
          </p:cNvPr>
          <p:cNvSpPr txBox="1"/>
          <p:nvPr/>
        </p:nvSpPr>
        <p:spPr>
          <a:xfrm>
            <a:off x="472965" y="322089"/>
            <a:ext cx="8450318" cy="523220"/>
          </a:xfrm>
          <a:prstGeom prst="rect">
            <a:avLst/>
          </a:prstGeom>
          <a:noFill/>
        </p:spPr>
        <p:txBody>
          <a:bodyPr wrap="square">
            <a:spAutoFit/>
          </a:bodyPr>
          <a:lstStyle/>
          <a:p>
            <a:pPr algn="r" rtl="1"/>
            <a:r>
              <a:rPr lang="ar-SA" sz="2800" b="1">
                <a:effectLst/>
                <a:latin typeface="Aptos" panose="020B0004020202020204" pitchFamily="34" charset="0"/>
                <a:ea typeface="Aptos" panose="020B0004020202020204" pitchFamily="34" charset="0"/>
                <a:cs typeface="2  Titr" panose="00000700000000000000" pitchFamily="2" charset="-78"/>
              </a:rPr>
              <a:t>چند پروژه‌ی عملی پیشنهادی برای استفاده از ابزارهای</a:t>
            </a:r>
            <a:r>
              <a:rPr lang="fa-IR" sz="2800" b="1">
                <a:effectLst/>
                <a:latin typeface="Aptos" panose="020B0004020202020204" pitchFamily="34" charset="0"/>
                <a:ea typeface="Aptos" panose="020B0004020202020204" pitchFamily="34" charset="0"/>
                <a:cs typeface="2  Titr" panose="00000700000000000000" pitchFamily="2" charset="-78"/>
              </a:rPr>
              <a:t> </a:t>
            </a:r>
            <a:r>
              <a:rPr lang="en-US" sz="2800" b="1">
                <a:effectLst/>
                <a:latin typeface="Aptos" panose="020B0004020202020204" pitchFamily="34" charset="0"/>
                <a:ea typeface="Aptos" panose="020B0004020202020204" pitchFamily="34" charset="0"/>
                <a:cs typeface="2  Titr" panose="00000700000000000000" pitchFamily="2" charset="-78"/>
              </a:rPr>
              <a:t> Flux1.ai</a:t>
            </a:r>
            <a:endParaRPr lang="fa-IR" sz="2800" b="1">
              <a:cs typeface="2  Titr" panose="00000700000000000000" pitchFamily="2" charset="-78"/>
            </a:endParaRPr>
          </a:p>
        </p:txBody>
      </p:sp>
      <p:sp>
        <p:nvSpPr>
          <p:cNvPr id="5" name="TextBox 4">
            <a:extLst>
              <a:ext uri="{FF2B5EF4-FFF2-40B4-BE49-F238E27FC236}">
                <a16:creationId xmlns:a16="http://schemas.microsoft.com/office/drawing/2014/main" id="{D29BB9FE-5B86-20D8-E4A1-9E2E2DCE4788}"/>
              </a:ext>
            </a:extLst>
          </p:cNvPr>
          <p:cNvSpPr txBox="1"/>
          <p:nvPr/>
        </p:nvSpPr>
        <p:spPr>
          <a:xfrm>
            <a:off x="2285999" y="1015006"/>
            <a:ext cx="6637283" cy="2413994"/>
          </a:xfrm>
          <a:prstGeom prst="rect">
            <a:avLst/>
          </a:prstGeom>
          <a:noFill/>
        </p:spPr>
        <p:txBody>
          <a:bodyPr wrap="square">
            <a:spAutoFit/>
          </a:bodyPr>
          <a:lstStyle/>
          <a:p>
            <a:pPr algn="r" rtl="1">
              <a:lnSpc>
                <a:spcPct val="115000"/>
              </a:lnSpc>
              <a:spcAft>
                <a:spcPts val="8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۵</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حذف اشیاء ناخواسته از تصاویر</a:t>
            </a:r>
            <a:r>
              <a:rPr lang="en-US" sz="1800" b="1" kern="100">
                <a:effectLst/>
                <a:latin typeface="Aptos" panose="020B0004020202020204" pitchFamily="34" charset="0"/>
                <a:ea typeface="Aptos" panose="020B0004020202020204" pitchFamily="34" charset="0"/>
                <a:cs typeface="2  Nazanin" panose="00000400000000000000" pitchFamily="2" charset="-78"/>
              </a:rPr>
              <a:t> (Object Remover)</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هدف</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t>
            </a:r>
            <a:r>
              <a:rPr lang="ar-SA" sz="1800" kern="100">
                <a:effectLst/>
                <a:latin typeface="Aptos" panose="020B0004020202020204" pitchFamily="34" charset="0"/>
                <a:ea typeface="Aptos" panose="020B0004020202020204" pitchFamily="34" charset="0"/>
                <a:cs typeface="2  Nazanin" panose="00000400000000000000" pitchFamily="2" charset="-78"/>
              </a:rPr>
              <a:t>تمرین حذف بدون تخریب</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یک تصویر با شیء ناخواسته (مثلاً فرد پشت‌زمینه یا زباله در خیابان) انتخاب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آن شیء را انتخاب و حذف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تصویر نهایی را ذخیره و مقایسه کنید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41F0A8-41A1-A15B-4B3D-73721826E5CE}"/>
              </a:ext>
            </a:extLst>
          </p:cNvPr>
          <p:cNvSpPr txBox="1"/>
          <p:nvPr/>
        </p:nvSpPr>
        <p:spPr>
          <a:xfrm>
            <a:off x="1150883" y="3602426"/>
            <a:ext cx="7772399" cy="2413994"/>
          </a:xfrm>
          <a:prstGeom prst="rect">
            <a:avLst/>
          </a:prstGeom>
          <a:noFill/>
        </p:spPr>
        <p:txBody>
          <a:bodyPr wrap="square">
            <a:spAutoFit/>
          </a:bodyPr>
          <a:lstStyle/>
          <a:p>
            <a:pPr algn="r" rtl="1">
              <a:lnSpc>
                <a:spcPct val="115000"/>
              </a:lnSpc>
              <a:spcAft>
                <a:spcPts val="8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۶</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تولید عکس‌های پرتره حرفه‌ای برای رزومه یا لینکدین</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ابزار</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AI Headshot Generator</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یک عکس ساده از دانشجو گرفته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از ابزار</a:t>
            </a:r>
            <a:r>
              <a:rPr lang="en-US" sz="1800" kern="100">
                <a:effectLst/>
                <a:latin typeface="Aptos" panose="020B0004020202020204" pitchFamily="34" charset="0"/>
                <a:ea typeface="Aptos" panose="020B0004020202020204" pitchFamily="34" charset="0"/>
                <a:cs typeface="2  Nazanin" panose="00000400000000000000" pitchFamily="2" charset="-78"/>
              </a:rPr>
              <a:t> AI Headshot </a:t>
            </a:r>
            <a:r>
              <a:rPr lang="ar-SA" sz="1800" kern="100">
                <a:effectLst/>
                <a:latin typeface="Aptos" panose="020B0004020202020204" pitchFamily="34" charset="0"/>
                <a:ea typeface="Aptos" panose="020B0004020202020204" pitchFamily="34" charset="0"/>
                <a:cs typeface="2  Nazanin" panose="00000400000000000000" pitchFamily="2" charset="-78"/>
              </a:rPr>
              <a:t>برای تولید پرتره رسمی و حرفه‌ای استفاده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نتیجه برای رزومه یا شبکه‌های اجتماعی استفاده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pic>
        <p:nvPicPr>
          <p:cNvPr id="3" name="Graphic 2" descr="Lightbulb and gear with solid fill">
            <a:extLst>
              <a:ext uri="{FF2B5EF4-FFF2-40B4-BE49-F238E27FC236}">
                <a16:creationId xmlns:a16="http://schemas.microsoft.com/office/drawing/2014/main" id="{4E5D5BB1-EC57-FD76-35CF-CCFA3EF908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4856" y="5618826"/>
            <a:ext cx="914400" cy="914400"/>
          </a:xfrm>
          <a:prstGeom prst="rect">
            <a:avLst/>
          </a:prstGeom>
        </p:spPr>
      </p:pic>
      <p:sp>
        <p:nvSpPr>
          <p:cNvPr id="4" name="TextBox 3">
            <a:extLst>
              <a:ext uri="{FF2B5EF4-FFF2-40B4-BE49-F238E27FC236}">
                <a16:creationId xmlns:a16="http://schemas.microsoft.com/office/drawing/2014/main" id="{71A6DEB4-BF4E-AA59-AD4F-B110712E6BD8}"/>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96</a:t>
            </a:r>
            <a:endParaRPr lang="fa-IR" sz="1200"/>
          </a:p>
        </p:txBody>
      </p:sp>
    </p:spTree>
    <p:extLst>
      <p:ext uri="{BB962C8B-B14F-4D97-AF65-F5344CB8AC3E}">
        <p14:creationId xmlns:p14="http://schemas.microsoft.com/office/powerpoint/2010/main" val="3212694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E3BEE-EAE8-AD82-613B-BBBDA71980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D10DF1-05BE-1CAF-BF84-825208B1B091}"/>
              </a:ext>
            </a:extLst>
          </p:cNvPr>
          <p:cNvSpPr txBox="1"/>
          <p:nvPr/>
        </p:nvSpPr>
        <p:spPr>
          <a:xfrm>
            <a:off x="472965" y="322089"/>
            <a:ext cx="8450318" cy="523220"/>
          </a:xfrm>
          <a:prstGeom prst="rect">
            <a:avLst/>
          </a:prstGeom>
          <a:noFill/>
        </p:spPr>
        <p:txBody>
          <a:bodyPr wrap="square">
            <a:spAutoFit/>
          </a:bodyPr>
          <a:lstStyle/>
          <a:p>
            <a:pPr algn="r" rtl="1"/>
            <a:r>
              <a:rPr lang="ar-SA" sz="2800" b="1">
                <a:effectLst/>
                <a:latin typeface="Aptos" panose="020B0004020202020204" pitchFamily="34" charset="0"/>
                <a:ea typeface="Aptos" panose="020B0004020202020204" pitchFamily="34" charset="0"/>
                <a:cs typeface="2  Titr" panose="00000700000000000000" pitchFamily="2" charset="-78"/>
              </a:rPr>
              <a:t>چند پروژه‌ی عملی پیشنهادی برای استفاده از ابزارهای</a:t>
            </a:r>
            <a:r>
              <a:rPr lang="fa-IR" sz="2800" b="1">
                <a:effectLst/>
                <a:latin typeface="Aptos" panose="020B0004020202020204" pitchFamily="34" charset="0"/>
                <a:ea typeface="Aptos" panose="020B0004020202020204" pitchFamily="34" charset="0"/>
                <a:cs typeface="2  Titr" panose="00000700000000000000" pitchFamily="2" charset="-78"/>
              </a:rPr>
              <a:t> </a:t>
            </a:r>
            <a:r>
              <a:rPr lang="en-US" sz="2800" b="1">
                <a:effectLst/>
                <a:latin typeface="Aptos" panose="020B0004020202020204" pitchFamily="34" charset="0"/>
                <a:ea typeface="Aptos" panose="020B0004020202020204" pitchFamily="34" charset="0"/>
                <a:cs typeface="2  Titr" panose="00000700000000000000" pitchFamily="2" charset="-78"/>
              </a:rPr>
              <a:t> Flux1.ai</a:t>
            </a:r>
            <a:endParaRPr lang="fa-IR" sz="2800" b="1">
              <a:cs typeface="2  Titr" panose="00000700000000000000" pitchFamily="2" charset="-78"/>
            </a:endParaRPr>
          </a:p>
        </p:txBody>
      </p:sp>
      <p:sp>
        <p:nvSpPr>
          <p:cNvPr id="4" name="TextBox 3">
            <a:extLst>
              <a:ext uri="{FF2B5EF4-FFF2-40B4-BE49-F238E27FC236}">
                <a16:creationId xmlns:a16="http://schemas.microsoft.com/office/drawing/2014/main" id="{53B02419-7B9B-FE4E-BA32-2B48335F2861}"/>
              </a:ext>
            </a:extLst>
          </p:cNvPr>
          <p:cNvSpPr txBox="1"/>
          <p:nvPr/>
        </p:nvSpPr>
        <p:spPr>
          <a:xfrm>
            <a:off x="1387366" y="1073894"/>
            <a:ext cx="7535917" cy="2413994"/>
          </a:xfrm>
          <a:prstGeom prst="rect">
            <a:avLst/>
          </a:prstGeom>
          <a:noFill/>
        </p:spPr>
        <p:txBody>
          <a:bodyPr wrap="square">
            <a:spAutoFit/>
          </a:bodyPr>
          <a:lstStyle/>
          <a:p>
            <a:pPr algn="r" rtl="1">
              <a:lnSpc>
                <a:spcPct val="115000"/>
              </a:lnSpc>
              <a:spcAft>
                <a:spcPts val="8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۶</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تولید عکس‌های پرتره حرفه‌ای برای رزومه یا لینکدین</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ابزار</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AI Headshot Generator</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یک عکس ساده از دانشجو گرفته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از ابزار</a:t>
            </a:r>
            <a:r>
              <a:rPr lang="en-US" sz="1800" kern="100">
                <a:effectLst/>
                <a:latin typeface="Aptos" panose="020B0004020202020204" pitchFamily="34" charset="0"/>
                <a:ea typeface="Aptos" panose="020B0004020202020204" pitchFamily="34" charset="0"/>
                <a:cs typeface="2  Nazanin" panose="00000400000000000000" pitchFamily="2" charset="-78"/>
              </a:rPr>
              <a:t> AI Headshot </a:t>
            </a:r>
            <a:r>
              <a:rPr lang="ar-SA" sz="1800" kern="100">
                <a:effectLst/>
                <a:latin typeface="Aptos" panose="020B0004020202020204" pitchFamily="34" charset="0"/>
                <a:ea typeface="Aptos" panose="020B0004020202020204" pitchFamily="34" charset="0"/>
                <a:cs typeface="2  Nazanin" panose="00000400000000000000" pitchFamily="2" charset="-78"/>
              </a:rPr>
              <a:t>برای تولید پرتره رسمی و حرفه‌ای استفاده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نتیجه برای رزومه یا شبکه‌های اجتماعی استفاده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AE8487C-B71B-9284-989C-9252E7965F2C}"/>
              </a:ext>
            </a:extLst>
          </p:cNvPr>
          <p:cNvSpPr txBox="1"/>
          <p:nvPr/>
        </p:nvSpPr>
        <p:spPr>
          <a:xfrm>
            <a:off x="2285999" y="3875764"/>
            <a:ext cx="6637283" cy="2413994"/>
          </a:xfrm>
          <a:prstGeom prst="rect">
            <a:avLst/>
          </a:prstGeom>
          <a:noFill/>
        </p:spPr>
        <p:txBody>
          <a:bodyPr wrap="square">
            <a:spAutoFit/>
          </a:bodyPr>
          <a:lstStyle/>
          <a:p>
            <a:pPr algn="r" rtl="1">
              <a:lnSpc>
                <a:spcPct val="115000"/>
              </a:lnSpc>
              <a:spcAft>
                <a:spcPts val="800"/>
              </a:spcAft>
              <a:buNone/>
            </a:pPr>
            <a:r>
              <a:rPr lang="en-US" sz="1800" b="1" kern="100">
                <a:effectLst/>
                <a:latin typeface="Segoe UI Emoji" panose="020B0502040204020203" pitchFamily="34" charset="0"/>
                <a:ea typeface="Aptos" panose="020B0004020202020204" pitchFamily="34" charset="0"/>
                <a:cs typeface="Segoe UI Emoji" panose="020B0502040204020203" pitchFamily="34" charset="0"/>
              </a:rPr>
              <a:t>🎬</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fa-IR" sz="1800" b="1" kern="100">
                <a:effectLst/>
                <a:latin typeface="Aptos" panose="020B0004020202020204" pitchFamily="34" charset="0"/>
                <a:ea typeface="Aptos" panose="020B0004020202020204" pitchFamily="34" charset="0"/>
                <a:cs typeface="2  Nazanin" panose="00000400000000000000" pitchFamily="2" charset="-78"/>
              </a:rPr>
              <a:t>۷</a:t>
            </a:r>
            <a:r>
              <a:rPr lang="en-US" sz="1800" b="1" kern="100">
                <a:effectLst/>
                <a:latin typeface="Aptos" panose="020B0004020202020204" pitchFamily="34" charset="0"/>
                <a:ea typeface="Aptos" panose="020B0004020202020204" pitchFamily="34" charset="0"/>
                <a:cs typeface="2  Nazanin" panose="00000400000000000000" pitchFamily="2" charset="-78"/>
              </a:rPr>
              <a:t>. </a:t>
            </a:r>
            <a:r>
              <a:rPr lang="ar-SA" sz="1800" b="1" kern="100">
                <a:effectLst/>
                <a:latin typeface="Aptos" panose="020B0004020202020204" pitchFamily="34" charset="0"/>
                <a:ea typeface="Aptos" panose="020B0004020202020204" pitchFamily="34" charset="0"/>
                <a:cs typeface="2  Nazanin" panose="00000400000000000000" pitchFamily="2" charset="-78"/>
              </a:rPr>
              <a:t>تبدیل عکس به ویدیو احساسی</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algn="r" rtl="1">
              <a:lnSpc>
                <a:spcPct val="115000"/>
              </a:lnSpc>
              <a:spcAft>
                <a:spcPts val="800"/>
              </a:spcAft>
              <a:buNone/>
            </a:pPr>
            <a:r>
              <a:rPr lang="ar-SA" sz="1800" b="1" kern="100">
                <a:effectLst/>
                <a:latin typeface="Aptos" panose="020B0004020202020204" pitchFamily="34" charset="0"/>
                <a:ea typeface="Aptos" panose="020B0004020202020204" pitchFamily="34" charset="0"/>
                <a:cs typeface="2  Nazanin" panose="00000400000000000000" pitchFamily="2" charset="-78"/>
              </a:rPr>
              <a:t>ابزار</a:t>
            </a:r>
            <a:r>
              <a:rPr lang="en-US" sz="1800" b="1" kern="100">
                <a:effectLst/>
                <a:latin typeface="Aptos" panose="020B0004020202020204" pitchFamily="34" charset="0"/>
                <a:ea typeface="Aptos" panose="020B0004020202020204" pitchFamily="34" charset="0"/>
                <a:cs typeface="2  Nazanin" panose="00000400000000000000" pitchFamily="2" charset="-78"/>
              </a:rPr>
              <a:t>:</a:t>
            </a:r>
            <a:r>
              <a:rPr lang="en-US" sz="1800" kern="100">
                <a:effectLst/>
                <a:latin typeface="Aptos" panose="020B0004020202020204" pitchFamily="34" charset="0"/>
                <a:ea typeface="Aptos" panose="020B0004020202020204" pitchFamily="34" charset="0"/>
                <a:cs typeface="2  Nazanin" panose="00000400000000000000" pitchFamily="2" charset="-78"/>
              </a:rPr>
              <a:t> Photo to Video AI</a:t>
            </a:r>
            <a:br>
              <a:rPr lang="en-US" sz="1800" kern="100">
                <a:effectLst/>
                <a:latin typeface="Aptos" panose="020B0004020202020204" pitchFamily="34" charset="0"/>
                <a:ea typeface="Aptos" panose="020B0004020202020204" pitchFamily="34" charset="0"/>
                <a:cs typeface="2  Nazanin" panose="00000400000000000000" pitchFamily="2" charset="-78"/>
              </a:rPr>
            </a:br>
            <a:r>
              <a:rPr lang="ar-SA" sz="1800" b="1" kern="100">
                <a:effectLst/>
                <a:latin typeface="Aptos" panose="020B0004020202020204" pitchFamily="34" charset="0"/>
                <a:ea typeface="Aptos" panose="020B0004020202020204" pitchFamily="34" charset="0"/>
                <a:cs typeface="2  Nazanin" panose="00000400000000000000" pitchFamily="2" charset="-78"/>
              </a:rPr>
              <a:t>مراحل</a:t>
            </a:r>
            <a:r>
              <a:rPr lang="en-US" sz="1800" b="1"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چند تصویر متوالی انتخاب شود (مثلاً مراحل رشد کودک یا خاطرات سفر)</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با ابزار</a:t>
            </a:r>
            <a:r>
              <a:rPr lang="en-US" sz="1800" kern="100">
                <a:effectLst/>
                <a:latin typeface="Aptos" panose="020B0004020202020204" pitchFamily="34" charset="0"/>
                <a:ea typeface="Aptos" panose="020B0004020202020204" pitchFamily="34" charset="0"/>
                <a:cs typeface="2  Nazanin" panose="00000400000000000000" pitchFamily="2" charset="-78"/>
              </a:rPr>
              <a:t> Photo to Video </a:t>
            </a:r>
            <a:r>
              <a:rPr lang="ar-SA" sz="1800" kern="100">
                <a:effectLst/>
                <a:latin typeface="Aptos" panose="020B0004020202020204" pitchFamily="34" charset="0"/>
                <a:ea typeface="Aptos" panose="020B0004020202020204" pitchFamily="34" charset="0"/>
                <a:cs typeface="2  Nazanin" panose="00000400000000000000" pitchFamily="2" charset="-78"/>
              </a:rPr>
              <a:t>یک کلیپ کوتاه ساخته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100">
                <a:effectLst/>
                <a:latin typeface="Aptos" panose="020B0004020202020204" pitchFamily="34" charset="0"/>
                <a:ea typeface="Aptos" panose="020B0004020202020204" pitchFamily="34" charset="0"/>
                <a:cs typeface="2  Nazanin" panose="00000400000000000000" pitchFamily="2" charset="-78"/>
              </a:rPr>
              <a:t>موسیقی پس‌زمینه انتخاب و نهایی‌سازی شود</a:t>
            </a:r>
            <a:r>
              <a:rPr lang="en-US" sz="1800" kern="100">
                <a:effectLst/>
                <a:latin typeface="Aptos" panose="020B0004020202020204" pitchFamily="34" charset="0"/>
                <a:ea typeface="Aptos" panose="020B0004020202020204" pitchFamily="34" charset="0"/>
                <a:cs typeface="2  Nazanin" panose="00000400000000000000" pitchFamily="2" charset="-78"/>
              </a:rPr>
              <a:t>.</a:t>
            </a:r>
            <a:endParaRPr lang="en-US" sz="1800" kern="100">
              <a:effectLst/>
              <a:latin typeface="Aptos" panose="020B0004020202020204" pitchFamily="34" charset="0"/>
              <a:ea typeface="Aptos" panose="020B0004020202020204" pitchFamily="34" charset="0"/>
              <a:cs typeface="Arial" panose="020B0604020202020204" pitchFamily="34" charset="0"/>
            </a:endParaRPr>
          </a:p>
        </p:txBody>
      </p:sp>
      <p:pic>
        <p:nvPicPr>
          <p:cNvPr id="3" name="Graphic 2" descr="Lightbulb and gear with solid fill">
            <a:extLst>
              <a:ext uri="{FF2B5EF4-FFF2-40B4-BE49-F238E27FC236}">
                <a16:creationId xmlns:a16="http://schemas.microsoft.com/office/drawing/2014/main" id="{5B746F36-68D9-BDFD-3485-C2732F2225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4856" y="5618826"/>
            <a:ext cx="914400" cy="914400"/>
          </a:xfrm>
          <a:prstGeom prst="rect">
            <a:avLst/>
          </a:prstGeom>
        </p:spPr>
      </p:pic>
      <p:sp>
        <p:nvSpPr>
          <p:cNvPr id="5" name="TextBox 4">
            <a:extLst>
              <a:ext uri="{FF2B5EF4-FFF2-40B4-BE49-F238E27FC236}">
                <a16:creationId xmlns:a16="http://schemas.microsoft.com/office/drawing/2014/main" id="{9E55AF3A-5CFB-FDF9-47A1-B48B954BC33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97</a:t>
            </a:r>
            <a:endParaRPr lang="fa-IR" sz="1200"/>
          </a:p>
        </p:txBody>
      </p:sp>
    </p:spTree>
    <p:extLst>
      <p:ext uri="{BB962C8B-B14F-4D97-AF65-F5344CB8AC3E}">
        <p14:creationId xmlns:p14="http://schemas.microsoft.com/office/powerpoint/2010/main" val="868483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7CF3C5-6C1C-EAB7-D2BE-7479E64A9F71}"/>
              </a:ext>
            </a:extLst>
          </p:cNvPr>
          <p:cNvPicPr>
            <a:picLocks noChangeAspect="1"/>
          </p:cNvPicPr>
          <p:nvPr/>
        </p:nvPicPr>
        <p:blipFill>
          <a:blip r:embed="rId2"/>
          <a:stretch>
            <a:fillRect/>
          </a:stretch>
        </p:blipFill>
        <p:spPr>
          <a:xfrm>
            <a:off x="1142819" y="2579936"/>
            <a:ext cx="6858359" cy="4107547"/>
          </a:xfrm>
          <a:prstGeom prst="rect">
            <a:avLst/>
          </a:prstGeom>
        </p:spPr>
      </p:pic>
      <p:pic>
        <p:nvPicPr>
          <p:cNvPr id="7" name="Picture 6">
            <a:extLst>
              <a:ext uri="{FF2B5EF4-FFF2-40B4-BE49-F238E27FC236}">
                <a16:creationId xmlns:a16="http://schemas.microsoft.com/office/drawing/2014/main" id="{D67D1B86-4719-010A-0E54-DFDF5D5E414C}"/>
              </a:ext>
            </a:extLst>
          </p:cNvPr>
          <p:cNvPicPr>
            <a:picLocks noChangeAspect="1"/>
          </p:cNvPicPr>
          <p:nvPr/>
        </p:nvPicPr>
        <p:blipFill>
          <a:blip r:embed="rId3"/>
          <a:stretch>
            <a:fillRect/>
          </a:stretch>
        </p:blipFill>
        <p:spPr>
          <a:xfrm>
            <a:off x="1709737" y="590249"/>
            <a:ext cx="5724525" cy="1924050"/>
          </a:xfrm>
          <a:prstGeom prst="rect">
            <a:avLst/>
          </a:prstGeom>
        </p:spPr>
      </p:pic>
      <p:sp>
        <p:nvSpPr>
          <p:cNvPr id="9" name="TextBox 8">
            <a:extLst>
              <a:ext uri="{FF2B5EF4-FFF2-40B4-BE49-F238E27FC236}">
                <a16:creationId xmlns:a16="http://schemas.microsoft.com/office/drawing/2014/main" id="{E5B3A9E4-2FC8-58EE-465B-38E60EFA1320}"/>
              </a:ext>
            </a:extLst>
          </p:cNvPr>
          <p:cNvSpPr txBox="1"/>
          <p:nvPr/>
        </p:nvSpPr>
        <p:spPr>
          <a:xfrm>
            <a:off x="2404695" y="6180682"/>
            <a:ext cx="4572000" cy="646331"/>
          </a:xfrm>
          <a:prstGeom prst="rect">
            <a:avLst/>
          </a:prstGeom>
          <a:noFill/>
        </p:spPr>
        <p:txBody>
          <a:bodyPr wrap="square">
            <a:spAutoFit/>
          </a:bodyPr>
          <a:lstStyle/>
          <a:p>
            <a:pPr algn="ctr"/>
            <a:r>
              <a:rPr lang="fa-IR" sz="3600" b="1">
                <a:solidFill>
                  <a:srgbClr val="0070C0"/>
                </a:solidFill>
              </a:rPr>
              <a:t>https://lmarena.ai</a:t>
            </a:r>
          </a:p>
        </p:txBody>
      </p:sp>
      <p:pic>
        <p:nvPicPr>
          <p:cNvPr id="2" name="Graphic 1" descr="Lightbulb and gear with solid fill">
            <a:extLst>
              <a:ext uri="{FF2B5EF4-FFF2-40B4-BE49-F238E27FC236}">
                <a16:creationId xmlns:a16="http://schemas.microsoft.com/office/drawing/2014/main" id="{F0248EC3-47EF-B35D-2967-E67D074901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4856" y="5618826"/>
            <a:ext cx="914400" cy="914400"/>
          </a:xfrm>
          <a:prstGeom prst="rect">
            <a:avLst/>
          </a:prstGeom>
        </p:spPr>
      </p:pic>
      <p:sp>
        <p:nvSpPr>
          <p:cNvPr id="3" name="TextBox 2">
            <a:extLst>
              <a:ext uri="{FF2B5EF4-FFF2-40B4-BE49-F238E27FC236}">
                <a16:creationId xmlns:a16="http://schemas.microsoft.com/office/drawing/2014/main" id="{A602FBB5-A196-ECEF-4337-983561CBD76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98</a:t>
            </a:r>
            <a:endParaRPr lang="fa-IR" sz="1200"/>
          </a:p>
        </p:txBody>
      </p:sp>
    </p:spTree>
    <p:extLst>
      <p:ext uri="{BB962C8B-B14F-4D97-AF65-F5344CB8AC3E}">
        <p14:creationId xmlns:p14="http://schemas.microsoft.com/office/powerpoint/2010/main" val="2742492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8D21-D254-6CA0-1996-601B60FF6E4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E8AFD9C-58AB-EC77-8DD2-6345BEB120C6}"/>
              </a:ext>
            </a:extLst>
          </p:cNvPr>
          <p:cNvSpPr txBox="1"/>
          <p:nvPr/>
        </p:nvSpPr>
        <p:spPr>
          <a:xfrm>
            <a:off x="2286000" y="469949"/>
            <a:ext cx="4572000" cy="461665"/>
          </a:xfrm>
          <a:prstGeom prst="rect">
            <a:avLst/>
          </a:prstGeom>
          <a:noFill/>
        </p:spPr>
        <p:txBody>
          <a:bodyPr wrap="square">
            <a:spAutoFit/>
          </a:bodyPr>
          <a:lstStyle/>
          <a:p>
            <a:pPr algn="ctr"/>
            <a:r>
              <a:rPr lang="fa-IR" sz="2400" b="1"/>
              <a:t>https://lmarena.ai</a:t>
            </a:r>
          </a:p>
        </p:txBody>
      </p:sp>
      <p:pic>
        <p:nvPicPr>
          <p:cNvPr id="3" name="Picture 2">
            <a:extLst>
              <a:ext uri="{FF2B5EF4-FFF2-40B4-BE49-F238E27FC236}">
                <a16:creationId xmlns:a16="http://schemas.microsoft.com/office/drawing/2014/main" id="{5B8974F8-28B0-30E5-A319-A488ED4E1F9E}"/>
              </a:ext>
            </a:extLst>
          </p:cNvPr>
          <p:cNvPicPr>
            <a:picLocks noChangeAspect="1"/>
          </p:cNvPicPr>
          <p:nvPr/>
        </p:nvPicPr>
        <p:blipFill>
          <a:blip r:embed="rId2"/>
          <a:stretch>
            <a:fillRect/>
          </a:stretch>
        </p:blipFill>
        <p:spPr>
          <a:xfrm>
            <a:off x="1009650" y="1023937"/>
            <a:ext cx="7124700" cy="4810125"/>
          </a:xfrm>
          <a:prstGeom prst="rect">
            <a:avLst/>
          </a:prstGeom>
        </p:spPr>
      </p:pic>
      <p:sp>
        <p:nvSpPr>
          <p:cNvPr id="6" name="TextBox 5">
            <a:extLst>
              <a:ext uri="{FF2B5EF4-FFF2-40B4-BE49-F238E27FC236}">
                <a16:creationId xmlns:a16="http://schemas.microsoft.com/office/drawing/2014/main" id="{7321A54F-34DF-8103-2C0A-AB25C29C95DF}"/>
              </a:ext>
            </a:extLst>
          </p:cNvPr>
          <p:cNvSpPr txBox="1"/>
          <p:nvPr/>
        </p:nvSpPr>
        <p:spPr>
          <a:xfrm>
            <a:off x="441434" y="6056389"/>
            <a:ext cx="8087711" cy="400110"/>
          </a:xfrm>
          <a:prstGeom prst="rect">
            <a:avLst/>
          </a:prstGeom>
          <a:noFill/>
        </p:spPr>
        <p:txBody>
          <a:bodyPr wrap="square">
            <a:spAutoFit/>
          </a:bodyPr>
          <a:lstStyle/>
          <a:p>
            <a:pPr algn="r" rtl="1"/>
            <a:r>
              <a:rPr lang="fa-IR" sz="2000">
                <a:cs typeface="2  Nazanin" panose="00000400000000000000" pitchFamily="2" charset="-78"/>
              </a:rPr>
              <a:t>هوش مصنوعی flux kontext، بدون خراب کردن چهره و جزئیات، طبیعی عکس را ویرایش می‌کند.</a:t>
            </a:r>
          </a:p>
        </p:txBody>
      </p:sp>
      <p:pic>
        <p:nvPicPr>
          <p:cNvPr id="2" name="Graphic 1" descr="Lightbulb and gear with solid fill">
            <a:extLst>
              <a:ext uri="{FF2B5EF4-FFF2-40B4-BE49-F238E27FC236}">
                <a16:creationId xmlns:a16="http://schemas.microsoft.com/office/drawing/2014/main" id="{7B1BD85B-76FA-5A11-A386-484FA40B7C8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874" y="5715849"/>
            <a:ext cx="914400" cy="914400"/>
          </a:xfrm>
          <a:prstGeom prst="rect">
            <a:avLst/>
          </a:prstGeom>
        </p:spPr>
      </p:pic>
      <p:sp>
        <p:nvSpPr>
          <p:cNvPr id="4" name="TextBox 3">
            <a:extLst>
              <a:ext uri="{FF2B5EF4-FFF2-40B4-BE49-F238E27FC236}">
                <a16:creationId xmlns:a16="http://schemas.microsoft.com/office/drawing/2014/main" id="{8BD74F7C-54C0-E904-EEF3-CEC73E65E45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99</a:t>
            </a:r>
            <a:endParaRPr lang="fa-IR" sz="1200"/>
          </a:p>
        </p:txBody>
      </p:sp>
    </p:spTree>
    <p:extLst>
      <p:ext uri="{BB962C8B-B14F-4D97-AF65-F5344CB8AC3E}">
        <p14:creationId xmlns:p14="http://schemas.microsoft.com/office/powerpoint/2010/main" val="708561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BF9572-FFC2-0592-0AD0-30AE3B5100F0}"/>
              </a:ext>
            </a:extLst>
          </p:cNvPr>
          <p:cNvSpPr txBox="1"/>
          <p:nvPr/>
        </p:nvSpPr>
        <p:spPr>
          <a:xfrm>
            <a:off x="3106271" y="6172443"/>
            <a:ext cx="4572000" cy="461665"/>
          </a:xfrm>
          <a:prstGeom prst="rect">
            <a:avLst/>
          </a:prstGeom>
          <a:noFill/>
        </p:spPr>
        <p:txBody>
          <a:bodyPr wrap="square">
            <a:spAutoFit/>
          </a:bodyPr>
          <a:lstStyle/>
          <a:p>
            <a:r>
              <a:rPr lang="fa-IR" sz="2400"/>
              <a:t>https://stepvideot2v.com/</a:t>
            </a:r>
          </a:p>
        </p:txBody>
      </p:sp>
      <p:sp>
        <p:nvSpPr>
          <p:cNvPr id="9" name="TextBox 8">
            <a:extLst>
              <a:ext uri="{FF2B5EF4-FFF2-40B4-BE49-F238E27FC236}">
                <a16:creationId xmlns:a16="http://schemas.microsoft.com/office/drawing/2014/main" id="{6EED559F-3310-3C22-FF1B-8F5A837C044C}"/>
              </a:ext>
            </a:extLst>
          </p:cNvPr>
          <p:cNvSpPr txBox="1"/>
          <p:nvPr/>
        </p:nvSpPr>
        <p:spPr>
          <a:xfrm>
            <a:off x="2891118" y="1265358"/>
            <a:ext cx="6024282" cy="1569660"/>
          </a:xfrm>
          <a:prstGeom prst="rect">
            <a:avLst/>
          </a:prstGeom>
          <a:noFill/>
        </p:spPr>
        <p:txBody>
          <a:bodyPr wrap="square">
            <a:spAutoFit/>
          </a:bodyPr>
          <a:lstStyle/>
          <a:p>
            <a:pPr algn="r" rtl="1">
              <a:buFont typeface="Arial" panose="020B0604020202020204" pitchFamily="34" charset="0"/>
              <a:buChar char="•"/>
            </a:pPr>
            <a:r>
              <a:rPr lang="ar-SA" sz="2400">
                <a:cs typeface="2  Nazanin" panose="00000400000000000000" pitchFamily="2" charset="-78"/>
              </a:rPr>
              <a:t>تولید ویدیو از متن با هوش مصنوعی</a:t>
            </a:r>
          </a:p>
          <a:p>
            <a:pPr algn="r" rtl="1">
              <a:buFont typeface="Arial" panose="020B0604020202020204" pitchFamily="34" charset="0"/>
              <a:buChar char="•"/>
            </a:pPr>
            <a:r>
              <a:rPr lang="ar-SA" sz="2400">
                <a:cs typeface="2  Nazanin" panose="00000400000000000000" pitchFamily="2" charset="-78"/>
              </a:rPr>
              <a:t>پشتیبانی از سبک‌های متنوع (واقع‌گرایانه، انیمیشن و...)</a:t>
            </a:r>
          </a:p>
          <a:p>
            <a:pPr algn="r" rtl="1">
              <a:buFont typeface="Arial" panose="020B0604020202020204" pitchFamily="34" charset="0"/>
              <a:buChar char="•"/>
            </a:pPr>
            <a:r>
              <a:rPr lang="ar-SA" sz="2400">
                <a:cs typeface="2  Nazanin" panose="00000400000000000000" pitchFamily="2" charset="-78"/>
              </a:rPr>
              <a:t>مناسب آموزش، تبلیغات و تولید محتوا</a:t>
            </a:r>
          </a:p>
          <a:p>
            <a:pPr algn="r" rtl="1">
              <a:buFont typeface="Arial" panose="020B0604020202020204" pitchFamily="34" charset="0"/>
              <a:buChar char="•"/>
            </a:pPr>
            <a:r>
              <a:rPr lang="ar-SA" sz="2400">
                <a:cs typeface="2  Nazanin" panose="00000400000000000000" pitchFamily="2" charset="-78"/>
              </a:rPr>
              <a:t>ساده‌سازی فرایند ساخت ویدیو</a:t>
            </a:r>
          </a:p>
        </p:txBody>
      </p:sp>
      <p:sp>
        <p:nvSpPr>
          <p:cNvPr id="11" name="TextBox 10">
            <a:extLst>
              <a:ext uri="{FF2B5EF4-FFF2-40B4-BE49-F238E27FC236}">
                <a16:creationId xmlns:a16="http://schemas.microsoft.com/office/drawing/2014/main" id="{0DE0FB5A-1D38-74F5-ECED-0473D0121685}"/>
              </a:ext>
            </a:extLst>
          </p:cNvPr>
          <p:cNvSpPr txBox="1"/>
          <p:nvPr/>
        </p:nvSpPr>
        <p:spPr>
          <a:xfrm>
            <a:off x="1573305" y="454724"/>
            <a:ext cx="7449671" cy="584775"/>
          </a:xfrm>
          <a:prstGeom prst="rect">
            <a:avLst/>
          </a:prstGeom>
          <a:noFill/>
        </p:spPr>
        <p:txBody>
          <a:bodyPr wrap="square">
            <a:spAutoFit/>
          </a:bodyPr>
          <a:lstStyle/>
          <a:p>
            <a:pPr algn="r" rtl="1"/>
            <a:r>
              <a:rPr lang="fa-IR" sz="3200">
                <a:cs typeface="2  Titr" panose="00000700000000000000" pitchFamily="2" charset="-78"/>
              </a:rPr>
              <a:t>هوش مصنوعی منبع‌باز </a:t>
            </a:r>
            <a:r>
              <a:rPr lang="en-US" sz="3200" b="1">
                <a:cs typeface="2  Titr" panose="00000700000000000000" pitchFamily="2" charset="-78"/>
              </a:rPr>
              <a:t>StepVideo T2V</a:t>
            </a:r>
            <a:endParaRPr lang="fa-IR" sz="3200" b="1">
              <a:cs typeface="2  Titr" panose="00000700000000000000" pitchFamily="2" charset="-78"/>
            </a:endParaRPr>
          </a:p>
        </p:txBody>
      </p:sp>
      <p:sp>
        <p:nvSpPr>
          <p:cNvPr id="13" name="TextBox 12">
            <a:extLst>
              <a:ext uri="{FF2B5EF4-FFF2-40B4-BE49-F238E27FC236}">
                <a16:creationId xmlns:a16="http://schemas.microsoft.com/office/drawing/2014/main" id="{D97486C9-FA68-9DF1-AD3B-DE4F24F350FF}"/>
              </a:ext>
            </a:extLst>
          </p:cNvPr>
          <p:cNvSpPr txBox="1"/>
          <p:nvPr/>
        </p:nvSpPr>
        <p:spPr>
          <a:xfrm>
            <a:off x="4329954" y="2980236"/>
            <a:ext cx="4585446" cy="3046988"/>
          </a:xfrm>
          <a:prstGeom prst="rect">
            <a:avLst/>
          </a:prstGeom>
          <a:noFill/>
        </p:spPr>
        <p:txBody>
          <a:bodyPr wrap="square">
            <a:spAutoFit/>
          </a:bodyPr>
          <a:lstStyle/>
          <a:p>
            <a:pPr algn="r" rtl="1">
              <a:buNone/>
            </a:pPr>
            <a:r>
              <a:rPr lang="ar-SA" sz="2400" b="1">
                <a:cs typeface="2  Nazanin" panose="00000400000000000000" pitchFamily="2" charset="-78"/>
              </a:rPr>
              <a:t>امکانات کلیدی:</a:t>
            </a:r>
          </a:p>
          <a:p>
            <a:pPr algn="r" rtl="1">
              <a:buFont typeface="Arial" panose="020B0604020202020204" pitchFamily="34" charset="0"/>
              <a:buChar char="•"/>
            </a:pPr>
            <a:r>
              <a:rPr lang="ar-SA" sz="2400">
                <a:cs typeface="2  Nazanin" panose="00000400000000000000" pitchFamily="2" charset="-78"/>
              </a:rPr>
              <a:t>تولید ویدیو از متن</a:t>
            </a:r>
          </a:p>
          <a:p>
            <a:pPr algn="r" rtl="1">
              <a:buFont typeface="Arial" panose="020B0604020202020204" pitchFamily="34" charset="0"/>
              <a:buChar char="•"/>
            </a:pPr>
            <a:r>
              <a:rPr lang="ar-SA" sz="2400">
                <a:cs typeface="2  Nazanin" panose="00000400000000000000" pitchFamily="2" charset="-78"/>
              </a:rPr>
              <a:t>تبدیل عکس به ویدیو</a:t>
            </a:r>
          </a:p>
          <a:p>
            <a:pPr algn="r" rtl="1">
              <a:buFont typeface="Arial" panose="020B0604020202020204" pitchFamily="34" charset="0"/>
              <a:buChar char="•"/>
            </a:pPr>
            <a:r>
              <a:rPr lang="ar-SA" sz="2400">
                <a:cs typeface="2  Nazanin" panose="00000400000000000000" pitchFamily="2" charset="-78"/>
              </a:rPr>
              <a:t>افزودن کاراکتر و عناصر سفارشی</a:t>
            </a:r>
          </a:p>
          <a:p>
            <a:pPr algn="r" rtl="1">
              <a:buFont typeface="Arial" panose="020B0604020202020204" pitchFamily="34" charset="0"/>
              <a:buChar char="•"/>
            </a:pPr>
            <a:r>
              <a:rPr lang="ar-SA" sz="2400">
                <a:cs typeface="2  Nazanin" panose="00000400000000000000" pitchFamily="2" charset="-78"/>
              </a:rPr>
              <a:t>ابزارهای پیشرفته ویرایش (لب‌خوانی، افکت، طول ویدیو)</a:t>
            </a:r>
          </a:p>
          <a:p>
            <a:pPr algn="r" rtl="1">
              <a:buFont typeface="Arial" panose="020B0604020202020204" pitchFamily="34" charset="0"/>
              <a:buChar char="•"/>
            </a:pPr>
            <a:r>
              <a:rPr lang="ar-SA" sz="2400">
                <a:cs typeface="2  Nazanin" panose="00000400000000000000" pitchFamily="2" charset="-78"/>
              </a:rPr>
              <a:t>مدل توربو: سرعت بالا و مقرون‌به‌صرفه</a:t>
            </a:r>
          </a:p>
          <a:p>
            <a:pPr algn="r" rtl="1">
              <a:buFont typeface="Arial" panose="020B0604020202020204" pitchFamily="34" charset="0"/>
              <a:buChar char="•"/>
            </a:pPr>
            <a:r>
              <a:rPr lang="ar-SA" sz="2400">
                <a:cs typeface="2  Nazanin" panose="00000400000000000000" pitchFamily="2" charset="-78"/>
              </a:rPr>
              <a:t>تنظیم نرخ فریم، حرکت و نسبت تصویر</a:t>
            </a:r>
          </a:p>
        </p:txBody>
      </p:sp>
      <p:sp>
        <p:nvSpPr>
          <p:cNvPr id="2" name="TextBox 1">
            <a:extLst>
              <a:ext uri="{FF2B5EF4-FFF2-40B4-BE49-F238E27FC236}">
                <a16:creationId xmlns:a16="http://schemas.microsoft.com/office/drawing/2014/main" id="{0DF57EBF-8F54-A698-8188-4F2865142D3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100</a:t>
            </a:r>
            <a:endParaRPr lang="fa-IR" sz="1200"/>
          </a:p>
        </p:txBody>
      </p:sp>
    </p:spTree>
    <p:extLst>
      <p:ext uri="{BB962C8B-B14F-4D97-AF65-F5344CB8AC3E}">
        <p14:creationId xmlns:p14="http://schemas.microsoft.com/office/powerpoint/2010/main" val="419329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DBB59-655A-876A-FDE6-0BB62C6904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437E7E3-B26E-64FD-8132-060C7B8AA0AC}"/>
              </a:ext>
            </a:extLst>
          </p:cNvPr>
          <p:cNvSpPr>
            <a:spLocks noChangeArrowheads="1"/>
          </p:cNvSpPr>
          <p:nvPr/>
        </p:nvSpPr>
        <p:spPr bwMode="auto">
          <a:xfrm>
            <a:off x="342900" y="240655"/>
            <a:ext cx="88011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r" defTabSz="914400" rtl="1" eaLnBrk="0" fontAlgn="base" hangingPunct="0">
              <a:spcBef>
                <a:spcPct val="0"/>
              </a:spcBef>
              <a:spcAft>
                <a:spcPct val="0"/>
              </a:spcAft>
            </a:pPr>
            <a:r>
              <a:rPr kumimoji="0" lang="en-US" altLang="en-US" sz="2200" b="1"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2200" b="1" i="0" u="none" strike="noStrike" cap="none" normalizeH="0" baseline="0">
                <a:ln>
                  <a:noFill/>
                </a:ln>
                <a:solidFill>
                  <a:schemeClr val="tx1"/>
                </a:solidFill>
                <a:effectLst/>
                <a:latin typeface="Arial" panose="020B0604020202020204" pitchFamily="34" charset="0"/>
                <a:cs typeface="2  Titr" panose="00000700000000000000" pitchFamily="2" charset="-78"/>
              </a:rPr>
              <a:t>چگون</a:t>
            </a:r>
            <a:r>
              <a:rPr kumimoji="0" lang="fa-IR" altLang="en-US" sz="2200" b="1" i="0" u="none" strike="noStrike" cap="none" normalizeH="0" baseline="0">
                <a:ln>
                  <a:noFill/>
                </a:ln>
                <a:solidFill>
                  <a:schemeClr val="tx1"/>
                </a:solidFill>
                <a:effectLst/>
                <a:latin typeface="Arial" panose="020B0604020202020204" pitchFamily="34" charset="0"/>
                <a:cs typeface="2  Titr" panose="00000700000000000000" pitchFamily="2" charset="-78"/>
              </a:rPr>
              <a:t>گی </a:t>
            </a:r>
            <a:r>
              <a:rPr lang="ar-SA" altLang="en-US" sz="2200" b="1">
                <a:latin typeface="Arial" panose="020B0604020202020204" pitchFamily="34" charset="0"/>
                <a:cs typeface="2  Titr" panose="00000700000000000000" pitchFamily="2" charset="-78"/>
              </a:rPr>
              <a:t>ایجاد</a:t>
            </a:r>
            <a:r>
              <a:rPr kumimoji="0" lang="ar-SA" altLang="en-US" sz="2200" b="1"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lang="ar-SA" altLang="en-US" sz="2200" b="1">
                <a:latin typeface="Arial" panose="020B0604020202020204" pitchFamily="34" charset="0"/>
                <a:cs typeface="2  Titr" panose="00000700000000000000" pitchFamily="2" charset="-78"/>
              </a:rPr>
              <a:t>پرامپت دقیق برای بازتولید یک تصویر</a:t>
            </a:r>
            <a:r>
              <a:rPr kumimoji="0" lang="ar-SA" altLang="en-US" sz="2200" b="1" i="0" u="none" strike="noStrike" cap="none" normalizeH="0" baseline="0">
                <a:ln>
                  <a:noFill/>
                </a:ln>
                <a:solidFill>
                  <a:schemeClr val="tx1"/>
                </a:solidFill>
                <a:effectLst/>
                <a:latin typeface="Arial" panose="020B0604020202020204" pitchFamily="34" charset="0"/>
                <a:cs typeface="2  Titr" panose="00000700000000000000" pitchFamily="2" charset="-78"/>
              </a:rPr>
              <a:t>از روی آن با هوش مصنوعی</a:t>
            </a:r>
            <a:endParaRPr kumimoji="0" lang="fa-IR" altLang="en-US" sz="22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lvl="0" algn="r" defTabSz="914400" rtl="1" eaLnBrk="0" fontAlgn="base" hangingPunct="0">
              <a:spcBef>
                <a:spcPct val="0"/>
              </a:spcBef>
              <a:spcAft>
                <a:spcPct val="0"/>
              </a:spcAft>
            </a:pPr>
            <a:endParaRPr kumimoji="0" lang="en-US" altLang="en-US" sz="6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چالش رایج</a:t>
            </a:r>
            <a:r>
              <a:rPr kumimoji="0" lang="en-US"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a:t>
            </a:r>
            <a:b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بسیاری از کاربران هنگام مشاهده یک تصویر جذاب تولیدشده با هوش مصنوعی، تمایل دارند تصویری مشابه بسازند، اما در نوشتن پرامپت دقیق و توصیفی دچار مشکل می‌شوند</a:t>
            </a: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endParaRPr kumimoji="0" lang="fa-IR"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راهکار پیشنهادی</a:t>
            </a:r>
            <a:r>
              <a:rPr kumimoji="0" lang="en-US"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a:t>
            </a:r>
            <a:b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ar-SA"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کافی است تصویر مورد نظر را در</a:t>
            </a: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 ChatGPT </a:t>
            </a:r>
            <a:r>
              <a:rPr kumimoji="0" lang="ar-SA"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بارگذاری کرده و از مدل بخواهید بهترین پرامپت ممکن را برای بازسازی همان تصویر طراحی کند. به این منظور، از متن زیر استفاده نمایید</a:t>
            </a: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متن نمونه برای درخواست پرامپت</a:t>
            </a:r>
            <a:r>
              <a:rPr kumimoji="0" lang="en-US"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a:t>
            </a:r>
            <a:endPar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"I would like to ask DALL·E (Bing) AI to create pictures exactly with this appearance and as realistic as possible. Please provide me with the best prompt possible for designing these types of pictures."</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در صورت نیاز به اعمال تغییرات در تصویر، این عبارت را به انتهای درخواست اضافه کنید</a:t>
            </a:r>
            <a:r>
              <a:rPr kumimoji="0" lang="en-US" altLang="en-US" sz="2200" b="1" i="0" u="none" strike="noStrike" cap="none" normalizeH="0" baseline="0">
                <a:ln>
                  <a:noFill/>
                </a:ln>
                <a:solidFill>
                  <a:schemeClr val="tx1"/>
                </a:solidFill>
                <a:effectLst/>
                <a:latin typeface="Arial" panose="020B0604020202020204" pitchFamily="34" charset="0"/>
                <a:cs typeface="Nazanin" panose="00000400000000000000" pitchFamily="2" charset="-78"/>
              </a:rPr>
              <a:t>:</a:t>
            </a:r>
            <a:endPar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Please apply the following changes: (</a:t>
            </a:r>
            <a:r>
              <a:rPr kumimoji="0" lang="ar-SA"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در این بخش، تغییرات مورد نظر خود را بنویسید</a:t>
            </a:r>
            <a:r>
              <a:rPr kumimoji="0" lang="en-US" altLang="en-US" sz="22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p>
        </p:txBody>
      </p:sp>
      <p:sp>
        <p:nvSpPr>
          <p:cNvPr id="3" name="TextBox 2">
            <a:extLst>
              <a:ext uri="{FF2B5EF4-FFF2-40B4-BE49-F238E27FC236}">
                <a16:creationId xmlns:a16="http://schemas.microsoft.com/office/drawing/2014/main" id="{A4910236-CCA8-3021-1066-8D63F68FE1E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101</a:t>
            </a:r>
            <a:endParaRPr lang="fa-IR" sz="1200"/>
          </a:p>
        </p:txBody>
      </p:sp>
    </p:spTree>
    <p:extLst>
      <p:ext uri="{BB962C8B-B14F-4D97-AF65-F5344CB8AC3E}">
        <p14:creationId xmlns:p14="http://schemas.microsoft.com/office/powerpoint/2010/main" val="3111350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0703B-37A0-E9B0-1493-564799F958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CC20B3-1B6F-264F-1A1F-0354233C1B9F}"/>
              </a:ext>
            </a:extLst>
          </p:cNvPr>
          <p:cNvSpPr>
            <a:spLocks noChangeArrowheads="1"/>
          </p:cNvSpPr>
          <p:nvPr/>
        </p:nvSpPr>
        <p:spPr bwMode="auto">
          <a:xfrm>
            <a:off x="1154158" y="615128"/>
            <a:ext cx="7659021"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ساخت مدل سه‌بعدی تنها با یک جمله؟</a:t>
            </a: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a:t>
            </a:r>
            <a:endParaRPr kumimoji="0" lang="fa-IR"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Nazanin" panose="00000400000000000000" pitchFamily="2" charset="-78"/>
              </a:rPr>
              <a:t>3Daily AI</a:t>
            </a: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ابزاری مبتنی بر هوش مصنوعی است که امکان ساخت مدل‌های سه‌بعدی تنها با تایپ یک ایده را فراهم می‌سازد. این مدل‌ها در عرض چند ثانیه تولید می‌شوند</a:t>
            </a: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a:t>
            </a:r>
          </a:p>
        </p:txBody>
      </p:sp>
      <p:sp>
        <p:nvSpPr>
          <p:cNvPr id="5" name="Rectangle 3">
            <a:extLst>
              <a:ext uri="{FF2B5EF4-FFF2-40B4-BE49-F238E27FC236}">
                <a16:creationId xmlns:a16="http://schemas.microsoft.com/office/drawing/2014/main" id="{6F7D9165-3EAD-7633-A466-30705555F100}"/>
              </a:ext>
            </a:extLst>
          </p:cNvPr>
          <p:cNvSpPr>
            <a:spLocks noChangeArrowheads="1"/>
          </p:cNvSpPr>
          <p:nvPr/>
        </p:nvSpPr>
        <p:spPr bwMode="auto">
          <a:xfrm>
            <a:off x="2625018" y="2438276"/>
            <a:ext cx="623600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400" b="1" i="0" u="none" strike="noStrike" cap="none" normalizeH="0" baseline="0">
                <a:ln>
                  <a:noFill/>
                </a:ln>
                <a:solidFill>
                  <a:schemeClr val="tx1"/>
                </a:solidFill>
                <a:effectLst/>
                <a:latin typeface="Arial" panose="020B0604020202020204" pitchFamily="34" charset="0"/>
                <a:cs typeface="Nazanin" panose="00000400000000000000" pitchFamily="2" charset="-78"/>
              </a:rPr>
              <a:t>ویژگی‌های کلیدی</a:t>
            </a:r>
            <a:r>
              <a:rPr kumimoji="0" lang="en-US" altLang="en-US" sz="2400" b="1" i="0" u="none" strike="noStrike" cap="none" normalizeH="0" baseline="0">
                <a:ln>
                  <a:noFill/>
                </a:ln>
                <a:solidFill>
                  <a:schemeClr val="tx1"/>
                </a:solidFill>
                <a:effectLst/>
                <a:latin typeface="Arial" panose="020B0604020202020204" pitchFamily="34" charset="0"/>
                <a:cs typeface="Nazanin" panose="00000400000000000000" pitchFamily="2" charset="-78"/>
              </a:rPr>
              <a:t>:</a:t>
            </a:r>
            <a:endPar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اجرا به‌صورت آنلاین در مرورگر، بدون نیاز به نصب نرم‌افزار</a:t>
            </a:r>
            <a:b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امکان ویرایش و شخصی‌سازی مدل‌های تولیدشده</a:t>
            </a:r>
            <a:b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قابلیت دریافت خروجی با فرمت‌های رایج مانند</a:t>
            </a: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OBJ</a:t>
            </a:r>
            <a:b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مجموعه‌ای از مدل‌های آماده برای الهام گرفتن و استفاده سریع</a:t>
            </a:r>
            <a:endPar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p:txBody>
      </p:sp>
      <p:sp>
        <p:nvSpPr>
          <p:cNvPr id="7" name="Rectangle 5">
            <a:extLst>
              <a:ext uri="{FF2B5EF4-FFF2-40B4-BE49-F238E27FC236}">
                <a16:creationId xmlns:a16="http://schemas.microsoft.com/office/drawing/2014/main" id="{F5162E4D-1987-4CEE-16FF-1C16CE3A5E59}"/>
              </a:ext>
            </a:extLst>
          </p:cNvPr>
          <p:cNvSpPr>
            <a:spLocks noChangeArrowheads="1"/>
          </p:cNvSpPr>
          <p:nvPr/>
        </p:nvSpPr>
        <p:spPr bwMode="auto">
          <a:xfrm>
            <a:off x="890753" y="4377268"/>
            <a:ext cx="79224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rPr>
              <a:t>مناسب برای طراحان سه‌بعدی، توسعه‌دهندگان بازی، و علاقه‌مندان به فناوری</a:t>
            </a:r>
            <a:endPar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hlinkClick r:id="rId2"/>
              </a:rPr>
              <a:t>https://3daily.ai/</a:t>
            </a:r>
            <a:endParaRPr kumimoji="0" lang="en-US" altLang="en-US" sz="2400" b="0" i="0" u="none" strike="noStrike" cap="none" normalizeH="0" baseline="0">
              <a:ln>
                <a:noFill/>
              </a:ln>
              <a:solidFill>
                <a:schemeClr val="tx1"/>
              </a:solidFill>
              <a:effectLst/>
              <a:latin typeface="Arial" panose="020B0604020202020204" pitchFamily="34" charset="0"/>
              <a:cs typeface="Nazanin" panose="00000400000000000000" pitchFamily="2" charset="-78"/>
            </a:endParaRPr>
          </a:p>
        </p:txBody>
      </p:sp>
      <p:sp>
        <p:nvSpPr>
          <p:cNvPr id="4" name="TextBox 3">
            <a:extLst>
              <a:ext uri="{FF2B5EF4-FFF2-40B4-BE49-F238E27FC236}">
                <a16:creationId xmlns:a16="http://schemas.microsoft.com/office/drawing/2014/main" id="{E892E526-4ECC-7466-9BFA-F9F49065D9EE}"/>
              </a:ext>
            </a:extLst>
          </p:cNvPr>
          <p:cNvSpPr txBox="1"/>
          <p:nvPr/>
        </p:nvSpPr>
        <p:spPr>
          <a:xfrm>
            <a:off x="2672861" y="6199539"/>
            <a:ext cx="6140318" cy="369332"/>
          </a:xfrm>
          <a:prstGeom prst="rect">
            <a:avLst/>
          </a:prstGeom>
          <a:noFill/>
        </p:spPr>
        <p:txBody>
          <a:bodyPr wrap="square">
            <a:spAutoFit/>
          </a:bodyPr>
          <a:lstStyle/>
          <a:p>
            <a:r>
              <a:rPr lang="fa-IR"/>
              <a:t>https://huggingface.co/spaces/tencent/Hunyuan3D-2</a:t>
            </a:r>
          </a:p>
        </p:txBody>
      </p:sp>
      <p:sp>
        <p:nvSpPr>
          <p:cNvPr id="8" name="TextBox 7">
            <a:extLst>
              <a:ext uri="{FF2B5EF4-FFF2-40B4-BE49-F238E27FC236}">
                <a16:creationId xmlns:a16="http://schemas.microsoft.com/office/drawing/2014/main" id="{5C3D5E17-FAB1-E05A-4D27-41050583CF94}"/>
              </a:ext>
            </a:extLst>
          </p:cNvPr>
          <p:cNvSpPr txBox="1"/>
          <p:nvPr/>
        </p:nvSpPr>
        <p:spPr>
          <a:xfrm>
            <a:off x="5547946" y="5830207"/>
            <a:ext cx="2329961" cy="369332"/>
          </a:xfrm>
          <a:prstGeom prst="rect">
            <a:avLst/>
          </a:prstGeom>
          <a:noFill/>
        </p:spPr>
        <p:txBody>
          <a:bodyPr wrap="square">
            <a:spAutoFit/>
          </a:bodyPr>
          <a:lstStyle/>
          <a:p>
            <a:pPr algn="r"/>
            <a:r>
              <a:rPr kumimoji="0" lang="fa-IR" altLang="en-US" sz="1800" b="1" i="0" u="none" strike="noStrike" cap="none" normalizeH="0" baseline="0">
                <a:ln>
                  <a:noFill/>
                </a:ln>
                <a:solidFill>
                  <a:schemeClr val="tx1"/>
                </a:solidFill>
                <a:effectLst/>
                <a:latin typeface="Arial" panose="020B0604020202020204" pitchFamily="34" charset="0"/>
                <a:cs typeface="Nazanin" panose="00000400000000000000" pitchFamily="2" charset="-78"/>
              </a:rPr>
              <a:t>نکته. یک منبع جالب دیگر:</a:t>
            </a:r>
            <a:endParaRPr lang="fa-IR"/>
          </a:p>
        </p:txBody>
      </p:sp>
      <p:sp>
        <p:nvSpPr>
          <p:cNvPr id="3" name="TextBox 2">
            <a:extLst>
              <a:ext uri="{FF2B5EF4-FFF2-40B4-BE49-F238E27FC236}">
                <a16:creationId xmlns:a16="http://schemas.microsoft.com/office/drawing/2014/main" id="{E86838E4-89F1-882B-C1E3-37E9A89EDCA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102</a:t>
            </a:r>
            <a:endParaRPr lang="fa-IR" sz="1200"/>
          </a:p>
        </p:txBody>
      </p:sp>
    </p:spTree>
    <p:extLst>
      <p:ext uri="{BB962C8B-B14F-4D97-AF65-F5344CB8AC3E}">
        <p14:creationId xmlns:p14="http://schemas.microsoft.com/office/powerpoint/2010/main" val="1066734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3B41E-9F67-6757-C2E1-E836335669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5AF33A-6CC2-2466-9045-886187C6768C}"/>
              </a:ext>
            </a:extLst>
          </p:cNvPr>
          <p:cNvSpPr txBox="1"/>
          <p:nvPr/>
        </p:nvSpPr>
        <p:spPr>
          <a:xfrm>
            <a:off x="209550" y="514214"/>
            <a:ext cx="8724899" cy="5509200"/>
          </a:xfrm>
          <a:prstGeom prst="rect">
            <a:avLst/>
          </a:prstGeom>
          <a:noFill/>
        </p:spPr>
        <p:txBody>
          <a:bodyPr wrap="square">
            <a:spAutoFit/>
          </a:bodyPr>
          <a:lstStyle/>
          <a:p>
            <a:pPr algn="r" rtl="1"/>
            <a:r>
              <a:rPr lang="fa-IR" sz="3200" b="1">
                <a:cs typeface="2  Titr" panose="00000700000000000000" pitchFamily="2" charset="-78"/>
              </a:rPr>
              <a:t> </a:t>
            </a:r>
            <a:r>
              <a:rPr lang="en-US" sz="3200" b="1">
                <a:cs typeface="2  Titr" panose="00000700000000000000" pitchFamily="2" charset="-78"/>
              </a:rPr>
              <a:t>Adobe Firefly Video </a:t>
            </a:r>
            <a:r>
              <a:rPr lang="fa-IR" sz="3200" b="1">
                <a:cs typeface="2  Titr" panose="00000700000000000000" pitchFamily="2" charset="-78"/>
              </a:rPr>
              <a:t>-</a:t>
            </a:r>
            <a:r>
              <a:rPr lang="en-US" sz="3200" b="1">
                <a:cs typeface="2  Titr" panose="00000700000000000000" pitchFamily="2" charset="-78"/>
              </a:rPr>
              <a:t> </a:t>
            </a:r>
            <a:r>
              <a:rPr lang="ar-SA" sz="3200" b="1">
                <a:cs typeface="2  Titr" panose="00000700000000000000" pitchFamily="2" charset="-78"/>
              </a:rPr>
              <a:t>نسل جدید تولید ویدیو با هوش مصنوعی</a:t>
            </a:r>
          </a:p>
          <a:p>
            <a:pPr algn="r" rtl="1"/>
            <a:endParaRPr lang="ar-SA" sz="2400">
              <a:cs typeface="Nazanin" panose="00000400000000000000" pitchFamily="2" charset="-78"/>
            </a:endParaRPr>
          </a:p>
          <a:p>
            <a:pPr algn="r" rtl="1"/>
            <a:r>
              <a:rPr lang="en-US" sz="2400">
                <a:cs typeface="Nazanin" panose="00000400000000000000" pitchFamily="2" charset="-78"/>
              </a:rPr>
              <a:t>🎯 </a:t>
            </a:r>
            <a:r>
              <a:rPr lang="ar-SA" sz="2400">
                <a:cs typeface="Nazanin" panose="00000400000000000000" pitchFamily="2" charset="-78"/>
              </a:rPr>
              <a:t>توسعه‌دهنده: </a:t>
            </a:r>
            <a:r>
              <a:rPr lang="en-US" sz="2400">
                <a:cs typeface="Nazanin" panose="00000400000000000000" pitchFamily="2" charset="-78"/>
              </a:rPr>
              <a:t>Adobe</a:t>
            </a:r>
          </a:p>
          <a:p>
            <a:pPr algn="r" rtl="1"/>
            <a:r>
              <a:rPr lang="en-US" sz="2400">
                <a:cs typeface="Nazanin" panose="00000400000000000000" pitchFamily="2" charset="-78"/>
              </a:rPr>
              <a:t>🎞 </a:t>
            </a:r>
            <a:r>
              <a:rPr lang="ar-SA" sz="2400">
                <a:cs typeface="Nazanin" panose="00000400000000000000" pitchFamily="2" charset="-78"/>
              </a:rPr>
              <a:t>وضعیت: نسخه بتا فعال</a:t>
            </a:r>
          </a:p>
          <a:p>
            <a:pPr algn="r" rtl="1"/>
            <a:endParaRPr lang="ar-SA" sz="2400">
              <a:cs typeface="Nazanin" panose="00000400000000000000" pitchFamily="2" charset="-78"/>
            </a:endParaRPr>
          </a:p>
          <a:p>
            <a:pPr algn="r" rtl="1"/>
            <a:r>
              <a:rPr lang="ar-SA" sz="2400">
                <a:cs typeface="Nazanin" panose="00000400000000000000" pitchFamily="2" charset="-78"/>
              </a:rPr>
              <a:t>✔ تولید ویدیو تنها با ورود متن یا تصویر به عنوان ورودی</a:t>
            </a:r>
          </a:p>
          <a:p>
            <a:pPr algn="r" rtl="1"/>
            <a:r>
              <a:rPr lang="ar-SA" sz="2400">
                <a:cs typeface="Nazanin" panose="00000400000000000000" pitchFamily="2" charset="-78"/>
              </a:rPr>
              <a:t>✔ امکان تنظیم سبک بصری، زاویه دوربین و نوع انیمیشن</a:t>
            </a:r>
          </a:p>
          <a:p>
            <a:pPr algn="r" rtl="1"/>
            <a:r>
              <a:rPr lang="ar-SA" sz="2400">
                <a:cs typeface="Nazanin" panose="00000400000000000000" pitchFamily="2" charset="-78"/>
              </a:rPr>
              <a:t>✔ خروجی ویدیو با کیفیت 1080</a:t>
            </a:r>
            <a:r>
              <a:rPr lang="en-US" sz="2400">
                <a:cs typeface="Nazanin" panose="00000400000000000000" pitchFamily="2" charset="-78"/>
              </a:rPr>
              <a:t>p</a:t>
            </a:r>
          </a:p>
          <a:p>
            <a:pPr algn="r" rtl="1"/>
            <a:r>
              <a:rPr lang="en-US" sz="2400">
                <a:cs typeface="Nazanin" panose="00000400000000000000" pitchFamily="2" charset="-78"/>
              </a:rPr>
              <a:t>✔ </a:t>
            </a:r>
            <a:r>
              <a:rPr lang="ar-SA" sz="2400">
                <a:cs typeface="Nazanin" panose="00000400000000000000" pitchFamily="2" charset="-78"/>
              </a:rPr>
              <a:t>مناسب برای تولید محتوای تبلیغاتی، آموزشی، شبکه‌های اجتماعی و نمونه‌سازی اولیه پروژه‌های ویدیویی</a:t>
            </a:r>
          </a:p>
          <a:p>
            <a:pPr algn="r" rtl="1"/>
            <a:r>
              <a:rPr lang="ar-SA" sz="2400">
                <a:cs typeface="Nazanin" panose="00000400000000000000" pitchFamily="2" charset="-78"/>
              </a:rPr>
              <a:t>✔ ترکیب فناوری طراحی گرافیک حرفه‌ای </a:t>
            </a:r>
            <a:r>
              <a:rPr lang="en-US" sz="2400">
                <a:cs typeface="Nazanin" panose="00000400000000000000" pitchFamily="2" charset="-78"/>
              </a:rPr>
              <a:t>Adobe </a:t>
            </a:r>
            <a:r>
              <a:rPr lang="ar-SA" sz="2400">
                <a:cs typeface="Nazanin" panose="00000400000000000000" pitchFamily="2" charset="-78"/>
              </a:rPr>
              <a:t>با هوش مصنوعی پیشرفته تولید ویدیو</a:t>
            </a:r>
          </a:p>
          <a:p>
            <a:pPr algn="r" rtl="1"/>
            <a:endParaRPr lang="ar-SA" sz="2400">
              <a:cs typeface="Nazanin" panose="00000400000000000000" pitchFamily="2" charset="-78"/>
            </a:endParaRPr>
          </a:p>
          <a:p>
            <a:pPr rtl="1"/>
            <a:r>
              <a:rPr lang="en-US" sz="2400">
                <a:cs typeface="Nazanin" panose="00000400000000000000" pitchFamily="2" charset="-78"/>
              </a:rPr>
              <a:t>🔗 adobe.com/products/firefly.html</a:t>
            </a:r>
            <a:endParaRPr lang="en-US" sz="2400" dirty="0">
              <a:cs typeface="Nazanin" panose="00000400000000000000" pitchFamily="2" charset="-78"/>
            </a:endParaRPr>
          </a:p>
        </p:txBody>
      </p:sp>
      <p:sp>
        <p:nvSpPr>
          <p:cNvPr id="2" name="TextBox 1">
            <a:extLst>
              <a:ext uri="{FF2B5EF4-FFF2-40B4-BE49-F238E27FC236}">
                <a16:creationId xmlns:a16="http://schemas.microsoft.com/office/drawing/2014/main" id="{1B7FEB40-3AC7-98DB-2C6B-D8ECCAE5F915}"/>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103</a:t>
            </a:r>
            <a:endParaRPr lang="fa-IR" sz="1200"/>
          </a:p>
        </p:txBody>
      </p:sp>
    </p:spTree>
    <p:extLst>
      <p:ext uri="{BB962C8B-B14F-4D97-AF65-F5344CB8AC3E}">
        <p14:creationId xmlns:p14="http://schemas.microsoft.com/office/powerpoint/2010/main" val="807917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4616-4CCE-E5A4-DB38-5EE3FFA474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6042FB-F831-24C3-4A1E-0F7E0280F2EF}"/>
              </a:ext>
            </a:extLst>
          </p:cNvPr>
          <p:cNvSpPr txBox="1"/>
          <p:nvPr/>
        </p:nvSpPr>
        <p:spPr>
          <a:xfrm>
            <a:off x="489184" y="390181"/>
            <a:ext cx="8403021" cy="6124754"/>
          </a:xfrm>
          <a:prstGeom prst="rect">
            <a:avLst/>
          </a:prstGeom>
          <a:noFill/>
        </p:spPr>
        <p:txBody>
          <a:bodyPr wrap="square">
            <a:spAutoFit/>
          </a:bodyPr>
          <a:lstStyle/>
          <a:p>
            <a:pPr algn="r" rtl="1"/>
            <a:r>
              <a:rPr lang="en-US" sz="3200" dirty="0">
                <a:cs typeface="2  Titr" panose="00000700000000000000" pitchFamily="2" charset="-78"/>
              </a:rPr>
              <a:t>🎥 </a:t>
            </a:r>
            <a:r>
              <a:rPr lang="en-US" sz="3200" dirty="0" err="1">
                <a:cs typeface="2  Titr" panose="00000700000000000000" pitchFamily="2" charset="-78"/>
              </a:rPr>
              <a:t>ترجمه</a:t>
            </a:r>
            <a:r>
              <a:rPr lang="en-US" sz="3200" dirty="0">
                <a:cs typeface="2  Titr" panose="00000700000000000000" pitchFamily="2" charset="-78"/>
              </a:rPr>
              <a:t> و </a:t>
            </a:r>
            <a:r>
              <a:rPr lang="en-US" sz="3200" dirty="0" err="1">
                <a:cs typeface="2  Titr" panose="00000700000000000000" pitchFamily="2" charset="-78"/>
              </a:rPr>
              <a:t>دوبله</a:t>
            </a:r>
            <a:r>
              <a:rPr lang="en-US" sz="3200" dirty="0">
                <a:cs typeface="2  Titr" panose="00000700000000000000" pitchFamily="2" charset="-78"/>
              </a:rPr>
              <a:t> </a:t>
            </a:r>
            <a:r>
              <a:rPr lang="en-US" sz="3200" dirty="0" err="1">
                <a:cs typeface="2  Titr" panose="00000700000000000000" pitchFamily="2" charset="-78"/>
              </a:rPr>
              <a:t>ویدیو</a:t>
            </a:r>
            <a:r>
              <a:rPr lang="en-US" sz="3200" dirty="0">
                <a:cs typeface="2  Titr" panose="00000700000000000000" pitchFamily="2" charset="-78"/>
              </a:rPr>
              <a:t> </a:t>
            </a:r>
            <a:r>
              <a:rPr lang="en-US" sz="3200" dirty="0" err="1">
                <a:cs typeface="2  Titr" panose="00000700000000000000" pitchFamily="2" charset="-78"/>
              </a:rPr>
              <a:t>با</a:t>
            </a:r>
            <a:r>
              <a:rPr lang="en-US" sz="3200" dirty="0">
                <a:cs typeface="2  Titr" panose="00000700000000000000" pitchFamily="2" charset="-78"/>
              </a:rPr>
              <a:t> </a:t>
            </a:r>
            <a:r>
              <a:rPr lang="en-US" sz="3200" dirty="0" err="1">
                <a:cs typeface="2  Titr" panose="00000700000000000000" pitchFamily="2" charset="-78"/>
              </a:rPr>
              <a:t>یک</a:t>
            </a:r>
            <a:r>
              <a:rPr lang="en-US" sz="3200" dirty="0">
                <a:cs typeface="2  Titr" panose="00000700000000000000" pitchFamily="2" charset="-78"/>
              </a:rPr>
              <a:t> </a:t>
            </a:r>
            <a:r>
              <a:rPr lang="en-US" sz="3200" dirty="0" err="1">
                <a:cs typeface="2  Titr" panose="00000700000000000000" pitchFamily="2" charset="-78"/>
              </a:rPr>
              <a:t>کلیک</a:t>
            </a:r>
            <a:r>
              <a:rPr lang="en-US" sz="3200" dirty="0">
                <a:cs typeface="2  Titr" panose="00000700000000000000" pitchFamily="2" charset="-78"/>
              </a:rPr>
              <a:t>...!</a:t>
            </a:r>
          </a:p>
          <a:p>
            <a:pPr algn="r" rtl="1"/>
            <a:endParaRPr lang="en-US" sz="1050" dirty="0">
              <a:cs typeface="Nazanin" panose="00000400000000000000" pitchFamily="2" charset="-78"/>
            </a:endParaRPr>
          </a:p>
          <a:p>
            <a:pPr algn="r" rtl="1"/>
            <a:r>
              <a:rPr lang="en-US" sz="2400" dirty="0">
                <a:cs typeface="Nazanin" panose="00000400000000000000" pitchFamily="2" charset="-78"/>
              </a:rPr>
              <a:t>▪️</a:t>
            </a:r>
            <a:r>
              <a:rPr lang="en-US" sz="2400" dirty="0" err="1">
                <a:cs typeface="Nazanin" panose="00000400000000000000" pitchFamily="2" charset="-78"/>
              </a:rPr>
              <a:t>سرویس</a:t>
            </a:r>
            <a:r>
              <a:rPr lang="en-US" sz="2400" dirty="0">
                <a:cs typeface="Nazanin" panose="00000400000000000000" pitchFamily="2" charset="-78"/>
              </a:rPr>
              <a:t> </a:t>
            </a:r>
            <a:r>
              <a:rPr lang="en-US" sz="2400" dirty="0" err="1">
                <a:cs typeface="Nazanin" panose="00000400000000000000" pitchFamily="2" charset="-78"/>
              </a:rPr>
              <a:t>Translate.video</a:t>
            </a:r>
            <a:r>
              <a:rPr lang="en-US" sz="2400" dirty="0">
                <a:cs typeface="Nazanin" panose="00000400000000000000" pitchFamily="2" charset="-78"/>
              </a:rPr>
              <a:t> </a:t>
            </a:r>
            <a:r>
              <a:rPr lang="en-US" sz="2400" dirty="0" err="1">
                <a:cs typeface="Nazanin" panose="00000400000000000000" pitchFamily="2" charset="-78"/>
              </a:rPr>
              <a:t>یه</a:t>
            </a:r>
            <a:r>
              <a:rPr lang="en-US" sz="2400" dirty="0">
                <a:cs typeface="Nazanin" panose="00000400000000000000" pitchFamily="2" charset="-78"/>
              </a:rPr>
              <a:t> </a:t>
            </a:r>
            <a:r>
              <a:rPr lang="en-US" sz="2400" dirty="0" err="1">
                <a:cs typeface="Nazanin" panose="00000400000000000000" pitchFamily="2" charset="-78"/>
              </a:rPr>
              <a:t>ابزار</a:t>
            </a:r>
            <a:r>
              <a:rPr lang="en-US" sz="2400" dirty="0">
                <a:cs typeface="Nazanin" panose="00000400000000000000" pitchFamily="2" charset="-78"/>
              </a:rPr>
              <a:t> </a:t>
            </a:r>
            <a:r>
              <a:rPr lang="en-US" sz="2400" dirty="0" err="1">
                <a:cs typeface="Nazanin" panose="00000400000000000000" pitchFamily="2" charset="-78"/>
              </a:rPr>
              <a:t>هوش</a:t>
            </a:r>
            <a:r>
              <a:rPr lang="en-US" sz="2400" dirty="0">
                <a:cs typeface="Nazanin" panose="00000400000000000000" pitchFamily="2" charset="-78"/>
              </a:rPr>
              <a:t> </a:t>
            </a:r>
            <a:r>
              <a:rPr lang="en-US" sz="2400" dirty="0" err="1">
                <a:cs typeface="Nazanin" panose="00000400000000000000" pitchFamily="2" charset="-78"/>
              </a:rPr>
              <a:t>مصنوعی</a:t>
            </a:r>
            <a:r>
              <a:rPr lang="en-US" sz="2400" dirty="0">
                <a:cs typeface="Nazanin" panose="00000400000000000000" pitchFamily="2" charset="-78"/>
              </a:rPr>
              <a:t> </a:t>
            </a:r>
            <a:r>
              <a:rPr lang="en-US" sz="2400" dirty="0" err="1">
                <a:cs typeface="Nazanin" panose="00000400000000000000" pitchFamily="2" charset="-78"/>
              </a:rPr>
              <a:t>برای</a:t>
            </a:r>
            <a:r>
              <a:rPr lang="en-US" sz="2400" dirty="0">
                <a:cs typeface="Nazanin" panose="00000400000000000000" pitchFamily="2" charset="-78"/>
              </a:rPr>
              <a:t> </a:t>
            </a:r>
            <a:r>
              <a:rPr lang="en-US" sz="2400" dirty="0" err="1">
                <a:cs typeface="Nazanin" panose="00000400000000000000" pitchFamily="2" charset="-78"/>
              </a:rPr>
              <a:t>ترجمه</a:t>
            </a:r>
            <a:r>
              <a:rPr lang="en-US" sz="2400" dirty="0">
                <a:cs typeface="Nazanin" panose="00000400000000000000" pitchFamily="2" charset="-78"/>
              </a:rPr>
              <a:t>، </a:t>
            </a:r>
            <a:r>
              <a:rPr lang="en-US" sz="2400" dirty="0" err="1">
                <a:cs typeface="Nazanin" panose="00000400000000000000" pitchFamily="2" charset="-78"/>
              </a:rPr>
              <a:t>زیرنویس</a:t>
            </a:r>
            <a:r>
              <a:rPr lang="en-US" sz="2400" dirty="0">
                <a:cs typeface="Nazanin" panose="00000400000000000000" pitchFamily="2" charset="-78"/>
              </a:rPr>
              <a:t> و </a:t>
            </a:r>
            <a:r>
              <a:rPr lang="en-US" sz="2400" dirty="0" err="1">
                <a:cs typeface="Nazanin" panose="00000400000000000000" pitchFamily="2" charset="-78"/>
              </a:rPr>
              <a:t>دوبله</a:t>
            </a:r>
            <a:r>
              <a:rPr lang="en-US" sz="2400" dirty="0">
                <a:cs typeface="Nazanin" panose="00000400000000000000" pitchFamily="2" charset="-78"/>
              </a:rPr>
              <a:t> </a:t>
            </a:r>
            <a:r>
              <a:rPr lang="en-US" sz="2400" dirty="0" err="1">
                <a:cs typeface="Nazanin" panose="00000400000000000000" pitchFamily="2" charset="-78"/>
              </a:rPr>
              <a:t>ویدیوها</a:t>
            </a:r>
            <a:r>
              <a:rPr lang="en-US" sz="2400" dirty="0">
                <a:cs typeface="Nazanin" panose="00000400000000000000" pitchFamily="2" charset="-78"/>
              </a:rPr>
              <a:t> </a:t>
            </a:r>
            <a:r>
              <a:rPr lang="en-US" sz="2400" dirty="0" err="1">
                <a:cs typeface="Nazanin" panose="00000400000000000000" pitchFamily="2" charset="-78"/>
              </a:rPr>
              <a:t>در</a:t>
            </a:r>
            <a:r>
              <a:rPr lang="en-US" sz="2400" dirty="0">
                <a:cs typeface="Nazanin" panose="00000400000000000000" pitchFamily="2" charset="-78"/>
              </a:rPr>
              <a:t> </a:t>
            </a:r>
            <a:r>
              <a:rPr lang="en-US" sz="2400" dirty="0" err="1">
                <a:cs typeface="Nazanin" panose="00000400000000000000" pitchFamily="2" charset="-78"/>
              </a:rPr>
              <a:t>بیش</a:t>
            </a:r>
            <a:r>
              <a:rPr lang="en-US" sz="2400" dirty="0">
                <a:cs typeface="Nazanin" panose="00000400000000000000" pitchFamily="2" charset="-78"/>
              </a:rPr>
              <a:t> </a:t>
            </a:r>
            <a:r>
              <a:rPr lang="en-US" sz="2400" dirty="0" err="1">
                <a:cs typeface="Nazanin" panose="00000400000000000000" pitchFamily="2" charset="-78"/>
              </a:rPr>
              <a:t>از</a:t>
            </a:r>
            <a:r>
              <a:rPr lang="en-US" sz="2400" dirty="0">
                <a:cs typeface="Nazanin" panose="00000400000000000000" pitchFamily="2" charset="-78"/>
              </a:rPr>
              <a:t> ۷۵ </a:t>
            </a:r>
            <a:r>
              <a:rPr lang="en-US" sz="2400" dirty="0" err="1">
                <a:cs typeface="Nazanin" panose="00000400000000000000" pitchFamily="2" charset="-78"/>
              </a:rPr>
              <a:t>زبان</a:t>
            </a:r>
            <a:r>
              <a:rPr lang="en-US" sz="2400" dirty="0">
                <a:cs typeface="Nazanin" panose="00000400000000000000" pitchFamily="2" charset="-78"/>
              </a:rPr>
              <a:t> </a:t>
            </a:r>
            <a:r>
              <a:rPr lang="en-US" sz="2400" dirty="0" err="1">
                <a:cs typeface="Nazanin" panose="00000400000000000000" pitchFamily="2" charset="-78"/>
              </a:rPr>
              <a:t>فقط</a:t>
            </a:r>
            <a:r>
              <a:rPr lang="en-US" sz="2400" dirty="0">
                <a:cs typeface="Nazanin" panose="00000400000000000000" pitchFamily="2" charset="-78"/>
              </a:rPr>
              <a:t> </a:t>
            </a:r>
            <a:r>
              <a:rPr lang="en-US" sz="2400" dirty="0" err="1">
                <a:cs typeface="Nazanin" panose="00000400000000000000" pitchFamily="2" charset="-78"/>
              </a:rPr>
              <a:t>با</a:t>
            </a:r>
            <a:r>
              <a:rPr lang="en-US" sz="2400" dirty="0">
                <a:cs typeface="Nazanin" panose="00000400000000000000" pitchFamily="2" charset="-78"/>
              </a:rPr>
              <a:t> </a:t>
            </a:r>
            <a:r>
              <a:rPr lang="en-US" sz="2400" dirty="0" err="1">
                <a:cs typeface="Nazanin" panose="00000400000000000000" pitchFamily="2" charset="-78"/>
              </a:rPr>
              <a:t>یک</a:t>
            </a:r>
            <a:r>
              <a:rPr lang="en-US" sz="2400" dirty="0">
                <a:cs typeface="Nazanin" panose="00000400000000000000" pitchFamily="2" charset="-78"/>
              </a:rPr>
              <a:t> </a:t>
            </a:r>
            <a:r>
              <a:rPr lang="en-US" sz="2400" dirty="0" err="1">
                <a:cs typeface="Nazanin" panose="00000400000000000000" pitchFamily="2" charset="-78"/>
              </a:rPr>
              <a:t>کلیک</a:t>
            </a:r>
            <a:r>
              <a:rPr lang="en-US" sz="2400" dirty="0">
                <a:cs typeface="Nazanin" panose="00000400000000000000" pitchFamily="2" charset="-78"/>
              </a:rPr>
              <a:t>!</a:t>
            </a:r>
          </a:p>
          <a:p>
            <a:pPr algn="r" rtl="1"/>
            <a:endParaRPr lang="en-US" sz="2400" dirty="0">
              <a:cs typeface="Nazanin" panose="00000400000000000000" pitchFamily="2" charset="-78"/>
            </a:endParaRPr>
          </a:p>
          <a:p>
            <a:pPr algn="r" rtl="1"/>
            <a:r>
              <a:rPr lang="en-US" sz="2400" dirty="0">
                <a:cs typeface="Nazanin" panose="00000400000000000000" pitchFamily="2" charset="-78"/>
              </a:rPr>
              <a:t>▪️</a:t>
            </a:r>
            <a:r>
              <a:rPr lang="en-US" sz="2400" dirty="0" err="1">
                <a:cs typeface="Nazanin" panose="00000400000000000000" pitchFamily="2" charset="-78"/>
              </a:rPr>
              <a:t>قابلیت‌ها</a:t>
            </a:r>
            <a:r>
              <a:rPr lang="en-US" sz="2400" dirty="0">
                <a:cs typeface="Nazanin" panose="00000400000000000000" pitchFamily="2" charset="-78"/>
              </a:rPr>
              <a:t> :</a:t>
            </a:r>
          </a:p>
          <a:p>
            <a:pPr algn="r" rtl="1"/>
            <a:r>
              <a:rPr lang="en-US" sz="2400">
                <a:cs typeface="Nazanin" panose="00000400000000000000" pitchFamily="2" charset="-78"/>
              </a:rPr>
              <a:t>▫️</a:t>
            </a:r>
            <a:r>
              <a:rPr lang="en-US" sz="2400" dirty="0" err="1">
                <a:cs typeface="Nazanin" panose="00000400000000000000" pitchFamily="2" charset="-78"/>
              </a:rPr>
              <a:t>ترجمه</a:t>
            </a:r>
            <a:r>
              <a:rPr lang="en-US" sz="2400" dirty="0">
                <a:cs typeface="Nazanin" panose="00000400000000000000" pitchFamily="2" charset="-78"/>
              </a:rPr>
              <a:t> و </a:t>
            </a:r>
            <a:r>
              <a:rPr lang="en-US" sz="2400" dirty="0" err="1">
                <a:cs typeface="Nazanin" panose="00000400000000000000" pitchFamily="2" charset="-78"/>
              </a:rPr>
              <a:t>افزودن</a:t>
            </a:r>
            <a:r>
              <a:rPr lang="en-US" sz="2400" dirty="0">
                <a:cs typeface="Nazanin" panose="00000400000000000000" pitchFamily="2" charset="-78"/>
              </a:rPr>
              <a:t> </a:t>
            </a:r>
            <a:r>
              <a:rPr lang="en-US" sz="2400" dirty="0" err="1">
                <a:cs typeface="Nazanin" panose="00000400000000000000" pitchFamily="2" charset="-78"/>
              </a:rPr>
              <a:t>زیرنویس</a:t>
            </a:r>
            <a:r>
              <a:rPr lang="en-US" sz="2400" dirty="0">
                <a:cs typeface="Nazanin" panose="00000400000000000000" pitchFamily="2" charset="-78"/>
              </a:rPr>
              <a:t> </a:t>
            </a:r>
            <a:r>
              <a:rPr lang="en-US" sz="2400" dirty="0" err="1">
                <a:cs typeface="Nazanin" panose="00000400000000000000" pitchFamily="2" charset="-78"/>
              </a:rPr>
              <a:t>خودکار</a:t>
            </a:r>
            <a:endParaRPr lang="en-US" sz="2400" dirty="0">
              <a:cs typeface="Nazanin" panose="00000400000000000000" pitchFamily="2" charset="-78"/>
            </a:endParaRPr>
          </a:p>
          <a:p>
            <a:pPr algn="r" rtl="1"/>
            <a:r>
              <a:rPr lang="en-US" sz="2400" dirty="0">
                <a:cs typeface="Nazanin" panose="00000400000000000000" pitchFamily="2" charset="-78"/>
              </a:rPr>
              <a:t>▫️</a:t>
            </a:r>
            <a:r>
              <a:rPr lang="en-US" sz="2400" dirty="0" err="1">
                <a:cs typeface="Nazanin" panose="00000400000000000000" pitchFamily="2" charset="-78"/>
              </a:rPr>
              <a:t>دوبله</a:t>
            </a:r>
            <a:r>
              <a:rPr lang="en-US" sz="2400" dirty="0">
                <a:cs typeface="Nazanin" panose="00000400000000000000" pitchFamily="2" charset="-78"/>
              </a:rPr>
              <a:t> و </a:t>
            </a:r>
            <a:r>
              <a:rPr lang="en-US" sz="2400" dirty="0" err="1">
                <a:cs typeface="Nazanin" panose="00000400000000000000" pitchFamily="2" charset="-78"/>
              </a:rPr>
              <a:t>صداگذاری</a:t>
            </a:r>
            <a:r>
              <a:rPr lang="en-US" sz="2400" dirty="0">
                <a:cs typeface="Nazanin" panose="00000400000000000000" pitchFamily="2" charset="-78"/>
              </a:rPr>
              <a:t> </a:t>
            </a:r>
            <a:r>
              <a:rPr lang="en-US" sz="2400" dirty="0" err="1">
                <a:cs typeface="Nazanin" panose="00000400000000000000" pitchFamily="2" charset="-78"/>
              </a:rPr>
              <a:t>هوش</a:t>
            </a:r>
            <a:r>
              <a:rPr lang="en-US" sz="2400" dirty="0">
                <a:cs typeface="Nazanin" panose="00000400000000000000" pitchFamily="2" charset="-78"/>
              </a:rPr>
              <a:t> </a:t>
            </a:r>
            <a:r>
              <a:rPr lang="en-US" sz="2400" dirty="0" err="1">
                <a:cs typeface="Nazanin" panose="00000400000000000000" pitchFamily="2" charset="-78"/>
              </a:rPr>
              <a:t>مصنوعی</a:t>
            </a:r>
            <a:endParaRPr lang="en-US" sz="2400" dirty="0">
              <a:cs typeface="Nazanin" panose="00000400000000000000" pitchFamily="2" charset="-78"/>
            </a:endParaRPr>
          </a:p>
          <a:p>
            <a:pPr algn="r" rtl="1"/>
            <a:r>
              <a:rPr lang="en-US" sz="2400" dirty="0">
                <a:cs typeface="Nazanin" panose="00000400000000000000" pitchFamily="2" charset="-78"/>
              </a:rPr>
              <a:t>▫️</a:t>
            </a:r>
            <a:r>
              <a:rPr lang="en-US" sz="2400" dirty="0" err="1">
                <a:cs typeface="Nazanin" panose="00000400000000000000" pitchFamily="2" charset="-78"/>
              </a:rPr>
              <a:t>رونویسی</a:t>
            </a:r>
            <a:r>
              <a:rPr lang="en-US" sz="2400" dirty="0">
                <a:cs typeface="Nazanin" panose="00000400000000000000" pitchFamily="2" charset="-78"/>
              </a:rPr>
              <a:t> و </a:t>
            </a:r>
            <a:r>
              <a:rPr lang="en-US" sz="2400" dirty="0" err="1">
                <a:cs typeface="Nazanin" panose="00000400000000000000" pitchFamily="2" charset="-78"/>
              </a:rPr>
              <a:t>تولید</a:t>
            </a:r>
            <a:r>
              <a:rPr lang="en-US" sz="2400" dirty="0">
                <a:cs typeface="Nazanin" panose="00000400000000000000" pitchFamily="2" charset="-78"/>
              </a:rPr>
              <a:t> </a:t>
            </a:r>
            <a:r>
              <a:rPr lang="en-US" sz="2400" dirty="0" err="1">
                <a:cs typeface="Nazanin" panose="00000400000000000000" pitchFamily="2" charset="-78"/>
              </a:rPr>
              <a:t>متن</a:t>
            </a:r>
            <a:r>
              <a:rPr lang="en-US" sz="2400" dirty="0">
                <a:cs typeface="Nazanin" panose="00000400000000000000" pitchFamily="2" charset="-78"/>
              </a:rPr>
              <a:t> </a:t>
            </a:r>
            <a:r>
              <a:rPr lang="en-US" sz="2400" dirty="0" err="1">
                <a:cs typeface="Nazanin" panose="00000400000000000000" pitchFamily="2" charset="-78"/>
              </a:rPr>
              <a:t>از</a:t>
            </a:r>
            <a:r>
              <a:rPr lang="en-US" sz="2400" dirty="0">
                <a:cs typeface="Nazanin" panose="00000400000000000000" pitchFamily="2" charset="-78"/>
              </a:rPr>
              <a:t> </a:t>
            </a:r>
            <a:r>
              <a:rPr lang="en-US" sz="2400" dirty="0" err="1">
                <a:cs typeface="Nazanin" panose="00000400000000000000" pitchFamily="2" charset="-78"/>
              </a:rPr>
              <a:t>ویدیو</a:t>
            </a:r>
            <a:endParaRPr lang="en-US" sz="2400" dirty="0">
              <a:cs typeface="Nazanin" panose="00000400000000000000" pitchFamily="2" charset="-78"/>
            </a:endParaRPr>
          </a:p>
          <a:p>
            <a:pPr algn="r" rtl="1"/>
            <a:r>
              <a:rPr lang="en-US" sz="2400" dirty="0">
                <a:cs typeface="Nazanin" panose="00000400000000000000" pitchFamily="2" charset="-78"/>
              </a:rPr>
              <a:t>▫️</a:t>
            </a:r>
            <a:r>
              <a:rPr lang="en-US" sz="2400" dirty="0" err="1">
                <a:cs typeface="Nazanin" panose="00000400000000000000" pitchFamily="2" charset="-78"/>
              </a:rPr>
              <a:t>خروجی</a:t>
            </a:r>
            <a:r>
              <a:rPr lang="en-US" sz="2400" dirty="0">
                <a:cs typeface="Nazanin" panose="00000400000000000000" pitchFamily="2" charset="-78"/>
              </a:rPr>
              <a:t> </a:t>
            </a:r>
            <a:r>
              <a:rPr lang="en-US" sz="2400" dirty="0" err="1">
                <a:cs typeface="Nazanin" panose="00000400000000000000" pitchFamily="2" charset="-78"/>
              </a:rPr>
              <a:t>ویدیو</a:t>
            </a:r>
            <a:r>
              <a:rPr lang="en-US" sz="2400" dirty="0">
                <a:cs typeface="Nazanin" panose="00000400000000000000" pitchFamily="2" charset="-78"/>
              </a:rPr>
              <a:t> (mp4) و </a:t>
            </a:r>
            <a:r>
              <a:rPr lang="en-US" sz="2400" dirty="0" err="1">
                <a:cs typeface="Nazanin" panose="00000400000000000000" pitchFamily="2" charset="-78"/>
              </a:rPr>
              <a:t>زیرنویس</a:t>
            </a:r>
            <a:r>
              <a:rPr lang="en-US" sz="2400" dirty="0">
                <a:cs typeface="Nazanin" panose="00000400000000000000" pitchFamily="2" charset="-78"/>
              </a:rPr>
              <a:t> (</a:t>
            </a:r>
            <a:r>
              <a:rPr lang="en-US" sz="2400" dirty="0" err="1">
                <a:cs typeface="Nazanin" panose="00000400000000000000" pitchFamily="2" charset="-78"/>
              </a:rPr>
              <a:t>srt</a:t>
            </a:r>
            <a:r>
              <a:rPr lang="en-US" sz="2400" dirty="0">
                <a:cs typeface="Nazanin" panose="00000400000000000000" pitchFamily="2" charset="-78"/>
              </a:rPr>
              <a:t>/</a:t>
            </a:r>
            <a:r>
              <a:rPr lang="en-US" sz="2400" dirty="0" err="1">
                <a:cs typeface="Nazanin" panose="00000400000000000000" pitchFamily="2" charset="-78"/>
              </a:rPr>
              <a:t>vtt</a:t>
            </a:r>
            <a:r>
              <a:rPr lang="en-US" sz="2400" dirty="0">
                <a:cs typeface="Nazanin" panose="00000400000000000000" pitchFamily="2" charset="-78"/>
              </a:rPr>
              <a:t>)</a:t>
            </a:r>
          </a:p>
          <a:p>
            <a:pPr algn="r" rtl="1"/>
            <a:endParaRPr lang="en-US" sz="2400" dirty="0">
              <a:cs typeface="Nazanin" panose="00000400000000000000" pitchFamily="2" charset="-78"/>
            </a:endParaRPr>
          </a:p>
          <a:p>
            <a:pPr algn="r" rtl="1"/>
            <a:r>
              <a:rPr lang="en-US" sz="2400" dirty="0">
                <a:cs typeface="Nazanin" panose="00000400000000000000" pitchFamily="2" charset="-78"/>
              </a:rPr>
              <a:t>+ </a:t>
            </a:r>
            <a:r>
              <a:rPr lang="en-US" sz="2400" dirty="0" err="1">
                <a:cs typeface="Nazanin" panose="00000400000000000000" pitchFamily="2" charset="-78"/>
              </a:rPr>
              <a:t>مناسب</a:t>
            </a:r>
            <a:r>
              <a:rPr lang="en-US" sz="2400" dirty="0">
                <a:cs typeface="Nazanin" panose="00000400000000000000" pitchFamily="2" charset="-78"/>
              </a:rPr>
              <a:t> </a:t>
            </a:r>
            <a:r>
              <a:rPr lang="en-US" sz="2400" dirty="0" err="1">
                <a:cs typeface="Nazanin" panose="00000400000000000000" pitchFamily="2" charset="-78"/>
              </a:rPr>
              <a:t>برای</a:t>
            </a:r>
            <a:r>
              <a:rPr lang="en-US" sz="2400" dirty="0">
                <a:cs typeface="Nazanin" panose="00000400000000000000" pitchFamily="2" charset="-78"/>
              </a:rPr>
              <a:t> </a:t>
            </a:r>
            <a:r>
              <a:rPr lang="en-US" sz="2400" dirty="0" err="1">
                <a:cs typeface="Nazanin" panose="00000400000000000000" pitchFamily="2" charset="-78"/>
              </a:rPr>
              <a:t>تولیدکنندگان</a:t>
            </a:r>
            <a:r>
              <a:rPr lang="en-US" sz="2400" dirty="0">
                <a:cs typeface="Nazanin" panose="00000400000000000000" pitchFamily="2" charset="-78"/>
              </a:rPr>
              <a:t> </a:t>
            </a:r>
            <a:r>
              <a:rPr lang="en-US" sz="2400" dirty="0" err="1">
                <a:cs typeface="Nazanin" panose="00000400000000000000" pitchFamily="2" charset="-78"/>
              </a:rPr>
              <a:t>محتوا</a:t>
            </a:r>
            <a:r>
              <a:rPr lang="en-US" sz="2400" dirty="0">
                <a:cs typeface="Nazanin" panose="00000400000000000000" pitchFamily="2" charset="-78"/>
              </a:rPr>
              <a:t>، </a:t>
            </a:r>
            <a:r>
              <a:rPr lang="en-US" sz="2400" dirty="0" err="1">
                <a:cs typeface="Nazanin" panose="00000400000000000000" pitchFamily="2" charset="-78"/>
              </a:rPr>
              <a:t>یوتیوبرها</a:t>
            </a:r>
            <a:r>
              <a:rPr lang="en-US" sz="2400" dirty="0">
                <a:cs typeface="Nazanin" panose="00000400000000000000" pitchFamily="2" charset="-78"/>
              </a:rPr>
              <a:t> و </a:t>
            </a:r>
            <a:r>
              <a:rPr lang="en-US" sz="2400" dirty="0" err="1">
                <a:cs typeface="Nazanin" panose="00000400000000000000" pitchFamily="2" charset="-78"/>
              </a:rPr>
              <a:t>کسانی</a:t>
            </a:r>
            <a:r>
              <a:rPr lang="en-US" sz="2400" dirty="0">
                <a:cs typeface="Nazanin" panose="00000400000000000000" pitchFamily="2" charset="-78"/>
              </a:rPr>
              <a:t> </a:t>
            </a:r>
            <a:r>
              <a:rPr lang="en-US" sz="2400" dirty="0" err="1">
                <a:cs typeface="Nazanin" panose="00000400000000000000" pitchFamily="2" charset="-78"/>
              </a:rPr>
              <a:t>که</a:t>
            </a:r>
            <a:r>
              <a:rPr lang="en-US" sz="2400" dirty="0">
                <a:cs typeface="Nazanin" panose="00000400000000000000" pitchFamily="2" charset="-78"/>
              </a:rPr>
              <a:t> </a:t>
            </a:r>
            <a:r>
              <a:rPr lang="en-US" sz="2400" dirty="0" err="1">
                <a:cs typeface="Nazanin" panose="00000400000000000000" pitchFamily="2" charset="-78"/>
              </a:rPr>
              <a:t>می‌خوان</a:t>
            </a:r>
            <a:r>
              <a:rPr lang="en-US" sz="2400" dirty="0">
                <a:cs typeface="Nazanin" panose="00000400000000000000" pitchFamily="2" charset="-78"/>
              </a:rPr>
              <a:t> </a:t>
            </a:r>
            <a:r>
              <a:rPr lang="en-US" sz="2400" dirty="0" err="1">
                <a:cs typeface="Nazanin" panose="00000400000000000000" pitchFamily="2" charset="-78"/>
              </a:rPr>
              <a:t>ویدیوهاشون</a:t>
            </a:r>
            <a:r>
              <a:rPr lang="en-US" sz="2400" dirty="0">
                <a:cs typeface="Nazanin" panose="00000400000000000000" pitchFamily="2" charset="-78"/>
              </a:rPr>
              <a:t> </a:t>
            </a:r>
            <a:r>
              <a:rPr lang="en-US" sz="2400" dirty="0" err="1">
                <a:cs typeface="Nazanin" panose="00000400000000000000" pitchFamily="2" charset="-78"/>
              </a:rPr>
              <a:t>رو</a:t>
            </a:r>
            <a:r>
              <a:rPr lang="en-US" sz="2400" dirty="0">
                <a:cs typeface="Nazanin" panose="00000400000000000000" pitchFamily="2" charset="-78"/>
              </a:rPr>
              <a:t> </a:t>
            </a:r>
            <a:r>
              <a:rPr lang="en-US" sz="2400" dirty="0" err="1">
                <a:cs typeface="Nazanin" panose="00000400000000000000" pitchFamily="2" charset="-78"/>
              </a:rPr>
              <a:t>جهانی</a:t>
            </a:r>
            <a:r>
              <a:rPr lang="en-US" sz="2400" dirty="0">
                <a:cs typeface="Nazanin" panose="00000400000000000000" pitchFamily="2" charset="-78"/>
              </a:rPr>
              <a:t> </a:t>
            </a:r>
            <a:r>
              <a:rPr lang="en-US" sz="2400" dirty="0" err="1">
                <a:cs typeface="Nazanin" panose="00000400000000000000" pitchFamily="2" charset="-78"/>
              </a:rPr>
              <a:t>کنن</a:t>
            </a:r>
            <a:r>
              <a:rPr lang="en-US" sz="2400" dirty="0">
                <a:cs typeface="Nazanin" panose="00000400000000000000" pitchFamily="2" charset="-78"/>
              </a:rPr>
              <a:t>!</a:t>
            </a:r>
          </a:p>
          <a:p>
            <a:pPr algn="r" rtl="1"/>
            <a:endParaRPr lang="en-US" sz="2400" dirty="0">
              <a:cs typeface="Nazanin" panose="00000400000000000000" pitchFamily="2" charset="-78"/>
            </a:endParaRPr>
          </a:p>
          <a:p>
            <a:pPr algn="l"/>
            <a:r>
              <a:rPr lang="en-US" sz="2400" dirty="0">
                <a:cs typeface="Nazanin" panose="00000400000000000000" pitchFamily="2" charset="-78"/>
              </a:rPr>
              <a:t>👉 </a:t>
            </a:r>
            <a:r>
              <a:rPr lang="en-US" sz="2400" dirty="0" err="1">
                <a:cs typeface="Nazanin" panose="00000400000000000000" pitchFamily="2" charset="-78"/>
              </a:rPr>
              <a:t>Translate.video</a:t>
            </a:r>
            <a:r>
              <a:rPr lang="en-US" sz="2400" dirty="0">
                <a:cs typeface="Nazanin" panose="00000400000000000000" pitchFamily="2" charset="-78"/>
              </a:rPr>
              <a:t> (http://translate.video/)</a:t>
            </a:r>
          </a:p>
          <a:p>
            <a:pPr algn="r" rtl="1"/>
            <a:endParaRPr lang="en-US" sz="2400" dirty="0">
              <a:cs typeface="Nazanin" panose="00000400000000000000" pitchFamily="2" charset="-78"/>
            </a:endParaRPr>
          </a:p>
        </p:txBody>
      </p:sp>
      <p:sp>
        <p:nvSpPr>
          <p:cNvPr id="2" name="TextBox 1">
            <a:extLst>
              <a:ext uri="{FF2B5EF4-FFF2-40B4-BE49-F238E27FC236}">
                <a16:creationId xmlns:a16="http://schemas.microsoft.com/office/drawing/2014/main" id="{2C773C56-B2F0-6EC4-8E3A-154BA3D39DE4}"/>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104</a:t>
            </a:r>
            <a:endParaRPr lang="fa-IR" sz="1200"/>
          </a:p>
        </p:txBody>
      </p:sp>
    </p:spTree>
    <p:extLst>
      <p:ext uri="{BB962C8B-B14F-4D97-AF65-F5344CB8AC3E}">
        <p14:creationId xmlns:p14="http://schemas.microsoft.com/office/powerpoint/2010/main" val="1000605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2CE06-A2A9-8D28-8339-26ED9E58F5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BD700E-4BF4-2322-C6EF-B447AAD50507}"/>
              </a:ext>
            </a:extLst>
          </p:cNvPr>
          <p:cNvSpPr txBox="1"/>
          <p:nvPr/>
        </p:nvSpPr>
        <p:spPr>
          <a:xfrm>
            <a:off x="804042" y="1229711"/>
            <a:ext cx="8213834" cy="4524315"/>
          </a:xfrm>
          <a:prstGeom prst="rect">
            <a:avLst/>
          </a:prstGeom>
          <a:noFill/>
        </p:spPr>
        <p:txBody>
          <a:bodyPr wrap="square">
            <a:spAutoFit/>
          </a:bodyPr>
          <a:lstStyle/>
          <a:p>
            <a:pPr algn="r" rtl="1"/>
            <a:r>
              <a:rPr lang="ar-SA" sz="2400">
                <a:cs typeface="2  Nazanin" panose="00000400000000000000" pitchFamily="2" charset="-78"/>
              </a:rPr>
              <a:t>آیا جلسات متعدد و نگارش صورت‌جلسات وقت و انرژی شما را می‌گیرد؟</a:t>
            </a:r>
            <a:br>
              <a:rPr lang="ar-SA" sz="2400">
                <a:cs typeface="2  Nazanin" panose="00000400000000000000" pitchFamily="2" charset="-78"/>
              </a:rPr>
            </a:br>
            <a:r>
              <a:rPr lang="ar-SA" sz="2400">
                <a:cs typeface="2  Nazanin" panose="00000400000000000000" pitchFamily="2" charset="-78"/>
              </a:rPr>
              <a:t>سرویس </a:t>
            </a:r>
            <a:r>
              <a:rPr lang="en-US" sz="2400" b="1">
                <a:cs typeface="2  Nazanin" panose="00000400000000000000" pitchFamily="2" charset="-78"/>
              </a:rPr>
              <a:t>Supernormal</a:t>
            </a:r>
            <a:r>
              <a:rPr lang="en-US" sz="2400">
                <a:cs typeface="2  Nazanin" panose="00000400000000000000" pitchFamily="2" charset="-78"/>
              </a:rPr>
              <a:t> </a:t>
            </a:r>
            <a:r>
              <a:rPr lang="fa-IR" sz="2400">
                <a:cs typeface="2  Nazanin" panose="00000400000000000000" pitchFamily="2" charset="-78"/>
              </a:rPr>
              <a:t> </a:t>
            </a:r>
            <a:r>
              <a:rPr lang="ar-SA" sz="2400">
                <a:cs typeface="2  Nazanin" panose="00000400000000000000" pitchFamily="2" charset="-78"/>
              </a:rPr>
              <a:t>به عنوان یک دستیار هوشمند مبتنی بر هوش مصنوعی، تمامی مراحل ثبت و خلاصه‌سازی جلسات را به‌صورت خودکار انجام می‌دهد:</a:t>
            </a:r>
          </a:p>
          <a:p>
            <a:pPr algn="r" rtl="1"/>
            <a:r>
              <a:rPr lang="ar-SA" sz="2400">
                <a:cs typeface="2  Nazanin" panose="00000400000000000000" pitchFamily="2" charset="-78"/>
              </a:rPr>
              <a:t>▫️ ضبط کامل جلسه</a:t>
            </a:r>
            <a:br>
              <a:rPr lang="ar-SA" sz="2400">
                <a:cs typeface="2  Nazanin" panose="00000400000000000000" pitchFamily="2" charset="-78"/>
              </a:rPr>
            </a:br>
            <a:r>
              <a:rPr lang="ar-SA" sz="2400">
                <a:cs typeface="2  Nazanin" panose="00000400000000000000" pitchFamily="2" charset="-78"/>
              </a:rPr>
              <a:t>▫️ تبدیل دقیق گفتار به متن (ترنسکرایب)</a:t>
            </a:r>
            <a:br>
              <a:rPr lang="ar-SA" sz="2400">
                <a:cs typeface="2  Nazanin" panose="00000400000000000000" pitchFamily="2" charset="-78"/>
              </a:rPr>
            </a:br>
            <a:r>
              <a:rPr lang="ar-SA" sz="2400">
                <a:cs typeface="2  Nazanin" panose="00000400000000000000" pitchFamily="2" charset="-78"/>
              </a:rPr>
              <a:t>▫️ تولید خلاصه‌ی حرفه‌ای از محتوای جلسه</a:t>
            </a:r>
            <a:br>
              <a:rPr lang="ar-SA" sz="2400">
                <a:cs typeface="2  Nazanin" panose="00000400000000000000" pitchFamily="2" charset="-78"/>
              </a:rPr>
            </a:br>
            <a:r>
              <a:rPr lang="ar-SA" sz="2400">
                <a:cs typeface="2  Nazanin" panose="00000400000000000000" pitchFamily="2" charset="-78"/>
              </a:rPr>
              <a:t>▫️ استخراج نکات کلیدی و تصمیمات مهم</a:t>
            </a:r>
            <a:br>
              <a:rPr lang="ar-SA" sz="2400">
                <a:cs typeface="2  Nazanin" panose="00000400000000000000" pitchFamily="2" charset="-78"/>
              </a:rPr>
            </a:br>
            <a:r>
              <a:rPr lang="ar-SA" sz="2400">
                <a:cs typeface="2  Nazanin" panose="00000400000000000000" pitchFamily="2" charset="-78"/>
              </a:rPr>
              <a:t>▫️ ارسال مستقیم خروجی به سیستم‌های </a:t>
            </a:r>
            <a:r>
              <a:rPr lang="en-US" sz="2400">
                <a:cs typeface="2  Nazanin" panose="00000400000000000000" pitchFamily="2" charset="-78"/>
              </a:rPr>
              <a:t>CRM </a:t>
            </a:r>
            <a:r>
              <a:rPr lang="ar-SA" sz="2400">
                <a:cs typeface="2  Nazanin" panose="00000400000000000000" pitchFamily="2" charset="-78"/>
              </a:rPr>
              <a:t>و </a:t>
            </a:r>
            <a:r>
              <a:rPr lang="en-US" sz="2400">
                <a:cs typeface="2  Nazanin" panose="00000400000000000000" pitchFamily="2" charset="-78"/>
              </a:rPr>
              <a:t>ATS</a:t>
            </a:r>
            <a:br>
              <a:rPr lang="en-US" sz="2400">
                <a:cs typeface="2  Nazanin" panose="00000400000000000000" pitchFamily="2" charset="-78"/>
              </a:rPr>
            </a:br>
            <a:r>
              <a:rPr lang="en-US" sz="2400">
                <a:cs typeface="2  Nazanin" panose="00000400000000000000" pitchFamily="2" charset="-78"/>
              </a:rPr>
              <a:t>▫️ </a:t>
            </a:r>
            <a:r>
              <a:rPr lang="ar-SA" sz="2400">
                <a:cs typeface="2  Nazanin" panose="00000400000000000000" pitchFamily="2" charset="-78"/>
              </a:rPr>
              <a:t>پشتیبانی از چندین زبان مختلف</a:t>
            </a:r>
          </a:p>
          <a:p>
            <a:pPr algn="r" rtl="1"/>
            <a:r>
              <a:rPr lang="ar-SA" sz="2400">
                <a:cs typeface="2  Nazanin" panose="00000400000000000000" pitchFamily="2" charset="-78"/>
              </a:rPr>
              <a:t>همچنین این ابزار به طور کامل با </a:t>
            </a:r>
            <a:r>
              <a:rPr lang="en-US" sz="2400" b="1">
                <a:cs typeface="2  Nazanin" panose="00000400000000000000" pitchFamily="2" charset="-78"/>
              </a:rPr>
              <a:t>Google Meet</a:t>
            </a:r>
            <a:r>
              <a:rPr lang="en-US" sz="2400">
                <a:cs typeface="2  Nazanin" panose="00000400000000000000" pitchFamily="2" charset="-78"/>
              </a:rPr>
              <a:t> </a:t>
            </a:r>
            <a:r>
              <a:rPr lang="ar-SA" sz="2400">
                <a:cs typeface="2  Nazanin" panose="00000400000000000000" pitchFamily="2" charset="-78"/>
              </a:rPr>
              <a:t>و </a:t>
            </a:r>
            <a:r>
              <a:rPr lang="en-US" sz="2400" b="1">
                <a:cs typeface="2  Nazanin" panose="00000400000000000000" pitchFamily="2" charset="-78"/>
              </a:rPr>
              <a:t>Zoom</a:t>
            </a:r>
            <a:r>
              <a:rPr lang="en-US" sz="2400">
                <a:cs typeface="2  Nazanin" panose="00000400000000000000" pitchFamily="2" charset="-78"/>
              </a:rPr>
              <a:t> </a:t>
            </a:r>
            <a:r>
              <a:rPr lang="ar-SA" sz="2400">
                <a:cs typeface="2  Nazanin" panose="00000400000000000000" pitchFamily="2" charset="-78"/>
              </a:rPr>
              <a:t>هماهنگ است؛ به‌گونه‌ای که به صورت خودکار وارد جلسات می‌شود و مانند یک منشی دیجیتال همواره در کنار شما حضور دارد.</a:t>
            </a:r>
          </a:p>
        </p:txBody>
      </p:sp>
      <p:sp>
        <p:nvSpPr>
          <p:cNvPr id="4" name="TextBox 3">
            <a:extLst>
              <a:ext uri="{FF2B5EF4-FFF2-40B4-BE49-F238E27FC236}">
                <a16:creationId xmlns:a16="http://schemas.microsoft.com/office/drawing/2014/main" id="{133A1D4B-538C-492B-38E3-F040B87891B9}"/>
              </a:ext>
            </a:extLst>
          </p:cNvPr>
          <p:cNvSpPr txBox="1"/>
          <p:nvPr/>
        </p:nvSpPr>
        <p:spPr>
          <a:xfrm>
            <a:off x="1939159" y="453838"/>
            <a:ext cx="6952593" cy="584775"/>
          </a:xfrm>
          <a:prstGeom prst="rect">
            <a:avLst/>
          </a:prstGeom>
          <a:noFill/>
        </p:spPr>
        <p:txBody>
          <a:bodyPr wrap="square">
            <a:spAutoFit/>
          </a:bodyPr>
          <a:lstStyle/>
          <a:p>
            <a:pPr algn="r" rtl="1"/>
            <a:r>
              <a:rPr lang="en-US" sz="3200">
                <a:cs typeface="2  Titr" panose="00000700000000000000" pitchFamily="2" charset="-78"/>
              </a:rPr>
              <a:t>🎙 </a:t>
            </a:r>
            <a:r>
              <a:rPr lang="ar-SA" sz="3200" b="1">
                <a:cs typeface="2  Titr" panose="00000700000000000000" pitchFamily="2" charset="-78"/>
              </a:rPr>
              <a:t>یادداشت‌بردار هوشمند برای جلسات کاری</a:t>
            </a:r>
            <a:endParaRPr lang="fa-IR" sz="3200">
              <a:cs typeface="2  Titr" panose="00000700000000000000" pitchFamily="2" charset="-78"/>
            </a:endParaRPr>
          </a:p>
        </p:txBody>
      </p:sp>
      <p:sp>
        <p:nvSpPr>
          <p:cNvPr id="6" name="TextBox 5">
            <a:extLst>
              <a:ext uri="{FF2B5EF4-FFF2-40B4-BE49-F238E27FC236}">
                <a16:creationId xmlns:a16="http://schemas.microsoft.com/office/drawing/2014/main" id="{A08FAD21-9281-0808-EB68-13BFAD95EA30}"/>
              </a:ext>
            </a:extLst>
          </p:cNvPr>
          <p:cNvSpPr txBox="1"/>
          <p:nvPr/>
        </p:nvSpPr>
        <p:spPr>
          <a:xfrm>
            <a:off x="3263462" y="5760458"/>
            <a:ext cx="4572000" cy="369332"/>
          </a:xfrm>
          <a:prstGeom prst="rect">
            <a:avLst/>
          </a:prstGeom>
          <a:noFill/>
        </p:spPr>
        <p:txBody>
          <a:bodyPr wrap="square">
            <a:spAutoFit/>
          </a:bodyPr>
          <a:lstStyle/>
          <a:p>
            <a:r>
              <a:rPr lang="en-US"/>
              <a:t>🔗 </a:t>
            </a:r>
            <a:r>
              <a:rPr lang="en-US">
                <a:hlinkClick r:id="rId3"/>
              </a:rPr>
              <a:t>supernormal.com</a:t>
            </a:r>
            <a:endParaRPr lang="fa-IR"/>
          </a:p>
        </p:txBody>
      </p:sp>
      <p:sp>
        <p:nvSpPr>
          <p:cNvPr id="2" name="TextBox 1">
            <a:extLst>
              <a:ext uri="{FF2B5EF4-FFF2-40B4-BE49-F238E27FC236}">
                <a16:creationId xmlns:a16="http://schemas.microsoft.com/office/drawing/2014/main" id="{C9AB1756-A2D9-4ED6-1DD6-53E68931532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105</a:t>
            </a:r>
            <a:endParaRPr lang="fa-IR" sz="1200"/>
          </a:p>
        </p:txBody>
      </p:sp>
    </p:spTree>
    <p:extLst>
      <p:ext uri="{BB962C8B-B14F-4D97-AF65-F5344CB8AC3E}">
        <p14:creationId xmlns:p14="http://schemas.microsoft.com/office/powerpoint/2010/main" val="2396357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BF603-9263-F4CC-DE50-9CDAEA0C0C10}"/>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6D0C7841-65C5-D41B-AEBD-AA4FDD29BDF2}"/>
              </a:ext>
            </a:extLst>
          </p:cNvPr>
          <p:cNvSpPr>
            <a:spLocks noChangeArrowheads="1"/>
          </p:cNvSpPr>
          <p:nvPr/>
        </p:nvSpPr>
        <p:spPr bwMode="auto">
          <a:xfrm>
            <a:off x="331076" y="337594"/>
            <a:ext cx="8812924"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rPr>
              <a:t>قوی‌ترین هوش مصنوعی برای نگارش مقالات علمی</a:t>
            </a:r>
            <a:r>
              <a:rPr kumimoji="0" lang="fa-IR"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en-US"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rPr>
              <a:t>Storm AI</a:t>
            </a:r>
            <a:endParaRPr kumimoji="0" lang="en-US" altLang="en-US" sz="28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Storm AI</a:t>
            </a:r>
            <a:r>
              <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ابزاری پیشرفته و متفاوت از سایر مدل‌های هوش مصنوعی در حوزه تولید مقالات علمی است</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عنوان مقاله شما را طی حدود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۳۰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دقیقه پردازش و تحلیل</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می‌کند.</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بر اساس دقیق‌ترین منابع آنلاین</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مقاله‌ای کامل، دقیق و معتبر</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 می‌کند.</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متن خروجی، استانداردهای لازم برای ارسال به ژورنال‌های معتبر علمی را داراست.</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زبان خروجی انگلیسی است که به‌راحتی می‌توان با ابزارهایی مانند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ChatGPT</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یا</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Gemini</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آن را به فارسی ترجمه کرد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ویژگی‌های برجسته</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1️⃣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برطرف‌سازی خطاهای ویرایشی؛ یکی از دلایل اصلی ریجکت شدن مقالات در مجلات علمی معتبر.</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2️⃣ قابل استفاده برای تمامی رشته‌ها: مهندسی، علوم انسانی، علوم پایه و ...</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3️⃣ مدیریت دقیق منابع و رفرنس‌دهی استاندارد در متن مقاله</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storm.genie.stanford.edu</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6" name="Rectangle 4">
            <a:extLst>
              <a:ext uri="{FF2B5EF4-FFF2-40B4-BE49-F238E27FC236}">
                <a16:creationId xmlns:a16="http://schemas.microsoft.com/office/drawing/2014/main" id="{FE088C89-95D3-34A4-4512-9767BD28ECAE}"/>
              </a:ext>
            </a:extLst>
          </p:cNvPr>
          <p:cNvSpPr>
            <a:spLocks noChangeArrowheads="1"/>
          </p:cNvSpPr>
          <p:nvPr/>
        </p:nvSpPr>
        <p:spPr bwMode="auto">
          <a:xfrm>
            <a:off x="8972798" y="3190231"/>
            <a:ext cx="171202" cy="46166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endParaRPr lang="fa-IR" sz="2400">
              <a:cs typeface="2  Nazanin" panose="00000400000000000000" pitchFamily="2" charset="-78"/>
            </a:endParaRPr>
          </a:p>
        </p:txBody>
      </p:sp>
      <p:sp>
        <p:nvSpPr>
          <p:cNvPr id="2" name="TextBox 1">
            <a:extLst>
              <a:ext uri="{FF2B5EF4-FFF2-40B4-BE49-F238E27FC236}">
                <a16:creationId xmlns:a16="http://schemas.microsoft.com/office/drawing/2014/main" id="{F5D5D790-D329-0E41-0819-3DD768682B4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106</a:t>
            </a:r>
            <a:endParaRPr lang="fa-IR" sz="1200"/>
          </a:p>
        </p:txBody>
      </p:sp>
    </p:spTree>
    <p:extLst>
      <p:ext uri="{BB962C8B-B14F-4D97-AF65-F5344CB8AC3E}">
        <p14:creationId xmlns:p14="http://schemas.microsoft.com/office/powerpoint/2010/main" val="2857104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08C8-A398-E9A2-84CC-34859A0D3627}"/>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F2D49BF3-B160-C2E5-1990-265D47F89FE5}"/>
              </a:ext>
            </a:extLst>
          </p:cNvPr>
          <p:cNvSpPr>
            <a:spLocks noChangeArrowheads="1"/>
          </p:cNvSpPr>
          <p:nvPr/>
        </p:nvSpPr>
        <p:spPr bwMode="auto">
          <a:xfrm>
            <a:off x="197069" y="377626"/>
            <a:ext cx="8749861"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فیلم‌سازی هوشمند تنها با یک مرورگر</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SkyReels</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پلتفرمی نوآورانه در حوزه تولید ویدیو است که امکان ساخت فیلم را به‌صورت کامل و بدون نیاز به نصب نرم‌افزار فراهم می‌کند؛ تنها با باز کردن مرورگر خود می‌توانید از ایده تا خروجی نهایی را به کمک هوش مصنوعی تولید کنید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قابلیت‌های کلیدی</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 SkyReels:</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 فیلمنامه</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ساخت کلیپ‌های تصویری با استفاده از</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AI</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ایجاد ویدیو با استایل و سبک دلخواه</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طراحی استوری‌بورد (برنامه‌ریزی دقیق شات‌ها)</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تنظیم موسیقی، صداگذاری و ویرایش حرفه‌ای</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امتیاز ویژه</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امکان تعیین سبک فیلم توسط کاربر؛ هوش مصنوعی مطابق با سلیقه شما فیلم را طراحی می‌کند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SkyReels.ai</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6" name="Rectangle 4">
            <a:extLst>
              <a:ext uri="{FF2B5EF4-FFF2-40B4-BE49-F238E27FC236}">
                <a16:creationId xmlns:a16="http://schemas.microsoft.com/office/drawing/2014/main" id="{93605467-D1E7-5734-6015-43C38CAF52A6}"/>
              </a:ext>
            </a:extLst>
          </p:cNvPr>
          <p:cNvSpPr>
            <a:spLocks noChangeArrowheads="1"/>
          </p:cNvSpPr>
          <p:nvPr/>
        </p:nvSpPr>
        <p:spPr bwMode="auto">
          <a:xfrm>
            <a:off x="9066361" y="2770873"/>
            <a:ext cx="77639" cy="46166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endParaRPr lang="fa-IR" sz="2400">
              <a:cs typeface="2  Nazanin" panose="00000400000000000000" pitchFamily="2" charset="-78"/>
            </a:endParaRPr>
          </a:p>
        </p:txBody>
      </p:sp>
      <p:sp>
        <p:nvSpPr>
          <p:cNvPr id="2" name="TextBox 1">
            <a:extLst>
              <a:ext uri="{FF2B5EF4-FFF2-40B4-BE49-F238E27FC236}">
                <a16:creationId xmlns:a16="http://schemas.microsoft.com/office/drawing/2014/main" id="{EEF16FE4-BA72-1C9D-48FF-89D52C19CAC6}"/>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107</a:t>
            </a:r>
            <a:endParaRPr lang="fa-IR" sz="1200"/>
          </a:p>
        </p:txBody>
      </p:sp>
    </p:spTree>
    <p:extLst>
      <p:ext uri="{BB962C8B-B14F-4D97-AF65-F5344CB8AC3E}">
        <p14:creationId xmlns:p14="http://schemas.microsoft.com/office/powerpoint/2010/main" val="1945663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C4EDD-09F4-6C43-2720-2620609DF6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76A4A44-E906-27F1-E613-C00BAC62CD83}"/>
              </a:ext>
            </a:extLst>
          </p:cNvPr>
          <p:cNvSpPr>
            <a:spLocks noChangeArrowheads="1"/>
          </p:cNvSpPr>
          <p:nvPr/>
        </p:nvSpPr>
        <p:spPr bwMode="auto">
          <a:xfrm>
            <a:off x="551793" y="402696"/>
            <a:ext cx="8485385"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رفع موانع زبانی در ویدیوها با</a:t>
            </a: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NeuroDub</a:t>
            </a:r>
            <a:endParaRPr kumimoji="0" lang="fa-IR"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NeuroDub</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ابزاری قدرتمند مبتنی بر هوش مصنوعی برای ترجمه و دوبله ویدیوها به بیش از</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۷۰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زبان زنده دنیا</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مناسب برای بومی‌سازی محتوای ویدیویی و گسترش بازارهای بین‌المللی</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قابلیت‌های کلیدی</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 NeuroDub:</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دوبله و صداگذاری حرفه‌ای به جای صرفاً زیرنویس</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پشتیبانی از بیش از</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۴۰۰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صداپیشه دیجیتال</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و سبک‌های مختلف صدا</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 استفاده برای انواع ویدیوها</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YouTube،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آموزشی، تبلیغاتی و ...</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پشتیبانی از زبان فارسی</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ترجمه‌های مبتنی بر هوش مصنوعی همراه با تنظیمات انسانی برای بهبود کیفیت تلفظ و ادای واژه‌ها (امکان تصحیح فتحه و کسره روی کلمات از طریق فایل زیرنویس)</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نکته</a:t>
            </a:r>
            <a:r>
              <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نسخه رایگان امکان تست بر روی </a:t>
            </a:r>
            <a:r>
              <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۳</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ویدیو را فراهم می‌کند؛ برای تست بیشتر می‌توان از چند ایمیل مختلف استفاده کرد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neurodub.ai</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3" name="Rectangle 2">
            <a:extLst>
              <a:ext uri="{FF2B5EF4-FFF2-40B4-BE49-F238E27FC236}">
                <a16:creationId xmlns:a16="http://schemas.microsoft.com/office/drawing/2014/main" id="{F18FEB57-2938-DE4A-A28F-928C5936F78B}"/>
              </a:ext>
            </a:extLst>
          </p:cNvPr>
          <p:cNvSpPr>
            <a:spLocks noChangeArrowheads="1"/>
          </p:cNvSpPr>
          <p:nvPr/>
        </p:nvSpPr>
        <p:spPr bwMode="auto">
          <a:xfrm>
            <a:off x="8927873" y="3526628"/>
            <a:ext cx="109305" cy="46166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endParaRPr lang="fa-IR" sz="2400">
              <a:cs typeface="2  Nazanin" panose="00000400000000000000" pitchFamily="2" charset="-78"/>
            </a:endParaRPr>
          </a:p>
        </p:txBody>
      </p:sp>
      <p:sp>
        <p:nvSpPr>
          <p:cNvPr id="4" name="TextBox 3">
            <a:extLst>
              <a:ext uri="{FF2B5EF4-FFF2-40B4-BE49-F238E27FC236}">
                <a16:creationId xmlns:a16="http://schemas.microsoft.com/office/drawing/2014/main" id="{4E984F26-8664-3F59-9DA2-EAF76BB3BD2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108</a:t>
            </a:r>
            <a:endParaRPr lang="fa-IR" sz="1200"/>
          </a:p>
        </p:txBody>
      </p:sp>
    </p:spTree>
    <p:extLst>
      <p:ext uri="{BB962C8B-B14F-4D97-AF65-F5344CB8AC3E}">
        <p14:creationId xmlns:p14="http://schemas.microsoft.com/office/powerpoint/2010/main" val="3468994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4408-EEA6-63E3-3E44-1E0DBA0A55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4C02ADF-7556-11A3-C8B1-7C91425DC4CC}"/>
              </a:ext>
            </a:extLst>
          </p:cNvPr>
          <p:cNvSpPr>
            <a:spLocks noChangeArrowheads="1"/>
          </p:cNvSpPr>
          <p:nvPr/>
        </p:nvSpPr>
        <p:spPr bwMode="auto">
          <a:xfrm>
            <a:off x="219075" y="349422"/>
            <a:ext cx="870585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دوبله و ترجمه ویدیو به بیش از </a:t>
            </a:r>
            <a:r>
              <a:rPr kumimoji="0" lang="fa-IR"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۱۴۰</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زبان با</a:t>
            </a: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Camb.ai</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Camb.ai</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با بهره‌گیری از فناوری پیشرفته هوش مصنوعی و مدل اختصاصی</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MARS</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امکان دوبله حرفه‌ای و چندزبانه ویدیوها را با شبیه‌سازی دقیق صدای گوینده فراهم می‌کند؛ تنها با </a:t>
            </a:r>
            <a:r>
              <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۳</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ثانیه نمونه صدا، می‌تواند لحن، احساسات و شخصیت گوینده را حفظ کرده و ویدیو را به بیش از </a:t>
            </a:r>
            <a:r>
              <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۱۴۰</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زبان ترجمه و دوبله کند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ویژگی‌های کلیدی</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 Camb.ai</a:t>
            </a:r>
            <a:r>
              <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DubStudio</a:t>
            </a:r>
            <a:r>
              <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دوبله سریع و حرفه‌ای ویدیوهای ضبط‌شده</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DubStream</a:t>
            </a:r>
            <a:r>
              <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دوبله همزمان برای لایو استریم‌ها و وبینارها</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حفظ کامل لحن و شخصیت گوینده در زبان مقصد</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همکاری رسمی با رویدادهای معتبر بین‌المللی از جمله</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Australian Open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و</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MLS</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مناسب برای</a:t>
            </a:r>
            <a:r>
              <a:rPr kumimoji="0" lang="fa-IR"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تولیدکنندگان محتوا، یوتیوبرها، مدرسین، برگزارکنندگان وبینار و تمامی فعالان حوزه ویدیو و آموزش</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camb.ai</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4" name="Rectangle 2">
            <a:extLst>
              <a:ext uri="{FF2B5EF4-FFF2-40B4-BE49-F238E27FC236}">
                <a16:creationId xmlns:a16="http://schemas.microsoft.com/office/drawing/2014/main" id="{2D85458F-BA97-4DEC-A968-C285CABE55F1}"/>
              </a:ext>
            </a:extLst>
          </p:cNvPr>
          <p:cNvSpPr>
            <a:spLocks noChangeArrowheads="1"/>
          </p:cNvSpPr>
          <p:nvPr/>
        </p:nvSpPr>
        <p:spPr bwMode="auto">
          <a:xfrm>
            <a:off x="10013369" y="2034144"/>
            <a:ext cx="184731" cy="36933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rtl="1"/>
            <a:endParaRPr lang="fa-IR"/>
          </a:p>
        </p:txBody>
      </p:sp>
      <p:sp>
        <p:nvSpPr>
          <p:cNvPr id="3" name="TextBox 2">
            <a:extLst>
              <a:ext uri="{FF2B5EF4-FFF2-40B4-BE49-F238E27FC236}">
                <a16:creationId xmlns:a16="http://schemas.microsoft.com/office/drawing/2014/main" id="{B9E36FCC-701C-2E89-5467-72E27F983CF1}"/>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109</a:t>
            </a:r>
            <a:endParaRPr lang="fa-IR" sz="1200"/>
          </a:p>
        </p:txBody>
      </p:sp>
    </p:spTree>
    <p:extLst>
      <p:ext uri="{BB962C8B-B14F-4D97-AF65-F5344CB8AC3E}">
        <p14:creationId xmlns:p14="http://schemas.microsoft.com/office/powerpoint/2010/main" val="6656712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0440-8569-D22F-3FE0-441795C21B40}"/>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1F5AEC2C-51F0-6363-63AF-FA9BE0F7EC14}"/>
              </a:ext>
            </a:extLst>
          </p:cNvPr>
          <p:cNvSpPr>
            <a:spLocks noChangeArrowheads="1"/>
          </p:cNvSpPr>
          <p:nvPr/>
        </p:nvSpPr>
        <p:spPr bwMode="auto">
          <a:xfrm>
            <a:off x="533400" y="371089"/>
            <a:ext cx="84455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Titr" panose="00000700000000000000" pitchFamily="2" charset="-78"/>
              </a:rPr>
              <a:t>دوبله و ترجمه سریع ویدیو تنها با یک کلیک</a:t>
            </a:r>
            <a:endParaRPr kumimoji="0" lang="en-US" altLang="en-US" sz="24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Dubverse</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با ترکیب فناوری‌های تبدیل متن به گفتار</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(TTS)،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ترجمه ماشینی و هوش مصنوعی مولد، فرآیند ترجمه و دوبله ویدیوها را تا</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۱۰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برابر سریع‌تر</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از روش‌های سنتی انجام می‌دهد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ویژگی‌های کلیدی</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 Dubverse:</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ترجمه و دوبله سریع ویدیوهای آماده انتشار</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ویرایشگر متن داخلی برای ویرایش اسکریپت با ترجمه همزمان</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بیش از</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۱۰۰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صدای هوش مصنوعی</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با کیفیت بالا و نزدیک به صدای انسان</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پشتیبانی از زبان فارسی</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مناسب برای انواع محتوا: آموزشی، تبلیغاتی، رسانه‌ای و</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dubverse.ai</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2C2ADAF6-FA8A-0672-4F61-35D7F10C7A5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110</a:t>
            </a:r>
            <a:endParaRPr lang="fa-IR" sz="1200"/>
          </a:p>
        </p:txBody>
      </p:sp>
    </p:spTree>
    <p:extLst>
      <p:ext uri="{BB962C8B-B14F-4D97-AF65-F5344CB8AC3E}">
        <p14:creationId xmlns:p14="http://schemas.microsoft.com/office/powerpoint/2010/main" val="30638197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DE3F-96CD-E812-81E6-3764ED59B6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BB4BDF-079F-6067-A414-B0E172F6A191}"/>
              </a:ext>
            </a:extLst>
          </p:cNvPr>
          <p:cNvSpPr txBox="1"/>
          <p:nvPr/>
        </p:nvSpPr>
        <p:spPr>
          <a:xfrm>
            <a:off x="1152769" y="393002"/>
            <a:ext cx="7823200" cy="5386090"/>
          </a:xfrm>
          <a:prstGeom prst="rect">
            <a:avLst/>
          </a:prstGeom>
          <a:noFill/>
        </p:spPr>
        <p:txBody>
          <a:bodyPr wrap="square">
            <a:spAutoFit/>
          </a:bodyPr>
          <a:lstStyle/>
          <a:p>
            <a:pPr algn="r" rtl="1">
              <a:buNone/>
            </a:pPr>
            <a:r>
              <a:rPr lang="en-US" sz="3200">
                <a:cs typeface="2  Titr" panose="00000700000000000000" pitchFamily="2" charset="-78"/>
              </a:rPr>
              <a:t>📚 </a:t>
            </a:r>
            <a:r>
              <a:rPr lang="ar-SA" sz="3200" b="1">
                <a:cs typeface="2  Titr" panose="00000700000000000000" pitchFamily="2" charset="-78"/>
              </a:rPr>
              <a:t>ترجمه هوشمند و سریع اسناد بلند با </a:t>
            </a:r>
            <a:r>
              <a:rPr lang="en-US" sz="3200" b="1">
                <a:cs typeface="2  Titr" panose="00000700000000000000" pitchFamily="2" charset="-78"/>
              </a:rPr>
              <a:t>x-doc.ai</a:t>
            </a:r>
            <a:endParaRPr lang="en-US" sz="3200">
              <a:cs typeface="2  Titr" panose="00000700000000000000" pitchFamily="2" charset="-78"/>
            </a:endParaRPr>
          </a:p>
          <a:p>
            <a:pPr algn="r" rtl="1">
              <a:buNone/>
            </a:pPr>
            <a:r>
              <a:rPr lang="en-US" sz="2400" b="1">
                <a:cs typeface="2  Nazanin" panose="00000400000000000000" pitchFamily="2" charset="-78"/>
              </a:rPr>
              <a:t>x-doc.ai</a:t>
            </a:r>
            <a:r>
              <a:rPr lang="en-US" sz="2400">
                <a:cs typeface="2  Nazanin" panose="00000400000000000000" pitchFamily="2" charset="-78"/>
              </a:rPr>
              <a:t> </a:t>
            </a:r>
            <a:r>
              <a:rPr lang="fa-IR" sz="2400">
                <a:cs typeface="2  Nazanin" panose="00000400000000000000" pitchFamily="2" charset="-78"/>
              </a:rPr>
              <a:t> </a:t>
            </a:r>
            <a:r>
              <a:rPr lang="ar-SA" sz="2400">
                <a:cs typeface="2  Nazanin" panose="00000400000000000000" pitchFamily="2" charset="-78"/>
              </a:rPr>
              <a:t>ابزاری مبتنی بر هوش مصنوعی و مجهز به جدیدترین مدل‌های ترجمه عصبی است که امکان ترجمه سریع، دقیق و حرفه‌ای فایل‌های طولانی مانند مقالات، پایان‌نامه‌ها و کتاب‌ها را فراهم می‌کند.</a:t>
            </a:r>
            <a:endParaRPr lang="fa-IR" sz="2400">
              <a:cs typeface="2  Nazanin" panose="00000400000000000000" pitchFamily="2" charset="-78"/>
            </a:endParaRPr>
          </a:p>
          <a:p>
            <a:pPr algn="r" rtl="1">
              <a:buNone/>
            </a:pPr>
            <a:endParaRPr lang="ar-SA" sz="2400">
              <a:cs typeface="2  Nazanin" panose="00000400000000000000" pitchFamily="2" charset="-78"/>
            </a:endParaRPr>
          </a:p>
          <a:p>
            <a:pPr algn="r" rtl="1">
              <a:buNone/>
            </a:pPr>
            <a:r>
              <a:rPr lang="en-US" sz="2400">
                <a:cs typeface="2  Nazanin" panose="00000400000000000000" pitchFamily="2" charset="-78"/>
              </a:rPr>
              <a:t>🎯 </a:t>
            </a:r>
            <a:r>
              <a:rPr lang="ar-SA" sz="2400" b="1">
                <a:cs typeface="2  Nazanin" panose="00000400000000000000" pitchFamily="2" charset="-78"/>
              </a:rPr>
              <a:t>ویژگی‌های کلیدی </a:t>
            </a:r>
            <a:r>
              <a:rPr lang="en-US" sz="2400" b="1">
                <a:cs typeface="2  Nazanin" panose="00000400000000000000" pitchFamily="2" charset="-78"/>
              </a:rPr>
              <a:t>x-doc.ai</a:t>
            </a:r>
            <a:endParaRPr lang="en-US" sz="2400">
              <a:cs typeface="2  Nazanin" panose="00000400000000000000" pitchFamily="2" charset="-78"/>
            </a:endParaRPr>
          </a:p>
          <a:p>
            <a:pPr algn="r" rtl="1">
              <a:buNone/>
            </a:pPr>
            <a:r>
              <a:rPr lang="en-US" sz="2400">
                <a:cs typeface="2  Nazanin" panose="00000400000000000000" pitchFamily="2" charset="-78"/>
              </a:rPr>
              <a:t>▪️ </a:t>
            </a:r>
            <a:r>
              <a:rPr lang="ar-SA" sz="2400">
                <a:cs typeface="2  Nazanin" panose="00000400000000000000" pitchFamily="2" charset="-78"/>
              </a:rPr>
              <a:t>پشتیبانی از بیش از </a:t>
            </a:r>
            <a:r>
              <a:rPr lang="ar-SA" sz="2400" b="1">
                <a:cs typeface="2  Nazanin" panose="00000400000000000000" pitchFamily="2" charset="-78"/>
              </a:rPr>
              <a:t>۱۰۸ زبان</a:t>
            </a:r>
            <a:br>
              <a:rPr lang="ar-SA" sz="2400">
                <a:cs typeface="2  Nazanin" panose="00000400000000000000" pitchFamily="2" charset="-78"/>
              </a:rPr>
            </a:br>
            <a:r>
              <a:rPr lang="ar-SA" sz="2400">
                <a:cs typeface="2  Nazanin" panose="00000400000000000000" pitchFamily="2" charset="-78"/>
              </a:rPr>
              <a:t>▪️ ساپورت فرمت‌های مختلف: </a:t>
            </a:r>
            <a:r>
              <a:rPr lang="en-US" sz="2400" b="1">
                <a:cs typeface="2  Nazanin" panose="00000400000000000000" pitchFamily="2" charset="-78"/>
              </a:rPr>
              <a:t>PDF، Word، PowerPoint، Excel </a:t>
            </a:r>
            <a:r>
              <a:rPr lang="ar-SA" sz="2400" b="1">
                <a:cs typeface="2  Nazanin" panose="00000400000000000000" pitchFamily="2" charset="-78"/>
              </a:rPr>
              <a:t>و ...</a:t>
            </a:r>
            <a:br>
              <a:rPr lang="ar-SA" sz="2400">
                <a:cs typeface="2  Nazanin" panose="00000400000000000000" pitchFamily="2" charset="-78"/>
              </a:rPr>
            </a:br>
            <a:r>
              <a:rPr lang="ar-SA" sz="2400">
                <a:cs typeface="2  Nazanin" panose="00000400000000000000" pitchFamily="2" charset="-78"/>
              </a:rPr>
              <a:t>▪️ حفظ کامل ساختار، تصاویر و فرمت‌بندی فایل اصلی</a:t>
            </a:r>
            <a:br>
              <a:rPr lang="ar-SA" sz="2400">
                <a:cs typeface="2  Nazanin" panose="00000400000000000000" pitchFamily="2" charset="-78"/>
              </a:rPr>
            </a:br>
            <a:r>
              <a:rPr lang="ar-SA" sz="2400">
                <a:cs typeface="2  Nazanin" panose="00000400000000000000" pitchFamily="2" charset="-78"/>
              </a:rPr>
              <a:t>▪️ قابلیت تعریف دیکشنری اختصاصی جهت بهبود دقت ترجمه</a:t>
            </a:r>
            <a:br>
              <a:rPr lang="ar-SA" sz="2400">
                <a:cs typeface="2  Nazanin" panose="00000400000000000000" pitchFamily="2" charset="-78"/>
              </a:rPr>
            </a:br>
            <a:r>
              <a:rPr lang="ar-SA" sz="2400">
                <a:cs typeface="2  Nazanin" panose="00000400000000000000" pitchFamily="2" charset="-78"/>
              </a:rPr>
              <a:t>▪️ ارائه ترجمه رایگان تا سقف </a:t>
            </a:r>
            <a:r>
              <a:rPr lang="ar-SA" sz="2400" b="1">
                <a:cs typeface="2  Nazanin" panose="00000400000000000000" pitchFamily="2" charset="-78"/>
              </a:rPr>
              <a:t>۲۰,۰۰۰ کلمه</a:t>
            </a:r>
            <a:endParaRPr lang="ar-SA" sz="2400">
              <a:cs typeface="2  Nazanin" panose="00000400000000000000" pitchFamily="2" charset="-78"/>
            </a:endParaRPr>
          </a:p>
          <a:p>
            <a:pPr algn="r" rtl="1">
              <a:buNone/>
            </a:pPr>
            <a:r>
              <a:rPr lang="en-US" sz="2400">
                <a:cs typeface="2  Nazanin" panose="00000400000000000000" pitchFamily="2" charset="-78"/>
              </a:rPr>
              <a:t>🚀 </a:t>
            </a:r>
            <a:r>
              <a:rPr lang="ar-SA" sz="2400">
                <a:cs typeface="2  Nazanin" panose="00000400000000000000" pitchFamily="2" charset="-78"/>
              </a:rPr>
              <a:t>مناسب برای دانشجویان، پژوهشگران، نویسندگان و مترجمان حرفه‌ای</a:t>
            </a:r>
            <a:endParaRPr lang="fa-IR" sz="2400">
              <a:cs typeface="2  Nazanin" panose="00000400000000000000" pitchFamily="2" charset="-78"/>
            </a:endParaRPr>
          </a:p>
          <a:p>
            <a:pPr algn="r" rtl="1">
              <a:buNone/>
            </a:pPr>
            <a:endParaRPr lang="ar-SA" sz="2400">
              <a:cs typeface="2  Nazanin" panose="00000400000000000000" pitchFamily="2" charset="-78"/>
            </a:endParaRPr>
          </a:p>
          <a:p>
            <a:pPr algn="l"/>
            <a:r>
              <a:rPr lang="en-US" sz="2400">
                <a:cs typeface="2  Nazanin" panose="00000400000000000000" pitchFamily="2" charset="-78"/>
              </a:rPr>
              <a:t>🔗 </a:t>
            </a:r>
            <a:r>
              <a:rPr lang="en-US" sz="2400">
                <a:cs typeface="2  Nazanin" panose="00000400000000000000" pitchFamily="2" charset="-78"/>
                <a:hlinkClick r:id="rId2"/>
              </a:rPr>
              <a:t>x-doc.ai</a:t>
            </a:r>
            <a:endParaRPr lang="en-US" sz="2400">
              <a:cs typeface="2  Nazanin" panose="00000400000000000000" pitchFamily="2" charset="-78"/>
            </a:endParaRPr>
          </a:p>
        </p:txBody>
      </p:sp>
      <p:sp>
        <p:nvSpPr>
          <p:cNvPr id="2" name="TextBox 1">
            <a:extLst>
              <a:ext uri="{FF2B5EF4-FFF2-40B4-BE49-F238E27FC236}">
                <a16:creationId xmlns:a16="http://schemas.microsoft.com/office/drawing/2014/main" id="{4A7E5A2C-E6DA-EECB-FCAA-D65CC757EC5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111</a:t>
            </a:r>
            <a:endParaRPr lang="fa-IR" sz="1200"/>
          </a:p>
        </p:txBody>
      </p:sp>
    </p:spTree>
    <p:extLst>
      <p:ext uri="{BB962C8B-B14F-4D97-AF65-F5344CB8AC3E}">
        <p14:creationId xmlns:p14="http://schemas.microsoft.com/office/powerpoint/2010/main" val="261760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B4030-7CAA-9791-86CD-E4B7BCFEBC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EE059B-E26B-B64E-0219-8CC72CD9F77F}"/>
              </a:ext>
            </a:extLst>
          </p:cNvPr>
          <p:cNvSpPr>
            <a:spLocks noChangeArrowheads="1"/>
          </p:cNvSpPr>
          <p:nvPr/>
        </p:nvSpPr>
        <p:spPr bwMode="auto">
          <a:xfrm>
            <a:off x="139928" y="231737"/>
            <a:ext cx="900407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بهبود کیفیت و جزئیات تصاویر با هوش مصنوعی</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هوش مصنوعی امروز ابزارهای پیشرفته‌ای را برای بهبود کیفیت، ترمیم و ارتقاء وضوح تصاویر در اختیار کاربران قرار داده است. در ادامه سه ابزار قدرتمند در این حوزه معرفی می‌شوند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5" name="Rectangle 3">
            <a:extLst>
              <a:ext uri="{FF2B5EF4-FFF2-40B4-BE49-F238E27FC236}">
                <a16:creationId xmlns:a16="http://schemas.microsoft.com/office/drawing/2014/main" id="{FC3D8ADF-FEB2-D36E-4285-3743ADA9FE2C}"/>
              </a:ext>
            </a:extLst>
          </p:cNvPr>
          <p:cNvSpPr>
            <a:spLocks noChangeArrowheads="1"/>
          </p:cNvSpPr>
          <p:nvPr/>
        </p:nvSpPr>
        <p:spPr bwMode="auto">
          <a:xfrm>
            <a:off x="349184" y="1073934"/>
            <a:ext cx="873154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ترمیم چهره با</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 GFP-GAN (Tencent ARC)</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ابزاری تخصصی برای بازسازی چهره در عکس‌های پرتره که با افزودن جزئیات به چشم‌ها، بینی و گونه‌ها زیبایی و عمق تصویر را افزایش می‌دهد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replicate.com/tencentarc/gfpgan</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7" name="Rectangle 5">
            <a:extLst>
              <a:ext uri="{FF2B5EF4-FFF2-40B4-BE49-F238E27FC236}">
                <a16:creationId xmlns:a16="http://schemas.microsoft.com/office/drawing/2014/main" id="{A9F91C42-B383-5C1F-4C6B-8D1E19F3ADFC}"/>
              </a:ext>
            </a:extLst>
          </p:cNvPr>
          <p:cNvSpPr>
            <a:spLocks noChangeArrowheads="1"/>
          </p:cNvSpPr>
          <p:nvPr/>
        </p:nvSpPr>
        <p:spPr bwMode="auto">
          <a:xfrm>
            <a:off x="279856" y="2408620"/>
            <a:ext cx="880087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ارتقاء وضوح تصویر با</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 Magnific AI</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افزایش کیفی رزولوشن تصاویر با امکان کنترل دقیق میزان جزئیات افزوده‌شده؛ مناسب برای بزرگ‌نمایی حرفه‌ای تصاویر بدون افت کیفیت</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3"/>
              </a:rPr>
              <a:t>magnific.ai</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9" name="Rectangle 7">
            <a:extLst>
              <a:ext uri="{FF2B5EF4-FFF2-40B4-BE49-F238E27FC236}">
                <a16:creationId xmlns:a16="http://schemas.microsoft.com/office/drawing/2014/main" id="{C4B0C050-02D0-A57B-F1C4-840ACD8FA845}"/>
              </a:ext>
            </a:extLst>
          </p:cNvPr>
          <p:cNvSpPr>
            <a:spLocks noChangeArrowheads="1"/>
          </p:cNvSpPr>
          <p:nvPr/>
        </p:nvSpPr>
        <p:spPr bwMode="auto">
          <a:xfrm>
            <a:off x="76656" y="3434234"/>
            <a:ext cx="900407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ویرایش کامل و ارتقاء تصویر با</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 Fotor</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ویرایشگر تصویری هوش مصنوعی با امکانات کامل و تحت مرورگر، امکان ارتقاء کیفیت عکس تا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۸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برابر</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بهبود رنگ، نور، حذف نویز و بسیاری از امکانات دیگر</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4"/>
              </a:rPr>
              <a:t>fotor.com</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11" name="Rectangle 9">
            <a:extLst>
              <a:ext uri="{FF2B5EF4-FFF2-40B4-BE49-F238E27FC236}">
                <a16:creationId xmlns:a16="http://schemas.microsoft.com/office/drawing/2014/main" id="{D4946ABA-9757-8D29-0C33-E2A4A5D83DA5}"/>
              </a:ext>
            </a:extLst>
          </p:cNvPr>
          <p:cNvSpPr>
            <a:spLocks noChangeArrowheads="1"/>
          </p:cNvSpPr>
          <p:nvPr/>
        </p:nvSpPr>
        <p:spPr bwMode="auto">
          <a:xfrm>
            <a:off x="1603045" y="4527461"/>
            <a:ext cx="736939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مناسب برای</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طراحان گرافیک، عکاسان، تولیدکنندگان محتوا، ناشران، هنرمندان دیجیتال و کاربران عمومی</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3" name="TextBox 2">
            <a:extLst>
              <a:ext uri="{FF2B5EF4-FFF2-40B4-BE49-F238E27FC236}">
                <a16:creationId xmlns:a16="http://schemas.microsoft.com/office/drawing/2014/main" id="{96203740-0445-2EB5-93E5-D7BB104D89C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112</a:t>
            </a:r>
            <a:endParaRPr lang="fa-IR" sz="1200"/>
          </a:p>
        </p:txBody>
      </p:sp>
    </p:spTree>
    <p:extLst>
      <p:ext uri="{BB962C8B-B14F-4D97-AF65-F5344CB8AC3E}">
        <p14:creationId xmlns:p14="http://schemas.microsoft.com/office/powerpoint/2010/main" val="3070682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FFF6B-48B0-D2A9-3E96-706523C6232F}"/>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id="{1B13435A-15DF-5622-9615-CC2999DEEBBB}"/>
              </a:ext>
            </a:extLst>
          </p:cNvPr>
          <p:cNvSpPr>
            <a:spLocks noChangeArrowheads="1"/>
          </p:cNvSpPr>
          <p:nvPr/>
        </p:nvSpPr>
        <p:spPr bwMode="auto">
          <a:xfrm>
            <a:off x="520700" y="202536"/>
            <a:ext cx="8394700"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ویرایش حرفه‌ای تصاویر تنها با دستور متنی</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Flux.1 Kontext</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محصول شرکت آلمانی</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Black Forest Labs</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نسل جدیدی از ابزارهای ویرایش تصویر مبتنی بر هوش مصنوعی است که با یک جمله متنی، ویرایش‌های پیچیده و حرفه‌ای را روی تصاویر انجام می‌دهد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این مدل نسبت به بسیاری از ابزارهای مشابه مانند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ChatGPT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در حوزه تصویر، کیفیت و دقت بالاتری را ارائه می‌کند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fa-IR"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قابلیت‌های کلیدی</a:t>
            </a: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 Flux.1 Kontext:</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رنگی کردن تصاویر سیاه و سفید</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حذف متن از روی تصویر</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تغییر چهره، لباس و المان‌های تصویری</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ترمیم و بازسازی عکس‌های قدیمی</a:t>
            </a:r>
            <a:b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ایجاد افکت کارتونی و استایل‌های خاص تصویری</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defTabSz="914400" rtl="1"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playground.bfl.ai</a:t>
            </a:r>
            <a:endPar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2" name="TextBox 1">
            <a:extLst>
              <a:ext uri="{FF2B5EF4-FFF2-40B4-BE49-F238E27FC236}">
                <a16:creationId xmlns:a16="http://schemas.microsoft.com/office/drawing/2014/main" id="{A0D4FE54-CE46-D4CB-F0D0-0D0F7B9679A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113</a:t>
            </a:r>
            <a:endParaRPr lang="fa-IR" sz="1200"/>
          </a:p>
        </p:txBody>
      </p:sp>
    </p:spTree>
    <p:extLst>
      <p:ext uri="{BB962C8B-B14F-4D97-AF65-F5344CB8AC3E}">
        <p14:creationId xmlns:p14="http://schemas.microsoft.com/office/powerpoint/2010/main" val="34896906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9A484-DDD0-C7F4-FECE-005D184626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AF3611-8CBF-0BF4-662D-42044CD7A7A5}"/>
              </a:ext>
            </a:extLst>
          </p:cNvPr>
          <p:cNvSpPr>
            <a:spLocks noChangeArrowheads="1"/>
          </p:cNvSpPr>
          <p:nvPr/>
        </p:nvSpPr>
        <p:spPr bwMode="auto">
          <a:xfrm>
            <a:off x="101600" y="276324"/>
            <a:ext cx="8940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بهبود حرفه‌ای کیفیت صدا با هوش مصنوعی</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AI-coustics</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ابزاری هوشمند برای بهبود و بهینه‌سازی کیفیت صدا، مناسب برای تولیدکنندگان پادکست، ویدیو و محتوای صوتی که به تجهیزات استودیویی حرفه‌ای دسترسی ندارند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قابلیت‌های کلیدی</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 AI-coustics:</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حذف نویز و صداهای محیطی</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کاهش اکو و طنین اتاق</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(Room Echo)</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بهینه‌سازی خودکار کیفیت صدا جهت وضوح و شفافیت بیشتر</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پشتیبانی از هر دو حالت</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فایل‌های صوتی آماده</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ضبط زنده در لحظه</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ai-coustics.com/playground</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6" name="Rectangle 3">
            <a:extLst>
              <a:ext uri="{FF2B5EF4-FFF2-40B4-BE49-F238E27FC236}">
                <a16:creationId xmlns:a16="http://schemas.microsoft.com/office/drawing/2014/main" id="{AB351C44-DE42-87F4-C4CE-E9422CAB4159}"/>
              </a:ext>
            </a:extLst>
          </p:cNvPr>
          <p:cNvSpPr>
            <a:spLocks noChangeArrowheads="1"/>
          </p:cNvSpPr>
          <p:nvPr/>
        </p:nvSpPr>
        <p:spPr bwMode="auto">
          <a:xfrm>
            <a:off x="1235681" y="4153551"/>
            <a:ext cx="772358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مناسب برای</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پادکسترها، تولیدکنندگان محتوای ویدیویی، مدرسین آنلاین، گویندگان و تمامی فعالان حوزه صدا</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8" name="Rectangle 5">
            <a:extLst>
              <a:ext uri="{FF2B5EF4-FFF2-40B4-BE49-F238E27FC236}">
                <a16:creationId xmlns:a16="http://schemas.microsoft.com/office/drawing/2014/main" id="{F93F81E3-B66E-C9F4-99F3-FC7DB2754C46}"/>
              </a:ext>
            </a:extLst>
          </p:cNvPr>
          <p:cNvSpPr>
            <a:spLocks noChangeArrowheads="1"/>
          </p:cNvSpPr>
          <p:nvPr/>
        </p:nvSpPr>
        <p:spPr bwMode="auto">
          <a:xfrm>
            <a:off x="1397520" y="4472737"/>
            <a:ext cx="75617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نکته</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تمام پردازش‌ها به‌صورت ابری و تنها با یک مرورگر قابل انجام است؛ بدون نیاز به نرم‌افزار جانبی</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3" name="TextBox 2">
            <a:extLst>
              <a:ext uri="{FF2B5EF4-FFF2-40B4-BE49-F238E27FC236}">
                <a16:creationId xmlns:a16="http://schemas.microsoft.com/office/drawing/2014/main" id="{44C29AF9-3048-9B14-3C64-3A36215D5A37}"/>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114</a:t>
            </a:r>
            <a:endParaRPr lang="fa-IR" sz="1200"/>
          </a:p>
        </p:txBody>
      </p:sp>
    </p:spTree>
    <p:extLst>
      <p:ext uri="{BB962C8B-B14F-4D97-AF65-F5344CB8AC3E}">
        <p14:creationId xmlns:p14="http://schemas.microsoft.com/office/powerpoint/2010/main" val="2353782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4A0FE-BBBB-9D55-365E-352208F3DB4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2BB8F2F-0AD6-D46E-CBA6-B1B468A5DB15}"/>
              </a:ext>
            </a:extLst>
          </p:cNvPr>
          <p:cNvSpPr>
            <a:spLocks noChangeArrowheads="1"/>
          </p:cNvSpPr>
          <p:nvPr/>
        </p:nvSpPr>
        <p:spPr bwMode="auto">
          <a:xfrm>
            <a:off x="215900" y="366571"/>
            <a:ext cx="88011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Nazanin" panose="00000400000000000000" pitchFamily="2" charset="-78"/>
              </a:rPr>
              <a:t>هوش مصنوعی؛ جادوگر متقاعدسازی و مذاکره</a:t>
            </a:r>
            <a:endParaRPr kumimoji="0" lang="en-US" altLang="en-US" sz="32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در دنیای ارتباطات و مذاکره، گاهی تنها نحوه بیان جملات می‌تواند سرنوشت گفتگو را تغییر دهد. اکنون با کمک هوش مصنوعی، می‌توانید از یک دستیار تحلیل‌گر روانشناختی و استراتژیک بهره ببرید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6" name="Rectangle 3">
            <a:extLst>
              <a:ext uri="{FF2B5EF4-FFF2-40B4-BE49-F238E27FC236}">
                <a16:creationId xmlns:a16="http://schemas.microsoft.com/office/drawing/2014/main" id="{FF22D13D-D440-39A5-AF75-1AB7699D932E}"/>
              </a:ext>
            </a:extLst>
          </p:cNvPr>
          <p:cNvSpPr>
            <a:spLocks noChangeArrowheads="1"/>
          </p:cNvSpPr>
          <p:nvPr/>
        </p:nvSpPr>
        <p:spPr bwMode="auto">
          <a:xfrm>
            <a:off x="3434770" y="3817996"/>
            <a:ext cx="558223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کاربرد ابزار</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تحلیل شخصیت و سبک ارتباطی فرد مقابل</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شناسایی نقاط ضعف منطقی و احساسی مخاطب</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 پاسخ متقاعدکننده در قالب گفت‌وگوی طبیعی و حرفه‌ای</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8" name="Rectangle 5">
            <a:extLst>
              <a:ext uri="{FF2B5EF4-FFF2-40B4-BE49-F238E27FC236}">
                <a16:creationId xmlns:a16="http://schemas.microsoft.com/office/drawing/2014/main" id="{8420008F-596B-EB82-955F-CD0EE6172A54}"/>
              </a:ext>
            </a:extLst>
          </p:cNvPr>
          <p:cNvSpPr>
            <a:spLocks noChangeArrowheads="1"/>
          </p:cNvSpPr>
          <p:nvPr/>
        </p:nvSpPr>
        <p:spPr bwMode="auto">
          <a:xfrm>
            <a:off x="-152400" y="1599571"/>
            <a:ext cx="9169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چگونه کار می‌کند؟</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1️⃣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متن چت یا گفتگو را به عنوان ورودی وارد می‌کنید</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2️⃣ هوش مصنوعی داده‌ها را تحلیل می‌کند</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3️⃣ پیشنهاد بهترین استراتژی بیان و جملات برای رسیدن به پاسخ مطلوب (مثلاً گرفتن جواب "بله") ارائه می‌شود</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10" name="Rectangle 7">
            <a:extLst>
              <a:ext uri="{FF2B5EF4-FFF2-40B4-BE49-F238E27FC236}">
                <a16:creationId xmlns:a16="http://schemas.microsoft.com/office/drawing/2014/main" id="{798701CD-4854-943D-7E92-F3B9C0CCCCBA}"/>
              </a:ext>
            </a:extLst>
          </p:cNvPr>
          <p:cNvSpPr>
            <a:spLocks noChangeArrowheads="1"/>
          </p:cNvSpPr>
          <p:nvPr/>
        </p:nvSpPr>
        <p:spPr bwMode="auto">
          <a:xfrm>
            <a:off x="127000" y="5105029"/>
            <a:ext cx="8890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 </a:t>
            </a:r>
            <a:r>
              <a:rPr kumimoji="0" lang="ar-SA" altLang="en-US" b="1" i="0" u="none" strike="noStrike" cap="none" normalizeH="0" baseline="0">
                <a:ln>
                  <a:noFill/>
                </a:ln>
                <a:solidFill>
                  <a:schemeClr val="tx1"/>
                </a:solidFill>
                <a:effectLst/>
                <a:latin typeface="Arial" panose="020B0604020202020204" pitchFamily="34" charset="0"/>
                <a:cs typeface="Arial" panose="020B0604020202020204" pitchFamily="34" charset="0"/>
              </a:rPr>
              <a:t>نمونه پرامپت جادویی</a:t>
            </a:r>
            <a:r>
              <a:rPr kumimoji="0" lang="en-US" altLang="en-US" b="1" i="0"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"Analyze the following conversation. Identify the personality type, communication style, and emotional/logical weaknesses of the other person. Then, generate a persuasive response I can use to increase the chance of getting a 'Yes'. Conversation: [</a:t>
            </a:r>
            <a:r>
              <a:rPr kumimoji="0" lang="ar-SA" altLang="en-US" b="0" i="0" u="none" strike="noStrike" cap="none" normalizeH="0" baseline="0">
                <a:ln>
                  <a:noFill/>
                </a:ln>
                <a:solidFill>
                  <a:schemeClr val="tx1"/>
                </a:solidFill>
                <a:effectLst/>
                <a:latin typeface="Arial" panose="020B0604020202020204" pitchFamily="34" charset="0"/>
                <a:cs typeface="Arial" panose="020B0604020202020204" pitchFamily="34" charset="0"/>
              </a:rPr>
              <a:t>متن گفتگو</a:t>
            </a:r>
            <a:r>
              <a:rPr kumimoji="0" lang="en-US" altLang="en-US" b="0" i="0" u="none" strike="noStrike" cap="none" normalizeH="0" baseline="0">
                <a:ln>
                  <a:noFill/>
                </a:ln>
                <a:solidFill>
                  <a:schemeClr val="tx1"/>
                </a:solidFill>
                <a:effectLst/>
                <a:latin typeface="Arial" panose="020B0604020202020204" pitchFamily="34" charset="0"/>
              </a:rPr>
              <a:t>]"</a:t>
            </a:r>
          </a:p>
        </p:txBody>
      </p:sp>
      <p:sp>
        <p:nvSpPr>
          <p:cNvPr id="13" name="TextBox 12">
            <a:extLst>
              <a:ext uri="{FF2B5EF4-FFF2-40B4-BE49-F238E27FC236}">
                <a16:creationId xmlns:a16="http://schemas.microsoft.com/office/drawing/2014/main" id="{17AF0738-FCA6-EFD1-10B9-BBDBF655EC2C}"/>
              </a:ext>
            </a:extLst>
          </p:cNvPr>
          <p:cNvSpPr txBox="1"/>
          <p:nvPr/>
        </p:nvSpPr>
        <p:spPr>
          <a:xfrm>
            <a:off x="270933" y="3102588"/>
            <a:ext cx="8602133" cy="646331"/>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a:spAutoFit/>
          </a:bodyPr>
          <a:lstStyle/>
          <a:p>
            <a:pPr algn="r" rtl="1"/>
            <a:r>
              <a:rPr lang="en-US">
                <a:cs typeface="2  Nazanin" panose="00000400000000000000" pitchFamily="2" charset="-78"/>
              </a:rPr>
              <a:t>🌟 </a:t>
            </a:r>
            <a:r>
              <a:rPr lang="ar-SA" b="1">
                <a:cs typeface="2  Nazanin" panose="00000400000000000000" pitchFamily="2" charset="-78"/>
              </a:rPr>
              <a:t>مناسب برای:</a:t>
            </a:r>
            <a:br>
              <a:rPr lang="ar-SA">
                <a:cs typeface="2  Nazanin" panose="00000400000000000000" pitchFamily="2" charset="-78"/>
              </a:rPr>
            </a:br>
            <a:r>
              <a:rPr lang="ar-SA">
                <a:cs typeface="2  Nazanin" panose="00000400000000000000" pitchFamily="2" charset="-78"/>
              </a:rPr>
              <a:t>مذاکره‌کنندگان، فروشندگان، کارآفرینان، روانشناسان، مشاوران، مدیران منابع انسانی و حتی روابط شخصی</a:t>
            </a:r>
            <a:endParaRPr lang="fa-IR">
              <a:cs typeface="2  Nazanin" panose="00000400000000000000" pitchFamily="2" charset="-78"/>
            </a:endParaRPr>
          </a:p>
        </p:txBody>
      </p:sp>
      <p:sp>
        <p:nvSpPr>
          <p:cNvPr id="3" name="TextBox 2">
            <a:extLst>
              <a:ext uri="{FF2B5EF4-FFF2-40B4-BE49-F238E27FC236}">
                <a16:creationId xmlns:a16="http://schemas.microsoft.com/office/drawing/2014/main" id="{A57E40AC-9099-4B01-6E1D-E5C5089ADA3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115</a:t>
            </a:r>
            <a:endParaRPr lang="fa-IR" sz="1200"/>
          </a:p>
        </p:txBody>
      </p:sp>
    </p:spTree>
    <p:extLst>
      <p:ext uri="{BB962C8B-B14F-4D97-AF65-F5344CB8AC3E}">
        <p14:creationId xmlns:p14="http://schemas.microsoft.com/office/powerpoint/2010/main" val="33521660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702BA-8BE1-C0CA-2A04-785C67727C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E3DC96D-8B6D-6902-778B-16E5C2377806}"/>
              </a:ext>
            </a:extLst>
          </p:cNvPr>
          <p:cNvSpPr>
            <a:spLocks noChangeArrowheads="1"/>
          </p:cNvSpPr>
          <p:nvPr/>
        </p:nvSpPr>
        <p:spPr bwMode="auto">
          <a:xfrm>
            <a:off x="126999" y="191791"/>
            <a:ext cx="8890001"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کامل‌ترین جعبه‌ابزار برای نویسندگان مقالات علمی</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cs typeface="2  Nazanin" panose="00000400000000000000" pitchFamily="2" charset="-78"/>
              </a:rPr>
              <a:t>Duplichecker</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یکی از جامع‌ترین پلتفرم‌های آنلاین برای نویسندگان، پژوهشگران و دانشجویان است که مجموعه‌ای کامل از ابزارهای ضروری برای نگارش و بازبینی مقالات را در یک محیط ارائه می‌دهد</a:t>
            </a:r>
            <a:r>
              <a:rPr kumimoji="0" lang="en-US" altLang="en-US" sz="24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6" name="Rectangle 3">
            <a:extLst>
              <a:ext uri="{FF2B5EF4-FFF2-40B4-BE49-F238E27FC236}">
                <a16:creationId xmlns:a16="http://schemas.microsoft.com/office/drawing/2014/main" id="{D5D16B73-2F6F-CF9A-49C9-620CCDF34196}"/>
              </a:ext>
            </a:extLst>
          </p:cNvPr>
          <p:cNvSpPr>
            <a:spLocks noChangeArrowheads="1"/>
          </p:cNvSpPr>
          <p:nvPr/>
        </p:nvSpPr>
        <p:spPr bwMode="auto">
          <a:xfrm>
            <a:off x="3176243" y="1470312"/>
            <a:ext cx="587539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Titr" panose="00000700000000000000" pitchFamily="2" charset="-78"/>
              </a:rPr>
              <a:t>قابلیت‌های کلیدی</a:t>
            </a:r>
            <a:endParaRPr kumimoji="0" lang="en-US" altLang="en-US" sz="20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بررسی گرامر و قواعد نگارشی</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تشخیص سرقت ادبی</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(Plagiarism Detection)</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مقایسه شباهت بین دو متن</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اصلاح غلط‌های املایی و نگارشی</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شمارش دقیق کلمات و کاراکترها</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ده‌ها ابزار جانبی کاربردی دیگر برای ویراستاری متون علمی و دانشگاهی</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8" name="Rectangle 5">
            <a:extLst>
              <a:ext uri="{FF2B5EF4-FFF2-40B4-BE49-F238E27FC236}">
                <a16:creationId xmlns:a16="http://schemas.microsoft.com/office/drawing/2014/main" id="{47CE9F09-EFCD-184A-456E-4AE69E8A5A6C}"/>
              </a:ext>
            </a:extLst>
          </p:cNvPr>
          <p:cNvSpPr>
            <a:spLocks noChangeArrowheads="1"/>
          </p:cNvSpPr>
          <p:nvPr/>
        </p:nvSpPr>
        <p:spPr bwMode="auto">
          <a:xfrm>
            <a:off x="253999" y="3661143"/>
            <a:ext cx="870526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Titr" panose="00000700000000000000" pitchFamily="2" charset="-78"/>
              </a:rPr>
              <a:t>ویژگی ویژه</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طیف گسترده‌ای از ابزارها که هر کدام به طور مستقل یا در کنار یکدیگر می‌توانند کیفیت مقالات علمی را به سطح استانداردهای ژورنال‌های معتبر برسانند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duplichecker.com/free-tools.php</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3" name="TextBox 2">
            <a:extLst>
              <a:ext uri="{FF2B5EF4-FFF2-40B4-BE49-F238E27FC236}">
                <a16:creationId xmlns:a16="http://schemas.microsoft.com/office/drawing/2014/main" id="{B0852BE7-A770-B1F4-3A80-F07F06BA36BD}"/>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116</a:t>
            </a:r>
            <a:endParaRPr lang="fa-IR" sz="1200"/>
          </a:p>
        </p:txBody>
      </p:sp>
    </p:spTree>
    <p:extLst>
      <p:ext uri="{BB962C8B-B14F-4D97-AF65-F5344CB8AC3E}">
        <p14:creationId xmlns:p14="http://schemas.microsoft.com/office/powerpoint/2010/main" val="4190447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F280-9DC6-223E-2C0A-2C86FE8518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706CB5F-7CE4-73B4-50F7-63530897E96B}"/>
              </a:ext>
            </a:extLst>
          </p:cNvPr>
          <p:cNvSpPr>
            <a:spLocks noChangeArrowheads="1"/>
          </p:cNvSpPr>
          <p:nvPr/>
        </p:nvSpPr>
        <p:spPr bwMode="auto">
          <a:xfrm>
            <a:off x="178055" y="1161331"/>
            <a:ext cx="874907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LTX Video Distilled</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محصولی از شرکت مطرح</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Lightricks</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است که با بهره‌گیری از مدل‌های پیشرفته هوش مصنوعی، ویدیوهای طولانی را به شکل کاملاً هوشمند خلاصه می‌کند و خلاصه‌های ویدیویی کوتاه و کاربردی برای اشتراک‌گذاری در شبکه‌های اجتماعی، جلسات کاری و آموزش تولید می‌کند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4" name="Rectangle 3">
            <a:extLst>
              <a:ext uri="{FF2B5EF4-FFF2-40B4-BE49-F238E27FC236}">
                <a16:creationId xmlns:a16="http://schemas.microsoft.com/office/drawing/2014/main" id="{05F71436-F150-50AF-A387-BF4D574CF675}"/>
              </a:ext>
            </a:extLst>
          </p:cNvPr>
          <p:cNvSpPr>
            <a:spLocks noChangeArrowheads="1"/>
          </p:cNvSpPr>
          <p:nvPr/>
        </p:nvSpPr>
        <p:spPr bwMode="auto">
          <a:xfrm>
            <a:off x="1106223" y="2440266"/>
            <a:ext cx="803777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قابلیت‌های کلیدی</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 LTX Video Distilled:</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تحلیل و درک محتوای اصلی ویدیو</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شناسایی بخش‌های مهم و حذف بخش‌های کم‌اهمیت</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 خلاصه ویدیویی کوتاه بدون نیاز به تدوین دستی</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حفظ کیفیت و انتقال دقیق پیام کلیدی ویدیو</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قابل استفاده برای محتوای آموزشی، جلسات کسب‌وکار، پادکست‌های ویدیویی و شبکه‌های اجتماعی</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7" name="TextBox 6">
            <a:extLst>
              <a:ext uri="{FF2B5EF4-FFF2-40B4-BE49-F238E27FC236}">
                <a16:creationId xmlns:a16="http://schemas.microsoft.com/office/drawing/2014/main" id="{34A3F3B5-E68E-ED83-9081-4A4276775C15}"/>
              </a:ext>
            </a:extLst>
          </p:cNvPr>
          <p:cNvSpPr txBox="1"/>
          <p:nvPr/>
        </p:nvSpPr>
        <p:spPr>
          <a:xfrm>
            <a:off x="611801" y="313284"/>
            <a:ext cx="8315325" cy="584775"/>
          </a:xfrm>
          <a:prstGeom prst="rect">
            <a:avLst/>
          </a:prstGeom>
          <a:noFill/>
        </p:spPr>
        <p:txBody>
          <a:bodyPr wrap="square">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خلاصه‌سازی ویدیوها با هوش مصنوعی</a:t>
            </a:r>
            <a:endParaRPr kumimoji="0" lang="en-US" altLang="en-US" sz="3200" b="0" i="0" u="none" strike="noStrike" cap="none" normalizeH="0" baseline="0">
              <a:ln>
                <a:noFill/>
              </a:ln>
              <a:solidFill>
                <a:schemeClr val="tx1"/>
              </a:solidFill>
              <a:effectLst/>
              <a:latin typeface="Arial" panose="020B0604020202020204" pitchFamily="34" charset="0"/>
              <a:cs typeface="2  Titr" panose="00000700000000000000" pitchFamily="2" charset="-78"/>
            </a:endParaRPr>
          </a:p>
        </p:txBody>
      </p:sp>
      <p:sp>
        <p:nvSpPr>
          <p:cNvPr id="8" name="Rectangle 4">
            <a:extLst>
              <a:ext uri="{FF2B5EF4-FFF2-40B4-BE49-F238E27FC236}">
                <a16:creationId xmlns:a16="http://schemas.microsoft.com/office/drawing/2014/main" id="{494055C8-02CD-296E-057A-18B444BCB3AA}"/>
              </a:ext>
            </a:extLst>
          </p:cNvPr>
          <p:cNvSpPr>
            <a:spLocks noChangeArrowheads="1"/>
          </p:cNvSpPr>
          <p:nvPr/>
        </p:nvSpPr>
        <p:spPr bwMode="auto">
          <a:xfrm>
            <a:off x="178055" y="4315644"/>
            <a:ext cx="895927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ویژگی متمایز</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خلاصه‌سازی ویدیوها با درک مفهومی و نه صرفاً بر اساس زمان؛ در نتیجه خلاصه‌ها همچنان دارای انسجام محتوایی خواهند بود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Lightricks / ltx-video-distilled (GitHub)</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11" name="TextBox 10">
            <a:extLst>
              <a:ext uri="{FF2B5EF4-FFF2-40B4-BE49-F238E27FC236}">
                <a16:creationId xmlns:a16="http://schemas.microsoft.com/office/drawing/2014/main" id="{4F8E7FE7-6540-0016-2902-B060AA64FD5B}"/>
              </a:ext>
            </a:extLst>
          </p:cNvPr>
          <p:cNvSpPr txBox="1"/>
          <p:nvPr/>
        </p:nvSpPr>
        <p:spPr>
          <a:xfrm>
            <a:off x="171380" y="5594578"/>
            <a:ext cx="8794565" cy="707886"/>
          </a:xfrm>
          <a:prstGeom prst="rect">
            <a:avLst/>
          </a:prstGeom>
          <a:noFill/>
        </p:spPr>
        <p:txBody>
          <a:bodyPr wrap="square">
            <a:spAutoFit/>
          </a:bodyPr>
          <a:lstStyle/>
          <a:p>
            <a:pPr algn="r" rtl="1"/>
            <a:r>
              <a:rPr lang="en-US" sz="2000">
                <a:cs typeface="2  Nazanin" panose="00000400000000000000" pitchFamily="2" charset="-78"/>
              </a:rPr>
              <a:t>🌟 </a:t>
            </a:r>
            <a:r>
              <a:rPr lang="ar-SA" sz="2000" b="1">
                <a:cs typeface="2  Nazanin" panose="00000400000000000000" pitchFamily="2" charset="-78"/>
              </a:rPr>
              <a:t>مناسب برای:</a:t>
            </a:r>
            <a:br>
              <a:rPr lang="ar-SA" sz="2000">
                <a:cs typeface="2  Nazanin" panose="00000400000000000000" pitchFamily="2" charset="-78"/>
              </a:rPr>
            </a:br>
            <a:r>
              <a:rPr lang="ar-SA" sz="2000">
                <a:cs typeface="2  Nazanin" panose="00000400000000000000" pitchFamily="2" charset="-78"/>
              </a:rPr>
              <a:t>تولیدکنندگان محتوا، مدرسین آنلاین، تیم‌های بازاریابی، مدیران کسب‌وکار، تهیه‌کنندگان پادکست و سخنرانی‌ها</a:t>
            </a:r>
            <a:endParaRPr lang="fa-IR" sz="2000">
              <a:cs typeface="2  Nazanin" panose="00000400000000000000" pitchFamily="2" charset="-78"/>
            </a:endParaRPr>
          </a:p>
        </p:txBody>
      </p:sp>
      <p:sp>
        <p:nvSpPr>
          <p:cNvPr id="3" name="TextBox 2">
            <a:extLst>
              <a:ext uri="{FF2B5EF4-FFF2-40B4-BE49-F238E27FC236}">
                <a16:creationId xmlns:a16="http://schemas.microsoft.com/office/drawing/2014/main" id="{386A4FA7-4513-1A08-875E-D58C1008884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117</a:t>
            </a:r>
            <a:endParaRPr lang="fa-IR" sz="1200"/>
          </a:p>
        </p:txBody>
      </p:sp>
    </p:spTree>
    <p:extLst>
      <p:ext uri="{BB962C8B-B14F-4D97-AF65-F5344CB8AC3E}">
        <p14:creationId xmlns:p14="http://schemas.microsoft.com/office/powerpoint/2010/main" val="41099360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379D4-45E6-A6E6-B283-924D603EA09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BAF4AC-37D1-4DE0-38BC-F5B1C271DAC2}"/>
              </a:ext>
            </a:extLst>
          </p:cNvPr>
          <p:cNvSpPr txBox="1"/>
          <p:nvPr/>
        </p:nvSpPr>
        <p:spPr>
          <a:xfrm>
            <a:off x="612803" y="411410"/>
            <a:ext cx="8497613" cy="584775"/>
          </a:xfrm>
          <a:prstGeom prst="rect">
            <a:avLst/>
          </a:prstGeom>
          <a:noFill/>
        </p:spPr>
        <p:txBody>
          <a:bodyPr wrap="square">
            <a:spAutoFit/>
          </a:bodyPr>
          <a:lstStyle/>
          <a:p>
            <a:pPr algn="r" rtl="1"/>
            <a:r>
              <a:rPr lang="en-US" sz="3200">
                <a:cs typeface="2  Titr" panose="00000700000000000000" pitchFamily="2" charset="-78"/>
              </a:rPr>
              <a:t>🎬 </a:t>
            </a:r>
            <a:r>
              <a:rPr lang="ar-SA" sz="3200" b="1">
                <a:cs typeface="2  Titr" panose="00000700000000000000" pitchFamily="2" charset="-78"/>
              </a:rPr>
              <a:t>ابزارهایی برای جستجوی سکانس‌های خاص در فیلم‌ها</a:t>
            </a:r>
            <a:endParaRPr lang="fa-IR" sz="3200">
              <a:cs typeface="2  Titr" panose="00000700000000000000" pitchFamily="2" charset="-78"/>
            </a:endParaRPr>
          </a:p>
        </p:txBody>
      </p:sp>
      <p:sp>
        <p:nvSpPr>
          <p:cNvPr id="2" name="Rectangle 1">
            <a:extLst>
              <a:ext uri="{FF2B5EF4-FFF2-40B4-BE49-F238E27FC236}">
                <a16:creationId xmlns:a16="http://schemas.microsoft.com/office/drawing/2014/main" id="{DE7478AE-87AA-18BC-E72F-49D4F42018BC}"/>
              </a:ext>
            </a:extLst>
          </p:cNvPr>
          <p:cNvSpPr>
            <a:spLocks noChangeArrowheads="1"/>
          </p:cNvSpPr>
          <p:nvPr/>
        </p:nvSpPr>
        <p:spPr bwMode="auto">
          <a:xfrm>
            <a:off x="252248" y="1092426"/>
            <a:ext cx="86395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1800" b="1" i="0" u="none" strike="noStrike" cap="none" normalizeH="0" baseline="0">
                <a:ln>
                  <a:noFill/>
                </a:ln>
                <a:solidFill>
                  <a:schemeClr val="tx1"/>
                </a:solidFill>
                <a:effectLst/>
                <a:latin typeface="Arial" panose="020B0604020202020204" pitchFamily="34" charset="0"/>
                <a:cs typeface="2  Nazanin" panose="00000400000000000000" pitchFamily="2" charset="-78"/>
              </a:rPr>
              <a:t>پیدا کردن سکانس‌های خاص فیلم‌ها به ساده‌ترین شکل ممکن</a:t>
            </a: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اگر در حوزه تولید محتوا فعالیت می‌کنید، تدوین کلیپ انجام می‌دهید یا به دنبال دیالوگ‌های مشخصی از فیلم‌ها و سریال‌ها هستید، سه ابزار زیر می‌توانند در این مسیر به شما کمک شایانی کنند</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p:txBody>
      </p:sp>
      <p:sp>
        <p:nvSpPr>
          <p:cNvPr id="6" name="Rectangle 3">
            <a:extLst>
              <a:ext uri="{FF2B5EF4-FFF2-40B4-BE49-F238E27FC236}">
                <a16:creationId xmlns:a16="http://schemas.microsoft.com/office/drawing/2014/main" id="{7E042772-A500-B782-4869-5E3385FB136B}"/>
              </a:ext>
            </a:extLst>
          </p:cNvPr>
          <p:cNvSpPr>
            <a:spLocks noChangeArrowheads="1"/>
          </p:cNvSpPr>
          <p:nvPr/>
        </p:nvSpPr>
        <p:spPr bwMode="auto">
          <a:xfrm>
            <a:off x="831469" y="1949269"/>
            <a:ext cx="806028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1️⃣ </a:t>
            </a:r>
            <a:r>
              <a:rPr kumimoji="0" lang="en-US" altLang="en-US" sz="1800" b="1" i="0" u="none" strike="noStrike" cap="none" normalizeH="0" baseline="0">
                <a:ln>
                  <a:noFill/>
                </a:ln>
                <a:solidFill>
                  <a:schemeClr val="tx1"/>
                </a:solidFill>
                <a:effectLst/>
                <a:latin typeface="Arial" panose="020B0604020202020204" pitchFamily="34" charset="0"/>
                <a:cs typeface="2  Nazanin" panose="00000400000000000000" pitchFamily="2" charset="-78"/>
              </a:rPr>
              <a:t>YARN.CO</a:t>
            </a: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کافی است دیالوگ مورد نظر خود را وارد کنید تا سایت دقیقاً همان لحظه از فیلم یا سریال را برای شما پیدا کند</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امکان دانلود راحت ویدیو فراهم است</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این سرویس برای تولید محتوا، ساخت ریلز و کلیپ‌های مفهومی بسیار مناسب است</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8" name="Rectangle 5">
            <a:extLst>
              <a:ext uri="{FF2B5EF4-FFF2-40B4-BE49-F238E27FC236}">
                <a16:creationId xmlns:a16="http://schemas.microsoft.com/office/drawing/2014/main" id="{70D86D1E-0AF3-16C9-9BD9-BA524430BA3B}"/>
              </a:ext>
            </a:extLst>
          </p:cNvPr>
          <p:cNvSpPr>
            <a:spLocks noChangeArrowheads="1"/>
          </p:cNvSpPr>
          <p:nvPr/>
        </p:nvSpPr>
        <p:spPr bwMode="auto">
          <a:xfrm>
            <a:off x="252248" y="3518566"/>
            <a:ext cx="86395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2️⃣ </a:t>
            </a:r>
            <a:r>
              <a:rPr kumimoji="0" lang="en-US" altLang="en-US" sz="1800" b="1" i="0" u="none" strike="noStrike" cap="none" normalizeH="0" baseline="0">
                <a:ln>
                  <a:noFill/>
                </a:ln>
                <a:solidFill>
                  <a:schemeClr val="tx1"/>
                </a:solidFill>
                <a:effectLst/>
                <a:latin typeface="Arial" panose="020B0604020202020204" pitchFamily="34" charset="0"/>
                <a:cs typeface="2  Nazanin" panose="00000400000000000000" pitchFamily="2" charset="-78"/>
              </a:rPr>
              <a:t>PLAYPHRASE.Me</a:t>
            </a: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با وارد کردن یک جمله خاص، مانند</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 «I’ll be back» </a:t>
            </a: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یا</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 «I’m watching you»، </a:t>
            </a: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فهرستی از فیلم‌هایی که این جمله در آن‌ها به کار رفته، نمایش داده می‌شود</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10" name="Rectangle 7">
            <a:extLst>
              <a:ext uri="{FF2B5EF4-FFF2-40B4-BE49-F238E27FC236}">
                <a16:creationId xmlns:a16="http://schemas.microsoft.com/office/drawing/2014/main" id="{B50B3A48-34E9-F6A5-AC2E-D421B9CF975A}"/>
              </a:ext>
            </a:extLst>
          </p:cNvPr>
          <p:cNvSpPr>
            <a:spLocks noChangeArrowheads="1"/>
          </p:cNvSpPr>
          <p:nvPr/>
        </p:nvSpPr>
        <p:spPr bwMode="auto">
          <a:xfrm>
            <a:off x="2177991" y="4560438"/>
            <a:ext cx="671376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3️⃣ </a:t>
            </a:r>
            <a:r>
              <a:rPr kumimoji="0" lang="en-US" altLang="en-US" sz="1800" b="1" i="0" u="none" strike="noStrike" cap="none" normalizeH="0" baseline="0">
                <a:ln>
                  <a:noFill/>
                </a:ln>
                <a:solidFill>
                  <a:schemeClr val="tx1"/>
                </a:solidFill>
                <a:effectLst/>
                <a:latin typeface="Arial" panose="020B0604020202020204" pitchFamily="34" charset="0"/>
                <a:cs typeface="2  Nazanin" panose="00000400000000000000" pitchFamily="2" charset="-78"/>
              </a:rPr>
              <a:t>CLIP.CAFE</a:t>
            </a: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آرشیوی غنی از کلیپ‌های سینمایی با کیفیت مطلوب</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امکان جستجوی فیلم یا دیالوگ مورد نظر و مشاهده یا دانلود همان سکانس به صورت آنلاین</a:t>
            </a:r>
            <a:r>
              <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3" name="TextBox 2">
            <a:extLst>
              <a:ext uri="{FF2B5EF4-FFF2-40B4-BE49-F238E27FC236}">
                <a16:creationId xmlns:a16="http://schemas.microsoft.com/office/drawing/2014/main" id="{7DF6C8BF-71B4-6D43-9AD9-9FDDA538865A}"/>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118</a:t>
            </a:r>
            <a:endParaRPr lang="fa-IR" sz="1200"/>
          </a:p>
        </p:txBody>
      </p:sp>
    </p:spTree>
    <p:extLst>
      <p:ext uri="{BB962C8B-B14F-4D97-AF65-F5344CB8AC3E}">
        <p14:creationId xmlns:p14="http://schemas.microsoft.com/office/powerpoint/2010/main" val="3736852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5B30D-52AE-1E9B-DDC4-D75932BF8F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E8D085-5E40-07CC-18B0-EB32EB89C47C}"/>
              </a:ext>
            </a:extLst>
          </p:cNvPr>
          <p:cNvSpPr txBox="1"/>
          <p:nvPr/>
        </p:nvSpPr>
        <p:spPr>
          <a:xfrm>
            <a:off x="361950" y="394265"/>
            <a:ext cx="8420100" cy="2369880"/>
          </a:xfrm>
          <a:prstGeom prst="rect">
            <a:avLst/>
          </a:prstGeom>
          <a:noFill/>
        </p:spPr>
        <p:txBody>
          <a:bodyPr wrap="square">
            <a:spAutoFit/>
          </a:bodyPr>
          <a:lstStyle/>
          <a:p>
            <a:pPr algn="r" rtl="1">
              <a:buNone/>
            </a:pPr>
            <a:r>
              <a:rPr lang="en-US" sz="2800" b="1">
                <a:cs typeface="2  Titr" panose="00000700000000000000" pitchFamily="2" charset="-78"/>
              </a:rPr>
              <a:t>AlphaEvolve </a:t>
            </a:r>
            <a:r>
              <a:rPr lang="fa-IR" sz="2800" b="1">
                <a:cs typeface="2  Titr" panose="00000700000000000000" pitchFamily="2" charset="-78"/>
              </a:rPr>
              <a:t>-</a:t>
            </a:r>
            <a:r>
              <a:rPr lang="en-US" sz="2800" b="1">
                <a:cs typeface="2  Titr" panose="00000700000000000000" pitchFamily="2" charset="-78"/>
              </a:rPr>
              <a:t> </a:t>
            </a:r>
            <a:r>
              <a:rPr lang="ar-SA" sz="2800" b="1">
                <a:cs typeface="2  Titr" panose="00000700000000000000" pitchFamily="2" charset="-78"/>
              </a:rPr>
              <a:t>نسل آینده طراحی الگوریتم</a:t>
            </a:r>
          </a:p>
          <a:p>
            <a:pPr algn="r" rtl="1">
              <a:buNone/>
            </a:pPr>
            <a:r>
              <a:rPr lang="en-US" sz="2000">
                <a:cs typeface="2  Nazanin" panose="00000400000000000000" pitchFamily="2" charset="-78"/>
              </a:rPr>
              <a:t>🎯 </a:t>
            </a:r>
            <a:r>
              <a:rPr lang="ar-SA" sz="2000" b="1">
                <a:cs typeface="2  Nazanin" panose="00000400000000000000" pitchFamily="2" charset="-78"/>
              </a:rPr>
              <a:t>توسعه‌دهنده:</a:t>
            </a:r>
            <a:r>
              <a:rPr lang="ar-SA" sz="2000">
                <a:cs typeface="2  Nazanin" panose="00000400000000000000" pitchFamily="2" charset="-78"/>
              </a:rPr>
              <a:t> </a:t>
            </a:r>
            <a:r>
              <a:rPr lang="en-US" sz="2000">
                <a:cs typeface="2  Nazanin" panose="00000400000000000000" pitchFamily="2" charset="-78"/>
              </a:rPr>
              <a:t>Google DeepMind</a:t>
            </a:r>
            <a:br>
              <a:rPr lang="en-US" sz="2000">
                <a:cs typeface="2  Nazanin" panose="00000400000000000000" pitchFamily="2" charset="-78"/>
              </a:rPr>
            </a:br>
            <a:r>
              <a:rPr lang="en-US" sz="2000">
                <a:cs typeface="2  Nazanin" panose="00000400000000000000" pitchFamily="2" charset="-78"/>
              </a:rPr>
              <a:t>🧠 </a:t>
            </a:r>
            <a:r>
              <a:rPr lang="ar-SA" sz="2000" b="1">
                <a:cs typeface="2  Nazanin" panose="00000400000000000000" pitchFamily="2" charset="-78"/>
              </a:rPr>
              <a:t>کاربرد:</a:t>
            </a:r>
            <a:r>
              <a:rPr lang="ar-SA" sz="2000">
                <a:cs typeface="2  Nazanin" panose="00000400000000000000" pitchFamily="2" charset="-78"/>
              </a:rPr>
              <a:t> طراحی، اصلاح و تکامل الگوریتم‌ها با کمک هوش مصنوعی</a:t>
            </a:r>
          </a:p>
          <a:p>
            <a:pPr algn="r" rtl="1"/>
            <a:r>
              <a:rPr lang="ar-SA" sz="2000">
                <a:cs typeface="2  Nazanin" panose="00000400000000000000" pitchFamily="2" charset="-78"/>
              </a:rPr>
              <a:t>✔ طراحی و بهینه‌سازی خودکار الگوریتم‌های پیچیده</a:t>
            </a:r>
            <a:br>
              <a:rPr lang="ar-SA" sz="2000">
                <a:cs typeface="2  Nazanin" panose="00000400000000000000" pitchFamily="2" charset="-78"/>
              </a:rPr>
            </a:br>
            <a:r>
              <a:rPr lang="ar-SA" sz="2000">
                <a:cs typeface="2  Nazanin" panose="00000400000000000000" pitchFamily="2" charset="-78"/>
              </a:rPr>
              <a:t>✔ کشف راه‌حل‌های نوآورانه برای مسائل محاسباتی و ریاضی</a:t>
            </a:r>
            <a:br>
              <a:rPr lang="ar-SA" sz="2000">
                <a:cs typeface="2  Nazanin" panose="00000400000000000000" pitchFamily="2" charset="-78"/>
              </a:rPr>
            </a:br>
            <a:r>
              <a:rPr lang="ar-SA" sz="2000">
                <a:cs typeface="2  Nazanin" panose="00000400000000000000" pitchFamily="2" charset="-78"/>
              </a:rPr>
              <a:t>✔ شبیه‌سازی فرآیند تکامل برای بهبود مستمر مدل‌ها</a:t>
            </a:r>
            <a:br>
              <a:rPr lang="ar-SA" sz="2000">
                <a:cs typeface="2  Nazanin" panose="00000400000000000000" pitchFamily="2" charset="-78"/>
              </a:rPr>
            </a:br>
            <a:r>
              <a:rPr lang="ar-SA" sz="2000">
                <a:cs typeface="2  Nazanin" panose="00000400000000000000" pitchFamily="2" charset="-78"/>
              </a:rPr>
              <a:t>✔ کاربرد در بهینه‌سازی سیستم‌های بزرگ داده، شبیه‌سازی‌های علمی و مهندسی الگوریتم‌ها</a:t>
            </a:r>
          </a:p>
        </p:txBody>
      </p:sp>
      <p:sp>
        <p:nvSpPr>
          <p:cNvPr id="2" name="TextBox 1">
            <a:extLst>
              <a:ext uri="{FF2B5EF4-FFF2-40B4-BE49-F238E27FC236}">
                <a16:creationId xmlns:a16="http://schemas.microsoft.com/office/drawing/2014/main" id="{C7A4A999-36F4-628A-552E-73EF959F4592}"/>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119</a:t>
            </a:r>
            <a:endParaRPr lang="fa-IR" sz="1200"/>
          </a:p>
        </p:txBody>
      </p:sp>
    </p:spTree>
    <p:extLst>
      <p:ext uri="{BB962C8B-B14F-4D97-AF65-F5344CB8AC3E}">
        <p14:creationId xmlns:p14="http://schemas.microsoft.com/office/powerpoint/2010/main" val="36998260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F92A6-C06C-148D-321B-0F5ADED11B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7717E0-3F48-34D8-3CD4-1DBF69A349DD}"/>
              </a:ext>
            </a:extLst>
          </p:cNvPr>
          <p:cNvSpPr txBox="1"/>
          <p:nvPr/>
        </p:nvSpPr>
        <p:spPr>
          <a:xfrm>
            <a:off x="254000" y="547638"/>
            <a:ext cx="8483600" cy="3170099"/>
          </a:xfrm>
          <a:prstGeom prst="rect">
            <a:avLst/>
          </a:prstGeom>
          <a:noFill/>
        </p:spPr>
        <p:txBody>
          <a:bodyPr wrap="square">
            <a:spAutoFit/>
          </a:bodyPr>
          <a:lstStyle/>
          <a:p>
            <a:pPr algn="r" rtl="1">
              <a:buNone/>
            </a:pPr>
            <a:r>
              <a:rPr lang="en-US" sz="2800" b="1">
                <a:cs typeface="2  Titr" panose="00000700000000000000" pitchFamily="2" charset="-78"/>
              </a:rPr>
              <a:t>Veo 3 </a:t>
            </a:r>
            <a:r>
              <a:rPr lang="fa-IR" sz="2800" b="1">
                <a:cs typeface="2  Titr" panose="00000700000000000000" pitchFamily="2" charset="-78"/>
              </a:rPr>
              <a:t>-</a:t>
            </a:r>
            <a:r>
              <a:rPr lang="en-US" sz="2800" b="1">
                <a:cs typeface="2  Titr" panose="00000700000000000000" pitchFamily="2" charset="-78"/>
              </a:rPr>
              <a:t> </a:t>
            </a:r>
            <a:r>
              <a:rPr lang="ar-SA" sz="2800" b="1">
                <a:cs typeface="2  Titr" panose="00000700000000000000" pitchFamily="2" charset="-78"/>
              </a:rPr>
              <a:t>انقلابی در تولید ویدیو</a:t>
            </a:r>
            <a:endParaRPr lang="fa-IR" sz="2800" b="1">
              <a:cs typeface="2  Titr" panose="00000700000000000000" pitchFamily="2" charset="-78"/>
            </a:endParaRPr>
          </a:p>
          <a:p>
            <a:pPr algn="r" rtl="1">
              <a:buNone/>
            </a:pPr>
            <a:endParaRPr lang="ar-SA" sz="2800" b="1">
              <a:cs typeface="2  Titr" panose="00000700000000000000" pitchFamily="2" charset="-78"/>
            </a:endParaRPr>
          </a:p>
          <a:p>
            <a:pPr algn="r" rtl="1">
              <a:buNone/>
            </a:pPr>
            <a:r>
              <a:rPr lang="en-US" sz="2400">
                <a:cs typeface="2  Nazanin" panose="00000400000000000000" pitchFamily="2" charset="-78"/>
              </a:rPr>
              <a:t>🎯 </a:t>
            </a:r>
            <a:r>
              <a:rPr lang="ar-SA" sz="2400" b="1">
                <a:cs typeface="2  Nazanin" panose="00000400000000000000" pitchFamily="2" charset="-78"/>
              </a:rPr>
              <a:t>توسعه‌دهنده:</a:t>
            </a:r>
            <a:r>
              <a:rPr lang="ar-SA" sz="2400">
                <a:cs typeface="2  Nazanin" panose="00000400000000000000" pitchFamily="2" charset="-78"/>
              </a:rPr>
              <a:t> </a:t>
            </a:r>
            <a:r>
              <a:rPr lang="en-US" sz="2400">
                <a:cs typeface="2  Nazanin" panose="00000400000000000000" pitchFamily="2" charset="-78"/>
              </a:rPr>
              <a:t>Google DeepMind</a:t>
            </a:r>
            <a:br>
              <a:rPr lang="en-US" sz="2400">
                <a:cs typeface="2  Nazanin" panose="00000400000000000000" pitchFamily="2" charset="-78"/>
              </a:rPr>
            </a:br>
            <a:r>
              <a:rPr lang="en-US" sz="2400">
                <a:cs typeface="2  Nazanin" panose="00000400000000000000" pitchFamily="2" charset="-78"/>
              </a:rPr>
              <a:t>🎥 </a:t>
            </a:r>
            <a:r>
              <a:rPr lang="ar-SA" sz="2400" b="1">
                <a:cs typeface="2  Nazanin" panose="00000400000000000000" pitchFamily="2" charset="-78"/>
              </a:rPr>
              <a:t>کاربرد:</a:t>
            </a:r>
            <a:r>
              <a:rPr lang="ar-SA" sz="2400">
                <a:cs typeface="2  Nazanin" panose="00000400000000000000" pitchFamily="2" charset="-78"/>
              </a:rPr>
              <a:t> تولید ویدیوهای ۴</a:t>
            </a:r>
            <a:r>
              <a:rPr lang="en-US" sz="2400">
                <a:cs typeface="2  Nazanin" panose="00000400000000000000" pitchFamily="2" charset="-78"/>
              </a:rPr>
              <a:t>K </a:t>
            </a:r>
            <a:r>
              <a:rPr lang="ar-SA" sz="2400">
                <a:cs typeface="2  Nazanin" panose="00000400000000000000" pitchFamily="2" charset="-78"/>
              </a:rPr>
              <a:t>کاملاً خودکار از روی متن</a:t>
            </a:r>
          </a:p>
          <a:p>
            <a:pPr algn="r" rtl="1"/>
            <a:r>
              <a:rPr lang="ar-SA" sz="2400">
                <a:cs typeface="2  Nazanin" panose="00000400000000000000" pitchFamily="2" charset="-78"/>
              </a:rPr>
              <a:t>✔ تبدیل دستور متنی به ویدیوهای واقعی با کیفیت بالا</a:t>
            </a:r>
            <a:br>
              <a:rPr lang="ar-SA" sz="2400">
                <a:cs typeface="2  Nazanin" panose="00000400000000000000" pitchFamily="2" charset="-78"/>
              </a:rPr>
            </a:br>
            <a:r>
              <a:rPr lang="ar-SA" sz="2400">
                <a:cs typeface="2  Nazanin" panose="00000400000000000000" pitchFamily="2" charset="-78"/>
              </a:rPr>
              <a:t>✔ تولید دیالوگ، صداگذاری و افکت‌های تصویری حرفه‌ای</a:t>
            </a:r>
            <a:br>
              <a:rPr lang="ar-SA" sz="2400">
                <a:cs typeface="2  Nazanin" panose="00000400000000000000" pitchFamily="2" charset="-78"/>
              </a:rPr>
            </a:br>
            <a:r>
              <a:rPr lang="ar-SA" sz="2400">
                <a:cs typeface="2  Nazanin" panose="00000400000000000000" pitchFamily="2" charset="-78"/>
              </a:rPr>
              <a:t>✔ کاربرد در تولید محتوای تبلیغاتی، آموزشی و سرگرمی</a:t>
            </a:r>
            <a:br>
              <a:rPr lang="ar-SA" sz="2400">
                <a:cs typeface="2  Nazanin" panose="00000400000000000000" pitchFamily="2" charset="-78"/>
              </a:rPr>
            </a:br>
            <a:r>
              <a:rPr lang="ar-SA" sz="2400">
                <a:cs typeface="2  Nazanin" panose="00000400000000000000" pitchFamily="2" charset="-78"/>
              </a:rPr>
              <a:t>✔ پشتیبانی از ساخت تیزر، فیلم کوتاه و استوری‌های ویدیویی سفارشی</a:t>
            </a:r>
          </a:p>
        </p:txBody>
      </p:sp>
      <p:sp>
        <p:nvSpPr>
          <p:cNvPr id="2" name="TextBox 1">
            <a:extLst>
              <a:ext uri="{FF2B5EF4-FFF2-40B4-BE49-F238E27FC236}">
                <a16:creationId xmlns:a16="http://schemas.microsoft.com/office/drawing/2014/main" id="{39947274-E228-B538-5848-B0C775C2A0FC}"/>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120</a:t>
            </a:r>
            <a:endParaRPr lang="fa-IR" sz="1200"/>
          </a:p>
        </p:txBody>
      </p:sp>
    </p:spTree>
    <p:extLst>
      <p:ext uri="{BB962C8B-B14F-4D97-AF65-F5344CB8AC3E}">
        <p14:creationId xmlns:p14="http://schemas.microsoft.com/office/powerpoint/2010/main" val="12117382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74A26-F114-E624-C147-D5A36BEA08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B7617A-2BE5-664C-73C5-73526258CB7A}"/>
              </a:ext>
            </a:extLst>
          </p:cNvPr>
          <p:cNvSpPr txBox="1"/>
          <p:nvPr/>
        </p:nvSpPr>
        <p:spPr>
          <a:xfrm>
            <a:off x="228600" y="346839"/>
            <a:ext cx="8420100" cy="3046988"/>
          </a:xfrm>
          <a:prstGeom prst="rect">
            <a:avLst/>
          </a:prstGeom>
          <a:noFill/>
        </p:spPr>
        <p:txBody>
          <a:bodyPr wrap="square">
            <a:spAutoFit/>
          </a:bodyPr>
          <a:lstStyle/>
          <a:p>
            <a:pPr algn="r" rtl="1">
              <a:buNone/>
            </a:pPr>
            <a:r>
              <a:rPr lang="en-US" sz="3200">
                <a:cs typeface="2  Titr" panose="00000700000000000000" pitchFamily="2" charset="-78"/>
              </a:rPr>
              <a:t>Runway Gen-3 </a:t>
            </a:r>
            <a:r>
              <a:rPr lang="fa-IR" sz="3200">
                <a:cs typeface="2  Titr" panose="00000700000000000000" pitchFamily="2" charset="-78"/>
              </a:rPr>
              <a:t>-</a:t>
            </a:r>
            <a:r>
              <a:rPr lang="en-US" sz="3200">
                <a:cs typeface="2  Titr" panose="00000700000000000000" pitchFamily="2" charset="-78"/>
              </a:rPr>
              <a:t> </a:t>
            </a:r>
            <a:r>
              <a:rPr lang="ar-SA" sz="3200">
                <a:cs typeface="2  Titr" panose="00000700000000000000" pitchFamily="2" charset="-78"/>
              </a:rPr>
              <a:t>نسل سوم تولید محتوای ویدیویی با </a:t>
            </a:r>
            <a:r>
              <a:rPr lang="en-US" sz="3200">
                <a:cs typeface="2  Titr" panose="00000700000000000000" pitchFamily="2" charset="-78"/>
              </a:rPr>
              <a:t>AI</a:t>
            </a:r>
          </a:p>
          <a:p>
            <a:pPr algn="r" rtl="1">
              <a:buNone/>
            </a:pPr>
            <a:endParaRPr lang="en-US" sz="2000">
              <a:cs typeface="2  Nazanin" panose="00000400000000000000" pitchFamily="2" charset="-78"/>
            </a:endParaRPr>
          </a:p>
          <a:p>
            <a:pPr algn="r" rtl="1">
              <a:buNone/>
            </a:pPr>
            <a:r>
              <a:rPr lang="en-US" sz="2000">
                <a:cs typeface="2  Nazanin" panose="00000400000000000000" pitchFamily="2" charset="-78"/>
              </a:rPr>
              <a:t>🎯 </a:t>
            </a:r>
            <a:r>
              <a:rPr lang="ar-SA" sz="2000">
                <a:cs typeface="2  Nazanin" panose="00000400000000000000" pitchFamily="2" charset="-78"/>
              </a:rPr>
              <a:t>توسعه‌دهنده: </a:t>
            </a:r>
            <a:r>
              <a:rPr lang="en-US" sz="2000">
                <a:cs typeface="2  Nazanin" panose="00000400000000000000" pitchFamily="2" charset="-78"/>
              </a:rPr>
              <a:t>Runway</a:t>
            </a:r>
          </a:p>
          <a:p>
            <a:pPr algn="r" rtl="1">
              <a:buNone/>
            </a:pPr>
            <a:r>
              <a:rPr lang="en-US" sz="2000">
                <a:cs typeface="2  Nazanin" panose="00000400000000000000" pitchFamily="2" charset="-78"/>
              </a:rPr>
              <a:t>🎞 </a:t>
            </a:r>
            <a:r>
              <a:rPr lang="ar-SA" sz="2000">
                <a:cs typeface="2  Nazanin" panose="00000400000000000000" pitchFamily="2" charset="-78"/>
              </a:rPr>
              <a:t>کاربرد: تولید ویدیو از روی متن و تصویر</a:t>
            </a:r>
          </a:p>
          <a:p>
            <a:pPr algn="r" rtl="1">
              <a:buNone/>
            </a:pPr>
            <a:endParaRPr lang="ar-SA" sz="2000">
              <a:cs typeface="2  Nazanin" panose="00000400000000000000" pitchFamily="2" charset="-78"/>
            </a:endParaRPr>
          </a:p>
          <a:p>
            <a:pPr algn="r" rtl="1">
              <a:buNone/>
            </a:pPr>
            <a:r>
              <a:rPr lang="ar-SA" sz="2000">
                <a:cs typeface="2  Nazanin" panose="00000400000000000000" pitchFamily="2" charset="-78"/>
              </a:rPr>
              <a:t>✔ ایجاد ویدیوهای کوتاه برای پلتفرم‌های اجتماعی (</a:t>
            </a:r>
            <a:r>
              <a:rPr lang="en-US" sz="2000">
                <a:cs typeface="2  Nazanin" panose="00000400000000000000" pitchFamily="2" charset="-78"/>
              </a:rPr>
              <a:t>TikTok, Reels, Shorts</a:t>
            </a:r>
            <a:r>
              <a:rPr lang="fa-IR" sz="2000">
                <a:cs typeface="2  Nazanin" panose="00000400000000000000" pitchFamily="2" charset="-78"/>
              </a:rPr>
              <a:t>)</a:t>
            </a:r>
            <a:endParaRPr lang="en-US" sz="2000">
              <a:cs typeface="2  Nazanin" panose="00000400000000000000" pitchFamily="2" charset="-78"/>
            </a:endParaRPr>
          </a:p>
          <a:p>
            <a:pPr algn="r" rtl="1">
              <a:buNone/>
            </a:pPr>
            <a:r>
              <a:rPr lang="en-US" sz="2000">
                <a:cs typeface="2  Nazanin" panose="00000400000000000000" pitchFamily="2" charset="-78"/>
              </a:rPr>
              <a:t>✔ </a:t>
            </a:r>
            <a:r>
              <a:rPr lang="ar-SA" sz="2000">
                <a:cs typeface="2  Nazanin" panose="00000400000000000000" pitchFamily="2" charset="-78"/>
              </a:rPr>
              <a:t>دریافت دستور از کاربر برای طراحی صحنه، رنگ، حرکت و نورپردازی</a:t>
            </a:r>
          </a:p>
          <a:p>
            <a:pPr algn="r" rtl="1">
              <a:buNone/>
            </a:pPr>
            <a:r>
              <a:rPr lang="ar-SA" sz="2000">
                <a:cs typeface="2  Nazanin" panose="00000400000000000000" pitchFamily="2" charset="-78"/>
              </a:rPr>
              <a:t>✔ قابلیت ترکیب تصاویر ثابت با انیمیشن و افکت‌های سینمایی</a:t>
            </a:r>
          </a:p>
          <a:p>
            <a:pPr algn="r" rtl="1">
              <a:buNone/>
            </a:pPr>
            <a:r>
              <a:rPr lang="ar-SA" sz="2000">
                <a:cs typeface="2  Nazanin" panose="00000400000000000000" pitchFamily="2" charset="-78"/>
              </a:rPr>
              <a:t>✔ مناسب برای تولیدکنندگان محتوا، بازاریابان دیجیتال و فیلم‌سازان مستقل</a:t>
            </a:r>
          </a:p>
        </p:txBody>
      </p:sp>
      <p:sp>
        <p:nvSpPr>
          <p:cNvPr id="7" name="TextBox 6">
            <a:extLst>
              <a:ext uri="{FF2B5EF4-FFF2-40B4-BE49-F238E27FC236}">
                <a16:creationId xmlns:a16="http://schemas.microsoft.com/office/drawing/2014/main" id="{E8002318-EAAD-15AE-C36A-049E40996B7B}"/>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121</a:t>
            </a:r>
            <a:endParaRPr lang="fa-IR" sz="1200"/>
          </a:p>
        </p:txBody>
      </p:sp>
    </p:spTree>
    <p:extLst>
      <p:ext uri="{BB962C8B-B14F-4D97-AF65-F5344CB8AC3E}">
        <p14:creationId xmlns:p14="http://schemas.microsoft.com/office/powerpoint/2010/main" val="23088930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1A841-FD7B-1779-F074-E340788759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0FA4CB-8825-13E3-8FED-7ED93B7C60EE}"/>
              </a:ext>
            </a:extLst>
          </p:cNvPr>
          <p:cNvSpPr txBox="1"/>
          <p:nvPr/>
        </p:nvSpPr>
        <p:spPr>
          <a:xfrm>
            <a:off x="228600" y="346839"/>
            <a:ext cx="8420100" cy="3046988"/>
          </a:xfrm>
          <a:prstGeom prst="rect">
            <a:avLst/>
          </a:prstGeom>
          <a:noFill/>
        </p:spPr>
        <p:txBody>
          <a:bodyPr wrap="square">
            <a:spAutoFit/>
          </a:bodyPr>
          <a:lstStyle/>
          <a:p>
            <a:pPr algn="r" rtl="1">
              <a:buNone/>
            </a:pPr>
            <a:r>
              <a:rPr lang="en-US" sz="3200">
                <a:cs typeface="2  Titr" panose="00000700000000000000" pitchFamily="2" charset="-78"/>
              </a:rPr>
              <a:t> Suno AI </a:t>
            </a:r>
            <a:r>
              <a:rPr lang="fa-IR" sz="3200">
                <a:cs typeface="2  Titr" panose="00000700000000000000" pitchFamily="2" charset="-78"/>
              </a:rPr>
              <a:t>-</a:t>
            </a:r>
            <a:r>
              <a:rPr lang="en-US" sz="3200">
                <a:cs typeface="2  Titr" panose="00000700000000000000" pitchFamily="2" charset="-78"/>
              </a:rPr>
              <a:t> </a:t>
            </a:r>
            <a:r>
              <a:rPr lang="ar-SA" sz="3200">
                <a:cs typeface="2  Titr" panose="00000700000000000000" pitchFamily="2" charset="-78"/>
              </a:rPr>
              <a:t>آهنگسازی با یک دستور متنی</a:t>
            </a:r>
          </a:p>
          <a:p>
            <a:pPr algn="r" rtl="1">
              <a:buNone/>
            </a:pPr>
            <a:endParaRPr lang="ar-SA" sz="2000">
              <a:cs typeface="2  Nazanin" panose="00000400000000000000" pitchFamily="2" charset="-78"/>
            </a:endParaRPr>
          </a:p>
          <a:p>
            <a:pPr algn="r" rtl="1">
              <a:buNone/>
            </a:pPr>
            <a:r>
              <a:rPr lang="en-US" sz="2000">
                <a:cs typeface="2  Nazanin" panose="00000400000000000000" pitchFamily="2" charset="-78"/>
              </a:rPr>
              <a:t>🎯 </a:t>
            </a:r>
            <a:r>
              <a:rPr lang="ar-SA" sz="2000">
                <a:cs typeface="2  Nazanin" panose="00000400000000000000" pitchFamily="2" charset="-78"/>
              </a:rPr>
              <a:t>توسعه‌دهنده: </a:t>
            </a:r>
            <a:r>
              <a:rPr lang="en-US" sz="2000">
                <a:cs typeface="2  Nazanin" panose="00000400000000000000" pitchFamily="2" charset="-78"/>
              </a:rPr>
              <a:t>Suno</a:t>
            </a:r>
          </a:p>
          <a:p>
            <a:pPr algn="r" rtl="1">
              <a:buNone/>
            </a:pPr>
            <a:r>
              <a:rPr lang="en-US" sz="2000">
                <a:cs typeface="2  Nazanin" panose="00000400000000000000" pitchFamily="2" charset="-78"/>
              </a:rPr>
              <a:t>🎼 </a:t>
            </a:r>
            <a:r>
              <a:rPr lang="ar-SA" sz="2000">
                <a:cs typeface="2  Nazanin" panose="00000400000000000000" pitchFamily="2" charset="-78"/>
              </a:rPr>
              <a:t>کاربرد: تولید موسیقی با کیفیت بالا از روی دستور متنی</a:t>
            </a:r>
          </a:p>
          <a:p>
            <a:pPr algn="r" rtl="1">
              <a:buNone/>
            </a:pPr>
            <a:endParaRPr lang="ar-SA" sz="2000">
              <a:cs typeface="2  Nazanin" panose="00000400000000000000" pitchFamily="2" charset="-78"/>
            </a:endParaRPr>
          </a:p>
          <a:p>
            <a:pPr algn="r" rtl="1">
              <a:buNone/>
            </a:pPr>
            <a:r>
              <a:rPr lang="ar-SA" sz="2000">
                <a:cs typeface="2  Nazanin" panose="00000400000000000000" pitchFamily="2" charset="-78"/>
              </a:rPr>
              <a:t>✔ تولید قطعات موسیقی در سبک‌ها و ژانرهای مختلف</a:t>
            </a:r>
          </a:p>
          <a:p>
            <a:pPr algn="r" rtl="1">
              <a:buNone/>
            </a:pPr>
            <a:r>
              <a:rPr lang="ar-SA" sz="2000">
                <a:cs typeface="2  Nazanin" panose="00000400000000000000" pitchFamily="2" charset="-78"/>
              </a:rPr>
              <a:t>✔ قابل استفاده برای موسیقی متن فیلم، پادکست، تبلیغات و بازی</a:t>
            </a:r>
          </a:p>
          <a:p>
            <a:pPr algn="r" rtl="1">
              <a:buNone/>
            </a:pPr>
            <a:r>
              <a:rPr lang="ar-SA" sz="2000">
                <a:cs typeface="2  Nazanin" panose="00000400000000000000" pitchFamily="2" charset="-78"/>
              </a:rPr>
              <a:t>✔ امکان شخصی‌سازی سبک، ریتم و سازبندی</a:t>
            </a:r>
          </a:p>
          <a:p>
            <a:pPr algn="r" rtl="1">
              <a:buNone/>
            </a:pPr>
            <a:r>
              <a:rPr lang="ar-SA" sz="2000">
                <a:cs typeface="2  Nazanin" panose="00000400000000000000" pitchFamily="2" charset="-78"/>
              </a:rPr>
              <a:t>✔ ابزار نوآورانه برای آهنگسازان، تولیدکنندگان محتوا و برندها</a:t>
            </a:r>
          </a:p>
        </p:txBody>
      </p:sp>
      <p:sp>
        <p:nvSpPr>
          <p:cNvPr id="5" name="TextBox 4">
            <a:extLst>
              <a:ext uri="{FF2B5EF4-FFF2-40B4-BE49-F238E27FC236}">
                <a16:creationId xmlns:a16="http://schemas.microsoft.com/office/drawing/2014/main" id="{A63F4FC7-5F3C-D8E6-B298-03A7F2C6EBF3}"/>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122</a:t>
            </a:r>
            <a:endParaRPr lang="fa-IR" sz="1200"/>
          </a:p>
        </p:txBody>
      </p:sp>
    </p:spTree>
    <p:extLst>
      <p:ext uri="{BB962C8B-B14F-4D97-AF65-F5344CB8AC3E}">
        <p14:creationId xmlns:p14="http://schemas.microsoft.com/office/powerpoint/2010/main" val="2944692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AACB34-44EC-4EC7-05B0-8746D7508443}"/>
              </a:ext>
            </a:extLst>
          </p:cNvPr>
          <p:cNvPicPr>
            <a:picLocks noChangeAspect="1"/>
          </p:cNvPicPr>
          <p:nvPr/>
        </p:nvPicPr>
        <p:blipFill>
          <a:blip r:embed="rId2"/>
          <a:stretch>
            <a:fillRect/>
          </a:stretch>
        </p:blipFill>
        <p:spPr>
          <a:xfrm>
            <a:off x="1072056" y="3652316"/>
            <a:ext cx="6480536" cy="3084769"/>
          </a:xfrm>
          <a:prstGeom prst="rect">
            <a:avLst/>
          </a:prstGeom>
        </p:spPr>
      </p:pic>
      <p:pic>
        <p:nvPicPr>
          <p:cNvPr id="2" name="Graphic 1" descr="Lightbulb and gear with solid fill">
            <a:extLst>
              <a:ext uri="{FF2B5EF4-FFF2-40B4-BE49-F238E27FC236}">
                <a16:creationId xmlns:a16="http://schemas.microsoft.com/office/drawing/2014/main" id="{46D80577-F916-D276-B215-D65157CE37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900" y="5618826"/>
            <a:ext cx="914400" cy="914400"/>
          </a:xfrm>
          <a:prstGeom prst="rect">
            <a:avLst/>
          </a:prstGeom>
        </p:spPr>
      </p:pic>
      <p:sp>
        <p:nvSpPr>
          <p:cNvPr id="4" name="TextBox 3">
            <a:extLst>
              <a:ext uri="{FF2B5EF4-FFF2-40B4-BE49-F238E27FC236}">
                <a16:creationId xmlns:a16="http://schemas.microsoft.com/office/drawing/2014/main" id="{AF48974B-8CDF-770B-4A33-4C6EBBA4B0A9}"/>
              </a:ext>
            </a:extLst>
          </p:cNvPr>
          <p:cNvSpPr txBox="1"/>
          <p:nvPr/>
        </p:nvSpPr>
        <p:spPr>
          <a:xfrm>
            <a:off x="1811215" y="392828"/>
            <a:ext cx="7420708" cy="584775"/>
          </a:xfrm>
          <a:prstGeom prst="rect">
            <a:avLst/>
          </a:prstGeom>
          <a:noFill/>
        </p:spPr>
        <p:txBody>
          <a:bodyPr wrap="square">
            <a:spAutoFit/>
          </a:bodyPr>
          <a:lstStyle/>
          <a:p>
            <a:r>
              <a:rPr lang="en-US" sz="3200" b="1">
                <a:effectLst/>
                <a:cs typeface="2  Titr" panose="00000700000000000000" pitchFamily="2" charset="-78"/>
              </a:rPr>
              <a:t>Google Jules</a:t>
            </a:r>
            <a:r>
              <a:rPr lang="fa-IR" sz="3200">
                <a:effectLst/>
                <a:cs typeface="2  Titr" panose="00000700000000000000" pitchFamily="2" charset="-78"/>
              </a:rPr>
              <a:t>- </a:t>
            </a:r>
            <a:r>
              <a:rPr lang="en-US" sz="3200">
                <a:effectLst/>
                <a:cs typeface="2  Titr" panose="00000700000000000000" pitchFamily="2" charset="-78"/>
              </a:rPr>
              <a:t> </a:t>
            </a:r>
            <a:r>
              <a:rPr lang="ar-SA" sz="3200">
                <a:effectLst/>
                <a:cs typeface="2  Titr" panose="00000700000000000000" pitchFamily="2" charset="-78"/>
              </a:rPr>
              <a:t>دستیار هوشمند کدنویسی شما</a:t>
            </a:r>
          </a:p>
        </p:txBody>
      </p:sp>
      <p:sp>
        <p:nvSpPr>
          <p:cNvPr id="7" name="TextBox 6">
            <a:extLst>
              <a:ext uri="{FF2B5EF4-FFF2-40B4-BE49-F238E27FC236}">
                <a16:creationId xmlns:a16="http://schemas.microsoft.com/office/drawing/2014/main" id="{E8D161BC-97E6-A6EA-203A-A51A3E539AEE}"/>
              </a:ext>
            </a:extLst>
          </p:cNvPr>
          <p:cNvSpPr txBox="1"/>
          <p:nvPr/>
        </p:nvSpPr>
        <p:spPr>
          <a:xfrm>
            <a:off x="2312377" y="1055636"/>
            <a:ext cx="6418384" cy="461665"/>
          </a:xfrm>
          <a:prstGeom prst="rect">
            <a:avLst/>
          </a:prstGeom>
          <a:noFill/>
        </p:spPr>
        <p:txBody>
          <a:bodyPr wrap="square">
            <a:spAutoFit/>
          </a:bodyPr>
          <a:lstStyle/>
          <a:p>
            <a:pPr algn="r" rtl="1"/>
            <a:r>
              <a:rPr lang="ar-SA" sz="2400">
                <a:effectLst/>
                <a:cs typeface="2  Nazanin" panose="00000400000000000000" pitchFamily="2" charset="-78"/>
              </a:rPr>
              <a:t>کدنویسی سریع‌تر، هوشمندتر و ساده‌تر با قدرت هوش مصنوعی</a:t>
            </a:r>
          </a:p>
        </p:txBody>
      </p:sp>
      <p:sp>
        <p:nvSpPr>
          <p:cNvPr id="8" name="Rectangle 1">
            <a:extLst>
              <a:ext uri="{FF2B5EF4-FFF2-40B4-BE49-F238E27FC236}">
                <a16:creationId xmlns:a16="http://schemas.microsoft.com/office/drawing/2014/main" id="{C9A33938-4C75-8DB9-47EC-673CF99DE8EE}"/>
              </a:ext>
            </a:extLst>
          </p:cNvPr>
          <p:cNvSpPr>
            <a:spLocks noChangeArrowheads="1"/>
          </p:cNvSpPr>
          <p:nvPr/>
        </p:nvSpPr>
        <p:spPr bwMode="auto">
          <a:xfrm>
            <a:off x="2664069" y="1713413"/>
            <a:ext cx="615461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ویژگی‌ها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رفع خودکار باگ‌های کد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 مستندات حرفه‌ای</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ایجاد ویژگی‌های جدید در پروژه‌ها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ادغام یکپارچه با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GitHub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مدیریت سریع پروژه‌های بزرگ با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Gemini 2.5 Pro </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3" name="TextBox 2">
            <a:extLst>
              <a:ext uri="{FF2B5EF4-FFF2-40B4-BE49-F238E27FC236}">
                <a16:creationId xmlns:a16="http://schemas.microsoft.com/office/drawing/2014/main" id="{0BAC11A5-7794-268B-D03A-BA464FB68100}"/>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123</a:t>
            </a:r>
            <a:endParaRPr lang="fa-IR" sz="1200"/>
          </a:p>
        </p:txBody>
      </p:sp>
    </p:spTree>
    <p:extLst>
      <p:ext uri="{BB962C8B-B14F-4D97-AF65-F5344CB8AC3E}">
        <p14:creationId xmlns:p14="http://schemas.microsoft.com/office/powerpoint/2010/main" val="31797757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99EFAD7-0E01-EB45-4259-CFCB7C14D94E}"/>
              </a:ext>
            </a:extLst>
          </p:cNvPr>
          <p:cNvSpPr>
            <a:spLocks noChangeArrowheads="1"/>
          </p:cNvSpPr>
          <p:nvPr/>
        </p:nvSpPr>
        <p:spPr bwMode="auto">
          <a:xfrm>
            <a:off x="644576" y="359138"/>
            <a:ext cx="837786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rPr>
              <a:t>ابزار</a:t>
            </a:r>
            <a:r>
              <a:rPr kumimoji="0" lang="en-US"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rPr>
              <a:t> StudyFetch — </a:t>
            </a:r>
            <a:r>
              <a:rPr kumimoji="0" lang="ar-SA"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rPr>
              <a:t>دستیار هوشمند مطالعه و خلاصه‌سازی</a:t>
            </a:r>
            <a:endParaRPr kumimoji="0" lang="fa-IR" altLang="en-US" sz="28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کاربرد</a:t>
            </a:r>
            <a:r>
              <a:rPr kumimoji="0" lang="fa-IR"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بهبود فرآیند یادگیری با خلاصه‌سازی و سازماندهی محتواهای درسی با کمک هوش مصنوعی</a:t>
            </a:r>
            <a:endPar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تبدیل جزوات، اسلایدها و فایل‌های درسی به خلاصه‌های مفید</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تولید فلش‌کارت، آزمون‌های تمرینی و نکات کلیدی از منابع بارگذاری‌شده</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امکان آپلود</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PDF،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عکس یادداشت‌ها و فایل‌های مختلف</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ابزار ویژه برای دانشجویان، اساتید و آمادگی برای امتحانات</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یادگیری سریع‌تر و مؤثرتر با مدیریت هوشمند مطالب درسی</a:t>
            </a:r>
            <a:endPar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https://www.studyfetch.com</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7" name="TextBox 6">
            <a:extLst>
              <a:ext uri="{FF2B5EF4-FFF2-40B4-BE49-F238E27FC236}">
                <a16:creationId xmlns:a16="http://schemas.microsoft.com/office/drawing/2014/main" id="{C053AE17-4A5F-0539-7FC9-835EC726E71E}"/>
              </a:ext>
            </a:extLst>
          </p:cNvPr>
          <p:cNvSpPr txBox="1"/>
          <p:nvPr/>
        </p:nvSpPr>
        <p:spPr>
          <a:xfrm>
            <a:off x="1424066" y="3993991"/>
            <a:ext cx="7598373" cy="2308324"/>
          </a:xfrm>
          <a:prstGeom prst="rect">
            <a:avLst/>
          </a:prstGeom>
          <a:noFill/>
        </p:spPr>
        <p:txBody>
          <a:bodyPr wrap="square">
            <a:spAutoFit/>
          </a:bodyPr>
          <a:lstStyle/>
          <a:p>
            <a:pPr algn="r" rtl="1">
              <a:buNone/>
            </a:pPr>
            <a:r>
              <a:rPr lang="ar-SA" b="1">
                <a:cs typeface="2  Nazanin" panose="00000400000000000000" pitchFamily="2" charset="-78"/>
              </a:rPr>
              <a:t>دانشگاه‌ها و مؤسسات استفاده‌کننده از </a:t>
            </a:r>
            <a:r>
              <a:rPr lang="en-US" b="1">
                <a:cs typeface="2  Nazanin" panose="00000400000000000000" pitchFamily="2" charset="-78"/>
              </a:rPr>
              <a:t>StudyFetch</a:t>
            </a:r>
          </a:p>
          <a:p>
            <a:pPr algn="r" rtl="1">
              <a:buFont typeface="Arial" panose="020B0604020202020204" pitchFamily="34" charset="0"/>
              <a:buChar char="•"/>
            </a:pPr>
            <a:r>
              <a:rPr lang="ar-SA">
                <a:cs typeface="2  Nazanin" panose="00000400000000000000" pitchFamily="2" charset="-78"/>
              </a:rPr>
              <a:t>بیش از </a:t>
            </a:r>
            <a:r>
              <a:rPr lang="ar-SA" b="1">
                <a:cs typeface="2  Nazanin" panose="00000400000000000000" pitchFamily="2" charset="-78"/>
              </a:rPr>
              <a:t>10,000 مؤسسه آموزش عالی در آمریکا</a:t>
            </a:r>
            <a:endParaRPr lang="ar-SA">
              <a:cs typeface="2  Nazanin" panose="00000400000000000000" pitchFamily="2" charset="-78"/>
            </a:endParaRPr>
          </a:p>
          <a:p>
            <a:pPr algn="r" rtl="1">
              <a:buFont typeface="Arial" panose="020B0604020202020204" pitchFamily="34" charset="0"/>
              <a:buChar char="•"/>
            </a:pPr>
            <a:r>
              <a:rPr lang="ar-SA">
                <a:cs typeface="2  Nazanin" panose="00000400000000000000" pitchFamily="2" charset="-78"/>
              </a:rPr>
              <a:t>دانشگاه </a:t>
            </a:r>
            <a:r>
              <a:rPr lang="en-US" b="1">
                <a:cs typeface="2  Nazanin" panose="00000400000000000000" pitchFamily="2" charset="-78"/>
              </a:rPr>
              <a:t>MIT (Massachusetts Institute of Technology)</a:t>
            </a:r>
            <a:endParaRPr lang="en-US">
              <a:cs typeface="2  Nazanin" panose="00000400000000000000" pitchFamily="2" charset="-78"/>
            </a:endParaRPr>
          </a:p>
          <a:p>
            <a:pPr algn="r" rtl="1">
              <a:buFont typeface="Arial" panose="020B0604020202020204" pitchFamily="34" charset="0"/>
              <a:buChar char="•"/>
            </a:pPr>
            <a:r>
              <a:rPr lang="ar-SA">
                <a:cs typeface="2  Nazanin" panose="00000400000000000000" pitchFamily="2" charset="-78"/>
              </a:rPr>
              <a:t>دانشگاه </a:t>
            </a:r>
            <a:r>
              <a:rPr lang="en-US" b="1">
                <a:cs typeface="2  Nazanin" panose="00000400000000000000" pitchFamily="2" charset="-78"/>
              </a:rPr>
              <a:t>USC (University of Southern California)</a:t>
            </a:r>
            <a:endParaRPr lang="en-US">
              <a:cs typeface="2  Nazanin" panose="00000400000000000000" pitchFamily="2" charset="-78"/>
            </a:endParaRPr>
          </a:p>
          <a:p>
            <a:pPr algn="r" rtl="1">
              <a:buFont typeface="Arial" panose="020B0604020202020204" pitchFamily="34" charset="0"/>
              <a:buChar char="•"/>
            </a:pPr>
            <a:r>
              <a:rPr lang="ar-SA">
                <a:cs typeface="2  Nazanin" panose="00000400000000000000" pitchFamily="2" charset="-78"/>
              </a:rPr>
              <a:t>بسیاری از کالج‌ها و دانشگاه‌های دولتی و خصوصی ایالات متحده</a:t>
            </a:r>
          </a:p>
          <a:p>
            <a:pPr algn="r" rtl="1">
              <a:buFont typeface="Arial" panose="020B0604020202020204" pitchFamily="34" charset="0"/>
              <a:buChar char="•"/>
            </a:pPr>
            <a:r>
              <a:rPr lang="ar-SA">
                <a:cs typeface="2  Nazanin" panose="00000400000000000000" pitchFamily="2" charset="-78"/>
              </a:rPr>
              <a:t>ادغام رسمی با سیستم‌های آموزشی:</a:t>
            </a:r>
          </a:p>
          <a:p>
            <a:pPr marL="742950" lvl="1" indent="-285750" algn="r" rtl="1">
              <a:buFont typeface="Arial" panose="020B0604020202020204" pitchFamily="34" charset="0"/>
              <a:buChar char="•"/>
            </a:pPr>
            <a:r>
              <a:rPr lang="en-US" b="1">
                <a:cs typeface="2  Nazanin" panose="00000400000000000000" pitchFamily="2" charset="-78"/>
              </a:rPr>
              <a:t>D2L Brightspace</a:t>
            </a:r>
            <a:endParaRPr lang="en-US">
              <a:cs typeface="2  Nazanin" panose="00000400000000000000" pitchFamily="2" charset="-78"/>
            </a:endParaRPr>
          </a:p>
          <a:p>
            <a:pPr marL="742950" lvl="1" indent="-285750" algn="r" rtl="1">
              <a:buFont typeface="Arial" panose="020B0604020202020204" pitchFamily="34" charset="0"/>
              <a:buChar char="•"/>
            </a:pPr>
            <a:r>
              <a:rPr lang="en-US" b="1">
                <a:cs typeface="2  Nazanin" panose="00000400000000000000" pitchFamily="2" charset="-78"/>
              </a:rPr>
              <a:t>Canvas LMS</a:t>
            </a:r>
            <a:endParaRPr lang="en-US">
              <a:cs typeface="2  Nazanin" panose="00000400000000000000" pitchFamily="2" charset="-78"/>
            </a:endParaRPr>
          </a:p>
        </p:txBody>
      </p:sp>
      <p:sp>
        <p:nvSpPr>
          <p:cNvPr id="2" name="TextBox 1">
            <a:extLst>
              <a:ext uri="{FF2B5EF4-FFF2-40B4-BE49-F238E27FC236}">
                <a16:creationId xmlns:a16="http://schemas.microsoft.com/office/drawing/2014/main" id="{66B1EA95-2ED8-E4D5-7EE8-299417F132C1}"/>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124</a:t>
            </a:r>
            <a:endParaRPr lang="fa-IR" sz="1200"/>
          </a:p>
        </p:txBody>
      </p:sp>
    </p:spTree>
    <p:extLst>
      <p:ext uri="{BB962C8B-B14F-4D97-AF65-F5344CB8AC3E}">
        <p14:creationId xmlns:p14="http://schemas.microsoft.com/office/powerpoint/2010/main" val="9652894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13E44-44AA-FFDD-C96F-CC532B37F3E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10C1C27-8A97-D402-BC2A-086BA9DDB454}"/>
              </a:ext>
            </a:extLst>
          </p:cNvPr>
          <p:cNvPicPr>
            <a:picLocks noChangeAspect="1"/>
          </p:cNvPicPr>
          <p:nvPr/>
        </p:nvPicPr>
        <p:blipFill>
          <a:blip r:embed="rId2"/>
          <a:stretch>
            <a:fillRect/>
          </a:stretch>
        </p:blipFill>
        <p:spPr>
          <a:xfrm>
            <a:off x="0" y="1857375"/>
            <a:ext cx="9144000" cy="5000625"/>
          </a:xfrm>
          <a:prstGeom prst="rect">
            <a:avLst/>
          </a:prstGeom>
        </p:spPr>
      </p:pic>
      <p:sp>
        <p:nvSpPr>
          <p:cNvPr id="9" name="TextBox 8">
            <a:extLst>
              <a:ext uri="{FF2B5EF4-FFF2-40B4-BE49-F238E27FC236}">
                <a16:creationId xmlns:a16="http://schemas.microsoft.com/office/drawing/2014/main" id="{3435A692-A4B4-0015-ACAD-92C1A979FFAD}"/>
              </a:ext>
            </a:extLst>
          </p:cNvPr>
          <p:cNvSpPr txBox="1"/>
          <p:nvPr/>
        </p:nvSpPr>
        <p:spPr>
          <a:xfrm>
            <a:off x="2230821" y="1817961"/>
            <a:ext cx="4682358" cy="523220"/>
          </a:xfrm>
          <a:prstGeom prst="rect">
            <a:avLst/>
          </a:prstGeom>
          <a:noFill/>
        </p:spPr>
        <p:txBody>
          <a:bodyPr wrap="square">
            <a:spAutoFit/>
          </a:bodyPr>
          <a:lstStyle/>
          <a:p>
            <a:r>
              <a:rPr lang="fa-IR" sz="2800" b="1">
                <a:solidFill>
                  <a:schemeClr val="bg1"/>
                </a:solidFill>
              </a:rPr>
              <a:t>https://tirotir.my.canva.site/</a:t>
            </a:r>
          </a:p>
        </p:txBody>
      </p:sp>
      <p:pic>
        <p:nvPicPr>
          <p:cNvPr id="16" name="Picture 15">
            <a:extLst>
              <a:ext uri="{FF2B5EF4-FFF2-40B4-BE49-F238E27FC236}">
                <a16:creationId xmlns:a16="http://schemas.microsoft.com/office/drawing/2014/main" id="{39C80BF3-8B6A-6BD0-6E78-E7DF86DEC032}"/>
              </a:ext>
            </a:extLst>
          </p:cNvPr>
          <p:cNvPicPr>
            <a:picLocks noChangeAspect="1"/>
          </p:cNvPicPr>
          <p:nvPr/>
        </p:nvPicPr>
        <p:blipFill>
          <a:blip r:embed="rId3"/>
          <a:stretch>
            <a:fillRect/>
          </a:stretch>
        </p:blipFill>
        <p:spPr>
          <a:xfrm>
            <a:off x="1797269" y="19569"/>
            <a:ext cx="5549462" cy="1790508"/>
          </a:xfrm>
          <a:prstGeom prst="rect">
            <a:avLst/>
          </a:prstGeom>
        </p:spPr>
      </p:pic>
      <p:pic>
        <p:nvPicPr>
          <p:cNvPr id="2" name="Graphic 1" descr="Lightbulb and gear with solid fill">
            <a:extLst>
              <a:ext uri="{FF2B5EF4-FFF2-40B4-BE49-F238E27FC236}">
                <a16:creationId xmlns:a16="http://schemas.microsoft.com/office/drawing/2014/main" id="{CA68A583-47E9-7B18-1729-97F3EA89C8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445406"/>
            <a:ext cx="914400" cy="914400"/>
          </a:xfrm>
          <a:prstGeom prst="rect">
            <a:avLst/>
          </a:prstGeom>
        </p:spPr>
      </p:pic>
      <p:sp>
        <p:nvSpPr>
          <p:cNvPr id="3" name="TextBox 2">
            <a:extLst>
              <a:ext uri="{FF2B5EF4-FFF2-40B4-BE49-F238E27FC236}">
                <a16:creationId xmlns:a16="http://schemas.microsoft.com/office/drawing/2014/main" id="{4A5E09EC-DD14-6B76-8F6A-6F6E6AADCBB8}"/>
              </a:ext>
            </a:extLst>
          </p:cNvPr>
          <p:cNvSpPr txBox="1"/>
          <p:nvPr/>
        </p:nvSpPr>
        <p:spPr>
          <a:xfrm>
            <a:off x="7720622" y="108121"/>
            <a:ext cx="747347" cy="276999"/>
          </a:xfrm>
          <a:prstGeom prst="rect">
            <a:avLst/>
          </a:prstGeom>
          <a:noFill/>
        </p:spPr>
        <p:txBody>
          <a:bodyPr wrap="square">
            <a:spAutoFit/>
          </a:bodyPr>
          <a:lstStyle/>
          <a:p>
            <a:pPr algn="ctr"/>
            <a:r>
              <a:rPr lang="fa-IR" sz="1200">
                <a:cs typeface="2  Nazanin" panose="00000400000000000000" pitchFamily="2" charset="-78"/>
              </a:rPr>
              <a:t>اسلاید 125</a:t>
            </a:r>
            <a:endParaRPr lang="fa-IR" sz="1200"/>
          </a:p>
        </p:txBody>
      </p:sp>
    </p:spTree>
    <p:extLst>
      <p:ext uri="{BB962C8B-B14F-4D97-AF65-F5344CB8AC3E}">
        <p14:creationId xmlns:p14="http://schemas.microsoft.com/office/powerpoint/2010/main" val="24569641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6F80FC-7213-511D-6B80-A62B62FAE7D4}"/>
              </a:ext>
            </a:extLst>
          </p:cNvPr>
          <p:cNvPicPr>
            <a:picLocks noChangeAspect="1"/>
          </p:cNvPicPr>
          <p:nvPr/>
        </p:nvPicPr>
        <p:blipFill>
          <a:blip r:embed="rId2"/>
          <a:stretch>
            <a:fillRect/>
          </a:stretch>
        </p:blipFill>
        <p:spPr>
          <a:xfrm>
            <a:off x="0" y="94129"/>
            <a:ext cx="9151507" cy="5499847"/>
          </a:xfrm>
          <a:prstGeom prst="rect">
            <a:avLst/>
          </a:prstGeom>
        </p:spPr>
      </p:pic>
      <p:pic>
        <p:nvPicPr>
          <p:cNvPr id="7" name="Picture 6">
            <a:extLst>
              <a:ext uri="{FF2B5EF4-FFF2-40B4-BE49-F238E27FC236}">
                <a16:creationId xmlns:a16="http://schemas.microsoft.com/office/drawing/2014/main" id="{D231D91A-D5BA-5926-5021-80E22BD721F5}"/>
              </a:ext>
            </a:extLst>
          </p:cNvPr>
          <p:cNvPicPr>
            <a:picLocks noChangeAspect="1"/>
          </p:cNvPicPr>
          <p:nvPr/>
        </p:nvPicPr>
        <p:blipFill>
          <a:blip r:embed="rId3"/>
          <a:stretch>
            <a:fillRect/>
          </a:stretch>
        </p:blipFill>
        <p:spPr>
          <a:xfrm>
            <a:off x="7507" y="5719714"/>
            <a:ext cx="9144000" cy="1684900"/>
          </a:xfrm>
          <a:prstGeom prst="rect">
            <a:avLst/>
          </a:prstGeom>
        </p:spPr>
      </p:pic>
      <p:sp>
        <p:nvSpPr>
          <p:cNvPr id="9" name="TextBox 8">
            <a:extLst>
              <a:ext uri="{FF2B5EF4-FFF2-40B4-BE49-F238E27FC236}">
                <a16:creationId xmlns:a16="http://schemas.microsoft.com/office/drawing/2014/main" id="{A5C5F849-F05D-4E2A-B532-92BCE08BD83A}"/>
              </a:ext>
            </a:extLst>
          </p:cNvPr>
          <p:cNvSpPr txBox="1"/>
          <p:nvPr/>
        </p:nvSpPr>
        <p:spPr>
          <a:xfrm>
            <a:off x="1994311" y="1264024"/>
            <a:ext cx="4578722" cy="523220"/>
          </a:xfrm>
          <a:prstGeom prst="rect">
            <a:avLst/>
          </a:prstGeom>
          <a:noFill/>
        </p:spPr>
        <p:txBody>
          <a:bodyPr wrap="square">
            <a:spAutoFit/>
          </a:bodyPr>
          <a:lstStyle/>
          <a:p>
            <a:r>
              <a:rPr lang="fa-IR" sz="2800" b="1">
                <a:solidFill>
                  <a:schemeClr val="bg1"/>
                </a:solidFill>
              </a:rPr>
              <a:t>https://app.chatbetter.com</a:t>
            </a:r>
          </a:p>
        </p:txBody>
      </p:sp>
      <p:sp>
        <p:nvSpPr>
          <p:cNvPr id="2" name="TextBox 1">
            <a:extLst>
              <a:ext uri="{FF2B5EF4-FFF2-40B4-BE49-F238E27FC236}">
                <a16:creationId xmlns:a16="http://schemas.microsoft.com/office/drawing/2014/main" id="{E0B985E1-B69E-954E-B304-5CABDBA675CA}"/>
              </a:ext>
            </a:extLst>
          </p:cNvPr>
          <p:cNvSpPr txBox="1"/>
          <p:nvPr/>
        </p:nvSpPr>
        <p:spPr>
          <a:xfrm>
            <a:off x="8050822" y="377626"/>
            <a:ext cx="747347" cy="276999"/>
          </a:xfrm>
          <a:prstGeom prst="rect">
            <a:avLst/>
          </a:prstGeom>
          <a:noFill/>
        </p:spPr>
        <p:txBody>
          <a:bodyPr wrap="square">
            <a:spAutoFit/>
          </a:bodyPr>
          <a:lstStyle/>
          <a:p>
            <a:pPr algn="ctr"/>
            <a:r>
              <a:rPr lang="fa-IR" sz="1200">
                <a:solidFill>
                  <a:schemeClr val="bg1"/>
                </a:solidFill>
                <a:cs typeface="2  Nazanin" panose="00000400000000000000" pitchFamily="2" charset="-78"/>
              </a:rPr>
              <a:t>اسلاید 126</a:t>
            </a:r>
            <a:endParaRPr lang="fa-IR" sz="1200">
              <a:solidFill>
                <a:schemeClr val="bg1"/>
              </a:solidFill>
            </a:endParaRPr>
          </a:p>
        </p:txBody>
      </p:sp>
    </p:spTree>
    <p:extLst>
      <p:ext uri="{BB962C8B-B14F-4D97-AF65-F5344CB8AC3E}">
        <p14:creationId xmlns:p14="http://schemas.microsoft.com/office/powerpoint/2010/main" val="20317954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738" y="382935"/>
            <a:ext cx="8420062" cy="584775"/>
          </a:xfrm>
          <a:prstGeom prst="rect">
            <a:avLst/>
          </a:prstGeom>
          <a:noFill/>
        </p:spPr>
        <p:txBody>
          <a:bodyPr wrap="none">
            <a:spAutoFit/>
          </a:bodyPr>
          <a:lstStyle/>
          <a:p>
            <a:pPr algn="r" rtl="1">
              <a:defRPr sz="2800" b="1">
                <a:solidFill>
                  <a:srgbClr val="0066CC"/>
                </a:solidFill>
              </a:defRPr>
            </a:pPr>
            <a:r>
              <a:rPr sz="3200">
                <a:solidFill>
                  <a:schemeClr val="tx1">
                    <a:lumMod val="95000"/>
                  </a:schemeClr>
                </a:solidFill>
                <a:cs typeface="2  Titr" panose="00000700000000000000" pitchFamily="2" charset="-78"/>
              </a:rPr>
              <a:t>🔧 معرفی Toolify.ai </a:t>
            </a:r>
            <a:r>
              <a:rPr lang="fa-IR" sz="3200">
                <a:solidFill>
                  <a:schemeClr val="tx1">
                    <a:lumMod val="95000"/>
                  </a:schemeClr>
                </a:solidFill>
                <a:cs typeface="2  Titr" panose="00000700000000000000" pitchFamily="2" charset="-78"/>
              </a:rPr>
              <a:t>-</a:t>
            </a:r>
            <a:r>
              <a:rPr sz="3200">
                <a:solidFill>
                  <a:schemeClr val="tx1">
                    <a:lumMod val="95000"/>
                  </a:schemeClr>
                </a:solidFill>
                <a:cs typeface="2  Titr" panose="00000700000000000000" pitchFamily="2" charset="-78"/>
              </a:rPr>
              <a:t> </a:t>
            </a:r>
            <a:r>
              <a:rPr lang="fa-IR" sz="3200">
                <a:solidFill>
                  <a:schemeClr val="tx1">
                    <a:lumMod val="95000"/>
                  </a:schemeClr>
                </a:solidFill>
                <a:cs typeface="2  Titr" panose="00000700000000000000" pitchFamily="2" charset="-78"/>
              </a:rPr>
              <a:t> </a:t>
            </a:r>
            <a:r>
              <a:rPr sz="3200">
                <a:solidFill>
                  <a:schemeClr val="tx1">
                    <a:lumMod val="95000"/>
                  </a:schemeClr>
                </a:solidFill>
                <a:cs typeface="2  Titr" panose="00000700000000000000" pitchFamily="2" charset="-78"/>
              </a:rPr>
              <a:t>مرجع ابزارهای هوش مصنوعی</a:t>
            </a:r>
          </a:p>
        </p:txBody>
      </p:sp>
      <p:sp>
        <p:nvSpPr>
          <p:cNvPr id="3" name="TextBox 2"/>
          <p:cNvSpPr txBox="1"/>
          <p:nvPr/>
        </p:nvSpPr>
        <p:spPr>
          <a:xfrm>
            <a:off x="457200" y="2232401"/>
            <a:ext cx="8229600" cy="4093428"/>
          </a:xfrm>
          <a:prstGeom prst="rect">
            <a:avLst/>
          </a:prstGeom>
          <a:noFill/>
        </p:spPr>
        <p:txBody>
          <a:bodyPr wrap="square">
            <a:spAutoFit/>
          </a:bodyPr>
          <a:lstStyle/>
          <a:p>
            <a:pPr algn="r" rtl="1"/>
            <a:r>
              <a:rPr sz="2000">
                <a:cs typeface="2  Nazanin" panose="00000400000000000000" pitchFamily="2" charset="-78"/>
              </a:rPr>
              <a:t>🧠 Toolify.ai یک پلتفرم جامع برای جستجو و کشف ابزارهای متنوع هوش مصنوعی است.</a:t>
            </a:r>
            <a:br>
              <a:rPr sz="2000">
                <a:cs typeface="2  Nazanin" panose="00000400000000000000" pitchFamily="2" charset="-78"/>
              </a:rPr>
            </a:br>
            <a:br>
              <a:rPr sz="2000">
                <a:cs typeface="2  Nazanin" panose="00000400000000000000" pitchFamily="2" charset="-78"/>
              </a:rPr>
            </a:br>
            <a:r>
              <a:rPr sz="2000">
                <a:cs typeface="2  Nazanin" panose="00000400000000000000" pitchFamily="2" charset="-78"/>
              </a:rPr>
              <a:t>🌟 ویژگی‌ها:</a:t>
            </a:r>
            <a:br>
              <a:rPr sz="2000">
                <a:cs typeface="2  Nazanin" panose="00000400000000000000" pitchFamily="2" charset="-78"/>
              </a:rPr>
            </a:br>
            <a:r>
              <a:rPr sz="2000">
                <a:cs typeface="2  Nazanin" panose="00000400000000000000" pitchFamily="2" charset="-78"/>
              </a:rPr>
              <a:t>✅ دسته‌بندی ابزارها </a:t>
            </a:r>
            <a:r>
              <a:rPr lang="fa-IR" sz="2000">
                <a:cs typeface="2  Nazanin" panose="00000400000000000000" pitchFamily="2" charset="-78"/>
              </a:rPr>
              <a:t>(</a:t>
            </a:r>
            <a:r>
              <a:rPr sz="2000">
                <a:cs typeface="2  Nazanin" panose="00000400000000000000" pitchFamily="2" charset="-78"/>
              </a:rPr>
              <a:t>متن، تصویر، صوت، ویدیو، کدنویسی و...</a:t>
            </a:r>
            <a:r>
              <a:rPr lang="fa-IR" sz="2000">
                <a:cs typeface="2  Nazanin" panose="00000400000000000000" pitchFamily="2" charset="-78"/>
              </a:rPr>
              <a:t>)</a:t>
            </a:r>
            <a:br>
              <a:rPr sz="2000">
                <a:cs typeface="2  Nazanin" panose="00000400000000000000" pitchFamily="2" charset="-78"/>
              </a:rPr>
            </a:br>
            <a:r>
              <a:rPr sz="2000">
                <a:cs typeface="2  Nazanin" panose="00000400000000000000" pitchFamily="2" charset="-78"/>
              </a:rPr>
              <a:t>✅ جستجوی آسان و سریع بر اساس نیاز</a:t>
            </a:r>
            <a:br>
              <a:rPr sz="2000">
                <a:cs typeface="2  Nazanin" panose="00000400000000000000" pitchFamily="2" charset="-78"/>
              </a:rPr>
            </a:br>
            <a:r>
              <a:rPr sz="2000">
                <a:cs typeface="2  Nazanin" panose="00000400000000000000" pitchFamily="2" charset="-78"/>
              </a:rPr>
              <a:t>✅ نمایش اطلاعات کامل ابزار: توضیح، نسخه رایگان/پولی، لینک</a:t>
            </a:r>
            <a:br>
              <a:rPr sz="2000">
                <a:cs typeface="2  Nazanin" panose="00000400000000000000" pitchFamily="2" charset="-78"/>
              </a:rPr>
            </a:br>
            <a:br>
              <a:rPr sz="2000">
                <a:cs typeface="2  Nazanin" panose="00000400000000000000" pitchFamily="2" charset="-78"/>
              </a:rPr>
            </a:br>
            <a:r>
              <a:rPr sz="2000">
                <a:cs typeface="2  Nazanin" panose="00000400000000000000" pitchFamily="2" charset="-78"/>
              </a:rPr>
              <a:t>🎯 کاربردها:</a:t>
            </a:r>
            <a:br>
              <a:rPr sz="2000">
                <a:cs typeface="2  Nazanin" panose="00000400000000000000" pitchFamily="2" charset="-78"/>
              </a:rPr>
            </a:br>
            <a:r>
              <a:rPr sz="2000">
                <a:cs typeface="2  Nazanin" panose="00000400000000000000" pitchFamily="2" charset="-78"/>
              </a:rPr>
              <a:t>- معلمان: تولید و اصلاح محتوا</a:t>
            </a:r>
            <a:br>
              <a:rPr sz="2000">
                <a:cs typeface="2  Nazanin" panose="00000400000000000000" pitchFamily="2" charset="-78"/>
              </a:rPr>
            </a:br>
            <a:r>
              <a:rPr sz="2000">
                <a:cs typeface="2  Nazanin" panose="00000400000000000000" pitchFamily="2" charset="-78"/>
              </a:rPr>
              <a:t>- نویسندگان: بازنویسی و تولید متن</a:t>
            </a:r>
            <a:br>
              <a:rPr sz="2000">
                <a:cs typeface="2  Nazanin" panose="00000400000000000000" pitchFamily="2" charset="-78"/>
              </a:rPr>
            </a:br>
            <a:r>
              <a:rPr sz="2000">
                <a:cs typeface="2  Nazanin" panose="00000400000000000000" pitchFamily="2" charset="-78"/>
              </a:rPr>
              <a:t>- برنامه‌نویسان: تولید و بررسی کد</a:t>
            </a:r>
            <a:br>
              <a:rPr sz="2000">
                <a:cs typeface="2  Nazanin" panose="00000400000000000000" pitchFamily="2" charset="-78"/>
              </a:rPr>
            </a:br>
            <a:r>
              <a:rPr sz="2000">
                <a:cs typeface="2  Nazanin" panose="00000400000000000000" pitchFamily="2" charset="-78"/>
              </a:rPr>
              <a:t>- طراحان: تولید لوگو و تصویر</a:t>
            </a:r>
            <a:br>
              <a:rPr sz="2000">
                <a:cs typeface="2  Nazanin" panose="00000400000000000000" pitchFamily="2" charset="-78"/>
              </a:rPr>
            </a:br>
            <a:r>
              <a:rPr sz="2000">
                <a:cs typeface="2  Nazanin" panose="00000400000000000000" pitchFamily="2" charset="-78"/>
              </a:rPr>
              <a:t>- شرکت‌ها: تحلیل داده، چت‌بات، و مدیریت</a:t>
            </a:r>
          </a:p>
        </p:txBody>
      </p:sp>
      <p:pic>
        <p:nvPicPr>
          <p:cNvPr id="5" name="Graphic 4" descr="Lightbulb and gear with solid fill">
            <a:extLst>
              <a:ext uri="{FF2B5EF4-FFF2-40B4-BE49-F238E27FC236}">
                <a16:creationId xmlns:a16="http://schemas.microsoft.com/office/drawing/2014/main" id="{BB15E3D7-7412-3079-52AA-D18FDDF594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4856" y="5618826"/>
            <a:ext cx="914400" cy="914400"/>
          </a:xfrm>
          <a:prstGeom prst="rect">
            <a:avLst/>
          </a:prstGeom>
        </p:spPr>
      </p:pic>
      <p:pic>
        <p:nvPicPr>
          <p:cNvPr id="6" name="Picture 5">
            <a:extLst>
              <a:ext uri="{FF2B5EF4-FFF2-40B4-BE49-F238E27FC236}">
                <a16:creationId xmlns:a16="http://schemas.microsoft.com/office/drawing/2014/main" id="{A74DB2F6-E846-76CC-49E7-05E488DA7C77}"/>
              </a:ext>
            </a:extLst>
          </p:cNvPr>
          <p:cNvPicPr>
            <a:picLocks noChangeAspect="1"/>
          </p:cNvPicPr>
          <p:nvPr/>
        </p:nvPicPr>
        <p:blipFill>
          <a:blip r:embed="rId4"/>
          <a:stretch>
            <a:fillRect/>
          </a:stretch>
        </p:blipFill>
        <p:spPr>
          <a:xfrm>
            <a:off x="514350" y="1290493"/>
            <a:ext cx="8172450" cy="619125"/>
          </a:xfrm>
          <a:prstGeom prst="rect">
            <a:avLst/>
          </a:prstGeom>
        </p:spPr>
      </p:pic>
      <p:sp>
        <p:nvSpPr>
          <p:cNvPr id="4" name="TextBox 3">
            <a:extLst>
              <a:ext uri="{FF2B5EF4-FFF2-40B4-BE49-F238E27FC236}">
                <a16:creationId xmlns:a16="http://schemas.microsoft.com/office/drawing/2014/main" id="{E2B0F148-FB97-AF7E-FE53-1C40E15A0759}"/>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127</a:t>
            </a:r>
            <a:endParaRPr lang="fa-IR" sz="12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026E7-EC7A-274A-BAD9-486E5D2F20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D6E2CE-AC34-6253-8BC3-220CCC3F9540}"/>
              </a:ext>
            </a:extLst>
          </p:cNvPr>
          <p:cNvSpPr txBox="1"/>
          <p:nvPr/>
        </p:nvSpPr>
        <p:spPr>
          <a:xfrm>
            <a:off x="790741" y="418356"/>
            <a:ext cx="8119240" cy="5386090"/>
          </a:xfrm>
          <a:prstGeom prst="rect">
            <a:avLst/>
          </a:prstGeom>
          <a:noFill/>
        </p:spPr>
        <p:txBody>
          <a:bodyPr wrap="square">
            <a:spAutoFit/>
          </a:bodyPr>
          <a:lstStyle/>
          <a:p>
            <a:pPr algn="r" rtl="1">
              <a:buNone/>
            </a:pPr>
            <a:r>
              <a:rPr lang="en-US" sz="3200">
                <a:cs typeface="2  Titr" panose="00000700000000000000" pitchFamily="2" charset="-78"/>
              </a:rPr>
              <a:t>🟣 </a:t>
            </a:r>
            <a:r>
              <a:rPr lang="ar-SA" sz="3200" b="1">
                <a:cs typeface="2  Titr" panose="00000700000000000000" pitchFamily="2" charset="-78"/>
              </a:rPr>
              <a:t>پایگاه داده جامع از مدل‌های هوش مصنوعی</a:t>
            </a:r>
            <a:endParaRPr lang="en-US" sz="3200">
              <a:cs typeface="2  Titr" panose="00000700000000000000" pitchFamily="2" charset="-78"/>
            </a:endParaRPr>
          </a:p>
          <a:p>
            <a:pPr algn="r" rtl="1">
              <a:buNone/>
            </a:pPr>
            <a:r>
              <a:rPr lang="en-US" sz="2400" b="1">
                <a:cs typeface="2  Nazanin" panose="00000400000000000000" pitchFamily="2" charset="-78"/>
              </a:rPr>
              <a:t>Supertools</a:t>
            </a:r>
            <a:r>
              <a:rPr lang="en-US" sz="2400">
                <a:cs typeface="2  Nazanin" panose="00000400000000000000" pitchFamily="2" charset="-78"/>
              </a:rPr>
              <a:t> </a:t>
            </a:r>
            <a:r>
              <a:rPr lang="ar-SA" sz="2400">
                <a:cs typeface="2  Nazanin" panose="00000400000000000000" pitchFamily="2" charset="-78"/>
              </a:rPr>
              <a:t>یک کتابخانه گسترده و کاربردی از مدل‌ها و ابزارهای هوش مصنوعی برای توسعه‌دهندگان، پژوهشگران و کارآفرینان است. این پلتفرم به شما امکان می‌دهد به سادگی در میان صدها مدل و شبکه عصبی موجود جستجو کرده و ابزار مناسب پروژه خود را انتخاب کنید.</a:t>
            </a:r>
            <a:endParaRPr lang="fa-IR" sz="2400">
              <a:cs typeface="2  Nazanin" panose="00000400000000000000" pitchFamily="2" charset="-78"/>
            </a:endParaRPr>
          </a:p>
          <a:p>
            <a:pPr algn="r" rtl="1">
              <a:buNone/>
            </a:pPr>
            <a:endParaRPr lang="ar-SA" sz="2400">
              <a:cs typeface="2  Nazanin" panose="00000400000000000000" pitchFamily="2" charset="-78"/>
            </a:endParaRPr>
          </a:p>
          <a:p>
            <a:pPr algn="r" rtl="1">
              <a:buNone/>
            </a:pPr>
            <a:r>
              <a:rPr lang="en-US" sz="2400">
                <a:cs typeface="2  Nazanin" panose="00000400000000000000" pitchFamily="2" charset="-78"/>
              </a:rPr>
              <a:t>🎯 </a:t>
            </a:r>
            <a:r>
              <a:rPr lang="ar-SA" sz="2400" b="1">
                <a:cs typeface="2  Nazanin" panose="00000400000000000000" pitchFamily="2" charset="-78"/>
              </a:rPr>
              <a:t>ویژگی‌های کلیدی </a:t>
            </a:r>
            <a:r>
              <a:rPr lang="en-US" sz="2400" b="1">
                <a:cs typeface="2  Nazanin" panose="00000400000000000000" pitchFamily="2" charset="-78"/>
              </a:rPr>
              <a:t>Supertools:</a:t>
            </a:r>
            <a:endParaRPr lang="en-US" sz="2400">
              <a:cs typeface="2  Nazanin" panose="00000400000000000000" pitchFamily="2" charset="-78"/>
            </a:endParaRPr>
          </a:p>
          <a:p>
            <a:pPr algn="r" rtl="1">
              <a:buNone/>
            </a:pPr>
            <a:r>
              <a:rPr lang="en-US" sz="2400">
                <a:cs typeface="2  Nazanin" panose="00000400000000000000" pitchFamily="2" charset="-78"/>
              </a:rPr>
              <a:t>▪️ </a:t>
            </a:r>
            <a:r>
              <a:rPr lang="ar-SA" sz="2400">
                <a:cs typeface="2  Nazanin" panose="00000400000000000000" pitchFamily="2" charset="-78"/>
              </a:rPr>
              <a:t>دسترسی به مجموعه‌ای وسیع از مدل‌های هوش مصنوعی در حوزه‌های متنوع</a:t>
            </a:r>
            <a:br>
              <a:rPr lang="ar-SA" sz="2400">
                <a:cs typeface="2  Nazanin" panose="00000400000000000000" pitchFamily="2" charset="-78"/>
              </a:rPr>
            </a:br>
            <a:r>
              <a:rPr lang="ar-SA" sz="2400">
                <a:cs typeface="2  Nazanin" panose="00000400000000000000" pitchFamily="2" charset="-78"/>
              </a:rPr>
              <a:t>▪️ قابلیت فیلتر و جستجو بر اساس دسته‌بندی‌های تخصصی</a:t>
            </a:r>
            <a:br>
              <a:rPr lang="ar-SA" sz="2400">
                <a:cs typeface="2  Nazanin" panose="00000400000000000000" pitchFamily="2" charset="-78"/>
              </a:rPr>
            </a:br>
            <a:r>
              <a:rPr lang="ar-SA" sz="2400">
                <a:cs typeface="2  Nazanin" panose="00000400000000000000" pitchFamily="2" charset="-78"/>
              </a:rPr>
              <a:t>▪️ ارائه اطلاعات فنی هر مدل برای انتخاب دقیق‌تر</a:t>
            </a:r>
            <a:br>
              <a:rPr lang="ar-SA" sz="2400">
                <a:cs typeface="2  Nazanin" panose="00000400000000000000" pitchFamily="2" charset="-78"/>
              </a:rPr>
            </a:br>
            <a:r>
              <a:rPr lang="ar-SA" sz="2400">
                <a:cs typeface="2  Nazanin" panose="00000400000000000000" pitchFamily="2" charset="-78"/>
              </a:rPr>
              <a:t>▪️ دسترسی نامحدود به بسیاری از مدل‌های رایگان جهت آزمایش و توسعه</a:t>
            </a:r>
            <a:br>
              <a:rPr lang="ar-SA" sz="2400">
                <a:cs typeface="2  Nazanin" panose="00000400000000000000" pitchFamily="2" charset="-78"/>
              </a:rPr>
            </a:br>
            <a:r>
              <a:rPr lang="ar-SA" sz="2400">
                <a:cs typeface="2  Nazanin" panose="00000400000000000000" pitchFamily="2" charset="-78"/>
              </a:rPr>
              <a:t>▪️ مناسب برای برنامه‌نویسان، پژوهشگران علمی و استارتاپ‌ها</a:t>
            </a:r>
            <a:endParaRPr lang="fa-IR" sz="2400">
              <a:cs typeface="2  Nazanin" panose="00000400000000000000" pitchFamily="2" charset="-78"/>
            </a:endParaRPr>
          </a:p>
          <a:p>
            <a:pPr algn="r" rtl="1">
              <a:buNone/>
            </a:pPr>
            <a:endParaRPr lang="ar-SA" sz="2400">
              <a:cs typeface="2  Nazanin" panose="00000400000000000000" pitchFamily="2" charset="-78"/>
            </a:endParaRPr>
          </a:p>
          <a:p>
            <a:pPr rtl="1"/>
            <a:r>
              <a:rPr lang="en-US" sz="2400">
                <a:cs typeface="2  Nazanin" panose="00000400000000000000" pitchFamily="2" charset="-78"/>
              </a:rPr>
              <a:t>🔗 </a:t>
            </a:r>
            <a:r>
              <a:rPr lang="en-US" sz="2400">
                <a:cs typeface="2  Nazanin" panose="00000400000000000000" pitchFamily="2" charset="-78"/>
                <a:hlinkClick r:id="rId2"/>
              </a:rPr>
              <a:t>supertools.therundown.ai</a:t>
            </a:r>
            <a:endParaRPr lang="en-US" sz="2400">
              <a:cs typeface="2  Nazanin" panose="00000400000000000000" pitchFamily="2" charset="-78"/>
            </a:endParaRPr>
          </a:p>
        </p:txBody>
      </p:sp>
      <p:sp>
        <p:nvSpPr>
          <p:cNvPr id="2" name="TextBox 1">
            <a:extLst>
              <a:ext uri="{FF2B5EF4-FFF2-40B4-BE49-F238E27FC236}">
                <a16:creationId xmlns:a16="http://schemas.microsoft.com/office/drawing/2014/main" id="{D5674CD8-31FA-9092-5626-0F4913501307}"/>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128</a:t>
            </a:r>
            <a:endParaRPr lang="fa-IR" sz="1200"/>
          </a:p>
        </p:txBody>
      </p:sp>
    </p:spTree>
    <p:extLst>
      <p:ext uri="{BB962C8B-B14F-4D97-AF65-F5344CB8AC3E}">
        <p14:creationId xmlns:p14="http://schemas.microsoft.com/office/powerpoint/2010/main" val="1617717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684D60-36D3-DA10-1451-F16F0FC9ADD1}"/>
              </a:ext>
            </a:extLst>
          </p:cNvPr>
          <p:cNvSpPr>
            <a:spLocks noChangeArrowheads="1"/>
          </p:cNvSpPr>
          <p:nvPr/>
        </p:nvSpPr>
        <p:spPr bwMode="auto">
          <a:xfrm>
            <a:off x="2485000" y="3347207"/>
            <a:ext cx="657904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400" b="1" i="0" u="none" strike="noStrike" cap="none" normalizeH="0" baseline="0">
                <a:ln>
                  <a:noFill/>
                </a:ln>
                <a:solidFill>
                  <a:schemeClr val="tx1"/>
                </a:solidFill>
                <a:effectLst/>
                <a:latin typeface="Arial" panose="020B0604020202020204" pitchFamily="34" charset="0"/>
                <a:cs typeface="2  Titr" panose="00000700000000000000" pitchFamily="2" charset="-78"/>
              </a:rPr>
              <a:t>با تشکر از حضور شما</a:t>
            </a:r>
            <a:endParaRPr kumimoji="0" lang="en-US" altLang="en-US" sz="24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امیدواریم این کارگاه گامی مؤثر در مسیر یادگیری و تحول دیجیتال شما باشد.</a:t>
            </a:r>
            <a:b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برای دریافت فایل‌ها، منابع، و </a:t>
            </a:r>
            <a:r>
              <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مطالب و نکات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بیشتر با ما در ارتباط باشید</a:t>
            </a:r>
            <a:r>
              <a:rPr kumimoji="0" lang="fa-IR"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4" name="Rectangle 3">
            <a:extLst>
              <a:ext uri="{FF2B5EF4-FFF2-40B4-BE49-F238E27FC236}">
                <a16:creationId xmlns:a16="http://schemas.microsoft.com/office/drawing/2014/main" id="{820972DB-5BB9-8BF4-4798-4549E39C2FAF}"/>
              </a:ext>
            </a:extLst>
          </p:cNvPr>
          <p:cNvSpPr>
            <a:spLocks noChangeArrowheads="1"/>
          </p:cNvSpPr>
          <p:nvPr/>
        </p:nvSpPr>
        <p:spPr bwMode="auto">
          <a:xfrm>
            <a:off x="1351065" y="4663691"/>
            <a:ext cx="6441869" cy="2062103"/>
          </a:xfrm>
          <a:custGeom>
            <a:avLst/>
            <a:gdLst>
              <a:gd name="connsiteX0" fmla="*/ 0 w 6441869"/>
              <a:gd name="connsiteY0" fmla="*/ 0 h 2062103"/>
              <a:gd name="connsiteX1" fmla="*/ 585624 w 6441869"/>
              <a:gd name="connsiteY1" fmla="*/ 0 h 2062103"/>
              <a:gd name="connsiteX2" fmla="*/ 1106830 w 6441869"/>
              <a:gd name="connsiteY2" fmla="*/ 0 h 2062103"/>
              <a:gd name="connsiteX3" fmla="*/ 1628036 w 6441869"/>
              <a:gd name="connsiteY3" fmla="*/ 0 h 2062103"/>
              <a:gd name="connsiteX4" fmla="*/ 2020404 w 6441869"/>
              <a:gd name="connsiteY4" fmla="*/ 0 h 2062103"/>
              <a:gd name="connsiteX5" fmla="*/ 2670448 w 6441869"/>
              <a:gd name="connsiteY5" fmla="*/ 0 h 2062103"/>
              <a:gd name="connsiteX6" fmla="*/ 3256072 w 6441869"/>
              <a:gd name="connsiteY6" fmla="*/ 0 h 2062103"/>
              <a:gd name="connsiteX7" fmla="*/ 3648440 w 6441869"/>
              <a:gd name="connsiteY7" fmla="*/ 0 h 2062103"/>
              <a:gd name="connsiteX8" fmla="*/ 4362902 w 6441869"/>
              <a:gd name="connsiteY8" fmla="*/ 0 h 2062103"/>
              <a:gd name="connsiteX9" fmla="*/ 4884108 w 6441869"/>
              <a:gd name="connsiteY9" fmla="*/ 0 h 2062103"/>
              <a:gd name="connsiteX10" fmla="*/ 5469732 w 6441869"/>
              <a:gd name="connsiteY10" fmla="*/ 0 h 2062103"/>
              <a:gd name="connsiteX11" fmla="*/ 6441869 w 6441869"/>
              <a:gd name="connsiteY11" fmla="*/ 0 h 2062103"/>
              <a:gd name="connsiteX12" fmla="*/ 6441869 w 6441869"/>
              <a:gd name="connsiteY12" fmla="*/ 556768 h 2062103"/>
              <a:gd name="connsiteX13" fmla="*/ 6441869 w 6441869"/>
              <a:gd name="connsiteY13" fmla="*/ 1092915 h 2062103"/>
              <a:gd name="connsiteX14" fmla="*/ 6441869 w 6441869"/>
              <a:gd name="connsiteY14" fmla="*/ 2062103 h 2062103"/>
              <a:gd name="connsiteX15" fmla="*/ 5985082 w 6441869"/>
              <a:gd name="connsiteY15" fmla="*/ 2062103 h 2062103"/>
              <a:gd name="connsiteX16" fmla="*/ 5592714 w 6441869"/>
              <a:gd name="connsiteY16" fmla="*/ 2062103 h 2062103"/>
              <a:gd name="connsiteX17" fmla="*/ 5007089 w 6441869"/>
              <a:gd name="connsiteY17" fmla="*/ 2062103 h 2062103"/>
              <a:gd name="connsiteX18" fmla="*/ 4421465 w 6441869"/>
              <a:gd name="connsiteY18" fmla="*/ 2062103 h 2062103"/>
              <a:gd name="connsiteX19" fmla="*/ 3707003 w 6441869"/>
              <a:gd name="connsiteY19" fmla="*/ 2062103 h 2062103"/>
              <a:gd name="connsiteX20" fmla="*/ 3250216 w 6441869"/>
              <a:gd name="connsiteY20" fmla="*/ 2062103 h 2062103"/>
              <a:gd name="connsiteX21" fmla="*/ 2664591 w 6441869"/>
              <a:gd name="connsiteY21" fmla="*/ 2062103 h 2062103"/>
              <a:gd name="connsiteX22" fmla="*/ 2078967 w 6441869"/>
              <a:gd name="connsiteY22" fmla="*/ 2062103 h 2062103"/>
              <a:gd name="connsiteX23" fmla="*/ 1557761 w 6441869"/>
              <a:gd name="connsiteY23" fmla="*/ 2062103 h 2062103"/>
              <a:gd name="connsiteX24" fmla="*/ 843299 w 6441869"/>
              <a:gd name="connsiteY24" fmla="*/ 2062103 h 2062103"/>
              <a:gd name="connsiteX25" fmla="*/ 0 w 6441869"/>
              <a:gd name="connsiteY25" fmla="*/ 2062103 h 2062103"/>
              <a:gd name="connsiteX26" fmla="*/ 0 w 6441869"/>
              <a:gd name="connsiteY26" fmla="*/ 1525956 h 2062103"/>
              <a:gd name="connsiteX27" fmla="*/ 0 w 6441869"/>
              <a:gd name="connsiteY27" fmla="*/ 989809 h 2062103"/>
              <a:gd name="connsiteX28" fmla="*/ 0 w 6441869"/>
              <a:gd name="connsiteY28" fmla="*/ 453663 h 2062103"/>
              <a:gd name="connsiteX29" fmla="*/ 0 w 6441869"/>
              <a:gd name="connsiteY29" fmla="*/ 0 h 206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441869" h="2062103" extrusionOk="0">
                <a:moveTo>
                  <a:pt x="0" y="0"/>
                </a:moveTo>
                <a:cubicBezTo>
                  <a:pt x="145779" y="-41291"/>
                  <a:pt x="339783" y="34439"/>
                  <a:pt x="585624" y="0"/>
                </a:cubicBezTo>
                <a:cubicBezTo>
                  <a:pt x="831465" y="-34439"/>
                  <a:pt x="851559" y="22589"/>
                  <a:pt x="1106830" y="0"/>
                </a:cubicBezTo>
                <a:cubicBezTo>
                  <a:pt x="1362101" y="-22589"/>
                  <a:pt x="1419117" y="50420"/>
                  <a:pt x="1628036" y="0"/>
                </a:cubicBezTo>
                <a:cubicBezTo>
                  <a:pt x="1836955" y="-50420"/>
                  <a:pt x="1894396" y="27995"/>
                  <a:pt x="2020404" y="0"/>
                </a:cubicBezTo>
                <a:cubicBezTo>
                  <a:pt x="2146412" y="-27995"/>
                  <a:pt x="2430156" y="51524"/>
                  <a:pt x="2670448" y="0"/>
                </a:cubicBezTo>
                <a:cubicBezTo>
                  <a:pt x="2910740" y="-51524"/>
                  <a:pt x="3023131" y="4084"/>
                  <a:pt x="3256072" y="0"/>
                </a:cubicBezTo>
                <a:cubicBezTo>
                  <a:pt x="3489013" y="-4084"/>
                  <a:pt x="3471354" y="639"/>
                  <a:pt x="3648440" y="0"/>
                </a:cubicBezTo>
                <a:cubicBezTo>
                  <a:pt x="3825526" y="-639"/>
                  <a:pt x="4101256" y="46359"/>
                  <a:pt x="4362902" y="0"/>
                </a:cubicBezTo>
                <a:cubicBezTo>
                  <a:pt x="4624548" y="-46359"/>
                  <a:pt x="4651255" y="9767"/>
                  <a:pt x="4884108" y="0"/>
                </a:cubicBezTo>
                <a:cubicBezTo>
                  <a:pt x="5116961" y="-9767"/>
                  <a:pt x="5211021" y="13880"/>
                  <a:pt x="5469732" y="0"/>
                </a:cubicBezTo>
                <a:cubicBezTo>
                  <a:pt x="5728443" y="-13880"/>
                  <a:pt x="5983395" y="1460"/>
                  <a:pt x="6441869" y="0"/>
                </a:cubicBezTo>
                <a:cubicBezTo>
                  <a:pt x="6442248" y="235768"/>
                  <a:pt x="6421271" y="440937"/>
                  <a:pt x="6441869" y="556768"/>
                </a:cubicBezTo>
                <a:cubicBezTo>
                  <a:pt x="6462467" y="672599"/>
                  <a:pt x="6427090" y="860528"/>
                  <a:pt x="6441869" y="1092915"/>
                </a:cubicBezTo>
                <a:cubicBezTo>
                  <a:pt x="6456648" y="1325302"/>
                  <a:pt x="6438663" y="1686164"/>
                  <a:pt x="6441869" y="2062103"/>
                </a:cubicBezTo>
                <a:cubicBezTo>
                  <a:pt x="6276150" y="2107065"/>
                  <a:pt x="6192620" y="2058769"/>
                  <a:pt x="5985082" y="2062103"/>
                </a:cubicBezTo>
                <a:cubicBezTo>
                  <a:pt x="5777544" y="2065437"/>
                  <a:pt x="5763289" y="2017395"/>
                  <a:pt x="5592714" y="2062103"/>
                </a:cubicBezTo>
                <a:cubicBezTo>
                  <a:pt x="5422139" y="2106811"/>
                  <a:pt x="5232549" y="2047766"/>
                  <a:pt x="5007089" y="2062103"/>
                </a:cubicBezTo>
                <a:cubicBezTo>
                  <a:pt x="4781629" y="2076440"/>
                  <a:pt x="4554173" y="2044481"/>
                  <a:pt x="4421465" y="2062103"/>
                </a:cubicBezTo>
                <a:cubicBezTo>
                  <a:pt x="4288757" y="2079725"/>
                  <a:pt x="3959816" y="1995425"/>
                  <a:pt x="3707003" y="2062103"/>
                </a:cubicBezTo>
                <a:cubicBezTo>
                  <a:pt x="3454190" y="2128781"/>
                  <a:pt x="3441871" y="2058880"/>
                  <a:pt x="3250216" y="2062103"/>
                </a:cubicBezTo>
                <a:cubicBezTo>
                  <a:pt x="3058561" y="2065326"/>
                  <a:pt x="2807186" y="2027074"/>
                  <a:pt x="2664591" y="2062103"/>
                </a:cubicBezTo>
                <a:cubicBezTo>
                  <a:pt x="2521997" y="2097132"/>
                  <a:pt x="2256663" y="2050874"/>
                  <a:pt x="2078967" y="2062103"/>
                </a:cubicBezTo>
                <a:cubicBezTo>
                  <a:pt x="1901271" y="2073332"/>
                  <a:pt x="1757077" y="2024296"/>
                  <a:pt x="1557761" y="2062103"/>
                </a:cubicBezTo>
                <a:cubicBezTo>
                  <a:pt x="1358445" y="2099910"/>
                  <a:pt x="1073231" y="2016620"/>
                  <a:pt x="843299" y="2062103"/>
                </a:cubicBezTo>
                <a:cubicBezTo>
                  <a:pt x="613367" y="2107586"/>
                  <a:pt x="292967" y="1980416"/>
                  <a:pt x="0" y="2062103"/>
                </a:cubicBezTo>
                <a:cubicBezTo>
                  <a:pt x="-28943" y="1863067"/>
                  <a:pt x="2904" y="1773653"/>
                  <a:pt x="0" y="1525956"/>
                </a:cubicBezTo>
                <a:cubicBezTo>
                  <a:pt x="-2904" y="1278259"/>
                  <a:pt x="32360" y="1183729"/>
                  <a:pt x="0" y="989809"/>
                </a:cubicBezTo>
                <a:cubicBezTo>
                  <a:pt x="-32360" y="795889"/>
                  <a:pt x="28805" y="643057"/>
                  <a:pt x="0" y="453663"/>
                </a:cubicBezTo>
                <a:cubicBezTo>
                  <a:pt x="-28805" y="264269"/>
                  <a:pt x="51576" y="173573"/>
                  <a:pt x="0" y="0"/>
                </a:cubicBezTo>
                <a:close/>
              </a:path>
            </a:pathLst>
          </a:custGeom>
          <a:noFill/>
          <a:ln w="9525" cap="flat" cmpd="sng" algn="ctr">
            <a:solidFill>
              <a:schemeClr val="accent6"/>
            </a:solidFill>
            <a:prstDash val="solid"/>
            <a:round/>
            <a:headEnd type="none" w="med" len="med"/>
            <a:tailEnd type="none" w="med" len="med"/>
            <a:extLst>
              <a:ext uri="{C807C97D-BFC1-408E-A445-0C87EB9F89A2}">
                <ask:lineSketchStyleProps xmlns:ask="http://schemas.microsoft.com/office/drawing/2018/sketchyshapes" sd="1737813866">
                  <a:prstGeom prst="rect">
                    <a:avLst/>
                  </a:prstGeom>
                  <ask:type>
                    <ask:lineSketchScribble/>
                  </ask:type>
                </ask:lineSketchStyleProps>
              </a:ext>
            </a:extLst>
          </a:ln>
        </p:spPr>
        <p:style>
          <a:lnRef idx="0">
            <a:scrgbClr r="0" g="0" b="0"/>
          </a:lnRef>
          <a:fillRef idx="0">
            <a:scrgbClr r="0" g="0" b="0"/>
          </a:fillRef>
          <a:effectRef idx="0">
            <a:scrgbClr r="0" g="0" b="0"/>
          </a:effectRef>
          <a:fontRef idx="minor">
            <a:schemeClr val="accent6"/>
          </a:fontRef>
        </p:style>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آموزشگاه فنی و حرفه‌ای آزاد</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هوش مصنوعی </a:t>
            </a:r>
            <a:endPar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algn="r" defTabSz="914400" rtl="1" eaLnBrk="0" fontAlgn="base" hangingPunct="0">
              <a:spcBef>
                <a:spcPct val="0"/>
              </a:spcBef>
              <a:spcAft>
                <a:spcPct val="0"/>
              </a:spcAft>
            </a:pP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ایمیل</a:t>
            </a:r>
            <a:r>
              <a:rPr lang="fa-IR" altLang="en-US" b="1"/>
              <a:t>: </a:t>
            </a:r>
            <a:r>
              <a:rPr lang="en-US" altLang="en-US" b="1"/>
              <a:t> brain2pc@gmail.com  -  </a:t>
            </a:r>
            <a:r>
              <a:rPr lang="en-US" b="1"/>
              <a:t>aiAndPhilosophy@gmail.com</a:t>
            </a:r>
            <a:b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وب‌سایت</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hlinkClick r:id="rId2"/>
              </a:rPr>
              <a:t>www.tirotir.ir</a:t>
            </a:r>
            <a:b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تلگرام</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@Ai_and_Philosophy</a:t>
            </a:r>
            <a:b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b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اینستاگرام</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fa-IR" altLang="en-US" b="1"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lang="en-US" altLang="en-US" b="1">
                <a:latin typeface="Arial" panose="020B0604020202020204" pitchFamily="34" charset="0"/>
                <a:cs typeface="2  Nazanin" panose="00000400000000000000" pitchFamily="2" charset="-78"/>
              </a:rPr>
              <a:t>@RussianLanguage4U </a:t>
            </a:r>
            <a:endParaRPr lang="fa-IR" altLang="en-US" b="1">
              <a:latin typeface="Arial" panose="020B0604020202020204" pitchFamily="34" charset="0"/>
              <a:cs typeface="2  Nazanin" panose="00000400000000000000" pitchFamily="2" charset="-78"/>
            </a:endParaRPr>
          </a:p>
          <a:p>
            <a:pPr marL="0" marR="0" lvl="0" indent="0" defTabSz="914400" rtl="1" eaLnBrk="0" fontAlgn="base" latinLnBrk="0" hangingPunct="0">
              <a:lnSpc>
                <a:spcPct val="100000"/>
              </a:lnSpc>
              <a:spcBef>
                <a:spcPct val="0"/>
              </a:spcBef>
              <a:spcAft>
                <a:spcPct val="0"/>
              </a:spcAft>
              <a:buClrTx/>
              <a:buSzTx/>
              <a:buFontTx/>
              <a:buNone/>
              <a:tabLst/>
            </a:pPr>
            <a:r>
              <a:rPr lang="en-US" altLang="en-US" b="1">
                <a:latin typeface="Arial" panose="020B0604020202020204" pitchFamily="34" charset="0"/>
                <a:cs typeface="2  Nazanin" panose="00000400000000000000" pitchFamily="2" charset="-78"/>
              </a:rPr>
              <a:t>    @NewGermanLanguage</a:t>
            </a:r>
            <a:endParaRPr lang="fa-IR" altLang="en-US" b="1">
              <a:latin typeface="Arial" panose="020B0604020202020204" pitchFamily="34" charset="0"/>
              <a:cs typeface="2  Nazanin" panose="00000400000000000000" pitchFamily="2" charset="-78"/>
            </a:endParaRPr>
          </a:p>
          <a:p>
            <a:pPr marL="0" marR="0" lvl="0" indent="0" algn="ctr" defTabSz="914400" rtl="1"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0912-459-3239</a:t>
            </a:r>
          </a:p>
        </p:txBody>
      </p:sp>
      <p:sp>
        <p:nvSpPr>
          <p:cNvPr id="6" name="TextBox 5">
            <a:extLst>
              <a:ext uri="{FF2B5EF4-FFF2-40B4-BE49-F238E27FC236}">
                <a16:creationId xmlns:a16="http://schemas.microsoft.com/office/drawing/2014/main" id="{79FBA909-622C-9186-4CEF-46D1BAD7C277}"/>
              </a:ext>
            </a:extLst>
          </p:cNvPr>
          <p:cNvSpPr txBox="1"/>
          <p:nvPr/>
        </p:nvSpPr>
        <p:spPr>
          <a:xfrm>
            <a:off x="2837330" y="115553"/>
            <a:ext cx="6226716" cy="2123658"/>
          </a:xfrm>
          <a:prstGeom prst="rect">
            <a:avLst/>
          </a:prstGeom>
          <a:noFill/>
        </p:spPr>
        <p:txBody>
          <a:bodyPr wrap="square">
            <a:spAutoFit/>
          </a:bodyPr>
          <a:lstStyle/>
          <a:p>
            <a:pPr algn="r" rtl="1">
              <a:buNone/>
            </a:pPr>
            <a:r>
              <a:rPr lang="en-US" sz="3200" b="1">
                <a:cs typeface="2  Titr" panose="00000700000000000000" pitchFamily="2" charset="-78"/>
              </a:rPr>
              <a:t>✅ </a:t>
            </a:r>
            <a:r>
              <a:rPr lang="ar-SA" sz="3200" b="1">
                <a:cs typeface="2  Titr" panose="00000700000000000000" pitchFamily="2" charset="-78"/>
              </a:rPr>
              <a:t>جمع‌بندی پایانی</a:t>
            </a:r>
          </a:p>
          <a:p>
            <a:pPr marL="342900" indent="-342900" algn="r" rtl="1">
              <a:buFont typeface="Wingdings" panose="05000000000000000000" pitchFamily="2" charset="2"/>
              <a:buChar char="ü"/>
            </a:pPr>
            <a:r>
              <a:rPr lang="fa-IR" sz="2000">
                <a:cs typeface="2  Nazanin" panose="00000400000000000000" pitchFamily="2" charset="-78"/>
              </a:rPr>
              <a:t>مفاهیم اساسی و اولیه </a:t>
            </a:r>
            <a:r>
              <a:rPr lang="en-US" sz="2000">
                <a:cs typeface="2  Nazanin" panose="00000400000000000000" pitchFamily="2" charset="-78"/>
              </a:rPr>
              <a:t>Ai</a:t>
            </a:r>
            <a:endParaRPr lang="fa-IR" sz="2000">
              <a:cs typeface="2  Nazanin" panose="00000400000000000000" pitchFamily="2" charset="-78"/>
            </a:endParaRPr>
          </a:p>
          <a:p>
            <a:pPr marL="342900" indent="-342900" algn="r" rtl="1">
              <a:buFont typeface="Wingdings" panose="05000000000000000000" pitchFamily="2" charset="2"/>
              <a:buChar char="ü"/>
            </a:pPr>
            <a:r>
              <a:rPr lang="ar-SA" sz="2000">
                <a:cs typeface="2  Nazanin" panose="00000400000000000000" pitchFamily="2" charset="-78"/>
              </a:rPr>
              <a:t>آشنایی با ابزارهای کلیدی: </a:t>
            </a:r>
            <a:r>
              <a:rPr lang="en-US" sz="2000">
                <a:cs typeface="2  Nazanin" panose="00000400000000000000" pitchFamily="2" charset="-78"/>
              </a:rPr>
              <a:t>ChatGPT، Copilot، D-ID، Canva AI</a:t>
            </a:r>
          </a:p>
          <a:p>
            <a:pPr marL="342900" indent="-342900" algn="r" rtl="1">
              <a:buFont typeface="Wingdings" panose="05000000000000000000" pitchFamily="2" charset="2"/>
              <a:buChar char="ü"/>
            </a:pPr>
            <a:r>
              <a:rPr lang="ar-SA" sz="2000">
                <a:cs typeface="2  Nazanin" panose="00000400000000000000" pitchFamily="2" charset="-78"/>
              </a:rPr>
              <a:t>مهارت در مهندسی درخواست (</a:t>
            </a:r>
            <a:r>
              <a:rPr lang="en-US" sz="2000">
                <a:cs typeface="2  Nazanin" panose="00000400000000000000" pitchFamily="2" charset="-78"/>
              </a:rPr>
              <a:t>Prompting</a:t>
            </a:r>
            <a:r>
              <a:rPr lang="fa-IR" sz="2000">
                <a:cs typeface="2  Nazanin" panose="00000400000000000000" pitchFamily="2" charset="-78"/>
              </a:rPr>
              <a:t>)</a:t>
            </a:r>
            <a:r>
              <a:rPr lang="en-US" sz="2000">
                <a:cs typeface="2  Nazanin" panose="00000400000000000000" pitchFamily="2" charset="-78"/>
              </a:rPr>
              <a:t> </a:t>
            </a:r>
            <a:r>
              <a:rPr lang="ar-SA" sz="2000">
                <a:cs typeface="2  Nazanin" panose="00000400000000000000" pitchFamily="2" charset="-78"/>
              </a:rPr>
              <a:t>برای تولید محتوا</a:t>
            </a:r>
          </a:p>
          <a:p>
            <a:pPr marL="342900" indent="-342900" algn="r" rtl="1">
              <a:buFont typeface="Wingdings" panose="05000000000000000000" pitchFamily="2" charset="2"/>
              <a:buChar char="ü"/>
            </a:pPr>
            <a:r>
              <a:rPr lang="ar-SA" sz="2000">
                <a:cs typeface="2  Nazanin" panose="00000400000000000000" pitchFamily="2" charset="-78"/>
              </a:rPr>
              <a:t>کاربرد عملی در آموزش، تعامل</a:t>
            </a:r>
            <a:r>
              <a:rPr lang="fa-IR" sz="2000">
                <a:cs typeface="2  Nazanin" panose="00000400000000000000" pitchFamily="2" charset="-78"/>
              </a:rPr>
              <a:t>، ا</a:t>
            </a:r>
            <a:r>
              <a:rPr lang="ar-SA" sz="2000">
                <a:cs typeface="2  Nazanin" panose="00000400000000000000" pitchFamily="2" charset="-78"/>
              </a:rPr>
              <a:t>رزیابی، تولید ویدیو و</a:t>
            </a:r>
            <a:r>
              <a:rPr lang="fa-IR" sz="2000">
                <a:cs typeface="2  Nazanin" panose="00000400000000000000" pitchFamily="2" charset="-78"/>
              </a:rPr>
              <a:t> ...</a:t>
            </a:r>
            <a:endParaRPr lang="ar-SA" sz="2000">
              <a:cs typeface="2  Nazanin" panose="00000400000000000000" pitchFamily="2" charset="-78"/>
            </a:endParaRPr>
          </a:p>
          <a:p>
            <a:pPr marL="342900" indent="-342900" algn="r" rtl="1">
              <a:buFont typeface="Wingdings" panose="05000000000000000000" pitchFamily="2" charset="2"/>
              <a:buChar char="ü"/>
            </a:pPr>
            <a:r>
              <a:rPr lang="ar-SA" sz="2000">
                <a:cs typeface="2  Nazanin" panose="00000400000000000000" pitchFamily="2" charset="-78"/>
              </a:rPr>
              <a:t>تمرین و تکرار = تسلط و خلاقیت</a:t>
            </a:r>
          </a:p>
        </p:txBody>
      </p:sp>
      <p:sp>
        <p:nvSpPr>
          <p:cNvPr id="8" name="TextBox 7">
            <a:extLst>
              <a:ext uri="{FF2B5EF4-FFF2-40B4-BE49-F238E27FC236}">
                <a16:creationId xmlns:a16="http://schemas.microsoft.com/office/drawing/2014/main" id="{A37C63AE-DFA3-B6BC-6B77-0D320E2EB042}"/>
              </a:ext>
            </a:extLst>
          </p:cNvPr>
          <p:cNvSpPr txBox="1"/>
          <p:nvPr/>
        </p:nvSpPr>
        <p:spPr>
          <a:xfrm>
            <a:off x="1089212" y="2131490"/>
            <a:ext cx="4572000" cy="1446550"/>
          </a:xfrm>
          <a:prstGeom prst="rect">
            <a:avLst/>
          </a:prstGeom>
          <a:noFill/>
        </p:spPr>
        <p:txBody>
          <a:bodyPr wrap="square">
            <a:spAutoFit/>
          </a:bodyPr>
          <a:lstStyle/>
          <a:p>
            <a:pPr algn="r" rtl="1">
              <a:buNone/>
            </a:pPr>
            <a:r>
              <a:rPr lang="en-US" sz="2800" b="1">
                <a:cs typeface="2  Titr" panose="00000700000000000000" pitchFamily="2" charset="-78"/>
              </a:rPr>
              <a:t> </a:t>
            </a:r>
            <a:r>
              <a:rPr lang="ar-SA" sz="2800" b="1">
                <a:cs typeface="2  Titr" panose="00000700000000000000" pitchFamily="2" charset="-78"/>
              </a:rPr>
              <a:t>گام بعدی شما:</a:t>
            </a:r>
          </a:p>
          <a:p>
            <a:pPr marL="342900" indent="-342900" algn="r" rtl="1">
              <a:buFont typeface="Wingdings" panose="05000000000000000000" pitchFamily="2" charset="2"/>
              <a:buChar char="ü"/>
            </a:pPr>
            <a:r>
              <a:rPr lang="ar-SA" sz="2000">
                <a:cs typeface="2  Nazanin" panose="00000400000000000000" pitchFamily="2" charset="-78"/>
              </a:rPr>
              <a:t>تمرین روزانه</a:t>
            </a:r>
          </a:p>
          <a:p>
            <a:pPr marL="342900" indent="-342900" algn="r" rtl="1">
              <a:buFont typeface="Wingdings" panose="05000000000000000000" pitchFamily="2" charset="2"/>
              <a:buChar char="ü"/>
            </a:pPr>
            <a:r>
              <a:rPr lang="ar-SA" sz="2000">
                <a:cs typeface="2  Nazanin" panose="00000400000000000000" pitchFamily="2" charset="-78"/>
              </a:rPr>
              <a:t>ساخت محتوای آموزشی با </a:t>
            </a:r>
            <a:r>
              <a:rPr lang="en-US" sz="2000">
                <a:cs typeface="2  Nazanin" panose="00000400000000000000" pitchFamily="2" charset="-78"/>
              </a:rPr>
              <a:t>AI</a:t>
            </a:r>
          </a:p>
          <a:p>
            <a:pPr marL="342900" indent="-342900" algn="r" rtl="1">
              <a:buFont typeface="Wingdings" panose="05000000000000000000" pitchFamily="2" charset="2"/>
              <a:buChar char="ü"/>
            </a:pPr>
            <a:r>
              <a:rPr lang="ar-SA" sz="2000">
                <a:cs typeface="2  Nazanin" panose="00000400000000000000" pitchFamily="2" charset="-78"/>
              </a:rPr>
              <a:t>به‌اشتراک‌گذاری تجربه‌ها با دیگر مربیان</a:t>
            </a:r>
          </a:p>
        </p:txBody>
      </p:sp>
      <p:sp>
        <p:nvSpPr>
          <p:cNvPr id="3" name="TextBox 2">
            <a:extLst>
              <a:ext uri="{FF2B5EF4-FFF2-40B4-BE49-F238E27FC236}">
                <a16:creationId xmlns:a16="http://schemas.microsoft.com/office/drawing/2014/main" id="{2BDBCC90-D308-8F7C-3887-3E454AB56898}"/>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129</a:t>
            </a:r>
            <a:endParaRPr lang="fa-IR" sz="1200"/>
          </a:p>
        </p:txBody>
      </p:sp>
    </p:spTree>
    <p:extLst>
      <p:ext uri="{BB962C8B-B14F-4D97-AF65-F5344CB8AC3E}">
        <p14:creationId xmlns:p14="http://schemas.microsoft.com/office/powerpoint/2010/main" val="28969852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1C86C8-1231-2DC9-706E-B748ECDFC4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0FFD5B-E601-D648-8782-FEE423F42843}"/>
              </a:ext>
            </a:extLst>
          </p:cNvPr>
          <p:cNvSpPr txBox="1"/>
          <p:nvPr/>
        </p:nvSpPr>
        <p:spPr>
          <a:xfrm>
            <a:off x="3455862" y="312640"/>
            <a:ext cx="5477329" cy="6247864"/>
          </a:xfrm>
          <a:prstGeom prst="rect">
            <a:avLst/>
          </a:prstGeom>
          <a:noFill/>
        </p:spPr>
        <p:txBody>
          <a:bodyPr wrap="square">
            <a:spAutoFit/>
          </a:bodyPr>
          <a:lstStyle/>
          <a:p>
            <a:pPr algn="r" rtl="1"/>
            <a:r>
              <a:rPr lang="en-US" sz="2000" dirty="0">
                <a:cs typeface="Nazanin" panose="00000400000000000000" pitchFamily="2" charset="-78"/>
              </a:rPr>
              <a:t>💥 </a:t>
            </a:r>
            <a:r>
              <a:rPr lang="en-US" sz="2000" dirty="0" err="1">
                <a:cs typeface="Nazanin" panose="00000400000000000000" pitchFamily="2" charset="-78"/>
              </a:rPr>
              <a:t>ساده‌ترین</a:t>
            </a:r>
            <a:r>
              <a:rPr lang="en-US" sz="2000" dirty="0">
                <a:cs typeface="Nazanin" panose="00000400000000000000" pitchFamily="2" charset="-78"/>
              </a:rPr>
              <a:t> </a:t>
            </a:r>
            <a:r>
              <a:rPr lang="en-US" sz="2000" dirty="0" err="1">
                <a:cs typeface="Nazanin" panose="00000400000000000000" pitchFamily="2" charset="-78"/>
              </a:rPr>
              <a:t>روش</a:t>
            </a:r>
            <a:r>
              <a:rPr lang="en-US" sz="2000" dirty="0">
                <a:cs typeface="Nazanin" panose="00000400000000000000" pitchFamily="2" charset="-78"/>
              </a:rPr>
              <a:t> </a:t>
            </a:r>
            <a:r>
              <a:rPr lang="en-US" sz="2000" dirty="0" err="1">
                <a:cs typeface="Nazanin" panose="00000400000000000000" pitchFamily="2" charset="-78"/>
              </a:rPr>
              <a:t>نمایش</a:t>
            </a:r>
            <a:r>
              <a:rPr lang="en-US" sz="2000" dirty="0">
                <a:cs typeface="Nazanin" panose="00000400000000000000" pitchFamily="2" charset="-78"/>
              </a:rPr>
              <a:t> </a:t>
            </a:r>
            <a:r>
              <a:rPr lang="en-US" sz="2000" dirty="0" err="1">
                <a:cs typeface="Nazanin" panose="00000400000000000000" pitchFamily="2" charset="-78"/>
              </a:rPr>
              <a:t>صفحه</a:t>
            </a:r>
            <a:r>
              <a:rPr lang="en-US" sz="2000" dirty="0">
                <a:cs typeface="Nazanin" panose="00000400000000000000" pitchFamily="2" charset="-78"/>
              </a:rPr>
              <a:t> </a:t>
            </a:r>
            <a:r>
              <a:rPr lang="en-US" sz="2000" dirty="0" err="1">
                <a:cs typeface="Nazanin" panose="00000400000000000000" pitchFamily="2" charset="-78"/>
              </a:rPr>
              <a:t>گوشی</a:t>
            </a:r>
            <a:r>
              <a:rPr lang="en-US" sz="2000" dirty="0">
                <a:cs typeface="Nazanin" panose="00000400000000000000" pitchFamily="2" charset="-78"/>
              </a:rPr>
              <a:t> </a:t>
            </a:r>
            <a:r>
              <a:rPr lang="en-US" sz="2000" dirty="0" err="1">
                <a:cs typeface="Nazanin" panose="00000400000000000000" pitchFamily="2" charset="-78"/>
              </a:rPr>
              <a:t>روی</a:t>
            </a:r>
            <a:r>
              <a:rPr lang="en-US" sz="2000" dirty="0">
                <a:cs typeface="Nazanin" panose="00000400000000000000" pitchFamily="2" charset="-78"/>
              </a:rPr>
              <a:t> </a:t>
            </a:r>
            <a:r>
              <a:rPr lang="en-US" sz="2000" dirty="0" err="1">
                <a:cs typeface="Nazanin" panose="00000400000000000000" pitchFamily="2" charset="-78"/>
              </a:rPr>
              <a:t>کامپیوتر</a:t>
            </a:r>
            <a:endParaRPr lang="en-US" sz="2000" dirty="0">
              <a:cs typeface="Nazanin" panose="00000400000000000000" pitchFamily="2" charset="-78"/>
            </a:endParaRPr>
          </a:p>
          <a:p>
            <a:pPr algn="r" rtl="1"/>
            <a:endParaRPr lang="en-US" sz="2000" dirty="0">
              <a:cs typeface="Nazanin" panose="00000400000000000000" pitchFamily="2" charset="-78"/>
            </a:endParaRPr>
          </a:p>
          <a:p>
            <a:pPr algn="r" rtl="1"/>
            <a:r>
              <a:rPr lang="en-US" sz="2000" dirty="0">
                <a:cs typeface="Nazanin" panose="00000400000000000000" pitchFamily="2" charset="-78"/>
              </a:rPr>
              <a:t>1⃣ </a:t>
            </a:r>
            <a:r>
              <a:rPr lang="en-US" sz="2000" dirty="0" err="1">
                <a:cs typeface="Nazanin" panose="00000400000000000000" pitchFamily="2" charset="-78"/>
              </a:rPr>
              <a:t>ابتدا</a:t>
            </a:r>
            <a:r>
              <a:rPr lang="en-US" sz="2000" dirty="0">
                <a:cs typeface="Nazanin" panose="00000400000000000000" pitchFamily="2" charset="-78"/>
              </a:rPr>
              <a:t> </a:t>
            </a:r>
            <a:r>
              <a:rPr lang="en-US" sz="2000" dirty="0" err="1">
                <a:cs typeface="Nazanin" panose="00000400000000000000" pitchFamily="2" charset="-78"/>
              </a:rPr>
              <a:t>وارد</a:t>
            </a:r>
            <a:r>
              <a:rPr lang="en-US" sz="2000" dirty="0">
                <a:cs typeface="Nazanin" panose="00000400000000000000" pitchFamily="2" charset="-78"/>
              </a:rPr>
              <a:t> </a:t>
            </a:r>
            <a:r>
              <a:rPr lang="en-US" sz="2000" dirty="0" err="1">
                <a:cs typeface="Nazanin" panose="00000400000000000000" pitchFamily="2" charset="-78"/>
              </a:rPr>
              <a:t>منوی</a:t>
            </a:r>
            <a:r>
              <a:rPr lang="en-US" sz="2000" dirty="0">
                <a:cs typeface="Nazanin" panose="00000400000000000000" pitchFamily="2" charset="-78"/>
              </a:rPr>
              <a:t> </a:t>
            </a:r>
            <a:r>
              <a:rPr lang="en-US" sz="2000" dirty="0" err="1">
                <a:cs typeface="Nazanin" panose="00000400000000000000" pitchFamily="2" charset="-78"/>
              </a:rPr>
              <a:t>استارت</a:t>
            </a:r>
            <a:r>
              <a:rPr lang="en-US" sz="2000" dirty="0">
                <a:cs typeface="Nazanin" panose="00000400000000000000" pitchFamily="2" charset="-78"/>
              </a:rPr>
              <a:t> </a:t>
            </a:r>
            <a:r>
              <a:rPr lang="en-US" sz="2000" dirty="0" err="1">
                <a:cs typeface="Nazanin" panose="00000400000000000000" pitchFamily="2" charset="-78"/>
              </a:rPr>
              <a:t>شوید</a:t>
            </a:r>
            <a:r>
              <a:rPr lang="en-US" sz="2000" dirty="0">
                <a:cs typeface="Nazanin" panose="00000400000000000000" pitchFamily="2" charset="-78"/>
              </a:rPr>
              <a:t> و </a:t>
            </a:r>
            <a:r>
              <a:rPr lang="en-US" sz="2000" dirty="0" err="1">
                <a:cs typeface="Nazanin" panose="00000400000000000000" pitchFamily="2" charset="-78"/>
              </a:rPr>
              <a:t>عبارت</a:t>
            </a:r>
            <a:r>
              <a:rPr lang="en-US" sz="2000" dirty="0">
                <a:cs typeface="Nazanin" panose="00000400000000000000" pitchFamily="2" charset="-78"/>
              </a:rPr>
              <a:t> Wireless Display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جستجو</a:t>
            </a:r>
            <a:r>
              <a:rPr lang="en-US" sz="2000" dirty="0">
                <a:cs typeface="Nazanin" panose="00000400000000000000" pitchFamily="2" charset="-78"/>
              </a:rPr>
              <a:t> و </a:t>
            </a:r>
            <a:r>
              <a:rPr lang="en-US" sz="2000" dirty="0" err="1">
                <a:cs typeface="Nazanin" panose="00000400000000000000" pitchFamily="2" charset="-78"/>
              </a:rPr>
              <a:t>اجرا</a:t>
            </a:r>
            <a:r>
              <a:rPr lang="en-US" sz="2000" dirty="0">
                <a:cs typeface="Nazanin" panose="00000400000000000000" pitchFamily="2" charset="-78"/>
              </a:rPr>
              <a:t> </a:t>
            </a:r>
            <a:r>
              <a:rPr lang="en-US" sz="2000" dirty="0" err="1">
                <a:cs typeface="Nazanin" panose="00000400000000000000" pitchFamily="2" charset="-78"/>
              </a:rPr>
              <a:t>کنید</a:t>
            </a:r>
            <a:r>
              <a:rPr lang="en-US" sz="2000" dirty="0">
                <a:cs typeface="Nazanin" panose="00000400000000000000" pitchFamily="2" charset="-78"/>
              </a:rPr>
              <a:t>.</a:t>
            </a:r>
          </a:p>
          <a:p>
            <a:pPr algn="r" rtl="1"/>
            <a:endParaRPr lang="en-US" sz="2000" dirty="0">
              <a:cs typeface="Nazanin" panose="00000400000000000000" pitchFamily="2" charset="-78"/>
            </a:endParaRPr>
          </a:p>
          <a:p>
            <a:pPr algn="r" rtl="1"/>
            <a:r>
              <a:rPr lang="en-US" sz="2000" dirty="0">
                <a:cs typeface="Nazanin" panose="00000400000000000000" pitchFamily="2" charset="-78"/>
              </a:rPr>
              <a:t>(</a:t>
            </a:r>
            <a:r>
              <a:rPr lang="en-US" sz="2000" dirty="0" err="1">
                <a:cs typeface="Nazanin" panose="00000400000000000000" pitchFamily="2" charset="-78"/>
              </a:rPr>
              <a:t>اگر</a:t>
            </a:r>
            <a:r>
              <a:rPr lang="en-US" sz="2000" dirty="0">
                <a:cs typeface="Nazanin" panose="00000400000000000000" pitchFamily="2" charset="-78"/>
              </a:rPr>
              <a:t> </a:t>
            </a:r>
            <a:r>
              <a:rPr lang="en-US" sz="2000" dirty="0" err="1">
                <a:cs typeface="Nazanin" panose="00000400000000000000" pitchFamily="2" charset="-78"/>
              </a:rPr>
              <a:t>این</a:t>
            </a:r>
            <a:r>
              <a:rPr lang="en-US" sz="2000" dirty="0">
                <a:cs typeface="Nazanin" panose="00000400000000000000" pitchFamily="2" charset="-78"/>
              </a:rPr>
              <a:t> </a:t>
            </a:r>
            <a:r>
              <a:rPr lang="en-US" sz="2000" dirty="0" err="1">
                <a:cs typeface="Nazanin" panose="00000400000000000000" pitchFamily="2" charset="-78"/>
              </a:rPr>
              <a:t>برنامه</a:t>
            </a:r>
            <a:r>
              <a:rPr lang="en-US" sz="2000" dirty="0">
                <a:cs typeface="Nazanin" panose="00000400000000000000" pitchFamily="2" charset="-78"/>
              </a:rPr>
              <a:t>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پیدا</a:t>
            </a:r>
            <a:r>
              <a:rPr lang="en-US" sz="2000" dirty="0">
                <a:cs typeface="Nazanin" panose="00000400000000000000" pitchFamily="2" charset="-78"/>
              </a:rPr>
              <a:t> </a:t>
            </a:r>
            <a:r>
              <a:rPr lang="en-US" sz="2000" dirty="0" err="1">
                <a:cs typeface="Nazanin" panose="00000400000000000000" pitchFamily="2" charset="-78"/>
              </a:rPr>
              <a:t>نکردید</a:t>
            </a:r>
            <a:r>
              <a:rPr lang="en-US" sz="2000" dirty="0">
                <a:cs typeface="Nazanin" panose="00000400000000000000" pitchFamily="2" charset="-78"/>
              </a:rPr>
              <a:t>، </a:t>
            </a:r>
            <a:r>
              <a:rPr lang="en-US" sz="2000" dirty="0" err="1">
                <a:cs typeface="Nazanin" panose="00000400000000000000" pitchFamily="2" charset="-78"/>
              </a:rPr>
              <a:t>در</a:t>
            </a:r>
            <a:r>
              <a:rPr lang="en-US" sz="2000" dirty="0">
                <a:cs typeface="Nazanin" panose="00000400000000000000" pitchFamily="2" charset="-78"/>
              </a:rPr>
              <a:t> </a:t>
            </a:r>
            <a:r>
              <a:rPr lang="en-US" sz="2000" dirty="0" err="1">
                <a:cs typeface="Nazanin" panose="00000400000000000000" pitchFamily="2" charset="-78"/>
              </a:rPr>
              <a:t>استارت</a:t>
            </a:r>
            <a:r>
              <a:rPr lang="en-US" sz="2000" dirty="0">
                <a:cs typeface="Nazanin" panose="00000400000000000000" pitchFamily="2" charset="-78"/>
              </a:rPr>
              <a:t> Optional Features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سرچ</a:t>
            </a:r>
            <a:r>
              <a:rPr lang="en-US" sz="2000" dirty="0">
                <a:cs typeface="Nazanin" panose="00000400000000000000" pitchFamily="2" charset="-78"/>
              </a:rPr>
              <a:t> </a:t>
            </a:r>
            <a:r>
              <a:rPr lang="en-US" sz="2000" dirty="0" err="1">
                <a:cs typeface="Nazanin" panose="00000400000000000000" pitchFamily="2" charset="-78"/>
              </a:rPr>
              <a:t>کنید</a:t>
            </a:r>
            <a:r>
              <a:rPr lang="en-US" sz="2000" dirty="0">
                <a:cs typeface="Nazanin" panose="00000400000000000000" pitchFamily="2" charset="-78"/>
              </a:rPr>
              <a:t>، </a:t>
            </a:r>
            <a:r>
              <a:rPr lang="en-US" sz="2000" dirty="0" err="1">
                <a:cs typeface="Nazanin" panose="00000400000000000000" pitchFamily="2" charset="-78"/>
              </a:rPr>
              <a:t>سپس</a:t>
            </a:r>
            <a:r>
              <a:rPr lang="en-US" sz="2000" dirty="0">
                <a:cs typeface="Nazanin" panose="00000400000000000000" pitchFamily="2" charset="-78"/>
              </a:rPr>
              <a:t> </a:t>
            </a:r>
            <a:r>
              <a:rPr lang="en-US" sz="2000" dirty="0" err="1">
                <a:cs typeface="Nazanin" panose="00000400000000000000" pitchFamily="2" charset="-78"/>
              </a:rPr>
              <a:t>روی</a:t>
            </a:r>
            <a:r>
              <a:rPr lang="en-US" sz="2000" dirty="0">
                <a:cs typeface="Nazanin" panose="00000400000000000000" pitchFamily="2" charset="-78"/>
              </a:rPr>
              <a:t> Add a feature </a:t>
            </a:r>
            <a:r>
              <a:rPr lang="en-US" sz="2000" dirty="0" err="1">
                <a:cs typeface="Nazanin" panose="00000400000000000000" pitchFamily="2" charset="-78"/>
              </a:rPr>
              <a:t>بزنید</a:t>
            </a:r>
            <a:r>
              <a:rPr lang="en-US" sz="2000" dirty="0">
                <a:cs typeface="Nazanin" panose="00000400000000000000" pitchFamily="2" charset="-78"/>
              </a:rPr>
              <a:t> و </a:t>
            </a:r>
            <a:r>
              <a:rPr lang="en-US" sz="2000" dirty="0" err="1">
                <a:cs typeface="Nazanin" panose="00000400000000000000" pitchFamily="2" charset="-78"/>
              </a:rPr>
              <a:t>بعد</a:t>
            </a:r>
            <a:r>
              <a:rPr lang="en-US" sz="2000" dirty="0">
                <a:cs typeface="Nazanin" panose="00000400000000000000" pitchFamily="2" charset="-78"/>
              </a:rPr>
              <a:t> </a:t>
            </a:r>
            <a:r>
              <a:rPr lang="en-US" sz="2000" dirty="0" err="1">
                <a:cs typeface="Nazanin" panose="00000400000000000000" pitchFamily="2" charset="-78"/>
              </a:rPr>
              <a:t>از</a:t>
            </a:r>
            <a:r>
              <a:rPr lang="en-US" sz="2000" dirty="0">
                <a:cs typeface="Nazanin" panose="00000400000000000000" pitchFamily="2" charset="-78"/>
              </a:rPr>
              <a:t> </a:t>
            </a:r>
            <a:r>
              <a:rPr lang="en-US" sz="2000" dirty="0" err="1">
                <a:cs typeface="Nazanin" panose="00000400000000000000" pitchFamily="2" charset="-78"/>
              </a:rPr>
              <a:t>لیست</a:t>
            </a:r>
            <a:r>
              <a:rPr lang="en-US" sz="2000" dirty="0">
                <a:cs typeface="Nazanin" panose="00000400000000000000" pitchFamily="2" charset="-78"/>
              </a:rPr>
              <a:t>، Wireless Display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اضافه</a:t>
            </a:r>
            <a:r>
              <a:rPr lang="en-US" sz="2000" dirty="0">
                <a:cs typeface="Nazanin" panose="00000400000000000000" pitchFamily="2" charset="-78"/>
              </a:rPr>
              <a:t> و </a:t>
            </a:r>
            <a:r>
              <a:rPr lang="en-US" sz="2000" dirty="0" err="1">
                <a:cs typeface="Nazanin" panose="00000400000000000000" pitchFamily="2" charset="-78"/>
              </a:rPr>
              <a:t>نصب</a:t>
            </a:r>
            <a:r>
              <a:rPr lang="en-US" sz="2000" dirty="0">
                <a:cs typeface="Nazanin" panose="00000400000000000000" pitchFamily="2" charset="-78"/>
              </a:rPr>
              <a:t> </a:t>
            </a:r>
            <a:r>
              <a:rPr lang="en-US" sz="2000" dirty="0" err="1">
                <a:cs typeface="Nazanin" panose="00000400000000000000" pitchFamily="2" charset="-78"/>
              </a:rPr>
              <a:t>کنید</a:t>
            </a:r>
            <a:r>
              <a:rPr lang="en-US" sz="2000" dirty="0">
                <a:cs typeface="Nazanin" panose="00000400000000000000" pitchFamily="2" charset="-78"/>
              </a:rPr>
              <a:t>. </a:t>
            </a:r>
            <a:r>
              <a:rPr lang="en-US" sz="2000" dirty="0" err="1">
                <a:cs typeface="Nazanin" panose="00000400000000000000" pitchFamily="2" charset="-78"/>
              </a:rPr>
              <a:t>پس</a:t>
            </a:r>
            <a:r>
              <a:rPr lang="en-US" sz="2000" dirty="0">
                <a:cs typeface="Nazanin" panose="00000400000000000000" pitchFamily="2" charset="-78"/>
              </a:rPr>
              <a:t> </a:t>
            </a:r>
            <a:r>
              <a:rPr lang="en-US" sz="2000" dirty="0" err="1">
                <a:cs typeface="Nazanin" panose="00000400000000000000" pitchFamily="2" charset="-78"/>
              </a:rPr>
              <a:t>از</a:t>
            </a:r>
            <a:r>
              <a:rPr lang="en-US" sz="2000" dirty="0">
                <a:cs typeface="Nazanin" panose="00000400000000000000" pitchFamily="2" charset="-78"/>
              </a:rPr>
              <a:t> </a:t>
            </a:r>
            <a:r>
              <a:rPr lang="en-US" sz="2000" dirty="0" err="1">
                <a:cs typeface="Nazanin" panose="00000400000000000000" pitchFamily="2" charset="-78"/>
              </a:rPr>
              <a:t>نصب</a:t>
            </a:r>
            <a:r>
              <a:rPr lang="en-US" sz="2000" dirty="0">
                <a:cs typeface="Nazanin" panose="00000400000000000000" pitchFamily="2" charset="-78"/>
              </a:rPr>
              <a:t>، </a:t>
            </a:r>
            <a:r>
              <a:rPr lang="en-US" sz="2000" dirty="0" err="1">
                <a:cs typeface="Nazanin" panose="00000400000000000000" pitchFamily="2" charset="-78"/>
              </a:rPr>
              <a:t>دوباره</a:t>
            </a:r>
            <a:r>
              <a:rPr lang="en-US" sz="2000" dirty="0">
                <a:cs typeface="Nazanin" panose="00000400000000000000" pitchFamily="2" charset="-78"/>
              </a:rPr>
              <a:t> </a:t>
            </a:r>
            <a:r>
              <a:rPr lang="en-US" sz="2000" dirty="0" err="1">
                <a:cs typeface="Nazanin" panose="00000400000000000000" pitchFamily="2" charset="-78"/>
              </a:rPr>
              <a:t>در</a:t>
            </a:r>
            <a:r>
              <a:rPr lang="en-US" sz="2000" dirty="0">
                <a:cs typeface="Nazanin" panose="00000400000000000000" pitchFamily="2" charset="-78"/>
              </a:rPr>
              <a:t> </a:t>
            </a:r>
            <a:r>
              <a:rPr lang="en-US" sz="2000" dirty="0" err="1">
                <a:cs typeface="Nazanin" panose="00000400000000000000" pitchFamily="2" charset="-78"/>
              </a:rPr>
              <a:t>منو</a:t>
            </a:r>
            <a:r>
              <a:rPr lang="en-US" sz="2000" dirty="0">
                <a:cs typeface="Nazanin" panose="00000400000000000000" pitchFamily="2" charset="-78"/>
              </a:rPr>
              <a:t> </a:t>
            </a:r>
            <a:r>
              <a:rPr lang="en-US" sz="2000" dirty="0" err="1">
                <a:cs typeface="Nazanin" panose="00000400000000000000" pitchFamily="2" charset="-78"/>
              </a:rPr>
              <a:t>آن</a:t>
            </a:r>
            <a:r>
              <a:rPr lang="en-US" sz="2000" dirty="0">
                <a:cs typeface="Nazanin" panose="00000400000000000000" pitchFamily="2" charset="-78"/>
              </a:rPr>
              <a:t>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جستجو</a:t>
            </a:r>
            <a:r>
              <a:rPr lang="en-US" sz="2000" dirty="0">
                <a:cs typeface="Nazanin" panose="00000400000000000000" pitchFamily="2" charset="-78"/>
              </a:rPr>
              <a:t> </a:t>
            </a:r>
            <a:r>
              <a:rPr lang="en-US" sz="2000" dirty="0" err="1">
                <a:cs typeface="Nazanin" panose="00000400000000000000" pitchFamily="2" charset="-78"/>
              </a:rPr>
              <a:t>کنید</a:t>
            </a:r>
            <a:r>
              <a:rPr lang="en-US" sz="2000" dirty="0">
                <a:cs typeface="Nazanin" panose="00000400000000000000" pitchFamily="2" charset="-78"/>
              </a:rPr>
              <a:t>.)</a:t>
            </a:r>
          </a:p>
          <a:p>
            <a:pPr algn="r" rtl="1"/>
            <a:endParaRPr lang="en-US" sz="2000" dirty="0">
              <a:cs typeface="Nazanin" panose="00000400000000000000" pitchFamily="2" charset="-78"/>
            </a:endParaRPr>
          </a:p>
          <a:p>
            <a:pPr algn="r" rtl="1"/>
            <a:r>
              <a:rPr lang="en-US" sz="2000" dirty="0">
                <a:cs typeface="Nazanin" panose="00000400000000000000" pitchFamily="2" charset="-78"/>
              </a:rPr>
              <a:t>2⃣ </a:t>
            </a:r>
            <a:r>
              <a:rPr lang="en-US" sz="2000" dirty="0" err="1">
                <a:cs typeface="Nazanin" panose="00000400000000000000" pitchFamily="2" charset="-78"/>
              </a:rPr>
              <a:t>پس</a:t>
            </a:r>
            <a:r>
              <a:rPr lang="en-US" sz="2000" dirty="0">
                <a:cs typeface="Nazanin" panose="00000400000000000000" pitchFamily="2" charset="-78"/>
              </a:rPr>
              <a:t> </a:t>
            </a:r>
            <a:r>
              <a:rPr lang="en-US" sz="2000" dirty="0" err="1">
                <a:cs typeface="Nazanin" panose="00000400000000000000" pitchFamily="2" charset="-78"/>
              </a:rPr>
              <a:t>از</a:t>
            </a:r>
            <a:r>
              <a:rPr lang="en-US" sz="2000" dirty="0">
                <a:cs typeface="Nazanin" panose="00000400000000000000" pitchFamily="2" charset="-78"/>
              </a:rPr>
              <a:t> </a:t>
            </a:r>
            <a:r>
              <a:rPr lang="en-US" sz="2000" dirty="0" err="1">
                <a:cs typeface="Nazanin" panose="00000400000000000000" pitchFamily="2" charset="-78"/>
              </a:rPr>
              <a:t>باز</a:t>
            </a:r>
            <a:r>
              <a:rPr lang="en-US" sz="2000" dirty="0">
                <a:cs typeface="Nazanin" panose="00000400000000000000" pitchFamily="2" charset="-78"/>
              </a:rPr>
              <a:t> </a:t>
            </a:r>
            <a:r>
              <a:rPr lang="en-US" sz="2000" dirty="0" err="1">
                <a:cs typeface="Nazanin" panose="00000400000000000000" pitchFamily="2" charset="-78"/>
              </a:rPr>
              <a:t>کردن</a:t>
            </a:r>
            <a:r>
              <a:rPr lang="en-US" sz="2000" dirty="0">
                <a:cs typeface="Nazanin" panose="00000400000000000000" pitchFamily="2" charset="-78"/>
              </a:rPr>
              <a:t> Wireless Display </a:t>
            </a:r>
            <a:r>
              <a:rPr lang="en-US" sz="2000" dirty="0" err="1">
                <a:cs typeface="Nazanin" panose="00000400000000000000" pitchFamily="2" charset="-78"/>
              </a:rPr>
              <a:t>روی</a:t>
            </a:r>
            <a:r>
              <a:rPr lang="en-US" sz="2000" dirty="0">
                <a:cs typeface="Nazanin" panose="00000400000000000000" pitchFamily="2" charset="-78"/>
              </a:rPr>
              <a:t> </a:t>
            </a:r>
            <a:r>
              <a:rPr lang="en-US" sz="2000" dirty="0" err="1">
                <a:cs typeface="Nazanin" panose="00000400000000000000" pitchFamily="2" charset="-78"/>
              </a:rPr>
              <a:t>کامپیوتر</a:t>
            </a:r>
            <a:r>
              <a:rPr lang="en-US" sz="2000" dirty="0">
                <a:cs typeface="Nazanin" panose="00000400000000000000" pitchFamily="2" charset="-78"/>
              </a:rPr>
              <a:t>، </a:t>
            </a:r>
            <a:r>
              <a:rPr lang="en-US" sz="2000" dirty="0" err="1">
                <a:cs typeface="Nazanin" panose="00000400000000000000" pitchFamily="2" charset="-78"/>
              </a:rPr>
              <a:t>کافیست</a:t>
            </a:r>
            <a:r>
              <a:rPr lang="en-US" sz="2000" dirty="0">
                <a:cs typeface="Nazanin" panose="00000400000000000000" pitchFamily="2" charset="-78"/>
              </a:rPr>
              <a:t> </a:t>
            </a:r>
            <a:r>
              <a:rPr lang="en-US" sz="2000" dirty="0" err="1">
                <a:cs typeface="Nazanin" panose="00000400000000000000" pitchFamily="2" charset="-78"/>
              </a:rPr>
              <a:t>به</a:t>
            </a:r>
            <a:r>
              <a:rPr lang="en-US" sz="2000" dirty="0">
                <a:cs typeface="Nazanin" panose="00000400000000000000" pitchFamily="2" charset="-78"/>
              </a:rPr>
              <a:t> </a:t>
            </a:r>
            <a:r>
              <a:rPr lang="en-US" sz="2000" dirty="0" err="1">
                <a:cs typeface="Nazanin" panose="00000400000000000000" pitchFamily="2" charset="-78"/>
              </a:rPr>
              <a:t>گوشی</a:t>
            </a:r>
            <a:r>
              <a:rPr lang="en-US" sz="2000" dirty="0">
                <a:cs typeface="Nazanin" panose="00000400000000000000" pitchFamily="2" charset="-78"/>
              </a:rPr>
              <a:t> </a:t>
            </a:r>
            <a:r>
              <a:rPr lang="en-US" sz="2000" dirty="0" err="1">
                <a:cs typeface="Nazanin" panose="00000400000000000000" pitchFamily="2" charset="-78"/>
              </a:rPr>
              <a:t>خود</a:t>
            </a:r>
            <a:r>
              <a:rPr lang="en-US" sz="2000" dirty="0">
                <a:cs typeface="Nazanin" panose="00000400000000000000" pitchFamily="2" charset="-78"/>
              </a:rPr>
              <a:t> </a:t>
            </a:r>
            <a:r>
              <a:rPr lang="en-US" sz="2000" dirty="0" err="1">
                <a:cs typeface="Nazanin" panose="00000400000000000000" pitchFamily="2" charset="-78"/>
              </a:rPr>
              <a:t>بروید</a:t>
            </a:r>
            <a:r>
              <a:rPr lang="en-US" sz="2000" dirty="0">
                <a:cs typeface="Nazanin" panose="00000400000000000000" pitchFamily="2" charset="-78"/>
              </a:rPr>
              <a:t>:</a:t>
            </a:r>
          </a:p>
          <a:p>
            <a:pPr algn="r" rtl="1"/>
            <a:endParaRPr lang="en-US" sz="2000" dirty="0">
              <a:cs typeface="Nazanin" panose="00000400000000000000" pitchFamily="2" charset="-78"/>
            </a:endParaRPr>
          </a:p>
          <a:p>
            <a:pPr algn="r" rtl="1"/>
            <a:r>
              <a:rPr lang="en-US" sz="2000" dirty="0" err="1">
                <a:cs typeface="Nazanin" panose="00000400000000000000" pitchFamily="2" charset="-78"/>
              </a:rPr>
              <a:t>در</a:t>
            </a:r>
            <a:r>
              <a:rPr lang="en-US" sz="2000" dirty="0">
                <a:cs typeface="Nazanin" panose="00000400000000000000" pitchFamily="2" charset="-78"/>
              </a:rPr>
              <a:t> </a:t>
            </a:r>
            <a:r>
              <a:rPr lang="en-US" sz="2000" dirty="0" err="1">
                <a:cs typeface="Nazanin" panose="00000400000000000000" pitchFamily="2" charset="-78"/>
              </a:rPr>
              <a:t>آیفون</a:t>
            </a:r>
            <a:r>
              <a:rPr lang="en-US" sz="2000" dirty="0">
                <a:cs typeface="Nazanin" panose="00000400000000000000" pitchFamily="2" charset="-78"/>
              </a:rPr>
              <a:t> </a:t>
            </a:r>
            <a:r>
              <a:rPr lang="en-US" sz="2000" dirty="0" err="1">
                <a:cs typeface="Nazanin" panose="00000400000000000000" pitchFamily="2" charset="-78"/>
              </a:rPr>
              <a:t>گزینه</a:t>
            </a:r>
            <a:r>
              <a:rPr lang="en-US" sz="2000" dirty="0">
                <a:cs typeface="Nazanin" panose="00000400000000000000" pitchFamily="2" charset="-78"/>
              </a:rPr>
              <a:t> Screen Mirroring </a:t>
            </a:r>
          </a:p>
          <a:p>
            <a:pPr algn="r" rtl="1"/>
            <a:r>
              <a:rPr lang="en-US" sz="2000" dirty="0" err="1">
                <a:cs typeface="Nazanin" panose="00000400000000000000" pitchFamily="2" charset="-78"/>
              </a:rPr>
              <a:t>در</a:t>
            </a:r>
            <a:r>
              <a:rPr lang="en-US" sz="2000" dirty="0">
                <a:cs typeface="Nazanin" panose="00000400000000000000" pitchFamily="2" charset="-78"/>
              </a:rPr>
              <a:t> </a:t>
            </a:r>
            <a:r>
              <a:rPr lang="en-US" sz="2000" dirty="0" err="1">
                <a:cs typeface="Nazanin" panose="00000400000000000000" pitchFamily="2" charset="-78"/>
              </a:rPr>
              <a:t>گوشی‌های</a:t>
            </a:r>
            <a:r>
              <a:rPr lang="en-US" sz="2000" dirty="0">
                <a:cs typeface="Nazanin" panose="00000400000000000000" pitchFamily="2" charset="-78"/>
              </a:rPr>
              <a:t> </a:t>
            </a:r>
            <a:r>
              <a:rPr lang="en-US" sz="2000" dirty="0" err="1">
                <a:cs typeface="Nazanin" panose="00000400000000000000" pitchFamily="2" charset="-78"/>
              </a:rPr>
              <a:t>اندروید</a:t>
            </a:r>
            <a:r>
              <a:rPr lang="en-US" sz="2000" dirty="0">
                <a:cs typeface="Nazanin" panose="00000400000000000000" pitchFamily="2" charset="-78"/>
              </a:rPr>
              <a:t> </a:t>
            </a:r>
            <a:r>
              <a:rPr lang="en-US" sz="2000" dirty="0" err="1">
                <a:cs typeface="Nazanin" panose="00000400000000000000" pitchFamily="2" charset="-78"/>
              </a:rPr>
              <a:t>گزینه</a:t>
            </a:r>
            <a:r>
              <a:rPr lang="en-US" sz="2000" dirty="0">
                <a:cs typeface="Nazanin" panose="00000400000000000000" pitchFamily="2" charset="-78"/>
              </a:rPr>
              <a:t> Smart View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انتخاب</a:t>
            </a:r>
            <a:r>
              <a:rPr lang="en-US" sz="2000" dirty="0">
                <a:cs typeface="Nazanin" panose="00000400000000000000" pitchFamily="2" charset="-78"/>
              </a:rPr>
              <a:t> </a:t>
            </a:r>
            <a:r>
              <a:rPr lang="en-US" sz="2000" dirty="0" err="1">
                <a:cs typeface="Nazanin" panose="00000400000000000000" pitchFamily="2" charset="-78"/>
              </a:rPr>
              <a:t>کنید</a:t>
            </a:r>
            <a:r>
              <a:rPr lang="en-US" sz="2000" dirty="0">
                <a:cs typeface="Nazanin" panose="00000400000000000000" pitchFamily="2" charset="-78"/>
              </a:rPr>
              <a:t>. </a:t>
            </a:r>
          </a:p>
          <a:p>
            <a:pPr algn="r" rtl="1"/>
            <a:endParaRPr lang="en-US" sz="2000" dirty="0">
              <a:cs typeface="Nazanin" panose="00000400000000000000" pitchFamily="2" charset="-78"/>
            </a:endParaRPr>
          </a:p>
          <a:p>
            <a:pPr algn="r" rtl="1"/>
            <a:r>
              <a:rPr lang="en-US" sz="2000" dirty="0">
                <a:cs typeface="Nazanin" panose="00000400000000000000" pitchFamily="2" charset="-78"/>
              </a:rPr>
              <a:t>3⃣ </a:t>
            </a:r>
            <a:r>
              <a:rPr lang="en-US" sz="2000" dirty="0" err="1">
                <a:cs typeface="Nazanin" panose="00000400000000000000" pitchFamily="2" charset="-78"/>
              </a:rPr>
              <a:t>سپس</a:t>
            </a:r>
            <a:r>
              <a:rPr lang="en-US" sz="2000" dirty="0">
                <a:cs typeface="Nazanin" panose="00000400000000000000" pitchFamily="2" charset="-78"/>
              </a:rPr>
              <a:t> </a:t>
            </a:r>
            <a:r>
              <a:rPr lang="en-US" sz="2000" dirty="0" err="1">
                <a:cs typeface="Nazanin" panose="00000400000000000000" pitchFamily="2" charset="-78"/>
              </a:rPr>
              <a:t>نام</a:t>
            </a:r>
            <a:r>
              <a:rPr lang="en-US" sz="2000" dirty="0">
                <a:cs typeface="Nazanin" panose="00000400000000000000" pitchFamily="2" charset="-78"/>
              </a:rPr>
              <a:t> </a:t>
            </a:r>
            <a:r>
              <a:rPr lang="en-US" sz="2000" dirty="0" err="1">
                <a:cs typeface="Nazanin" panose="00000400000000000000" pitchFamily="2" charset="-78"/>
              </a:rPr>
              <a:t>کامپیوترتان</a:t>
            </a:r>
            <a:r>
              <a:rPr lang="en-US" sz="2000" dirty="0">
                <a:cs typeface="Nazanin" panose="00000400000000000000" pitchFamily="2" charset="-78"/>
              </a:rPr>
              <a:t> </a:t>
            </a:r>
            <a:r>
              <a:rPr lang="en-US" sz="2000" dirty="0" err="1">
                <a:cs typeface="Nazanin" panose="00000400000000000000" pitchFamily="2" charset="-78"/>
              </a:rPr>
              <a:t>را</a:t>
            </a:r>
            <a:r>
              <a:rPr lang="en-US" sz="2000" dirty="0">
                <a:cs typeface="Nazanin" panose="00000400000000000000" pitchFamily="2" charset="-78"/>
              </a:rPr>
              <a:t> </a:t>
            </a:r>
            <a:r>
              <a:rPr lang="en-US" sz="2000" dirty="0" err="1">
                <a:cs typeface="Nazanin" panose="00000400000000000000" pitchFamily="2" charset="-78"/>
              </a:rPr>
              <a:t>بزنید</a:t>
            </a:r>
            <a:r>
              <a:rPr lang="en-US" sz="2000" dirty="0">
                <a:cs typeface="Nazanin" panose="00000400000000000000" pitchFamily="2" charset="-78"/>
              </a:rPr>
              <a:t> و </a:t>
            </a:r>
            <a:r>
              <a:rPr lang="en-US" sz="2000" dirty="0" err="1">
                <a:cs typeface="Nazanin" panose="00000400000000000000" pitchFamily="2" charset="-78"/>
              </a:rPr>
              <a:t>به</a:t>
            </a:r>
            <a:r>
              <a:rPr lang="en-US" sz="2000" dirty="0">
                <a:cs typeface="Nazanin" panose="00000400000000000000" pitchFamily="2" charset="-78"/>
              </a:rPr>
              <a:t> </a:t>
            </a:r>
            <a:r>
              <a:rPr lang="en-US" sz="2000" dirty="0" err="1">
                <a:cs typeface="Nazanin" panose="00000400000000000000" pitchFamily="2" charset="-78"/>
              </a:rPr>
              <a:t>راحتی</a:t>
            </a:r>
            <a:r>
              <a:rPr lang="en-US" sz="2000" dirty="0">
                <a:cs typeface="Nazanin" panose="00000400000000000000" pitchFamily="2" charset="-78"/>
              </a:rPr>
              <a:t> </a:t>
            </a:r>
            <a:r>
              <a:rPr lang="en-US" sz="2000" dirty="0" err="1">
                <a:cs typeface="Nazanin" panose="00000400000000000000" pitchFamily="2" charset="-78"/>
              </a:rPr>
              <a:t>متصل</a:t>
            </a:r>
            <a:r>
              <a:rPr lang="en-US" sz="2000" dirty="0">
                <a:cs typeface="Nazanin" panose="00000400000000000000" pitchFamily="2" charset="-78"/>
              </a:rPr>
              <a:t> </a:t>
            </a:r>
            <a:r>
              <a:rPr lang="en-US" sz="2000" dirty="0" err="1">
                <a:cs typeface="Nazanin" panose="00000400000000000000" pitchFamily="2" charset="-78"/>
              </a:rPr>
              <a:t>شوید</a:t>
            </a:r>
            <a:endParaRPr lang="en-US" sz="2000" dirty="0">
              <a:cs typeface="Nazanin" panose="00000400000000000000" pitchFamily="2" charset="-78"/>
            </a:endParaRPr>
          </a:p>
          <a:p>
            <a:pPr algn="r" rtl="1"/>
            <a:endParaRPr lang="en-US" sz="2000" dirty="0">
              <a:cs typeface="Nazanin" panose="00000400000000000000" pitchFamily="2" charset="-78"/>
            </a:endParaRPr>
          </a:p>
          <a:p>
            <a:pPr algn="r" rtl="1"/>
            <a:r>
              <a:rPr lang="en-US" sz="2000" dirty="0" err="1">
                <a:cs typeface="Nazanin" panose="00000400000000000000" pitchFamily="2" charset="-78"/>
              </a:rPr>
              <a:t>این</a:t>
            </a:r>
            <a:r>
              <a:rPr lang="en-US" sz="2000" dirty="0">
                <a:cs typeface="Nazanin" panose="00000400000000000000" pitchFamily="2" charset="-78"/>
              </a:rPr>
              <a:t> </a:t>
            </a:r>
            <a:r>
              <a:rPr lang="en-US" sz="2000" dirty="0" err="1">
                <a:cs typeface="Nazanin" panose="00000400000000000000" pitchFamily="2" charset="-78"/>
              </a:rPr>
              <a:t>روش</a:t>
            </a:r>
            <a:r>
              <a:rPr lang="en-US" sz="2000" dirty="0">
                <a:cs typeface="Nazanin" panose="00000400000000000000" pitchFamily="2" charset="-78"/>
              </a:rPr>
              <a:t> </a:t>
            </a:r>
            <a:r>
              <a:rPr lang="en-US" sz="2000" dirty="0" err="1">
                <a:cs typeface="Nazanin" panose="00000400000000000000" pitchFamily="2" charset="-78"/>
              </a:rPr>
              <a:t>سرعت</a:t>
            </a:r>
            <a:r>
              <a:rPr lang="en-US" sz="2000" dirty="0">
                <a:cs typeface="Nazanin" panose="00000400000000000000" pitchFamily="2" charset="-78"/>
              </a:rPr>
              <a:t> </a:t>
            </a:r>
            <a:r>
              <a:rPr lang="en-US" sz="2000" dirty="0" err="1">
                <a:cs typeface="Nazanin" panose="00000400000000000000" pitchFamily="2" charset="-78"/>
              </a:rPr>
              <a:t>بسیار</a:t>
            </a:r>
            <a:r>
              <a:rPr lang="en-US" sz="2000" dirty="0">
                <a:cs typeface="Nazanin" panose="00000400000000000000" pitchFamily="2" charset="-78"/>
              </a:rPr>
              <a:t> </a:t>
            </a:r>
            <a:r>
              <a:rPr lang="en-US" sz="2000" dirty="0" err="1">
                <a:cs typeface="Nazanin" panose="00000400000000000000" pitchFamily="2" charset="-78"/>
              </a:rPr>
              <a:t>بالایی</a:t>
            </a:r>
            <a:r>
              <a:rPr lang="en-US" sz="2000" dirty="0">
                <a:cs typeface="Nazanin" panose="00000400000000000000" pitchFamily="2" charset="-78"/>
              </a:rPr>
              <a:t> </a:t>
            </a:r>
            <a:r>
              <a:rPr lang="en-US" sz="2000" dirty="0" err="1">
                <a:cs typeface="Nazanin" panose="00000400000000000000" pitchFamily="2" charset="-78"/>
              </a:rPr>
              <a:t>دارد</a:t>
            </a:r>
            <a:r>
              <a:rPr lang="en-US" sz="2000" dirty="0">
                <a:cs typeface="Nazanin" panose="00000400000000000000" pitchFamily="2" charset="-78"/>
              </a:rPr>
              <a:t> و </a:t>
            </a:r>
            <a:r>
              <a:rPr lang="en-US" sz="2000" dirty="0" err="1">
                <a:cs typeface="Nazanin" panose="00000400000000000000" pitchFamily="2" charset="-78"/>
              </a:rPr>
              <a:t>بدون</a:t>
            </a:r>
            <a:r>
              <a:rPr lang="en-US" sz="2000" dirty="0">
                <a:cs typeface="Nazanin" panose="00000400000000000000" pitchFamily="2" charset="-78"/>
              </a:rPr>
              <a:t> </a:t>
            </a:r>
            <a:r>
              <a:rPr lang="en-US" sz="2000" dirty="0" err="1">
                <a:cs typeface="Nazanin" panose="00000400000000000000" pitchFamily="2" charset="-78"/>
              </a:rPr>
              <a:t>لگ</a:t>
            </a:r>
            <a:r>
              <a:rPr lang="en-US" sz="2000" dirty="0">
                <a:cs typeface="Nazanin" panose="00000400000000000000" pitchFamily="2" charset="-78"/>
              </a:rPr>
              <a:t> </a:t>
            </a:r>
            <a:r>
              <a:rPr lang="en-US" sz="2000" dirty="0" err="1">
                <a:cs typeface="Nazanin" panose="00000400000000000000" pitchFamily="2" charset="-78"/>
              </a:rPr>
              <a:t>یا</a:t>
            </a:r>
            <a:r>
              <a:rPr lang="en-US" sz="2000" dirty="0">
                <a:cs typeface="Nazanin" panose="00000400000000000000" pitchFamily="2" charset="-78"/>
              </a:rPr>
              <a:t> </a:t>
            </a:r>
            <a:r>
              <a:rPr lang="en-US" sz="2000" dirty="0" err="1">
                <a:cs typeface="Nazanin" panose="00000400000000000000" pitchFamily="2" charset="-78"/>
              </a:rPr>
              <a:t>تأخیر</a:t>
            </a:r>
            <a:r>
              <a:rPr lang="en-US" sz="2000" dirty="0">
                <a:cs typeface="Nazanin" panose="00000400000000000000" pitchFamily="2" charset="-78"/>
              </a:rPr>
              <a:t>، </a:t>
            </a:r>
            <a:r>
              <a:rPr lang="en-US" sz="2000" dirty="0" err="1">
                <a:cs typeface="Nazanin" panose="00000400000000000000" pitchFamily="2" charset="-78"/>
              </a:rPr>
              <a:t>برای</a:t>
            </a:r>
            <a:r>
              <a:rPr lang="en-US" sz="2000" dirty="0">
                <a:cs typeface="Nazanin" panose="00000400000000000000" pitchFamily="2" charset="-78"/>
              </a:rPr>
              <a:t> </a:t>
            </a:r>
            <a:r>
              <a:rPr lang="en-US" sz="2000" dirty="0" err="1">
                <a:cs typeface="Nazanin" panose="00000400000000000000" pitchFamily="2" charset="-78"/>
              </a:rPr>
              <a:t>بازی</a:t>
            </a:r>
            <a:r>
              <a:rPr lang="en-US" sz="2000" dirty="0">
                <a:cs typeface="Nazanin" panose="00000400000000000000" pitchFamily="2" charset="-78"/>
              </a:rPr>
              <a:t>، </a:t>
            </a:r>
            <a:r>
              <a:rPr lang="en-US" sz="2000" dirty="0" err="1">
                <a:cs typeface="Nazanin" panose="00000400000000000000" pitchFamily="2" charset="-78"/>
              </a:rPr>
              <a:t>تماشای</a:t>
            </a:r>
            <a:r>
              <a:rPr lang="en-US" sz="2000" dirty="0">
                <a:cs typeface="Nazanin" panose="00000400000000000000" pitchFamily="2" charset="-78"/>
              </a:rPr>
              <a:t> </a:t>
            </a:r>
            <a:r>
              <a:rPr lang="en-US" sz="2000" dirty="0" err="1">
                <a:cs typeface="Nazanin" panose="00000400000000000000" pitchFamily="2" charset="-78"/>
              </a:rPr>
              <a:t>فیلم</a:t>
            </a:r>
            <a:r>
              <a:rPr lang="en-US" sz="2000" dirty="0">
                <a:cs typeface="Nazanin" panose="00000400000000000000" pitchFamily="2" charset="-78"/>
              </a:rPr>
              <a:t>، </a:t>
            </a:r>
            <a:r>
              <a:rPr lang="en-US" sz="2000" dirty="0" err="1">
                <a:cs typeface="Nazanin" panose="00000400000000000000" pitchFamily="2" charset="-78"/>
              </a:rPr>
              <a:t>سریال</a:t>
            </a:r>
            <a:r>
              <a:rPr lang="en-US" sz="2000" dirty="0">
                <a:cs typeface="Nazanin" panose="00000400000000000000" pitchFamily="2" charset="-78"/>
              </a:rPr>
              <a:t> و </a:t>
            </a:r>
            <a:r>
              <a:rPr lang="en-US" sz="2000" dirty="0" err="1">
                <a:cs typeface="Nazanin" panose="00000400000000000000" pitchFamily="2" charset="-78"/>
              </a:rPr>
              <a:t>کارهای</a:t>
            </a:r>
            <a:r>
              <a:rPr lang="en-US" sz="2000" dirty="0">
                <a:cs typeface="Nazanin" panose="00000400000000000000" pitchFamily="2" charset="-78"/>
              </a:rPr>
              <a:t> </a:t>
            </a:r>
            <a:r>
              <a:rPr lang="en-US" sz="2000" dirty="0" err="1">
                <a:cs typeface="Nazanin" panose="00000400000000000000" pitchFamily="2" charset="-78"/>
              </a:rPr>
              <a:t>روزمره</a:t>
            </a:r>
            <a:r>
              <a:rPr lang="en-US" sz="2000" dirty="0">
                <a:cs typeface="Nazanin" panose="00000400000000000000" pitchFamily="2" charset="-78"/>
              </a:rPr>
              <a:t> </a:t>
            </a:r>
            <a:r>
              <a:rPr lang="en-US" sz="2000" dirty="0" err="1">
                <a:cs typeface="Nazanin" panose="00000400000000000000" pitchFamily="2" charset="-78"/>
              </a:rPr>
              <a:t>فوق‌العاده</a:t>
            </a:r>
            <a:r>
              <a:rPr lang="en-US" sz="2000" dirty="0">
                <a:cs typeface="Nazanin" panose="00000400000000000000" pitchFamily="2" charset="-78"/>
              </a:rPr>
              <a:t> </a:t>
            </a:r>
            <a:r>
              <a:rPr lang="en-US" sz="2000" dirty="0" err="1">
                <a:cs typeface="Nazanin" panose="00000400000000000000" pitchFamily="2" charset="-78"/>
              </a:rPr>
              <a:t>است</a:t>
            </a:r>
            <a:r>
              <a:rPr lang="en-US" sz="2000" dirty="0">
                <a:cs typeface="Nazanin" panose="00000400000000000000" pitchFamily="2" charset="-78"/>
              </a:rPr>
              <a:t>.</a:t>
            </a:r>
          </a:p>
        </p:txBody>
      </p:sp>
      <p:pic>
        <p:nvPicPr>
          <p:cNvPr id="4" name="Picture 3">
            <a:extLst>
              <a:ext uri="{FF2B5EF4-FFF2-40B4-BE49-F238E27FC236}">
                <a16:creationId xmlns:a16="http://schemas.microsoft.com/office/drawing/2014/main" id="{CB39FD72-1EF8-ED72-697F-85DADFE465F1}"/>
              </a:ext>
            </a:extLst>
          </p:cNvPr>
          <p:cNvPicPr>
            <a:picLocks noChangeAspect="1"/>
          </p:cNvPicPr>
          <p:nvPr/>
        </p:nvPicPr>
        <p:blipFill>
          <a:blip r:embed="rId2"/>
          <a:stretch>
            <a:fillRect/>
          </a:stretch>
        </p:blipFill>
        <p:spPr>
          <a:xfrm>
            <a:off x="-2527946" y="1492203"/>
            <a:ext cx="5357813" cy="4357688"/>
          </a:xfrm>
          <a:prstGeom prst="rect">
            <a:avLst/>
          </a:prstGeom>
        </p:spPr>
      </p:pic>
      <p:grpSp>
        <p:nvGrpSpPr>
          <p:cNvPr id="7" name="Group 6">
            <a:extLst>
              <a:ext uri="{FF2B5EF4-FFF2-40B4-BE49-F238E27FC236}">
                <a16:creationId xmlns:a16="http://schemas.microsoft.com/office/drawing/2014/main" id="{10DF5C12-35E9-DDE3-2A76-6CA176B57459}"/>
              </a:ext>
            </a:extLst>
          </p:cNvPr>
          <p:cNvGrpSpPr/>
          <p:nvPr/>
        </p:nvGrpSpPr>
        <p:grpSpPr>
          <a:xfrm>
            <a:off x="786224" y="2955182"/>
            <a:ext cx="2247210" cy="262710"/>
            <a:chOff x="1048299" y="2797242"/>
            <a:chExt cx="2996280" cy="35028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87BF1292-B856-716C-FDB6-4A90061C863D}"/>
                    </a:ext>
                  </a:extLst>
                </p14:cNvPr>
                <p14:cNvContentPartPr/>
                <p14:nvPr/>
              </p14:nvContentPartPr>
              <p14:xfrm>
                <a:off x="1115619" y="2797242"/>
                <a:ext cx="2928960" cy="350280"/>
              </p14:xfrm>
            </p:contentPart>
          </mc:Choice>
          <mc:Fallback xmlns="">
            <p:pic>
              <p:nvPicPr>
                <p:cNvPr id="5" name="Ink 4">
                  <a:extLst>
                    <a:ext uri="{FF2B5EF4-FFF2-40B4-BE49-F238E27FC236}">
                      <a16:creationId xmlns:a16="http://schemas.microsoft.com/office/drawing/2014/main" id="{87BF1292-B856-716C-FDB6-4A90061C863D}"/>
                    </a:ext>
                  </a:extLst>
                </p:cNvPr>
                <p:cNvPicPr/>
                <p:nvPr/>
              </p:nvPicPr>
              <p:blipFill>
                <a:blip r:embed="rId4"/>
                <a:stretch>
                  <a:fillRect/>
                </a:stretch>
              </p:blipFill>
              <p:spPr>
                <a:xfrm>
                  <a:off x="1109499" y="2791122"/>
                  <a:ext cx="294120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C734497B-C487-DF79-A0E9-2D41913C009B}"/>
                    </a:ext>
                  </a:extLst>
                </p14:cNvPr>
                <p14:cNvContentPartPr/>
                <p14:nvPr/>
              </p14:nvContentPartPr>
              <p14:xfrm>
                <a:off x="1048299" y="2822442"/>
                <a:ext cx="252000" cy="230040"/>
              </p14:xfrm>
            </p:contentPart>
          </mc:Choice>
          <mc:Fallback xmlns="">
            <p:pic>
              <p:nvPicPr>
                <p:cNvPr id="6" name="Ink 5">
                  <a:extLst>
                    <a:ext uri="{FF2B5EF4-FFF2-40B4-BE49-F238E27FC236}">
                      <a16:creationId xmlns:a16="http://schemas.microsoft.com/office/drawing/2014/main" id="{C734497B-C487-DF79-A0E9-2D41913C009B}"/>
                    </a:ext>
                  </a:extLst>
                </p:cNvPr>
                <p:cNvPicPr/>
                <p:nvPr/>
              </p:nvPicPr>
              <p:blipFill>
                <a:blip r:embed="rId6"/>
                <a:stretch>
                  <a:fillRect/>
                </a:stretch>
              </p:blipFill>
              <p:spPr>
                <a:xfrm>
                  <a:off x="1042179" y="2816322"/>
                  <a:ext cx="264240" cy="242280"/>
                </a:xfrm>
                <a:prstGeom prst="rect">
                  <a:avLst/>
                </a:prstGeom>
              </p:spPr>
            </p:pic>
          </mc:Fallback>
        </mc:AlternateContent>
      </p:grpSp>
      <p:sp>
        <p:nvSpPr>
          <p:cNvPr id="2" name="TextBox 1">
            <a:extLst>
              <a:ext uri="{FF2B5EF4-FFF2-40B4-BE49-F238E27FC236}">
                <a16:creationId xmlns:a16="http://schemas.microsoft.com/office/drawing/2014/main" id="{12E38925-C713-E51E-2E9F-3614009C69DF}"/>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130</a:t>
            </a:r>
            <a:endParaRPr lang="fa-IR" sz="1200"/>
          </a:p>
        </p:txBody>
      </p:sp>
    </p:spTree>
    <p:extLst>
      <p:ext uri="{BB962C8B-B14F-4D97-AF65-F5344CB8AC3E}">
        <p14:creationId xmlns:p14="http://schemas.microsoft.com/office/powerpoint/2010/main" val="17847367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447FF-920E-6787-4026-02C9FBC41DE9}"/>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1964266-4C90-A76A-EB8D-41AA8391073B}"/>
              </a:ext>
            </a:extLst>
          </p:cNvPr>
          <p:cNvGraphicFramePr>
            <a:graphicFrameLocks noGrp="1"/>
          </p:cNvGraphicFramePr>
          <p:nvPr>
            <p:extLst>
              <p:ext uri="{D42A27DB-BD31-4B8C-83A1-F6EECF244321}">
                <p14:modId xmlns:p14="http://schemas.microsoft.com/office/powerpoint/2010/main" val="3012381377"/>
              </p:ext>
            </p:extLst>
          </p:nvPr>
        </p:nvGraphicFramePr>
        <p:xfrm>
          <a:off x="776461" y="1283366"/>
          <a:ext cx="7886700" cy="3383280"/>
        </p:xfrm>
        <a:graphic>
          <a:graphicData uri="http://schemas.openxmlformats.org/drawingml/2006/table">
            <a:tbl>
              <a:tblPr>
                <a:tableStyleId>{5940675A-B579-460E-94D1-54222C63F5DA}</a:tableStyleId>
              </a:tblPr>
              <a:tblGrid>
                <a:gridCol w="2628900">
                  <a:extLst>
                    <a:ext uri="{9D8B030D-6E8A-4147-A177-3AD203B41FA5}">
                      <a16:colId xmlns:a16="http://schemas.microsoft.com/office/drawing/2014/main" val="2678205562"/>
                    </a:ext>
                  </a:extLst>
                </a:gridCol>
                <a:gridCol w="2628900">
                  <a:extLst>
                    <a:ext uri="{9D8B030D-6E8A-4147-A177-3AD203B41FA5}">
                      <a16:colId xmlns:a16="http://schemas.microsoft.com/office/drawing/2014/main" val="262784998"/>
                    </a:ext>
                  </a:extLst>
                </a:gridCol>
                <a:gridCol w="2628900">
                  <a:extLst>
                    <a:ext uri="{9D8B030D-6E8A-4147-A177-3AD203B41FA5}">
                      <a16:colId xmlns:a16="http://schemas.microsoft.com/office/drawing/2014/main" val="2304764199"/>
                    </a:ext>
                  </a:extLst>
                </a:gridCol>
              </a:tblGrid>
              <a:tr h="0">
                <a:tc>
                  <a:txBody>
                    <a:bodyPr/>
                    <a:lstStyle/>
                    <a:p>
                      <a:pPr algn="l"/>
                      <a:r>
                        <a:rPr lang="ar-SA">
                          <a:cs typeface="2  Titr" panose="00000700000000000000" pitchFamily="2" charset="-78"/>
                        </a:rPr>
                        <a:t>مدل</a:t>
                      </a:r>
                    </a:p>
                  </a:txBody>
                  <a:tcPr anchor="ctr"/>
                </a:tc>
                <a:tc>
                  <a:txBody>
                    <a:bodyPr/>
                    <a:lstStyle/>
                    <a:p>
                      <a:pPr algn="ctr" rtl="1"/>
                      <a:r>
                        <a:rPr lang="ar-SA">
                          <a:cs typeface="2  Titr" panose="00000700000000000000" pitchFamily="2" charset="-78"/>
                        </a:rPr>
                        <a:t>مناسب برای</a:t>
                      </a:r>
                    </a:p>
                  </a:txBody>
                  <a:tcPr anchor="ctr"/>
                </a:tc>
                <a:tc>
                  <a:txBody>
                    <a:bodyPr/>
                    <a:lstStyle/>
                    <a:p>
                      <a:pPr algn="ctr" rtl="1"/>
                      <a:r>
                        <a:rPr lang="ar-SA">
                          <a:cs typeface="2  Titr" panose="00000700000000000000" pitchFamily="2" charset="-78"/>
                        </a:rPr>
                        <a:t>ویژگی کلیدی</a:t>
                      </a:r>
                    </a:p>
                  </a:txBody>
                  <a:tcPr anchor="ctr"/>
                </a:tc>
                <a:extLst>
                  <a:ext uri="{0D108BD9-81ED-4DB2-BD59-A6C34878D82A}">
                    <a16:rowId xmlns:a16="http://schemas.microsoft.com/office/drawing/2014/main" val="2396742724"/>
                  </a:ext>
                </a:extLst>
              </a:tr>
              <a:tr h="0">
                <a:tc>
                  <a:txBody>
                    <a:bodyPr/>
                    <a:lstStyle/>
                    <a:p>
                      <a:pPr algn="l"/>
                      <a:r>
                        <a:rPr lang="en-US" b="1">
                          <a:cs typeface="2  Nazanin" panose="00000400000000000000" pitchFamily="2" charset="-78"/>
                        </a:rPr>
                        <a:t>GPT‑3.5</a:t>
                      </a:r>
                      <a:endParaRPr lang="en-US">
                        <a:cs typeface="2  Nazanin" panose="00000400000000000000" pitchFamily="2" charset="-78"/>
                      </a:endParaRPr>
                    </a:p>
                  </a:txBody>
                  <a:tcPr anchor="ctr"/>
                </a:tc>
                <a:tc>
                  <a:txBody>
                    <a:bodyPr/>
                    <a:lstStyle/>
                    <a:p>
                      <a:pPr algn="ctr" rtl="1"/>
                      <a:r>
                        <a:rPr lang="ar-SA">
                          <a:cs typeface="2  Nazanin" panose="00000400000000000000" pitchFamily="2" charset="-78"/>
                        </a:rPr>
                        <a:t>چت ساده، مکالمه روزمره</a:t>
                      </a:r>
                    </a:p>
                  </a:txBody>
                  <a:tcPr anchor="ctr"/>
                </a:tc>
                <a:tc>
                  <a:txBody>
                    <a:bodyPr/>
                    <a:lstStyle/>
                    <a:p>
                      <a:pPr algn="ctr" rtl="1"/>
                      <a:r>
                        <a:rPr lang="ar-SA">
                          <a:cs typeface="2  Nazanin" panose="00000400000000000000" pitchFamily="2" charset="-78"/>
                        </a:rPr>
                        <a:t>سریع، ارزان</a:t>
                      </a:r>
                    </a:p>
                  </a:txBody>
                  <a:tcPr anchor="ctr"/>
                </a:tc>
                <a:extLst>
                  <a:ext uri="{0D108BD9-81ED-4DB2-BD59-A6C34878D82A}">
                    <a16:rowId xmlns:a16="http://schemas.microsoft.com/office/drawing/2014/main" val="252386351"/>
                  </a:ext>
                </a:extLst>
              </a:tr>
              <a:tr h="0">
                <a:tc>
                  <a:txBody>
                    <a:bodyPr/>
                    <a:lstStyle/>
                    <a:p>
                      <a:pPr algn="l"/>
                      <a:r>
                        <a:rPr lang="en-US" b="1">
                          <a:cs typeface="2  Nazanin" panose="00000400000000000000" pitchFamily="2" charset="-78"/>
                        </a:rPr>
                        <a:t>GPT‑4</a:t>
                      </a:r>
                      <a:endParaRPr lang="en-US">
                        <a:cs typeface="2  Nazanin" panose="00000400000000000000" pitchFamily="2" charset="-78"/>
                      </a:endParaRPr>
                    </a:p>
                  </a:txBody>
                  <a:tcPr anchor="ctr"/>
                </a:tc>
                <a:tc>
                  <a:txBody>
                    <a:bodyPr/>
                    <a:lstStyle/>
                    <a:p>
                      <a:pPr algn="ctr" rtl="1"/>
                      <a:r>
                        <a:rPr lang="ar-SA">
                          <a:cs typeface="2  Nazanin" panose="00000400000000000000" pitchFamily="2" charset="-78"/>
                        </a:rPr>
                        <a:t>نوشتار دقیق، تحلیل‌های پیچیده</a:t>
                      </a:r>
                    </a:p>
                  </a:txBody>
                  <a:tcPr anchor="ctr"/>
                </a:tc>
                <a:tc>
                  <a:txBody>
                    <a:bodyPr/>
                    <a:lstStyle/>
                    <a:p>
                      <a:pPr algn="ctr" rtl="1"/>
                      <a:r>
                        <a:rPr lang="ar-SA">
                          <a:cs typeface="2  Nazanin" panose="00000400000000000000" pitchFamily="2" charset="-78"/>
                        </a:rPr>
                        <a:t>هوش بالا، درک عمیق</a:t>
                      </a:r>
                    </a:p>
                  </a:txBody>
                  <a:tcPr anchor="ctr"/>
                </a:tc>
                <a:extLst>
                  <a:ext uri="{0D108BD9-81ED-4DB2-BD59-A6C34878D82A}">
                    <a16:rowId xmlns:a16="http://schemas.microsoft.com/office/drawing/2014/main" val="2928118999"/>
                  </a:ext>
                </a:extLst>
              </a:tr>
              <a:tr h="0">
                <a:tc>
                  <a:txBody>
                    <a:bodyPr/>
                    <a:lstStyle/>
                    <a:p>
                      <a:pPr algn="l"/>
                      <a:r>
                        <a:rPr lang="en-US" b="1">
                          <a:cs typeface="2  Nazanin" panose="00000400000000000000" pitchFamily="2" charset="-78"/>
                        </a:rPr>
                        <a:t>GPT‑4 Turbo</a:t>
                      </a:r>
                      <a:endParaRPr lang="en-US">
                        <a:cs typeface="2  Nazanin" panose="00000400000000000000" pitchFamily="2" charset="-78"/>
                      </a:endParaRPr>
                    </a:p>
                  </a:txBody>
                  <a:tcPr anchor="ctr"/>
                </a:tc>
                <a:tc>
                  <a:txBody>
                    <a:bodyPr/>
                    <a:lstStyle/>
                    <a:p>
                      <a:pPr algn="ctr" rtl="1"/>
                      <a:r>
                        <a:rPr lang="ar-SA">
                          <a:cs typeface="2  Nazanin" panose="00000400000000000000" pitchFamily="2" charset="-78"/>
                        </a:rPr>
                        <a:t>پروژه‌های سنگین، کدنویسی، افزونه‌ها</a:t>
                      </a:r>
                    </a:p>
                  </a:txBody>
                  <a:tcPr anchor="ctr"/>
                </a:tc>
                <a:tc>
                  <a:txBody>
                    <a:bodyPr/>
                    <a:lstStyle/>
                    <a:p>
                      <a:pPr algn="ctr" rtl="1"/>
                      <a:r>
                        <a:rPr lang="ar-SA">
                          <a:cs typeface="2  Nazanin" panose="00000400000000000000" pitchFamily="2" charset="-78"/>
                        </a:rPr>
                        <a:t>حافظه بلندمدت، عملکرد بهینه</a:t>
                      </a:r>
                    </a:p>
                  </a:txBody>
                  <a:tcPr anchor="ctr"/>
                </a:tc>
                <a:extLst>
                  <a:ext uri="{0D108BD9-81ED-4DB2-BD59-A6C34878D82A}">
                    <a16:rowId xmlns:a16="http://schemas.microsoft.com/office/drawing/2014/main" val="323368902"/>
                  </a:ext>
                </a:extLst>
              </a:tr>
              <a:tr h="0">
                <a:tc>
                  <a:txBody>
                    <a:bodyPr/>
                    <a:lstStyle/>
                    <a:p>
                      <a:pPr algn="l"/>
                      <a:r>
                        <a:rPr lang="en-US" b="1">
                          <a:cs typeface="2  Nazanin" panose="00000400000000000000" pitchFamily="2" charset="-78"/>
                        </a:rPr>
                        <a:t>GPT‑4o</a:t>
                      </a:r>
                      <a:endParaRPr lang="en-US">
                        <a:cs typeface="2  Nazanin" panose="00000400000000000000" pitchFamily="2" charset="-78"/>
                      </a:endParaRPr>
                    </a:p>
                  </a:txBody>
                  <a:tcPr anchor="ctr"/>
                </a:tc>
                <a:tc>
                  <a:txBody>
                    <a:bodyPr/>
                    <a:lstStyle/>
                    <a:p>
                      <a:pPr algn="ctr" rtl="1"/>
                      <a:r>
                        <a:rPr lang="ar-SA">
                          <a:cs typeface="2  Nazanin" panose="00000400000000000000" pitchFamily="2" charset="-78"/>
                        </a:rPr>
                        <a:t>همه‌منظوره: متن، صدا، تصویر</a:t>
                      </a:r>
                    </a:p>
                  </a:txBody>
                  <a:tcPr anchor="ctr"/>
                </a:tc>
                <a:tc>
                  <a:txBody>
                    <a:bodyPr/>
                    <a:lstStyle/>
                    <a:p>
                      <a:pPr algn="ctr" rtl="1"/>
                      <a:r>
                        <a:rPr lang="ar-SA">
                          <a:cs typeface="2  Nazanin" panose="00000400000000000000" pitchFamily="2" charset="-78"/>
                        </a:rPr>
                        <a:t>چندحالته، دقیق، سریع</a:t>
                      </a:r>
                    </a:p>
                  </a:txBody>
                  <a:tcPr anchor="ctr"/>
                </a:tc>
                <a:extLst>
                  <a:ext uri="{0D108BD9-81ED-4DB2-BD59-A6C34878D82A}">
                    <a16:rowId xmlns:a16="http://schemas.microsoft.com/office/drawing/2014/main" val="3838917729"/>
                  </a:ext>
                </a:extLst>
              </a:tr>
              <a:tr h="0">
                <a:tc>
                  <a:txBody>
                    <a:bodyPr/>
                    <a:lstStyle/>
                    <a:p>
                      <a:pPr algn="l"/>
                      <a:r>
                        <a:rPr lang="en-US" b="1">
                          <a:cs typeface="2  Nazanin" panose="00000400000000000000" pitchFamily="2" charset="-78"/>
                        </a:rPr>
                        <a:t>GPT‑4o-mini</a:t>
                      </a:r>
                      <a:endParaRPr lang="en-US">
                        <a:cs typeface="2  Nazanin" panose="00000400000000000000" pitchFamily="2" charset="-78"/>
                      </a:endParaRPr>
                    </a:p>
                  </a:txBody>
                  <a:tcPr anchor="ctr"/>
                </a:tc>
                <a:tc>
                  <a:txBody>
                    <a:bodyPr/>
                    <a:lstStyle/>
                    <a:p>
                      <a:pPr algn="ctr" rtl="1"/>
                      <a:r>
                        <a:rPr lang="ar-SA">
                          <a:cs typeface="2  Nazanin" panose="00000400000000000000" pitchFamily="2" charset="-78"/>
                        </a:rPr>
                        <a:t>چت سبک، اپلیکیشن‌های سریع و کم‌مصرف</a:t>
                      </a:r>
                    </a:p>
                  </a:txBody>
                  <a:tcPr anchor="ctr"/>
                </a:tc>
                <a:tc>
                  <a:txBody>
                    <a:bodyPr/>
                    <a:lstStyle/>
                    <a:p>
                      <a:pPr algn="ctr" rtl="1"/>
                      <a:r>
                        <a:rPr lang="ar-SA">
                          <a:cs typeface="2  Nazanin" panose="00000400000000000000" pitchFamily="2" charset="-78"/>
                        </a:rPr>
                        <a:t>بسیار سریع و کم‌هزینه</a:t>
                      </a:r>
                    </a:p>
                  </a:txBody>
                  <a:tcPr anchor="ctr"/>
                </a:tc>
                <a:extLst>
                  <a:ext uri="{0D108BD9-81ED-4DB2-BD59-A6C34878D82A}">
                    <a16:rowId xmlns:a16="http://schemas.microsoft.com/office/drawing/2014/main" val="3451109121"/>
                  </a:ext>
                </a:extLst>
              </a:tr>
              <a:tr h="0">
                <a:tc>
                  <a:txBody>
                    <a:bodyPr/>
                    <a:lstStyle/>
                    <a:p>
                      <a:pPr algn="l"/>
                      <a:r>
                        <a:rPr lang="en-US" b="1">
                          <a:cs typeface="2  Nazanin" panose="00000400000000000000" pitchFamily="2" charset="-78"/>
                        </a:rPr>
                        <a:t>GPT‑4o-mini-heigh</a:t>
                      </a:r>
                      <a:endParaRPr lang="en-US">
                        <a:cs typeface="2  Nazanin" panose="00000400000000000000" pitchFamily="2" charset="-78"/>
                      </a:endParaRPr>
                    </a:p>
                  </a:txBody>
                  <a:tcPr anchor="ctr"/>
                </a:tc>
                <a:tc>
                  <a:txBody>
                    <a:bodyPr/>
                    <a:lstStyle/>
                    <a:p>
                      <a:pPr algn="ctr" rtl="1"/>
                      <a:r>
                        <a:rPr lang="ar-SA">
                          <a:cs typeface="2  Nazanin" panose="00000400000000000000" pitchFamily="2" charset="-78"/>
                        </a:rPr>
                        <a:t>دستگاه‌های کم‌قدرت، </a:t>
                      </a:r>
                      <a:r>
                        <a:rPr lang="en-US">
                          <a:cs typeface="2  Nazanin" panose="00000400000000000000" pitchFamily="2" charset="-78"/>
                        </a:rPr>
                        <a:t>IoT، </a:t>
                      </a:r>
                      <a:r>
                        <a:rPr lang="ar-SA">
                          <a:cs typeface="2  Nazanin" panose="00000400000000000000" pitchFamily="2" charset="-78"/>
                        </a:rPr>
                        <a:t>اپ‌های موبایلی</a:t>
                      </a:r>
                    </a:p>
                  </a:txBody>
                  <a:tcPr anchor="ctr"/>
                </a:tc>
                <a:tc>
                  <a:txBody>
                    <a:bodyPr/>
                    <a:lstStyle/>
                    <a:p>
                      <a:pPr algn="ctr" rtl="1"/>
                      <a:r>
                        <a:rPr lang="ar-SA">
                          <a:cs typeface="2  Nazanin" panose="00000400000000000000" pitchFamily="2" charset="-78"/>
                        </a:rPr>
                        <a:t>سبک‌ترین مدل، مناسب پردازش کم‌حجم</a:t>
                      </a:r>
                    </a:p>
                  </a:txBody>
                  <a:tcPr anchor="ctr"/>
                </a:tc>
                <a:extLst>
                  <a:ext uri="{0D108BD9-81ED-4DB2-BD59-A6C34878D82A}">
                    <a16:rowId xmlns:a16="http://schemas.microsoft.com/office/drawing/2014/main" val="1133225428"/>
                  </a:ext>
                </a:extLst>
              </a:tr>
            </a:tbl>
          </a:graphicData>
        </a:graphic>
      </p:graphicFrame>
      <p:sp>
        <p:nvSpPr>
          <p:cNvPr id="4" name="Rectangle 2">
            <a:extLst>
              <a:ext uri="{FF2B5EF4-FFF2-40B4-BE49-F238E27FC236}">
                <a16:creationId xmlns:a16="http://schemas.microsoft.com/office/drawing/2014/main" id="{67FBFE98-54B5-CC7E-DCF7-DC744CC9599E}"/>
              </a:ext>
            </a:extLst>
          </p:cNvPr>
          <p:cNvSpPr>
            <a:spLocks noChangeArrowheads="1"/>
          </p:cNvSpPr>
          <p:nvPr/>
        </p:nvSpPr>
        <p:spPr bwMode="auto">
          <a:xfrm>
            <a:off x="9587920" y="2574896"/>
            <a:ext cx="184730" cy="400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rtl="1"/>
            <a:endParaRPr lang="fa-IR" sz="2000">
              <a:cs typeface="2  Nazanin" panose="00000400000000000000" pitchFamily="2" charset="-78"/>
            </a:endParaRPr>
          </a:p>
        </p:txBody>
      </p:sp>
      <p:sp>
        <p:nvSpPr>
          <p:cNvPr id="5" name="Rectangle 3">
            <a:extLst>
              <a:ext uri="{FF2B5EF4-FFF2-40B4-BE49-F238E27FC236}">
                <a16:creationId xmlns:a16="http://schemas.microsoft.com/office/drawing/2014/main" id="{1EA8A47B-A04A-0186-B6BD-970F82F45E8D}"/>
              </a:ext>
            </a:extLst>
          </p:cNvPr>
          <p:cNvSpPr>
            <a:spLocks noChangeArrowheads="1"/>
          </p:cNvSpPr>
          <p:nvPr/>
        </p:nvSpPr>
        <p:spPr bwMode="auto">
          <a:xfrm>
            <a:off x="2695068" y="-30777"/>
            <a:ext cx="620561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مدل‌های</a:t>
            </a: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ChatGPT </a:t>
            </a:r>
            <a:r>
              <a:rPr kumimoji="0" lang="ar-SA"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و کاربرد</a:t>
            </a:r>
            <a:r>
              <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 </a:t>
            </a:r>
            <a:r>
              <a:rPr kumimoji="0" lang="fa-IR"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rPr>
              <a:t>آن‌ها</a:t>
            </a:r>
            <a:endParaRPr kumimoji="0" lang="en-US" altLang="en-US" sz="3200" b="1" i="0" u="none" strike="noStrike" cap="none" normalizeH="0" baseline="0">
              <a:ln>
                <a:noFill/>
              </a:ln>
              <a:solidFill>
                <a:schemeClr val="tx1"/>
              </a:solidFill>
              <a:effectLst/>
              <a:latin typeface="Arial" panose="020B0604020202020204" pitchFamily="34" charset="0"/>
              <a:cs typeface="2  Titr" panose="00000700000000000000" pitchFamily="2" charset="-78"/>
            </a:endParaRPr>
          </a:p>
        </p:txBody>
      </p:sp>
      <p:sp>
        <p:nvSpPr>
          <p:cNvPr id="6" name="Rectangle 4">
            <a:extLst>
              <a:ext uri="{FF2B5EF4-FFF2-40B4-BE49-F238E27FC236}">
                <a16:creationId xmlns:a16="http://schemas.microsoft.com/office/drawing/2014/main" id="{F41C4319-1511-1436-6112-69AB3F07746B}"/>
              </a:ext>
            </a:extLst>
          </p:cNvPr>
          <p:cNvSpPr>
            <a:spLocks noChangeArrowheads="1"/>
          </p:cNvSpPr>
          <p:nvPr/>
        </p:nvSpPr>
        <p:spPr bwMode="auto">
          <a:xfrm>
            <a:off x="9587920" y="3047971"/>
            <a:ext cx="184730" cy="400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rtl="1"/>
            <a:endParaRPr lang="fa-IR" sz="2000">
              <a:cs typeface="2  Nazanin" panose="00000400000000000000" pitchFamily="2" charset="-78"/>
            </a:endParaRPr>
          </a:p>
        </p:txBody>
      </p:sp>
      <p:sp>
        <p:nvSpPr>
          <p:cNvPr id="7" name="Rectangle 5">
            <a:extLst>
              <a:ext uri="{FF2B5EF4-FFF2-40B4-BE49-F238E27FC236}">
                <a16:creationId xmlns:a16="http://schemas.microsoft.com/office/drawing/2014/main" id="{278732D4-ED09-797B-EDF7-639E59A11C54}"/>
              </a:ext>
            </a:extLst>
          </p:cNvPr>
          <p:cNvSpPr>
            <a:spLocks noChangeArrowheads="1"/>
          </p:cNvSpPr>
          <p:nvPr/>
        </p:nvSpPr>
        <p:spPr bwMode="auto">
          <a:xfrm>
            <a:off x="1176867" y="4832911"/>
            <a:ext cx="726922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راهنمای انتخاب سریع</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برای همه‌چیز با کیفیت بالا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GPT-4o</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برای چت سریع و اقتصادی</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GPT-3.5</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یا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4o-mini</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برای پروژه‌های پیچیده و افزونه‌ها</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GPT-4 Turbo</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tabLst/>
            </a:pP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برای دستگاه‌های سبک</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(IoT/</a:t>
            </a:r>
            <a:r>
              <a:rPr kumimoji="0" lang="ar-SA"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موبایل</a:t>
            </a:r>
            <a:r>
              <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rPr>
              <a:t>) → </a:t>
            </a:r>
            <a:r>
              <a:rPr kumimoji="0" lang="en-US" altLang="en-US" sz="2000" b="1" i="0" u="none" strike="noStrike" cap="none" normalizeH="0" baseline="0">
                <a:ln>
                  <a:noFill/>
                </a:ln>
                <a:solidFill>
                  <a:schemeClr val="tx1"/>
                </a:solidFill>
                <a:effectLst/>
                <a:latin typeface="Arial" panose="020B0604020202020204" pitchFamily="34" charset="0"/>
                <a:cs typeface="2  Nazanin" panose="00000400000000000000" pitchFamily="2" charset="-78"/>
              </a:rPr>
              <a:t>4o-mini-eigh</a:t>
            </a: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a:p>
            <a:pPr marL="0" marR="0" lvl="0" indent="0" algn="l" defTabSz="91440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cs typeface="2  Nazanin" panose="00000400000000000000" pitchFamily="2" charset="-78"/>
            </a:endParaRPr>
          </a:p>
        </p:txBody>
      </p:sp>
      <p:sp>
        <p:nvSpPr>
          <p:cNvPr id="8" name="Rectangle 6">
            <a:extLst>
              <a:ext uri="{FF2B5EF4-FFF2-40B4-BE49-F238E27FC236}">
                <a16:creationId xmlns:a16="http://schemas.microsoft.com/office/drawing/2014/main" id="{0800C76B-736C-F007-E18B-05B449A8C1A1}"/>
              </a:ext>
            </a:extLst>
          </p:cNvPr>
          <p:cNvSpPr>
            <a:spLocks noChangeArrowheads="1"/>
          </p:cNvSpPr>
          <p:nvPr/>
        </p:nvSpPr>
        <p:spPr bwMode="auto">
          <a:xfrm>
            <a:off x="9587920" y="3521046"/>
            <a:ext cx="184730" cy="400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rtl="1"/>
            <a:endParaRPr lang="fa-IR" sz="2000">
              <a:cs typeface="2  Nazanin" panose="00000400000000000000" pitchFamily="2" charset="-78"/>
            </a:endParaRPr>
          </a:p>
        </p:txBody>
      </p:sp>
      <p:sp>
        <p:nvSpPr>
          <p:cNvPr id="3" name="TextBox 2">
            <a:extLst>
              <a:ext uri="{FF2B5EF4-FFF2-40B4-BE49-F238E27FC236}">
                <a16:creationId xmlns:a16="http://schemas.microsoft.com/office/drawing/2014/main" id="{D07B3C2F-3B9C-BB54-441C-144C137B1F6E}"/>
              </a:ext>
            </a:extLst>
          </p:cNvPr>
          <p:cNvSpPr txBox="1"/>
          <p:nvPr/>
        </p:nvSpPr>
        <p:spPr>
          <a:xfrm>
            <a:off x="4317022" y="100627"/>
            <a:ext cx="747347" cy="276999"/>
          </a:xfrm>
          <a:prstGeom prst="rect">
            <a:avLst/>
          </a:prstGeom>
          <a:noFill/>
        </p:spPr>
        <p:txBody>
          <a:bodyPr wrap="square">
            <a:spAutoFit/>
          </a:bodyPr>
          <a:lstStyle/>
          <a:p>
            <a:pPr algn="ctr"/>
            <a:r>
              <a:rPr lang="fa-IR" sz="1200">
                <a:cs typeface="2  Nazanin" panose="00000400000000000000" pitchFamily="2" charset="-78"/>
              </a:rPr>
              <a:t>اسلاید 131</a:t>
            </a:r>
            <a:endParaRPr lang="fa-IR" sz="1200"/>
          </a:p>
        </p:txBody>
      </p:sp>
    </p:spTree>
    <p:extLst>
      <p:ext uri="{BB962C8B-B14F-4D97-AF65-F5344CB8AC3E}">
        <p14:creationId xmlns:p14="http://schemas.microsoft.com/office/powerpoint/2010/main" val="1481644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D91A9-71D9-0DC8-2C11-54C7CD995085}"/>
            </a:ext>
          </a:extLst>
        </p:cNvPr>
        <p:cNvGrpSpPr/>
        <p:nvPr/>
      </p:nvGrpSpPr>
      <p:grpSpPr>
        <a:xfrm>
          <a:off x="0" y="0"/>
          <a:ext cx="0" cy="0"/>
          <a:chOff x="0" y="0"/>
          <a:chExt cx="0" cy="0"/>
        </a:xfrm>
      </p:grpSpPr>
    </p:spTree>
    <p:extLst>
      <p:ext uri="{BB962C8B-B14F-4D97-AF65-F5344CB8AC3E}">
        <p14:creationId xmlns:p14="http://schemas.microsoft.com/office/powerpoint/2010/main" val="74555670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1851</TotalTime>
  <Words>6222</Words>
  <Application>Microsoft Office PowerPoint</Application>
  <PresentationFormat>On-screen Show (4:3)</PresentationFormat>
  <Paragraphs>571</Paragraphs>
  <Slides>63</Slides>
  <Notes>1</Notes>
  <HiddenSlides>1</HiddenSlides>
  <MMClips>8</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63</vt:i4>
      </vt:variant>
    </vt:vector>
  </HeadingPairs>
  <TitlesOfParts>
    <vt:vector size="78" baseType="lpstr">
      <vt:lpstr>2  Nazanin</vt:lpstr>
      <vt:lpstr>2  Titr</vt:lpstr>
      <vt:lpstr>Aptos</vt:lpstr>
      <vt:lpstr>Arial</vt:lpstr>
      <vt:lpstr>Arial Black</vt:lpstr>
      <vt:lpstr>Calibri</vt:lpstr>
      <vt:lpstr>Calibri Light</vt:lpstr>
      <vt:lpstr>Google Sans</vt:lpstr>
      <vt:lpstr>Google Sans Text</vt:lpstr>
      <vt:lpstr>Nazanin</vt:lpstr>
      <vt:lpstr>Segoe UI Emoji</vt:lpstr>
      <vt:lpstr>Symbol</vt:lpstr>
      <vt:lpstr>Titr</vt:lpstr>
      <vt:lpstr>Wingdings</vt:lpstr>
      <vt:lpstr>Office 2013 - 2022 Theme</vt:lpstr>
      <vt:lpstr>شروع سریع با NotebookLM</vt:lpstr>
      <vt:lpstr>کاربردهای واقعی در آموزش و کار</vt:lpstr>
      <vt:lpstr>نکات حرفه‌ای برای استفاده بهتر</vt:lpstr>
      <vt:lpstr>ساخت پادکست با کمک NotebookLM</vt:lpstr>
      <vt:lpstr>قابلیت‌های کلیدی Google AI Studio</vt:lpstr>
      <vt:lpstr>کاربرد Google AI Studio  در آموزش و توسعه</vt:lpstr>
      <vt:lpstr>کاربرد Google AI Studio</vt:lpstr>
      <vt:lpstr>کاربرد Google AI Studio</vt:lpstr>
      <vt:lpstr>کاربرد Google AI Studio</vt:lpstr>
      <vt:lpstr>کاربرد Google AI Studio</vt:lpstr>
      <vt:lpstr>کاربرد Google AI Studio</vt:lpstr>
      <vt:lpstr>PowerPoint Presentation</vt:lpstr>
      <vt:lpstr>PowerPoint Presentation</vt:lpstr>
      <vt:lpstr>معرفی HeyGen  و کاربردهای آن</vt:lpstr>
      <vt:lpstr>مراحل ساخت آواتار شخصی با HeyGen</vt:lpstr>
      <vt:lpstr> امکانات پیشرفته و اضافی</vt:lpstr>
      <vt:lpstr>معرفی D‑ID Studio (Creative Reality™ Studio)</vt:lpstr>
      <vt:lpstr>PowerPoint Presentation</vt:lpstr>
      <vt:lpstr>PowerPoint Presentation</vt:lpstr>
      <vt:lpstr>PowerPoint Presentation</vt:lpstr>
      <vt:lpstr>معرفی Flux1.ai   ویرایش تصویر با دستور متنی</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Tirotir</dc:creator>
  <cp:keywords/>
  <dc:description>generated using python-pptx</dc:description>
  <cp:lastModifiedBy>Jazireh</cp:lastModifiedBy>
  <cp:revision>194</cp:revision>
  <dcterms:created xsi:type="dcterms:W3CDTF">2013-01-27T09:14:16Z</dcterms:created>
  <dcterms:modified xsi:type="dcterms:W3CDTF">2025-09-15T03:11:01Z</dcterms:modified>
  <cp:category/>
</cp:coreProperties>
</file>