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35" r:id="rId1"/>
  </p:sldMasterIdLst>
  <p:notesMasterIdLst>
    <p:notesMasterId r:id="rId71"/>
  </p:notesMasterIdLst>
  <p:sldIdLst>
    <p:sldId id="256" r:id="rId2"/>
    <p:sldId id="533" r:id="rId3"/>
    <p:sldId id="257" r:id="rId4"/>
    <p:sldId id="258" r:id="rId5"/>
    <p:sldId id="259" r:id="rId6"/>
    <p:sldId id="549" r:id="rId7"/>
    <p:sldId id="260" r:id="rId8"/>
    <p:sldId id="512" r:id="rId9"/>
    <p:sldId id="262" r:id="rId10"/>
    <p:sldId id="261" r:id="rId11"/>
    <p:sldId id="263" r:id="rId12"/>
    <p:sldId id="465" r:id="rId13"/>
    <p:sldId id="466" r:id="rId14"/>
    <p:sldId id="467" r:id="rId15"/>
    <p:sldId id="313" r:id="rId16"/>
    <p:sldId id="315" r:id="rId17"/>
    <p:sldId id="482" r:id="rId18"/>
    <p:sldId id="457" r:id="rId19"/>
    <p:sldId id="267" r:id="rId20"/>
    <p:sldId id="264" r:id="rId21"/>
    <p:sldId id="265" r:id="rId22"/>
    <p:sldId id="266" r:id="rId23"/>
    <p:sldId id="498" r:id="rId24"/>
    <p:sldId id="499" r:id="rId25"/>
    <p:sldId id="500" r:id="rId26"/>
    <p:sldId id="501" r:id="rId27"/>
    <p:sldId id="502" r:id="rId28"/>
    <p:sldId id="504" r:id="rId29"/>
    <p:sldId id="503" r:id="rId30"/>
    <p:sldId id="505" r:id="rId31"/>
    <p:sldId id="506" r:id="rId32"/>
    <p:sldId id="507" r:id="rId33"/>
    <p:sldId id="508" r:id="rId34"/>
    <p:sldId id="509" r:id="rId35"/>
    <p:sldId id="510" r:id="rId36"/>
    <p:sldId id="268" r:id="rId37"/>
    <p:sldId id="458" r:id="rId38"/>
    <p:sldId id="459" r:id="rId39"/>
    <p:sldId id="460" r:id="rId40"/>
    <p:sldId id="535" r:id="rId41"/>
    <p:sldId id="536" r:id="rId42"/>
    <p:sldId id="537" r:id="rId43"/>
    <p:sldId id="475" r:id="rId44"/>
    <p:sldId id="476" r:id="rId45"/>
    <p:sldId id="282" r:id="rId46"/>
    <p:sldId id="278" r:id="rId47"/>
    <p:sldId id="477" r:id="rId48"/>
    <p:sldId id="478" r:id="rId49"/>
    <p:sldId id="283" r:id="rId50"/>
    <p:sldId id="479" r:id="rId51"/>
    <p:sldId id="271" r:id="rId52"/>
    <p:sldId id="286" r:id="rId53"/>
    <p:sldId id="289" r:id="rId54"/>
    <p:sldId id="287" r:id="rId55"/>
    <p:sldId id="403" r:id="rId56"/>
    <p:sldId id="288" r:id="rId57"/>
    <p:sldId id="290" r:id="rId58"/>
    <p:sldId id="514" r:id="rId59"/>
    <p:sldId id="269" r:id="rId60"/>
    <p:sldId id="515" r:id="rId61"/>
    <p:sldId id="516" r:id="rId62"/>
    <p:sldId id="517" r:id="rId63"/>
    <p:sldId id="518" r:id="rId64"/>
    <p:sldId id="519" r:id="rId65"/>
    <p:sldId id="520" r:id="rId66"/>
    <p:sldId id="521" r:id="rId67"/>
    <p:sldId id="522" r:id="rId68"/>
    <p:sldId id="523" r:id="rId69"/>
    <p:sldId id="524" r:id="rId7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06" autoAdjust="0"/>
    <p:restoredTop sz="89850" autoAdjust="0"/>
  </p:normalViewPr>
  <p:slideViewPr>
    <p:cSldViewPr snapToGrid="0" snapToObjects="1">
      <p:cViewPr>
        <p:scale>
          <a:sx n="150" d="100"/>
          <a:sy n="150" d="100"/>
        </p:scale>
        <p:origin x="-2684" y="-3344"/>
      </p:cViewPr>
      <p:guideLst>
        <p:guide orient="horz" pos="2160"/>
        <p:guide pos="2880"/>
      </p:guideLst>
    </p:cSldViewPr>
  </p:slideViewPr>
  <p:outlineViewPr>
    <p:cViewPr>
      <p:scale>
        <a:sx n="33" d="100"/>
        <a:sy n="33" d="100"/>
      </p:scale>
      <p:origin x="0" y="-2307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a-I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FCC021-82BA-43DA-A0A8-A1CC0DD45FF8}" type="datetimeFigureOut">
              <a:rPr lang="fa-IR" smtClean="0"/>
              <a:t>23/03/1447</a:t>
            </a:fld>
            <a:endParaRPr lang="fa-IR"/>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fa-I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a-I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556CE7-30CD-4DC5-8601-BE3A1E31B49D}" type="slidenum">
              <a:rPr lang="fa-IR" smtClean="0"/>
              <a:t>‹#›</a:t>
            </a:fld>
            <a:endParaRPr lang="fa-IR"/>
          </a:p>
        </p:txBody>
      </p:sp>
    </p:spTree>
    <p:extLst>
      <p:ext uri="{BB962C8B-B14F-4D97-AF65-F5344CB8AC3E}">
        <p14:creationId xmlns:p14="http://schemas.microsoft.com/office/powerpoint/2010/main" val="15934799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rtl="1"/>
            <a:endParaRPr lang="en-US" dirty="0"/>
          </a:p>
        </p:txBody>
      </p:sp>
      <p:sp>
        <p:nvSpPr>
          <p:cNvPr id="4" name="Slide Number Placeholder 3"/>
          <p:cNvSpPr>
            <a:spLocks noGrp="1"/>
          </p:cNvSpPr>
          <p:nvPr>
            <p:ph type="sldNum" sz="quarter" idx="5"/>
          </p:nvPr>
        </p:nvSpPr>
        <p:spPr/>
        <p:txBody>
          <a:bodyPr/>
          <a:lstStyle/>
          <a:p>
            <a:fld id="{41EEE60E-651F-40CC-AD73-C00F10CE42B6}" type="slidenum">
              <a:rPr lang="en-US" smtClean="0"/>
              <a:t>15</a:t>
            </a:fld>
            <a:endParaRPr lang="en-US" dirty="0"/>
          </a:p>
        </p:txBody>
      </p:sp>
    </p:spTree>
    <p:extLst>
      <p:ext uri="{BB962C8B-B14F-4D97-AF65-F5344CB8AC3E}">
        <p14:creationId xmlns:p14="http://schemas.microsoft.com/office/powerpoint/2010/main" val="8234237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a-IR" dirty="0"/>
              <a:t>راستی </a:t>
            </a:r>
            <a:r>
              <a:rPr lang="fa-IR" dirty="0">
                <a:effectLst/>
              </a:rPr>
              <a:t>کدام اول آفریده شد، مرغ یا تخم‌مرغ؟</a:t>
            </a:r>
          </a:p>
        </p:txBody>
      </p:sp>
      <p:sp>
        <p:nvSpPr>
          <p:cNvPr id="4" name="Slide Number Placeholder 3"/>
          <p:cNvSpPr>
            <a:spLocks noGrp="1"/>
          </p:cNvSpPr>
          <p:nvPr>
            <p:ph type="sldNum" sz="quarter" idx="5"/>
          </p:nvPr>
        </p:nvSpPr>
        <p:spPr/>
        <p:txBody>
          <a:bodyPr/>
          <a:lstStyle/>
          <a:p>
            <a:fld id="{41EEE60E-651F-40CC-AD73-C00F10CE42B6}" type="slidenum">
              <a:rPr lang="en-US" smtClean="0"/>
              <a:t>57</a:t>
            </a:fld>
            <a:endParaRPr lang="en-US" dirty="0"/>
          </a:p>
        </p:txBody>
      </p:sp>
    </p:spTree>
    <p:extLst>
      <p:ext uri="{BB962C8B-B14F-4D97-AF65-F5344CB8AC3E}">
        <p14:creationId xmlns:p14="http://schemas.microsoft.com/office/powerpoint/2010/main" val="27225867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350122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861388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428042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324918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9/15/2025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68046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9/15/2025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236031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300860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86567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17254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34612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334656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9/15/2025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64308054"/>
      </p:ext>
    </p:extLst>
  </p:cSld>
  <p:clrMap bg1="dk1" tx1="lt1" bg2="dk2" tx2="lt2" accent1="accent1" accent2="accent2" accent3="accent3" accent4="accent4" accent5="accent5" accent6="accent6" hlink="hlink" folHlink="folHlink"/>
  <p:sldLayoutIdLst>
    <p:sldLayoutId id="2147483836" r:id="rId1"/>
    <p:sldLayoutId id="2147483837" r:id="rId2"/>
    <p:sldLayoutId id="2147483838" r:id="rId3"/>
    <p:sldLayoutId id="2147483839" r:id="rId4"/>
    <p:sldLayoutId id="2147483840" r:id="rId5"/>
    <p:sldLayoutId id="2147483841" r:id="rId6"/>
    <p:sldLayoutId id="2147483842" r:id="rId7"/>
    <p:sldLayoutId id="2147483843" r:id="rId8"/>
    <p:sldLayoutId id="2147483844" r:id="rId9"/>
    <p:sldLayoutId id="2147483845" r:id="rId10"/>
    <p:sldLayoutId id="214748384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inboxes.com/" TargetMode="External"/><Relationship Id="rId2" Type="http://schemas.openxmlformats.org/officeDocument/2006/relationships/hyperlink" Target="https://www.disposablemail.com/" TargetMode="External"/><Relationship Id="rId1" Type="http://schemas.openxmlformats.org/officeDocument/2006/relationships/slideLayout" Target="../slideLayouts/slideLayout2.xml"/><Relationship Id="rId6" Type="http://schemas.openxmlformats.org/officeDocument/2006/relationships/hyperlink" Target="https://t.me/fakemailbot" TargetMode="External"/><Relationship Id="rId5" Type="http://schemas.openxmlformats.org/officeDocument/2006/relationships/hyperlink" Target="https://temp-mail.org/" TargetMode="External"/><Relationship Id="rId4" Type="http://schemas.openxmlformats.org/officeDocument/2006/relationships/hyperlink" Target="https://maildrop.cc/"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iranicard.ir/payments/accounts/artificial-intelligence/" TargetMode="External"/><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4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4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4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4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s>
</file>

<file path=ppt/slides/_rels/slide4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5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5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5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hyperlink" Target="https://gptstore.ai/gpts/rank?utm_source=chatgpt.com" TargetMode="Externa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hyperlink" Target="https://gptstore.ai/gpts/rank?utm_source=chatgpt.com" TargetMode="Externa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hyperlink" Target="https://gptstore.ai/gpts/rank?utm_source=chatgpt.com" TargetMode="Externa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hyperlink" Target="https://chat.openai.com/g/g-MonshaLessonPlanner" TargetMode="External"/><Relationship Id="rId2" Type="http://schemas.openxmlformats.org/officeDocument/2006/relationships/hyperlink" Target="https://chat.openai.com/g/g-UniversalPrimer" TargetMode="External"/><Relationship Id="rId1" Type="http://schemas.openxmlformats.org/officeDocument/2006/relationships/slideLayout" Target="../slideLayouts/slideLayout2.xml"/><Relationship Id="rId6" Type="http://schemas.openxmlformats.org/officeDocument/2006/relationships/hyperlink" Target="https://chat.openai.com/g/g-MrRanedeer" TargetMode="External"/><Relationship Id="rId5" Type="http://schemas.openxmlformats.org/officeDocument/2006/relationships/hyperlink" Target="https://chat.openai.com/g/g-CodeTutor" TargetMode="External"/><Relationship Id="rId4" Type="http://schemas.openxmlformats.org/officeDocument/2006/relationships/hyperlink" Target="https://chat.openai.com/g/g-T3E00Qjv0-educator-pro" TargetMode="External"/></Relationships>
</file>

<file path=ppt/slides/_rels/slide65.xml.rels><?xml version="1.0" encoding="UTF-8" standalone="yes"?>
<Relationships xmlns="http://schemas.openxmlformats.org/package/2006/relationships"><Relationship Id="rId3" Type="http://schemas.openxmlformats.org/officeDocument/2006/relationships/hyperlink" Target="https://chat.openai.com/g/g-MsSmith" TargetMode="External"/><Relationship Id="rId2" Type="http://schemas.openxmlformats.org/officeDocument/2006/relationships/hyperlink" Target="https://chat.openai.com/g/g-MonshaQuizMaker" TargetMode="External"/><Relationship Id="rId1" Type="http://schemas.openxmlformats.org/officeDocument/2006/relationships/slideLayout" Target="../slideLayouts/slideLayout2.xml"/><Relationship Id="rId6" Type="http://schemas.openxmlformats.org/officeDocument/2006/relationships/hyperlink" Target="https://chat.openai.com/g/g-AIHumanizer" TargetMode="External"/><Relationship Id="rId5" Type="http://schemas.openxmlformats.org/officeDocument/2006/relationships/hyperlink" Target="https://chat.openai.com/g/g-CanvaGPT" TargetMode="External"/><Relationship Id="rId4" Type="http://schemas.openxmlformats.org/officeDocument/2006/relationships/hyperlink" Target="https://chat.openai.com/g/g-CK12Flexi"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hyperlink" Target="https://chat.openai.com/gpts" TargetMode="Externa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26531" y="1287226"/>
            <a:ext cx="7772400" cy="2387600"/>
          </a:xfrm>
        </p:spPr>
        <p:txBody>
          <a:bodyPr/>
          <a:lstStyle/>
          <a:p>
            <a:pPr rtl="1"/>
            <a:r>
              <a:rPr lang="fa-IR" noProof="0">
                <a:cs typeface="Titr" panose="00000700000000000000" pitchFamily="2" charset="-78"/>
              </a:rPr>
              <a:t>ابزارهای هوش مصنوعی مولد برای آموزش مربیان</a:t>
            </a:r>
          </a:p>
        </p:txBody>
      </p:sp>
      <p:sp>
        <p:nvSpPr>
          <p:cNvPr id="3" name="Subtitle 2"/>
          <p:cNvSpPr>
            <a:spLocks noGrp="1"/>
          </p:cNvSpPr>
          <p:nvPr>
            <p:ph type="subTitle" idx="1"/>
          </p:nvPr>
        </p:nvSpPr>
        <p:spPr>
          <a:xfrm>
            <a:off x="1197950" y="4442004"/>
            <a:ext cx="6858000" cy="490334"/>
          </a:xfrm>
        </p:spPr>
        <p:txBody>
          <a:bodyPr>
            <a:normAutofit fontScale="92500" lnSpcReduction="10000"/>
          </a:bodyPr>
          <a:lstStyle/>
          <a:p>
            <a:pPr rtl="1"/>
            <a:r>
              <a:rPr lang="fa-IR" sz="3200" b="1" noProof="0">
                <a:cs typeface="Nazanin" panose="00000400000000000000" pitchFamily="2" charset="-78"/>
              </a:rPr>
              <a:t> مرجعی از بهترین ابزارهای </a:t>
            </a:r>
            <a:r>
              <a:rPr lang="en-US" sz="3200" b="1" noProof="0">
                <a:cs typeface="Nazanin" panose="00000400000000000000" pitchFamily="2" charset="-78"/>
              </a:rPr>
              <a:t>AI </a:t>
            </a:r>
            <a:r>
              <a:rPr lang="fa-IR" sz="3200" b="1" noProof="0">
                <a:cs typeface="Nazanin" panose="00000400000000000000" pitchFamily="2" charset="-78"/>
              </a:rPr>
              <a:t> در سال ۲۰۲۵</a:t>
            </a:r>
          </a:p>
        </p:txBody>
      </p:sp>
      <p:sp>
        <p:nvSpPr>
          <p:cNvPr id="4" name="TextBox 3">
            <a:extLst>
              <a:ext uri="{FF2B5EF4-FFF2-40B4-BE49-F238E27FC236}">
                <a16:creationId xmlns:a16="http://schemas.microsoft.com/office/drawing/2014/main" id="{C3A4A6FC-1151-A9DC-FCFB-B15082DEF7B1}"/>
              </a:ext>
            </a:extLst>
          </p:cNvPr>
          <p:cNvSpPr txBox="1"/>
          <p:nvPr/>
        </p:nvSpPr>
        <p:spPr>
          <a:xfrm>
            <a:off x="3135085" y="250917"/>
            <a:ext cx="2873829" cy="369332"/>
          </a:xfrm>
          <a:prstGeom prst="rect">
            <a:avLst/>
          </a:prstGeom>
          <a:noFill/>
        </p:spPr>
        <p:txBody>
          <a:bodyPr wrap="square">
            <a:spAutoFit/>
          </a:bodyPr>
          <a:lstStyle/>
          <a:p>
            <a:pPr algn="r" rtl="1"/>
            <a:r>
              <a:rPr lang="fa-IR" dirty="0"/>
              <a:t>به نام آن که جان را فکرت آموخت </a:t>
            </a:r>
            <a:endParaRPr lang="en-US" dirty="0"/>
          </a:p>
        </p:txBody>
      </p:sp>
      <p:sp>
        <p:nvSpPr>
          <p:cNvPr id="6" name="TextBox 5">
            <a:extLst>
              <a:ext uri="{FF2B5EF4-FFF2-40B4-BE49-F238E27FC236}">
                <a16:creationId xmlns:a16="http://schemas.microsoft.com/office/drawing/2014/main" id="{286B371E-F4FA-C6A2-3446-4F534F97A6EA}"/>
              </a:ext>
            </a:extLst>
          </p:cNvPr>
          <p:cNvSpPr txBox="1"/>
          <p:nvPr/>
        </p:nvSpPr>
        <p:spPr>
          <a:xfrm>
            <a:off x="1436914" y="6422417"/>
            <a:ext cx="4572000" cy="369332"/>
          </a:xfrm>
          <a:prstGeom prst="rect">
            <a:avLst/>
          </a:prstGeom>
          <a:noFill/>
        </p:spPr>
        <p:txBody>
          <a:bodyPr wrap="square">
            <a:spAutoFit/>
          </a:bodyPr>
          <a:lstStyle/>
          <a:p>
            <a:pPr algn="r" rtl="1"/>
            <a:r>
              <a:rPr kumimoji="0" lang="en-US" altLang="en-US" b="1"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b="1" i="0" u="none" strike="noStrike" cap="none" normalizeH="0" baseline="0">
                <a:ln>
                  <a:noFill/>
                </a:ln>
                <a:solidFill>
                  <a:schemeClr val="tx1"/>
                </a:solidFill>
                <a:effectLst/>
                <a:latin typeface="Arial" panose="020B0604020202020204" pitchFamily="34" charset="0"/>
                <a:cs typeface="2  Nazanin" panose="00000400000000000000" pitchFamily="2" charset="-78"/>
              </a:rPr>
              <a:t>تلگرام</a:t>
            </a:r>
            <a:r>
              <a:rPr kumimoji="0" lang="fa-IR" altLang="en-US" b="1"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en-US" altLang="en-US" b="1" i="0" u="none" strike="noStrike" cap="none" normalizeH="0" baseline="0">
                <a:ln>
                  <a:noFill/>
                </a:ln>
                <a:solidFill>
                  <a:schemeClr val="tx1"/>
                </a:solidFill>
                <a:effectLst/>
                <a:latin typeface="Arial" panose="020B0604020202020204" pitchFamily="34" charset="0"/>
                <a:cs typeface="2  Nazanin" panose="00000400000000000000" pitchFamily="2" charset="-78"/>
              </a:rPr>
              <a:t> @Ai_and_Philosophy</a:t>
            </a:r>
            <a:endParaRPr lang="fa-IR"/>
          </a:p>
        </p:txBody>
      </p:sp>
      <p:sp>
        <p:nvSpPr>
          <p:cNvPr id="5" name="Subtitle 2">
            <a:extLst>
              <a:ext uri="{FF2B5EF4-FFF2-40B4-BE49-F238E27FC236}">
                <a16:creationId xmlns:a16="http://schemas.microsoft.com/office/drawing/2014/main" id="{396A9469-23C6-66A4-2709-9ED5824EBE4B}"/>
              </a:ext>
            </a:extLst>
          </p:cNvPr>
          <p:cNvSpPr txBox="1">
            <a:spLocks/>
          </p:cNvSpPr>
          <p:nvPr/>
        </p:nvSpPr>
        <p:spPr>
          <a:xfrm>
            <a:off x="1143000" y="5476418"/>
            <a:ext cx="6858000" cy="490334"/>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rtl="1"/>
            <a:r>
              <a:rPr lang="fa-IR" sz="3200" b="1">
                <a:cs typeface="Nazanin" panose="00000400000000000000" pitchFamily="2" charset="-78"/>
              </a:rPr>
              <a:t>برای مربیان حوزه‌های مختلف</a:t>
            </a:r>
          </a:p>
        </p:txBody>
      </p:sp>
      <p:sp>
        <p:nvSpPr>
          <p:cNvPr id="8" name="TextBox 7">
            <a:extLst>
              <a:ext uri="{FF2B5EF4-FFF2-40B4-BE49-F238E27FC236}">
                <a16:creationId xmlns:a16="http://schemas.microsoft.com/office/drawing/2014/main" id="{72D95AAB-1D11-A1DD-3B67-52A3816D70AA}"/>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۱</a:t>
            </a:r>
            <a:endParaRPr lang="fa-IR" sz="1200"/>
          </a:p>
        </p:txBody>
      </p:sp>
      <p:pic>
        <p:nvPicPr>
          <p:cNvPr id="10" name="Picture 9">
            <a:extLst>
              <a:ext uri="{FF2B5EF4-FFF2-40B4-BE49-F238E27FC236}">
                <a16:creationId xmlns:a16="http://schemas.microsoft.com/office/drawing/2014/main" id="{E4DE3CD4-09B7-365D-9A69-DF58ABE1121C}"/>
              </a:ext>
            </a:extLst>
          </p:cNvPr>
          <p:cNvPicPr>
            <a:picLocks noChangeAspect="1"/>
          </p:cNvPicPr>
          <p:nvPr/>
        </p:nvPicPr>
        <p:blipFill>
          <a:blip r:embed="rId2"/>
          <a:stretch>
            <a:fillRect/>
          </a:stretch>
        </p:blipFill>
        <p:spPr>
          <a:xfrm>
            <a:off x="3603171" y="563809"/>
            <a:ext cx="1937657" cy="1453243"/>
          </a:xfrm>
          <a:prstGeom prst="rect">
            <a:avLst/>
          </a:prstGeom>
          <a:ln>
            <a:noFill/>
          </a:ln>
          <a:effectLst>
            <a:softEdge rad="112500"/>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801100" cy="1143000"/>
          </a:xfrm>
        </p:spPr>
        <p:txBody>
          <a:bodyPr>
            <a:noAutofit/>
          </a:bodyPr>
          <a:lstStyle/>
          <a:p>
            <a:pPr rtl="1">
              <a:spcBef>
                <a:spcPts val="0"/>
              </a:spcBef>
            </a:pPr>
            <a:r>
              <a:rPr sz="3200">
                <a:cs typeface="2  Titr" panose="00000700000000000000" pitchFamily="2" charset="-78"/>
              </a:rPr>
              <a:t>⚠️ این اطلاعات را هرگز با چت‌بات‌ها به اشتراک نگذارید!</a:t>
            </a:r>
          </a:p>
        </p:txBody>
      </p:sp>
      <p:sp>
        <p:nvSpPr>
          <p:cNvPr id="3" name="Content Placeholder 2"/>
          <p:cNvSpPr>
            <a:spLocks noGrp="1"/>
          </p:cNvSpPr>
          <p:nvPr>
            <p:ph idx="1"/>
          </p:nvPr>
        </p:nvSpPr>
        <p:spPr>
          <a:xfrm>
            <a:off x="114300" y="1166018"/>
            <a:ext cx="8229600" cy="4525963"/>
          </a:xfrm>
        </p:spPr>
        <p:txBody>
          <a:bodyPr>
            <a:noAutofit/>
          </a:bodyPr>
          <a:lstStyle/>
          <a:p>
            <a:pPr marL="0" indent="0" algn="r" rtl="1">
              <a:spcBef>
                <a:spcPts val="0"/>
              </a:spcBef>
              <a:buNone/>
            </a:pPr>
            <a:r>
              <a:rPr sz="2000" b="1">
                <a:cs typeface="2  Nazanin" panose="00000400000000000000" pitchFamily="2" charset="-78"/>
              </a:rPr>
              <a:t>🔐 اطلاعات مالی:</a:t>
            </a:r>
          </a:p>
          <a:p>
            <a:pPr marL="0" indent="0" algn="r" rtl="1">
              <a:spcBef>
                <a:spcPts val="0"/>
              </a:spcBef>
              <a:buNone/>
            </a:pPr>
            <a:r>
              <a:rPr sz="2000" b="1">
                <a:cs typeface="2  Nazanin" panose="00000400000000000000" pitchFamily="2" charset="-78"/>
              </a:rPr>
              <a:t>-</a:t>
            </a:r>
            <a:r>
              <a:rPr lang="fa-IR" sz="2000" b="1">
                <a:cs typeface="2  Nazanin" panose="00000400000000000000" pitchFamily="2" charset="-78"/>
              </a:rPr>
              <a:t> </a:t>
            </a:r>
            <a:r>
              <a:rPr sz="2000" b="1">
                <a:cs typeface="2  Nazanin" panose="00000400000000000000" pitchFamily="2" charset="-78"/>
              </a:rPr>
              <a:t> شماره کارت بانکی، رمز دوم یا رمز پویا</a:t>
            </a:r>
          </a:p>
          <a:p>
            <a:pPr marL="0" indent="0" algn="r" rtl="1">
              <a:spcBef>
                <a:spcPts val="0"/>
              </a:spcBef>
              <a:buNone/>
            </a:pPr>
            <a:r>
              <a:rPr sz="2000" b="1">
                <a:cs typeface="2  Nazanin" panose="00000400000000000000" pitchFamily="2" charset="-78"/>
              </a:rPr>
              <a:t>-</a:t>
            </a:r>
            <a:r>
              <a:rPr lang="fa-IR" sz="2000" b="1">
                <a:cs typeface="2  Nazanin" panose="00000400000000000000" pitchFamily="2" charset="-78"/>
              </a:rPr>
              <a:t> </a:t>
            </a:r>
            <a:r>
              <a:rPr sz="2000" b="1">
                <a:cs typeface="2  Nazanin" panose="00000400000000000000" pitchFamily="2" charset="-78"/>
              </a:rPr>
              <a:t> اطلاعات حساب یا کیف پول دیجیتال</a:t>
            </a:r>
          </a:p>
          <a:p>
            <a:pPr marL="0" indent="0" algn="r" rtl="1">
              <a:spcBef>
                <a:spcPts val="0"/>
              </a:spcBef>
              <a:buNone/>
            </a:pPr>
            <a:endParaRPr sz="2000" b="1">
              <a:cs typeface="2  Nazanin" panose="00000400000000000000" pitchFamily="2" charset="-78"/>
            </a:endParaRPr>
          </a:p>
          <a:p>
            <a:pPr marL="0" indent="0" algn="r" rtl="1">
              <a:spcBef>
                <a:spcPts val="0"/>
              </a:spcBef>
              <a:buNone/>
            </a:pPr>
            <a:r>
              <a:rPr lang="en-US" sz="2000" b="1">
                <a:cs typeface="2  Nazanin" panose="00000400000000000000" pitchFamily="2" charset="-78"/>
              </a:rPr>
              <a:t>🪪</a:t>
            </a:r>
            <a:r>
              <a:rPr lang="fa-IR" sz="2000" b="1">
                <a:cs typeface="2  Nazanin" panose="00000400000000000000" pitchFamily="2" charset="-78"/>
              </a:rPr>
              <a:t> </a:t>
            </a:r>
            <a:r>
              <a:rPr sz="2000" b="1">
                <a:cs typeface="2  Nazanin" panose="00000400000000000000" pitchFamily="2" charset="-78"/>
              </a:rPr>
              <a:t> </a:t>
            </a:r>
            <a:r>
              <a:rPr lang="ar-SA" sz="2000" b="1">
                <a:cs typeface="2  Nazanin" panose="00000400000000000000" pitchFamily="2" charset="-78"/>
              </a:rPr>
              <a:t>ا</a:t>
            </a:r>
            <a:r>
              <a:rPr sz="2000" b="1">
                <a:cs typeface="2  Nazanin" panose="00000400000000000000" pitchFamily="2" charset="-78"/>
              </a:rPr>
              <a:t>طلاعات هویتی:</a:t>
            </a:r>
          </a:p>
          <a:p>
            <a:pPr marL="0" indent="0" algn="r" rtl="1">
              <a:spcBef>
                <a:spcPts val="0"/>
              </a:spcBef>
              <a:buNone/>
            </a:pPr>
            <a:r>
              <a:rPr sz="2000" b="1">
                <a:cs typeface="2  Nazanin" panose="00000400000000000000" pitchFamily="2" charset="-78"/>
              </a:rPr>
              <a:t>-</a:t>
            </a:r>
            <a:r>
              <a:rPr lang="fa-IR" sz="2000" b="1">
                <a:cs typeface="2  Nazanin" panose="00000400000000000000" pitchFamily="2" charset="-78"/>
              </a:rPr>
              <a:t> </a:t>
            </a:r>
            <a:r>
              <a:rPr sz="2000" b="1">
                <a:cs typeface="2  Nazanin" panose="00000400000000000000" pitchFamily="2" charset="-78"/>
              </a:rPr>
              <a:t> شماره ملی، شناسنامه، آدرس دقیق، شماره تلفن</a:t>
            </a:r>
          </a:p>
          <a:p>
            <a:pPr marL="0" indent="0" algn="r" rtl="1">
              <a:spcBef>
                <a:spcPts val="0"/>
              </a:spcBef>
              <a:buNone/>
            </a:pPr>
            <a:r>
              <a:rPr sz="2000" b="1">
                <a:cs typeface="2  Nazanin" panose="00000400000000000000" pitchFamily="2" charset="-78"/>
              </a:rPr>
              <a:t>-</a:t>
            </a:r>
            <a:r>
              <a:rPr lang="fa-IR" sz="2000" b="1">
                <a:cs typeface="2  Nazanin" panose="00000400000000000000" pitchFamily="2" charset="-78"/>
              </a:rPr>
              <a:t> </a:t>
            </a:r>
            <a:r>
              <a:rPr sz="2000" b="1">
                <a:cs typeface="2  Nazanin" panose="00000400000000000000" pitchFamily="2" charset="-78"/>
              </a:rPr>
              <a:t> عکس کارت ملی، پاسپورت یا گواهینامه</a:t>
            </a:r>
          </a:p>
          <a:p>
            <a:pPr marL="0" indent="0" algn="r" rtl="1">
              <a:spcBef>
                <a:spcPts val="0"/>
              </a:spcBef>
              <a:buNone/>
            </a:pPr>
            <a:endParaRPr sz="2000" b="1">
              <a:cs typeface="2  Nazanin" panose="00000400000000000000" pitchFamily="2" charset="-78"/>
            </a:endParaRPr>
          </a:p>
          <a:p>
            <a:pPr marL="0" indent="0" algn="r" rtl="1">
              <a:spcBef>
                <a:spcPts val="0"/>
              </a:spcBef>
              <a:buNone/>
            </a:pPr>
            <a:r>
              <a:rPr sz="2000" b="1">
                <a:cs typeface="2  Nazanin" panose="00000400000000000000" pitchFamily="2" charset="-78"/>
              </a:rPr>
              <a:t>📁 اسناد محرمانه:</a:t>
            </a:r>
          </a:p>
          <a:p>
            <a:pPr marL="0" indent="0" algn="r" rtl="1">
              <a:spcBef>
                <a:spcPts val="0"/>
              </a:spcBef>
              <a:buNone/>
            </a:pPr>
            <a:r>
              <a:rPr sz="2000" b="1">
                <a:cs typeface="2  Nazanin" panose="00000400000000000000" pitchFamily="2" charset="-78"/>
              </a:rPr>
              <a:t>-</a:t>
            </a:r>
            <a:r>
              <a:rPr lang="fa-IR" sz="2000" b="1">
                <a:cs typeface="2  Nazanin" panose="00000400000000000000" pitchFamily="2" charset="-78"/>
              </a:rPr>
              <a:t> </a:t>
            </a:r>
            <a:r>
              <a:rPr sz="2000" b="1">
                <a:cs typeface="2  Nazanin" panose="00000400000000000000" pitchFamily="2" charset="-78"/>
              </a:rPr>
              <a:t> قراردادهای کاری یا حقوقی</a:t>
            </a:r>
          </a:p>
          <a:p>
            <a:pPr marL="0" indent="0" algn="r" rtl="1">
              <a:spcBef>
                <a:spcPts val="0"/>
              </a:spcBef>
              <a:buNone/>
            </a:pPr>
            <a:r>
              <a:rPr sz="2000" b="1">
                <a:cs typeface="2  Nazanin" panose="00000400000000000000" pitchFamily="2" charset="-78"/>
              </a:rPr>
              <a:t>-</a:t>
            </a:r>
            <a:r>
              <a:rPr lang="fa-IR" sz="2000" b="1">
                <a:cs typeface="2  Nazanin" panose="00000400000000000000" pitchFamily="2" charset="-78"/>
              </a:rPr>
              <a:t> </a:t>
            </a:r>
            <a:r>
              <a:rPr sz="2000" b="1">
                <a:cs typeface="2  Nazanin" panose="00000400000000000000" pitchFamily="2" charset="-78"/>
              </a:rPr>
              <a:t> پروژه‌های دارای مالکیت فکری</a:t>
            </a:r>
          </a:p>
          <a:p>
            <a:pPr marL="0" indent="0" algn="r" rtl="1">
              <a:spcBef>
                <a:spcPts val="0"/>
              </a:spcBef>
              <a:buNone/>
            </a:pPr>
            <a:r>
              <a:rPr sz="2000" b="1">
                <a:cs typeface="2  Nazanin" panose="00000400000000000000" pitchFamily="2" charset="-78"/>
              </a:rPr>
              <a:t>-</a:t>
            </a:r>
            <a:r>
              <a:rPr lang="fa-IR" sz="2000" b="1">
                <a:cs typeface="2  Nazanin" panose="00000400000000000000" pitchFamily="2" charset="-78"/>
              </a:rPr>
              <a:t> </a:t>
            </a:r>
            <a:r>
              <a:rPr sz="2000" b="1">
                <a:cs typeface="2  Nazanin" panose="00000400000000000000" pitchFamily="2" charset="-78"/>
              </a:rPr>
              <a:t> مکاتبات و نامه‌های خصوصی</a:t>
            </a:r>
          </a:p>
          <a:p>
            <a:pPr marL="0" indent="0" algn="r" rtl="1">
              <a:spcBef>
                <a:spcPts val="0"/>
              </a:spcBef>
              <a:buNone/>
            </a:pPr>
            <a:endParaRPr sz="2000" b="1">
              <a:cs typeface="2  Nazanin" panose="00000400000000000000" pitchFamily="2" charset="-78"/>
            </a:endParaRPr>
          </a:p>
          <a:p>
            <a:pPr marL="0" indent="0" algn="r" rtl="1">
              <a:spcBef>
                <a:spcPts val="0"/>
              </a:spcBef>
              <a:buNone/>
            </a:pPr>
            <a:r>
              <a:rPr sz="2000" b="1">
                <a:cs typeface="2  Nazanin" panose="00000400000000000000" pitchFamily="2" charset="-78"/>
              </a:rPr>
              <a:t>🧬 اطلاعات شخصی حساس:</a:t>
            </a:r>
          </a:p>
          <a:p>
            <a:pPr marL="0" indent="0" algn="r" rtl="1">
              <a:spcBef>
                <a:spcPts val="0"/>
              </a:spcBef>
              <a:buNone/>
            </a:pPr>
            <a:r>
              <a:rPr sz="2000" b="1">
                <a:cs typeface="2  Nazanin" panose="00000400000000000000" pitchFamily="2" charset="-78"/>
              </a:rPr>
              <a:t>-</a:t>
            </a:r>
            <a:r>
              <a:rPr lang="fa-IR" sz="2000" b="1">
                <a:cs typeface="2  Nazanin" panose="00000400000000000000" pitchFamily="2" charset="-78"/>
              </a:rPr>
              <a:t> </a:t>
            </a:r>
            <a:r>
              <a:rPr sz="2000" b="1">
                <a:cs typeface="2  Nazanin" panose="00000400000000000000" pitchFamily="2" charset="-78"/>
              </a:rPr>
              <a:t> اطلاعات پزشکی، داروها، سلامت روان</a:t>
            </a:r>
          </a:p>
          <a:p>
            <a:pPr marL="0" indent="0" algn="r" rtl="1">
              <a:spcBef>
                <a:spcPts val="0"/>
              </a:spcBef>
              <a:buNone/>
            </a:pPr>
            <a:r>
              <a:rPr sz="2000" b="1">
                <a:cs typeface="2  Nazanin" panose="00000400000000000000" pitchFamily="2" charset="-78"/>
              </a:rPr>
              <a:t>-</a:t>
            </a:r>
            <a:r>
              <a:rPr lang="fa-IR" sz="2000" b="1">
                <a:cs typeface="2  Nazanin" panose="00000400000000000000" pitchFamily="2" charset="-78"/>
              </a:rPr>
              <a:t> </a:t>
            </a:r>
            <a:r>
              <a:rPr sz="2000" b="1">
                <a:cs typeface="2  Nazanin" panose="00000400000000000000" pitchFamily="2" charset="-78"/>
              </a:rPr>
              <a:t> اسرار خانوادگی یا کاری</a:t>
            </a:r>
          </a:p>
          <a:p>
            <a:pPr marL="0" indent="0" algn="r" rtl="1">
              <a:spcBef>
                <a:spcPts val="0"/>
              </a:spcBef>
              <a:buNone/>
            </a:pPr>
            <a:endParaRPr sz="2000" b="1">
              <a:cs typeface="2  Nazanin" panose="00000400000000000000" pitchFamily="2" charset="-78"/>
            </a:endParaRPr>
          </a:p>
          <a:p>
            <a:pPr marL="0" indent="0" algn="r" rtl="1">
              <a:spcBef>
                <a:spcPts val="0"/>
              </a:spcBef>
              <a:buNone/>
            </a:pPr>
            <a:r>
              <a:rPr sz="2000" b="1">
                <a:cs typeface="2  Nazanin" panose="00000400000000000000" pitchFamily="2" charset="-78"/>
              </a:rPr>
              <a:t>🎯 چت‌بات‌ها برای آموزش و پاسخ عمومی مناسب‌اند، نه برای اطلاعات خصوصی!</a:t>
            </a:r>
          </a:p>
        </p:txBody>
      </p:sp>
      <p:sp>
        <p:nvSpPr>
          <p:cNvPr id="4" name="TextBox 3">
            <a:extLst>
              <a:ext uri="{FF2B5EF4-FFF2-40B4-BE49-F238E27FC236}">
                <a16:creationId xmlns:a16="http://schemas.microsoft.com/office/drawing/2014/main" id="{FBD6251A-5937-16C5-AA76-808189D71256}"/>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2</a:t>
            </a:r>
            <a:endParaRPr lang="fa-IR" sz="1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8114" y="356179"/>
            <a:ext cx="7886700" cy="1325563"/>
          </a:xfrm>
        </p:spPr>
        <p:txBody>
          <a:bodyPr>
            <a:normAutofit/>
          </a:bodyPr>
          <a:lstStyle/>
          <a:p>
            <a:pPr algn="ctr" rtl="1"/>
            <a:r>
              <a:rPr lang="fa-IR" sz="3200" noProof="0">
                <a:cs typeface="Titr" panose="00000700000000000000" pitchFamily="2" charset="-78"/>
              </a:rPr>
              <a:t>پیش‌نیازهای استفاده از ابزارهای هوش مصنوعی مولد</a:t>
            </a:r>
          </a:p>
        </p:txBody>
      </p:sp>
      <p:sp>
        <p:nvSpPr>
          <p:cNvPr id="3" name="Content Placeholder 2"/>
          <p:cNvSpPr>
            <a:spLocks noGrp="1"/>
          </p:cNvSpPr>
          <p:nvPr>
            <p:ph idx="1"/>
          </p:nvPr>
        </p:nvSpPr>
        <p:spPr>
          <a:xfrm>
            <a:off x="189186" y="1494549"/>
            <a:ext cx="8623738" cy="5190030"/>
          </a:xfrm>
        </p:spPr>
        <p:txBody>
          <a:bodyPr>
            <a:normAutofit fontScale="77500" lnSpcReduction="20000"/>
          </a:bodyPr>
          <a:lstStyle/>
          <a:p>
            <a:pPr marL="0" indent="0" algn="r" rtl="1">
              <a:buNone/>
            </a:pPr>
            <a:r>
              <a:rPr lang="fa-IR" noProof="0">
                <a:cs typeface="Nazanin" panose="00000400000000000000" pitchFamily="2" charset="-78"/>
              </a:rPr>
              <a:t>۱. ایمیل فعال (ترجیحاً Gmail) برای ثبت‌نام در سرویس‌ها</a:t>
            </a:r>
          </a:p>
          <a:p>
            <a:pPr marL="0" indent="0" algn="ctr" rtl="1">
              <a:buNone/>
            </a:pPr>
            <a:r>
              <a:rPr lang="fa-IR" noProof="0">
                <a:cs typeface="Nazanin" panose="00000400000000000000" pitchFamily="2" charset="-78"/>
              </a:rPr>
              <a:t>نکته:</a:t>
            </a:r>
          </a:p>
          <a:p>
            <a:pPr marL="0" indent="0" rtl="1">
              <a:buNone/>
            </a:pPr>
            <a:r>
              <a:rPr lang="en-US">
                <a:cs typeface="Nazanin" panose="00000400000000000000" pitchFamily="2" charset="-78"/>
                <a:hlinkClick r:id="rId2"/>
              </a:rPr>
              <a:t>https://www.disposablemail.com</a:t>
            </a:r>
            <a:r>
              <a:rPr lang="en-US">
                <a:cs typeface="Nazanin" panose="00000400000000000000" pitchFamily="2" charset="-78"/>
              </a:rPr>
              <a:t> </a:t>
            </a:r>
            <a:endParaRPr lang="fa-IR">
              <a:cs typeface="Nazanin" panose="00000400000000000000" pitchFamily="2" charset="-78"/>
            </a:endParaRPr>
          </a:p>
          <a:p>
            <a:pPr marL="0" indent="0" rtl="1">
              <a:buNone/>
            </a:pPr>
            <a:r>
              <a:rPr lang="en-US">
                <a:cs typeface="Nazanin" panose="00000400000000000000" pitchFamily="2" charset="-78"/>
                <a:hlinkClick r:id="rId3"/>
              </a:rPr>
              <a:t>https://inboxes.com</a:t>
            </a:r>
            <a:r>
              <a:rPr lang="en-US">
                <a:cs typeface="Nazanin" panose="00000400000000000000" pitchFamily="2" charset="-78"/>
              </a:rPr>
              <a:t> </a:t>
            </a:r>
            <a:endParaRPr lang="fa-IR">
              <a:cs typeface="Nazanin" panose="00000400000000000000" pitchFamily="2" charset="-78"/>
            </a:endParaRPr>
          </a:p>
          <a:p>
            <a:pPr marL="0" indent="0" rtl="1">
              <a:buNone/>
            </a:pPr>
            <a:r>
              <a:rPr lang="en-US">
                <a:cs typeface="Nazanin" panose="00000400000000000000" pitchFamily="2" charset="-78"/>
                <a:hlinkClick r:id="rId4"/>
              </a:rPr>
              <a:t>https://maildrop.cc</a:t>
            </a:r>
            <a:r>
              <a:rPr lang="en-US">
                <a:cs typeface="Nazanin" panose="00000400000000000000" pitchFamily="2" charset="-78"/>
              </a:rPr>
              <a:t> </a:t>
            </a:r>
            <a:endParaRPr lang="fa-IR">
              <a:cs typeface="Nazanin" panose="00000400000000000000" pitchFamily="2" charset="-78"/>
            </a:endParaRPr>
          </a:p>
          <a:p>
            <a:pPr marL="0" indent="0" rtl="1">
              <a:buNone/>
            </a:pPr>
            <a:r>
              <a:rPr lang="fa-IR">
                <a:cs typeface="Nazanin" panose="00000400000000000000" pitchFamily="2" charset="-78"/>
              </a:rPr>
              <a:t> </a:t>
            </a:r>
            <a:r>
              <a:rPr lang="fa-IR">
                <a:cs typeface="Nazanin" panose="00000400000000000000" pitchFamily="2" charset="-78"/>
                <a:hlinkClick r:id="rId5"/>
              </a:rPr>
              <a:t>https://temp-mail.org</a:t>
            </a:r>
            <a:endParaRPr lang="fa-IR">
              <a:cs typeface="Nazanin" panose="00000400000000000000" pitchFamily="2" charset="-78"/>
            </a:endParaRPr>
          </a:p>
          <a:p>
            <a:pPr marL="0" indent="0" rtl="1">
              <a:buNone/>
            </a:pPr>
            <a:r>
              <a:rPr lang="en-US">
                <a:cs typeface="Nazanin" panose="00000400000000000000" pitchFamily="2" charset="-78"/>
                <a:hlinkClick r:id="rId6"/>
              </a:rPr>
              <a:t>https://t.me/fakemailbot</a:t>
            </a:r>
            <a:endParaRPr lang="fa-IR" noProof="0">
              <a:cs typeface="Nazanin" panose="00000400000000000000" pitchFamily="2" charset="-78"/>
            </a:endParaRPr>
          </a:p>
          <a:p>
            <a:pPr marL="0" indent="0" algn="r" rtl="1">
              <a:buNone/>
            </a:pPr>
            <a:r>
              <a:rPr lang="fa-IR" noProof="0">
                <a:cs typeface="Nazanin" panose="00000400000000000000" pitchFamily="2" charset="-78"/>
              </a:rPr>
              <a:t>۲. دسترسی به Google Drive  برای ذخیره‌سازی و تایپ صوتی</a:t>
            </a:r>
          </a:p>
          <a:p>
            <a:pPr marL="0" indent="0" algn="r" rtl="1">
              <a:buNone/>
            </a:pPr>
            <a:r>
              <a:rPr lang="fa-IR" noProof="0">
                <a:cs typeface="Nazanin" panose="00000400000000000000" pitchFamily="2" charset="-78"/>
              </a:rPr>
              <a:t>Voice typing، NotebookLM، Speechtexter، Dictation.io</a:t>
            </a:r>
          </a:p>
          <a:p>
            <a:pPr marL="0" indent="0" algn="r" rtl="1">
              <a:buNone/>
            </a:pPr>
            <a:r>
              <a:rPr lang="fa-IR" noProof="0">
                <a:cs typeface="Nazanin" panose="00000400000000000000" pitchFamily="2" charset="-78"/>
              </a:rPr>
              <a:t>۳. استفاده از ابزارهای گذر از تحریم مانند شکن یا VPN</a:t>
            </a:r>
          </a:p>
          <a:p>
            <a:pPr marL="0" indent="0" algn="r" rtl="1">
              <a:buNone/>
            </a:pPr>
            <a:r>
              <a:rPr lang="fa-IR" noProof="0">
                <a:cs typeface="Nazanin" panose="00000400000000000000" pitchFamily="2" charset="-78"/>
              </a:rPr>
              <a:t>۴. آشنایی با مرورگر اینترنت و افزونه‌ها (Chrome/Firefox)</a:t>
            </a:r>
          </a:p>
          <a:p>
            <a:pPr marL="0" indent="0" algn="r" rtl="1">
              <a:buNone/>
            </a:pPr>
            <a:r>
              <a:rPr lang="fa-IR" noProof="0">
                <a:cs typeface="Nazanin" panose="00000400000000000000" pitchFamily="2" charset="-78"/>
              </a:rPr>
              <a:t>۵. ابزارهای هوش مصنوعی آفلاین در کامپیوتر (LM Studio, Jan...)</a:t>
            </a:r>
          </a:p>
          <a:p>
            <a:pPr marL="0" indent="0" algn="r" rtl="1">
              <a:buNone/>
            </a:pPr>
            <a:r>
              <a:rPr lang="fa-IR" noProof="0">
                <a:cs typeface="Nazanin" panose="00000400000000000000" pitchFamily="2" charset="-78"/>
              </a:rPr>
              <a:t>۶. اپ Google AI Edge Gallery  برای اندروید</a:t>
            </a:r>
          </a:p>
          <a:p>
            <a:pPr marL="0" indent="0" algn="r" rtl="1">
              <a:buNone/>
            </a:pPr>
            <a:r>
              <a:rPr lang="fa-IR" noProof="0">
                <a:cs typeface="Nazanin" panose="00000400000000000000" pitchFamily="2" charset="-78"/>
              </a:rPr>
              <a:t>۷. ابزارهای جانبی مانند Snipping Tools، DNS Jumper</a:t>
            </a:r>
          </a:p>
        </p:txBody>
      </p:sp>
      <p:sp>
        <p:nvSpPr>
          <p:cNvPr id="4" name="TextBox 3">
            <a:extLst>
              <a:ext uri="{FF2B5EF4-FFF2-40B4-BE49-F238E27FC236}">
                <a16:creationId xmlns:a16="http://schemas.microsoft.com/office/drawing/2014/main" id="{3868FC3C-1C72-D6A5-293A-D615AE843B44}"/>
              </a:ext>
            </a:extLst>
          </p:cNvPr>
          <p:cNvSpPr txBox="1"/>
          <p:nvPr/>
        </p:nvSpPr>
        <p:spPr>
          <a:xfrm>
            <a:off x="4317022" y="118211"/>
            <a:ext cx="747347" cy="276999"/>
          </a:xfrm>
          <a:prstGeom prst="rect">
            <a:avLst/>
          </a:prstGeom>
          <a:noFill/>
        </p:spPr>
        <p:txBody>
          <a:bodyPr wrap="square">
            <a:spAutoFit/>
          </a:bodyPr>
          <a:lstStyle/>
          <a:p>
            <a:pPr algn="ctr"/>
            <a:r>
              <a:rPr lang="fa-IR" sz="1200">
                <a:cs typeface="2  Nazanin" panose="00000400000000000000" pitchFamily="2" charset="-78"/>
              </a:rPr>
              <a:t>اسلاید 3</a:t>
            </a:r>
            <a:endParaRPr lang="fa-IR" sz="1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fa-IR" sz="3600" noProof="0">
                <a:cs typeface="Titr" panose="00000700000000000000" pitchFamily="2" charset="-78"/>
              </a:rPr>
              <a:t>افزونه‌های هوشمند برای مرورگر</a:t>
            </a:r>
          </a:p>
        </p:txBody>
      </p:sp>
      <p:sp>
        <p:nvSpPr>
          <p:cNvPr id="3" name="Content Placeholder 2"/>
          <p:cNvSpPr>
            <a:spLocks noGrp="1"/>
          </p:cNvSpPr>
          <p:nvPr>
            <p:ph idx="1"/>
          </p:nvPr>
        </p:nvSpPr>
        <p:spPr/>
        <p:txBody>
          <a:bodyPr>
            <a:normAutofit fontScale="77500" lnSpcReduction="20000"/>
          </a:bodyPr>
          <a:lstStyle/>
          <a:p>
            <a:pPr algn="r" rtl="1"/>
            <a:r>
              <a:rPr lang="fa-IR" noProof="0">
                <a:cs typeface="Nazanin" panose="00000400000000000000" pitchFamily="2" charset="-78"/>
              </a:rPr>
              <a:t>ChatGPT for Google – نمایش پاسخ در کنار گوگل</a:t>
            </a:r>
          </a:p>
          <a:p>
            <a:pPr algn="r" rtl="1"/>
            <a:r>
              <a:rPr lang="fa-IR" noProof="0">
                <a:cs typeface="Nazanin" panose="00000400000000000000" pitchFamily="2" charset="-78"/>
              </a:rPr>
              <a:t>Merlin AI – خلاصه‌سازی سریع متن</a:t>
            </a:r>
          </a:p>
          <a:p>
            <a:pPr algn="r" rtl="1"/>
            <a:r>
              <a:rPr lang="fa-IR" noProof="0">
                <a:cs typeface="Nazanin" panose="00000400000000000000" pitchFamily="2" charset="-78"/>
              </a:rPr>
              <a:t>Voice In – تایپ صوتی</a:t>
            </a:r>
          </a:p>
          <a:p>
            <a:pPr algn="r" rtl="1"/>
            <a:r>
              <a:rPr lang="fa-IR" noProof="0">
                <a:cs typeface="Nazanin" panose="00000400000000000000" pitchFamily="2" charset="-78"/>
              </a:rPr>
              <a:t>Tactiq – ذخیره متن جلسات</a:t>
            </a:r>
          </a:p>
          <a:p>
            <a:pPr algn="r" rtl="1"/>
            <a:r>
              <a:rPr lang="fa-IR" noProof="0">
                <a:cs typeface="Nazanin" panose="00000400000000000000" pitchFamily="2" charset="-78"/>
              </a:rPr>
              <a:t>YouTube Summary – خلاصه ویدیوی آموزشی</a:t>
            </a:r>
          </a:p>
          <a:p>
            <a:pPr algn="r" rtl="1"/>
            <a:r>
              <a:rPr lang="fa-IR" noProof="0">
                <a:cs typeface="Nazanin" panose="00000400000000000000" pitchFamily="2" charset="-78"/>
              </a:rPr>
              <a:t>Glasp – هایلایت و یادداشت‌برداری</a:t>
            </a:r>
          </a:p>
          <a:p>
            <a:pPr algn="r" rtl="1"/>
            <a:r>
              <a:rPr lang="fa-IR" noProof="0">
                <a:cs typeface="Nazanin" panose="00000400000000000000" pitchFamily="2" charset="-78"/>
              </a:rPr>
              <a:t>Dark Reader – حالت شب برای مطالعه</a:t>
            </a:r>
          </a:p>
          <a:p>
            <a:pPr algn="r" rtl="1"/>
            <a:r>
              <a:rPr lang="fa-IR" noProof="0">
                <a:cs typeface="Nazanin" panose="00000400000000000000" pitchFamily="2" charset="-78"/>
              </a:rPr>
              <a:t>Grammarly – اصلاح متون انگلیسی</a:t>
            </a:r>
          </a:p>
          <a:p>
            <a:pPr algn="r" rtl="1"/>
            <a:r>
              <a:rPr lang="fa-IR" noProof="0">
                <a:cs typeface="Nazanin" panose="00000400000000000000" pitchFamily="2" charset="-78"/>
              </a:rPr>
              <a:t>Google Dictionary – مشاهده معنی با کلیک</a:t>
            </a:r>
          </a:p>
          <a:p>
            <a:pPr algn="r" rtl="1"/>
            <a:r>
              <a:rPr lang="fa-IR" noProof="0">
                <a:cs typeface="Nazanin" panose="00000400000000000000" pitchFamily="2" charset="-78"/>
              </a:rPr>
              <a:t>Language Reactor – یادگیری زبان از ویدیو</a:t>
            </a:r>
          </a:p>
          <a:p>
            <a:pPr algn="r" rtl="1"/>
            <a:r>
              <a:rPr lang="en-US">
                <a:cs typeface="Nazanin" panose="00000400000000000000" pitchFamily="2" charset="-78"/>
              </a:rPr>
              <a:t>Subtitles For YouTube</a:t>
            </a:r>
            <a:r>
              <a:rPr lang="fa-IR">
                <a:cs typeface="Nazanin" panose="00000400000000000000" pitchFamily="2" charset="-78"/>
              </a:rPr>
              <a:t>™ - نمایش زیرنویس دو زبانه (فارسی + انگلیسی) </a:t>
            </a:r>
            <a:endParaRPr lang="fa-IR" noProof="0">
              <a:cs typeface="Nazanin" panose="00000400000000000000" pitchFamily="2" charset="-78"/>
            </a:endParaRPr>
          </a:p>
        </p:txBody>
      </p:sp>
      <p:sp>
        <p:nvSpPr>
          <p:cNvPr id="4" name="TextBox 3">
            <a:extLst>
              <a:ext uri="{FF2B5EF4-FFF2-40B4-BE49-F238E27FC236}">
                <a16:creationId xmlns:a16="http://schemas.microsoft.com/office/drawing/2014/main" id="{2DD4EC88-24E2-5248-8D9C-6D0B59E18CA4}"/>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4</a:t>
            </a:r>
            <a:endParaRPr lang="fa-IR" sz="12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fa-IR" sz="3600" noProof="0">
                <a:cs typeface="Titr" panose="00000700000000000000" pitchFamily="2" charset="-78"/>
              </a:rPr>
              <a:t>ابزارهای تبدیل گفتار به متن و ترجمه</a:t>
            </a:r>
          </a:p>
        </p:txBody>
      </p:sp>
      <p:sp>
        <p:nvSpPr>
          <p:cNvPr id="3" name="Content Placeholder 2"/>
          <p:cNvSpPr>
            <a:spLocks noGrp="1"/>
          </p:cNvSpPr>
          <p:nvPr>
            <p:ph idx="1"/>
          </p:nvPr>
        </p:nvSpPr>
        <p:spPr/>
        <p:txBody>
          <a:bodyPr>
            <a:normAutofit lnSpcReduction="10000"/>
          </a:bodyPr>
          <a:lstStyle/>
          <a:p>
            <a:pPr algn="r" rtl="1"/>
            <a:r>
              <a:rPr lang="fa-IR" noProof="0">
                <a:cs typeface="Nazanin" panose="00000400000000000000" pitchFamily="2" charset="-78"/>
              </a:rPr>
              <a:t>Transcribe – تبدیل صدا به متن</a:t>
            </a:r>
          </a:p>
          <a:p>
            <a:pPr algn="r" rtl="1"/>
            <a:r>
              <a:rPr lang="fa-IR" noProof="0">
                <a:cs typeface="Nazanin" panose="00000400000000000000" pitchFamily="2" charset="-78"/>
              </a:rPr>
              <a:t>Otter.ai – ساخت نوت از مکالمات</a:t>
            </a:r>
          </a:p>
          <a:p>
            <a:pPr algn="r" rtl="1"/>
            <a:r>
              <a:rPr lang="fa-IR" noProof="0">
                <a:cs typeface="Nazanin" panose="00000400000000000000" pitchFamily="2" charset="-78"/>
              </a:rPr>
              <a:t>SpeechText.AI – تبدیل فایل صوتی</a:t>
            </a:r>
            <a:r>
              <a:rPr lang="en-US" noProof="0">
                <a:cs typeface="Nazanin" panose="00000400000000000000" pitchFamily="2" charset="-78"/>
              </a:rPr>
              <a:t> </a:t>
            </a:r>
            <a:r>
              <a:rPr lang="ar-SA" noProof="0">
                <a:cs typeface="Nazanin" panose="00000400000000000000" pitchFamily="2" charset="-78"/>
              </a:rPr>
              <a:t>و ویدیویی </a:t>
            </a:r>
            <a:r>
              <a:rPr lang="fa-IR" noProof="0">
                <a:cs typeface="Nazanin" panose="00000400000000000000" pitchFamily="2" charset="-78"/>
              </a:rPr>
              <a:t> به متن</a:t>
            </a:r>
          </a:p>
          <a:p>
            <a:pPr algn="r" rtl="1"/>
            <a:r>
              <a:rPr lang="fa-IR" noProof="0">
                <a:cs typeface="Nazanin" panose="00000400000000000000" pitchFamily="2" charset="-78"/>
              </a:rPr>
              <a:t>DeepL Translate – ترجمه فوری دقیق</a:t>
            </a:r>
          </a:p>
          <a:p>
            <a:pPr algn="r" rtl="1"/>
            <a:r>
              <a:rPr lang="fa-IR" noProof="0">
                <a:cs typeface="Nazanin" panose="00000400000000000000" pitchFamily="2" charset="-78"/>
              </a:rPr>
              <a:t>YouTube Transcript – استخراج زیرنویس کامل</a:t>
            </a:r>
          </a:p>
          <a:p>
            <a:pPr algn="r" rtl="1"/>
            <a:r>
              <a:rPr lang="fa-IR" noProof="0">
                <a:cs typeface="Nazanin" panose="00000400000000000000" pitchFamily="2" charset="-78"/>
              </a:rPr>
              <a:t>Glarity – خلاصه‌سازی + زیرنویس</a:t>
            </a:r>
          </a:p>
          <a:p>
            <a:pPr algn="r" rtl="1"/>
            <a:r>
              <a:rPr lang="fa-IR" noProof="0">
                <a:cs typeface="Nazanin" panose="00000400000000000000" pitchFamily="2" charset="-78"/>
              </a:rPr>
              <a:t>Veed Subtitles AI – افزودن زیرنویس به ویدیو</a:t>
            </a:r>
            <a:endParaRPr lang="en-US" noProof="0">
              <a:cs typeface="Nazanin" panose="00000400000000000000" pitchFamily="2" charset="-78"/>
            </a:endParaRPr>
          </a:p>
          <a:p>
            <a:pPr algn="r" rtl="1"/>
            <a:r>
              <a:rPr lang="en-US"/>
              <a:t>AI Toolbar - Reclaim Your Time Now</a:t>
            </a:r>
          </a:p>
          <a:p>
            <a:pPr algn="r" rtl="1"/>
            <a:r>
              <a:rPr lang="en-US"/>
              <a:t>GoFullPage</a:t>
            </a:r>
            <a:endParaRPr lang="fa-IR" noProof="0">
              <a:cs typeface="Nazanin" panose="00000400000000000000" pitchFamily="2" charset="-78"/>
            </a:endParaRPr>
          </a:p>
        </p:txBody>
      </p:sp>
      <p:sp>
        <p:nvSpPr>
          <p:cNvPr id="4" name="TextBox 3">
            <a:extLst>
              <a:ext uri="{FF2B5EF4-FFF2-40B4-BE49-F238E27FC236}">
                <a16:creationId xmlns:a16="http://schemas.microsoft.com/office/drawing/2014/main" id="{A0A0B990-AFBE-A8CE-A865-8869497DF370}"/>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5</a:t>
            </a:r>
            <a:endParaRPr lang="fa-IR" sz="12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D03D65F-7522-1373-B938-AE672267950C}"/>
              </a:ext>
            </a:extLst>
          </p:cNvPr>
          <p:cNvSpPr txBox="1"/>
          <p:nvPr/>
        </p:nvSpPr>
        <p:spPr>
          <a:xfrm>
            <a:off x="161365" y="470211"/>
            <a:ext cx="8659906" cy="584775"/>
          </a:xfrm>
          <a:prstGeom prst="rect">
            <a:avLst/>
          </a:prstGeom>
          <a:noFill/>
        </p:spPr>
        <p:txBody>
          <a:bodyPr wrap="square">
            <a:spAutoFit/>
          </a:bodyPr>
          <a:lstStyle/>
          <a:p>
            <a:pPr algn="r" rtl="1"/>
            <a:r>
              <a:rPr lang="ar-SA" sz="3200" b="1">
                <a:cs typeface="2  Titr" panose="00000700000000000000" pitchFamily="2" charset="-78"/>
              </a:rPr>
              <a:t>فعالسازی </a:t>
            </a:r>
            <a:r>
              <a:rPr lang="en-US" sz="3200" b="1">
                <a:cs typeface="2  Titr" panose="00000700000000000000" pitchFamily="2" charset="-78"/>
              </a:rPr>
              <a:t>Live Caption </a:t>
            </a:r>
            <a:r>
              <a:rPr lang="fa-IR" sz="3200" b="1">
                <a:cs typeface="2  Titr" panose="00000700000000000000" pitchFamily="2" charset="-78"/>
              </a:rPr>
              <a:t> </a:t>
            </a:r>
            <a:r>
              <a:rPr lang="ar-SA" sz="3200" b="1">
                <a:cs typeface="2  Titr" panose="00000700000000000000" pitchFamily="2" charset="-78"/>
              </a:rPr>
              <a:t>و </a:t>
            </a:r>
            <a:r>
              <a:rPr lang="en-US" sz="3200" b="1">
                <a:cs typeface="2  Titr" panose="00000700000000000000" pitchFamily="2" charset="-78"/>
              </a:rPr>
              <a:t>Live Translate </a:t>
            </a:r>
            <a:r>
              <a:rPr lang="fa-IR" sz="3200" b="1">
                <a:cs typeface="2  Titr" panose="00000700000000000000" pitchFamily="2" charset="-78"/>
              </a:rPr>
              <a:t> </a:t>
            </a:r>
            <a:r>
              <a:rPr lang="ar-SA" sz="3200" b="1">
                <a:cs typeface="2  Titr" panose="00000700000000000000" pitchFamily="2" charset="-78"/>
              </a:rPr>
              <a:t>در </a:t>
            </a:r>
            <a:r>
              <a:rPr lang="en-US" sz="3200" b="1">
                <a:cs typeface="2  Titr" panose="00000700000000000000" pitchFamily="2" charset="-78"/>
              </a:rPr>
              <a:t>Chrome</a:t>
            </a:r>
            <a:endParaRPr lang="fa-IR" sz="3200">
              <a:cs typeface="2  Titr" panose="00000700000000000000" pitchFamily="2" charset="-78"/>
            </a:endParaRPr>
          </a:p>
        </p:txBody>
      </p:sp>
      <p:sp>
        <p:nvSpPr>
          <p:cNvPr id="7" name="TextBox 6">
            <a:extLst>
              <a:ext uri="{FF2B5EF4-FFF2-40B4-BE49-F238E27FC236}">
                <a16:creationId xmlns:a16="http://schemas.microsoft.com/office/drawing/2014/main" id="{B162DC36-31AB-AA03-ED8D-77CD8DC82297}"/>
              </a:ext>
            </a:extLst>
          </p:cNvPr>
          <p:cNvSpPr txBox="1"/>
          <p:nvPr/>
        </p:nvSpPr>
        <p:spPr>
          <a:xfrm>
            <a:off x="605118" y="1360438"/>
            <a:ext cx="8216153" cy="1785104"/>
          </a:xfrm>
          <a:prstGeom prst="rect">
            <a:avLst/>
          </a:prstGeom>
          <a:noFill/>
        </p:spPr>
        <p:txBody>
          <a:bodyPr wrap="square">
            <a:spAutoFit/>
          </a:bodyPr>
          <a:lstStyle/>
          <a:p>
            <a:pPr algn="r" rtl="1">
              <a:buNone/>
            </a:pPr>
            <a:r>
              <a:rPr lang="ar-SA" sz="2200" b="1">
                <a:cs typeface="2  Nazanin" panose="00000400000000000000" pitchFamily="2" charset="-78"/>
              </a:rPr>
              <a:t>دسترسی‌پذیری (</a:t>
            </a:r>
            <a:r>
              <a:rPr lang="en-US" sz="2200" b="1">
                <a:cs typeface="2  Nazanin" panose="00000400000000000000" pitchFamily="2" charset="-78"/>
              </a:rPr>
              <a:t>Accessibility</a:t>
            </a:r>
            <a:r>
              <a:rPr lang="fa-IR" sz="2200" b="1">
                <a:cs typeface="2  Nazanin" panose="00000400000000000000" pitchFamily="2" charset="-78"/>
              </a:rPr>
              <a:t>)</a:t>
            </a:r>
            <a:endParaRPr lang="en-US" sz="2200" b="1">
              <a:cs typeface="2  Nazanin" panose="00000400000000000000" pitchFamily="2" charset="-78"/>
            </a:endParaRPr>
          </a:p>
          <a:p>
            <a:pPr algn="r" rtl="1">
              <a:buFont typeface="Arial" panose="020B0604020202020204" pitchFamily="34" charset="0"/>
              <a:buChar char="•"/>
            </a:pPr>
            <a:r>
              <a:rPr lang="en-US" sz="2200" b="1">
                <a:cs typeface="2  Nazanin" panose="00000400000000000000" pitchFamily="2" charset="-78"/>
              </a:rPr>
              <a:t>Live Caption</a:t>
            </a:r>
            <a:r>
              <a:rPr lang="fa-IR" sz="2200">
                <a:cs typeface="2  Nazanin" panose="00000400000000000000" pitchFamily="2" charset="-78"/>
              </a:rPr>
              <a:t>-</a:t>
            </a:r>
            <a:r>
              <a:rPr lang="en-US" sz="2200">
                <a:cs typeface="2  Nazanin" panose="00000400000000000000" pitchFamily="2" charset="-78"/>
              </a:rPr>
              <a:t> </a:t>
            </a:r>
            <a:r>
              <a:rPr lang="ar-SA" sz="2200">
                <a:cs typeface="2  Nazanin" panose="00000400000000000000" pitchFamily="2" charset="-78"/>
              </a:rPr>
              <a:t>تولید زیرنویس زنده روی دستگاه (بدون ارسال صدا)</a:t>
            </a:r>
          </a:p>
          <a:p>
            <a:pPr algn="r" rtl="1">
              <a:buFont typeface="Arial" panose="020B0604020202020204" pitchFamily="34" charset="0"/>
              <a:buChar char="•"/>
            </a:pPr>
            <a:r>
              <a:rPr lang="ar-SA" sz="2200" b="1">
                <a:cs typeface="2  Nazanin" panose="00000400000000000000" pitchFamily="2" charset="-78"/>
              </a:rPr>
              <a:t>پشتیبانی از زبان‌ها</a:t>
            </a:r>
            <a:r>
              <a:rPr lang="ar-SA" sz="2200">
                <a:cs typeface="2  Nazanin" panose="00000400000000000000" pitchFamily="2" charset="-78"/>
              </a:rPr>
              <a:t>: انگلیسی (پیش‌فرض)، روسی، فارسی و...</a:t>
            </a:r>
          </a:p>
          <a:p>
            <a:pPr algn="r" rtl="1">
              <a:buFont typeface="Arial" panose="020B0604020202020204" pitchFamily="34" charset="0"/>
              <a:buChar char="•"/>
            </a:pPr>
            <a:r>
              <a:rPr lang="en-US" sz="2200" b="1">
                <a:cs typeface="2  Nazanin" panose="00000400000000000000" pitchFamily="2" charset="-78"/>
              </a:rPr>
              <a:t>Live Translate</a:t>
            </a:r>
            <a:r>
              <a:rPr lang="fa-IR" sz="2200">
                <a:cs typeface="2  Nazanin" panose="00000400000000000000" pitchFamily="2" charset="-78"/>
              </a:rPr>
              <a:t>-</a:t>
            </a:r>
            <a:r>
              <a:rPr lang="en-US" sz="2200">
                <a:cs typeface="2  Nazanin" panose="00000400000000000000" pitchFamily="2" charset="-78"/>
              </a:rPr>
              <a:t> </a:t>
            </a:r>
            <a:r>
              <a:rPr lang="ar-SA" sz="2200">
                <a:cs typeface="2  Nazanin" panose="00000400000000000000" pitchFamily="2" charset="-78"/>
              </a:rPr>
              <a:t>ترجمه خودکار زیرنویس (ارسال متن به گوگل برای ترجمه)</a:t>
            </a:r>
          </a:p>
          <a:p>
            <a:pPr algn="r" rtl="1">
              <a:buFont typeface="Arial" panose="020B0604020202020204" pitchFamily="34" charset="0"/>
              <a:buChar char="•"/>
            </a:pPr>
            <a:r>
              <a:rPr lang="ar-SA" sz="2200" b="1">
                <a:cs typeface="2  Nazanin" panose="00000400000000000000" pitchFamily="2" charset="-78"/>
              </a:rPr>
              <a:t>فیلتر کلمات نامناسب (</a:t>
            </a:r>
            <a:r>
              <a:rPr lang="en-US" sz="2200" b="1">
                <a:cs typeface="2  Nazanin" panose="00000400000000000000" pitchFamily="2" charset="-78"/>
              </a:rPr>
              <a:t>Hide Profanity</a:t>
            </a:r>
            <a:r>
              <a:rPr lang="fa-IR" sz="2200" b="1">
                <a:cs typeface="2  Nazanin" panose="00000400000000000000" pitchFamily="2" charset="-78"/>
              </a:rPr>
              <a:t>)</a:t>
            </a:r>
            <a:endParaRPr lang="en-US" sz="2200">
              <a:cs typeface="2  Nazanin" panose="00000400000000000000" pitchFamily="2" charset="-78"/>
            </a:endParaRPr>
          </a:p>
        </p:txBody>
      </p:sp>
      <p:sp>
        <p:nvSpPr>
          <p:cNvPr id="9" name="TextBox 8">
            <a:extLst>
              <a:ext uri="{FF2B5EF4-FFF2-40B4-BE49-F238E27FC236}">
                <a16:creationId xmlns:a16="http://schemas.microsoft.com/office/drawing/2014/main" id="{31927B43-E633-6BBB-1800-8F9ED36448E5}"/>
              </a:ext>
            </a:extLst>
          </p:cNvPr>
          <p:cNvSpPr txBox="1"/>
          <p:nvPr/>
        </p:nvSpPr>
        <p:spPr>
          <a:xfrm>
            <a:off x="2444748" y="3493952"/>
            <a:ext cx="6333565" cy="2462213"/>
          </a:xfrm>
          <a:prstGeom prst="rect">
            <a:avLst/>
          </a:prstGeom>
          <a:noFill/>
        </p:spPr>
        <p:txBody>
          <a:bodyPr wrap="square">
            <a:spAutoFit/>
          </a:bodyPr>
          <a:lstStyle/>
          <a:p>
            <a:pPr algn="r" rtl="1">
              <a:buNone/>
            </a:pPr>
            <a:r>
              <a:rPr lang="ar-SA" sz="2200" b="1">
                <a:cs typeface="2  Nazanin" panose="00000400000000000000" pitchFamily="2" charset="-78"/>
              </a:rPr>
              <a:t>روش فعال‌سازی:</a:t>
            </a:r>
          </a:p>
          <a:p>
            <a:pPr algn="r" rtl="1">
              <a:buFont typeface="+mj-lt"/>
              <a:buAutoNum type="arabicPeriod"/>
            </a:pPr>
            <a:r>
              <a:rPr lang="fa-IR" sz="2200">
                <a:cs typeface="2  Nazanin" panose="00000400000000000000" pitchFamily="2" charset="-78"/>
              </a:rPr>
              <a:t> </a:t>
            </a:r>
            <a:r>
              <a:rPr lang="ar-SA" sz="2200">
                <a:cs typeface="2  Nazanin" panose="00000400000000000000" pitchFamily="2" charset="-78"/>
              </a:rPr>
              <a:t>وارد تنظیمات کروم شوید (</a:t>
            </a:r>
            <a:r>
              <a:rPr lang="en-US" sz="2200">
                <a:cs typeface="2  Nazanin" panose="00000400000000000000" pitchFamily="2" charset="-78"/>
              </a:rPr>
              <a:t>Settings</a:t>
            </a:r>
            <a:r>
              <a:rPr lang="fa-IR" sz="2200">
                <a:cs typeface="2  Nazanin" panose="00000400000000000000" pitchFamily="2" charset="-78"/>
              </a:rPr>
              <a:t>)</a:t>
            </a:r>
            <a:r>
              <a:rPr lang="en-US" sz="2200">
                <a:cs typeface="2  Nazanin" panose="00000400000000000000" pitchFamily="2" charset="-78"/>
              </a:rPr>
              <a:t>.</a:t>
            </a:r>
          </a:p>
          <a:p>
            <a:pPr algn="r" rtl="1">
              <a:buFont typeface="+mj-lt"/>
              <a:buAutoNum type="arabicPeriod"/>
            </a:pPr>
            <a:r>
              <a:rPr lang="fa-IR" sz="2200">
                <a:cs typeface="2  Nazanin" panose="00000400000000000000" pitchFamily="2" charset="-78"/>
              </a:rPr>
              <a:t> </a:t>
            </a:r>
            <a:r>
              <a:rPr lang="ar-SA" sz="2200">
                <a:cs typeface="2  Nazanin" panose="00000400000000000000" pitchFamily="2" charset="-78"/>
              </a:rPr>
              <a:t>بخش </a:t>
            </a:r>
            <a:r>
              <a:rPr lang="en-US" sz="2200" i="1">
                <a:cs typeface="2  Nazanin" panose="00000400000000000000" pitchFamily="2" charset="-78"/>
              </a:rPr>
              <a:t>Accessibility</a:t>
            </a:r>
            <a:r>
              <a:rPr lang="en-US" sz="2200">
                <a:cs typeface="2  Nazanin" panose="00000400000000000000" pitchFamily="2" charset="-78"/>
              </a:rPr>
              <a:t> </a:t>
            </a:r>
            <a:r>
              <a:rPr lang="fa-IR" sz="2200">
                <a:cs typeface="2  Nazanin" panose="00000400000000000000" pitchFamily="2" charset="-78"/>
              </a:rPr>
              <a:t> </a:t>
            </a:r>
            <a:r>
              <a:rPr lang="ar-SA" sz="2200">
                <a:cs typeface="2  Nazanin" panose="00000400000000000000" pitchFamily="2" charset="-78"/>
              </a:rPr>
              <a:t>را باز کنید.</a:t>
            </a:r>
            <a:endParaRPr lang="fa-IR" sz="2200">
              <a:cs typeface="2  Nazanin" panose="00000400000000000000" pitchFamily="2" charset="-78"/>
            </a:endParaRPr>
          </a:p>
          <a:p>
            <a:pPr algn="r" rtl="1">
              <a:buFont typeface="+mj-lt"/>
              <a:buAutoNum type="arabicPeriod"/>
            </a:pPr>
            <a:r>
              <a:rPr lang="ar-SA" sz="2200">
                <a:cs typeface="2  Nazanin" panose="00000400000000000000" pitchFamily="2" charset="-78"/>
              </a:rPr>
              <a:t>گزینه </a:t>
            </a:r>
            <a:r>
              <a:rPr lang="en-US" sz="2200" b="1">
                <a:cs typeface="2  Nazanin" panose="00000400000000000000" pitchFamily="2" charset="-78"/>
              </a:rPr>
              <a:t>Live Caption</a:t>
            </a:r>
            <a:r>
              <a:rPr lang="en-US" sz="2200">
                <a:cs typeface="2  Nazanin" panose="00000400000000000000" pitchFamily="2" charset="-78"/>
              </a:rPr>
              <a:t> </a:t>
            </a:r>
            <a:r>
              <a:rPr lang="fa-IR" sz="2200">
                <a:cs typeface="2  Nazanin" panose="00000400000000000000" pitchFamily="2" charset="-78"/>
              </a:rPr>
              <a:t> </a:t>
            </a:r>
            <a:r>
              <a:rPr lang="ar-SA" sz="2200">
                <a:cs typeface="2  Nazanin" panose="00000400000000000000" pitchFamily="2" charset="-78"/>
              </a:rPr>
              <a:t>را فعال کنید.</a:t>
            </a:r>
            <a:endParaRPr lang="fa-IR" sz="2200">
              <a:cs typeface="2  Nazanin" panose="00000400000000000000" pitchFamily="2" charset="-78"/>
            </a:endParaRPr>
          </a:p>
          <a:p>
            <a:pPr algn="r" rtl="1">
              <a:buFont typeface="+mj-lt"/>
              <a:buAutoNum type="arabicPeriod"/>
            </a:pPr>
            <a:r>
              <a:rPr lang="fa-IR" sz="2200">
                <a:cs typeface="2  Nazanin" panose="00000400000000000000" pitchFamily="2" charset="-78"/>
              </a:rPr>
              <a:t> با گزینه </a:t>
            </a:r>
            <a:r>
              <a:rPr lang="en-US" sz="2200">
                <a:cs typeface="2  Nazanin" panose="00000400000000000000" pitchFamily="2" charset="-78"/>
              </a:rPr>
              <a:t>Add Languages</a:t>
            </a:r>
            <a:r>
              <a:rPr lang="fa-IR" sz="2200">
                <a:cs typeface="2  Nazanin" panose="00000400000000000000" pitchFamily="2" charset="-78"/>
              </a:rPr>
              <a:t> زبان‌های دلخواه را انتخاب کنید.</a:t>
            </a:r>
            <a:endParaRPr lang="ar-SA" sz="2200">
              <a:cs typeface="2  Nazanin" panose="00000400000000000000" pitchFamily="2" charset="-78"/>
            </a:endParaRPr>
          </a:p>
          <a:p>
            <a:pPr algn="r" rtl="1">
              <a:buFont typeface="+mj-lt"/>
              <a:buAutoNum type="arabicPeriod"/>
            </a:pPr>
            <a:r>
              <a:rPr lang="fa-IR" sz="2200">
                <a:cs typeface="2  Nazanin" panose="00000400000000000000" pitchFamily="2" charset="-78"/>
              </a:rPr>
              <a:t> </a:t>
            </a:r>
            <a:r>
              <a:rPr lang="ar-SA" sz="2200">
                <a:cs typeface="2  Nazanin" panose="00000400000000000000" pitchFamily="2" charset="-78"/>
              </a:rPr>
              <a:t>برای ترجمه زیرنویس: گزینه </a:t>
            </a:r>
            <a:r>
              <a:rPr lang="en-US" sz="2200" b="1">
                <a:cs typeface="2  Nazanin" panose="00000400000000000000" pitchFamily="2" charset="-78"/>
              </a:rPr>
              <a:t>Live Translate</a:t>
            </a:r>
            <a:r>
              <a:rPr lang="en-US" sz="2200">
                <a:cs typeface="2  Nazanin" panose="00000400000000000000" pitchFamily="2" charset="-78"/>
              </a:rPr>
              <a:t> </a:t>
            </a:r>
            <a:r>
              <a:rPr lang="fa-IR" sz="2200">
                <a:cs typeface="2  Nazanin" panose="00000400000000000000" pitchFamily="2" charset="-78"/>
              </a:rPr>
              <a:t> </a:t>
            </a:r>
            <a:r>
              <a:rPr lang="ar-SA" sz="2200">
                <a:cs typeface="2  Nazanin" panose="00000400000000000000" pitchFamily="2" charset="-78"/>
              </a:rPr>
              <a:t>را هم روشن کنید.</a:t>
            </a:r>
          </a:p>
          <a:p>
            <a:pPr algn="r" rtl="1">
              <a:buFont typeface="+mj-lt"/>
              <a:buAutoNum type="arabicPeriod"/>
            </a:pPr>
            <a:r>
              <a:rPr lang="fa-IR" sz="2200">
                <a:cs typeface="2  Nazanin" panose="00000400000000000000" pitchFamily="2" charset="-78"/>
              </a:rPr>
              <a:t> </a:t>
            </a:r>
            <a:r>
              <a:rPr lang="ar-SA" sz="2200">
                <a:cs typeface="2  Nazanin" panose="00000400000000000000" pitchFamily="2" charset="-78"/>
              </a:rPr>
              <a:t>زبان‌های دلخواه (مثل فارسی) را از لیست انتخاب کنید.</a:t>
            </a:r>
          </a:p>
        </p:txBody>
      </p:sp>
      <p:sp>
        <p:nvSpPr>
          <p:cNvPr id="2" name="TextBox 1">
            <a:extLst>
              <a:ext uri="{FF2B5EF4-FFF2-40B4-BE49-F238E27FC236}">
                <a16:creationId xmlns:a16="http://schemas.microsoft.com/office/drawing/2014/main" id="{397ACFAD-EA15-01E9-4927-1C3D1475493D}"/>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6</a:t>
            </a:r>
            <a:endParaRPr lang="fa-IR" sz="1200"/>
          </a:p>
        </p:txBody>
      </p:sp>
    </p:spTree>
    <p:extLst>
      <p:ext uri="{BB962C8B-B14F-4D97-AF65-F5344CB8AC3E}">
        <p14:creationId xmlns:p14="http://schemas.microsoft.com/office/powerpoint/2010/main" val="35249985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fa-IR" sz="3600" noProof="0">
                <a:cs typeface="Titr" panose="00000700000000000000" pitchFamily="2" charset="-78"/>
              </a:rPr>
              <a:t>ابزارهای یادداشت‌برداری و مزرعه نکات</a:t>
            </a:r>
          </a:p>
        </p:txBody>
      </p:sp>
      <p:sp>
        <p:nvSpPr>
          <p:cNvPr id="3" name="Content Placeholder 2"/>
          <p:cNvSpPr>
            <a:spLocks noGrp="1"/>
          </p:cNvSpPr>
          <p:nvPr>
            <p:ph idx="1"/>
          </p:nvPr>
        </p:nvSpPr>
        <p:spPr/>
        <p:txBody>
          <a:bodyPr/>
          <a:lstStyle/>
          <a:p>
            <a:pPr algn="r" rtl="1"/>
            <a:r>
              <a:rPr lang="fa-IR" noProof="0">
                <a:cs typeface="Nazanin" panose="00000400000000000000" pitchFamily="2" charset="-78"/>
              </a:rPr>
              <a:t>Obsidian – شبکه‌سازی مفاهیم به‌صورت آفلاین</a:t>
            </a:r>
          </a:p>
          <a:p>
            <a:pPr algn="r" rtl="1"/>
            <a:r>
              <a:rPr lang="fa-IR" noProof="0">
                <a:cs typeface="Nazanin" panose="00000400000000000000" pitchFamily="2" charset="-78"/>
              </a:rPr>
              <a:t>Notion – مدیریت منابع و برنامه درسی</a:t>
            </a:r>
          </a:p>
          <a:p>
            <a:pPr algn="r" rtl="1"/>
            <a:r>
              <a:rPr lang="en-US" noProof="0">
                <a:cs typeface="Nazanin" panose="00000400000000000000" pitchFamily="2" charset="-78"/>
              </a:rPr>
              <a:t>App.n</a:t>
            </a:r>
            <a:r>
              <a:rPr lang="fa-IR" noProof="0">
                <a:cs typeface="Nazanin" panose="00000400000000000000" pitchFamily="2" charset="-78"/>
              </a:rPr>
              <a:t>apkin.ai – کشف روابط مفهومی</a:t>
            </a:r>
          </a:p>
          <a:p>
            <a:pPr algn="r" rtl="1"/>
            <a:r>
              <a:rPr lang="fa-IR" noProof="0">
                <a:cs typeface="Nazanin" panose="00000400000000000000" pitchFamily="2" charset="-78"/>
              </a:rPr>
              <a:t>Logseq – مرور علمی با یادداشت روزانه</a:t>
            </a:r>
          </a:p>
          <a:p>
            <a:pPr algn="r" rtl="1"/>
            <a:r>
              <a:rPr lang="fa-IR" noProof="0">
                <a:cs typeface="Nazanin" panose="00000400000000000000" pitchFamily="2" charset="-78"/>
              </a:rPr>
              <a:t>Google Keep – یادداشت سریع و ساده</a:t>
            </a:r>
          </a:p>
        </p:txBody>
      </p:sp>
      <p:sp>
        <p:nvSpPr>
          <p:cNvPr id="4" name="TextBox 3">
            <a:extLst>
              <a:ext uri="{FF2B5EF4-FFF2-40B4-BE49-F238E27FC236}">
                <a16:creationId xmlns:a16="http://schemas.microsoft.com/office/drawing/2014/main" id="{283532ED-27A8-D311-B9AD-6BEF14686D72}"/>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7</a:t>
            </a:r>
            <a:endParaRPr lang="fa-IR" sz="12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59B4AF3-7468-2129-7EBE-FF1D9A7924E2}"/>
              </a:ext>
            </a:extLst>
          </p:cNvPr>
          <p:cNvSpPr txBox="1"/>
          <p:nvPr/>
        </p:nvSpPr>
        <p:spPr>
          <a:xfrm>
            <a:off x="567559" y="331104"/>
            <a:ext cx="8324193" cy="954107"/>
          </a:xfrm>
          <a:prstGeom prst="rect">
            <a:avLst/>
          </a:prstGeom>
          <a:noFill/>
        </p:spPr>
        <p:txBody>
          <a:bodyPr wrap="square">
            <a:spAutoFit/>
          </a:bodyPr>
          <a:lstStyle/>
          <a:p>
            <a:pPr algn="r" rtl="1"/>
            <a:r>
              <a:rPr lang="en-US" sz="3200" b="1">
                <a:cs typeface="2  Titr" panose="00000700000000000000" pitchFamily="2" charset="-78"/>
              </a:rPr>
              <a:t>🧠 </a:t>
            </a:r>
            <a:r>
              <a:rPr lang="fa-IR" sz="3200" b="1">
                <a:cs typeface="2  Titr" panose="00000700000000000000" pitchFamily="2" charset="-78"/>
              </a:rPr>
              <a:t>برنامه </a:t>
            </a:r>
            <a:r>
              <a:rPr lang="en-US" sz="3200" b="1">
                <a:cs typeface="2  Titr" panose="00000700000000000000" pitchFamily="2" charset="-78"/>
              </a:rPr>
              <a:t>Obsidian</a:t>
            </a:r>
            <a:endParaRPr lang="fa-IR" sz="3200" b="1">
              <a:cs typeface="2  Titr" panose="00000700000000000000" pitchFamily="2" charset="-78"/>
            </a:endParaRPr>
          </a:p>
          <a:p>
            <a:pPr algn="r" rtl="1"/>
            <a:r>
              <a:rPr lang="ar-SA" sz="2400" b="1">
                <a:cs typeface="2  Titr" panose="00000700000000000000" pitchFamily="2" charset="-78"/>
              </a:rPr>
              <a:t>یادداشت‌برداری هوشمند برای ذهن‌های پیوندی</a:t>
            </a:r>
            <a:endParaRPr lang="fa-IR" sz="2400" b="1">
              <a:cs typeface="2  Titr" panose="00000700000000000000" pitchFamily="2" charset="-78"/>
            </a:endParaRPr>
          </a:p>
        </p:txBody>
      </p:sp>
      <p:sp>
        <p:nvSpPr>
          <p:cNvPr id="7" name="TextBox 6">
            <a:extLst>
              <a:ext uri="{FF2B5EF4-FFF2-40B4-BE49-F238E27FC236}">
                <a16:creationId xmlns:a16="http://schemas.microsoft.com/office/drawing/2014/main" id="{C302C7EC-4489-9BD8-DF72-3B4921D40463}"/>
              </a:ext>
            </a:extLst>
          </p:cNvPr>
          <p:cNvSpPr txBox="1"/>
          <p:nvPr/>
        </p:nvSpPr>
        <p:spPr>
          <a:xfrm>
            <a:off x="985345" y="1375046"/>
            <a:ext cx="7796048" cy="1200329"/>
          </a:xfrm>
          <a:prstGeom prst="rect">
            <a:avLst/>
          </a:prstGeom>
          <a:noFill/>
        </p:spPr>
        <p:txBody>
          <a:bodyPr wrap="square">
            <a:spAutoFit/>
          </a:bodyPr>
          <a:lstStyle/>
          <a:p>
            <a:pPr algn="r" rtl="1"/>
            <a:r>
              <a:rPr lang="fa-IR" sz="2400" b="1">
                <a:cs typeface="2  Nazanin" panose="00000400000000000000" pitchFamily="2" charset="-78"/>
              </a:rPr>
              <a:t>🔹 </a:t>
            </a:r>
            <a:r>
              <a:rPr lang="en-US" sz="2400" b="1">
                <a:cs typeface="2  Nazanin" panose="00000400000000000000" pitchFamily="2" charset="-78"/>
              </a:rPr>
              <a:t>Obsidian </a:t>
            </a:r>
            <a:r>
              <a:rPr lang="fa-IR" sz="2400" b="1">
                <a:cs typeface="2  Nazanin" panose="00000400000000000000" pitchFamily="2" charset="-78"/>
              </a:rPr>
              <a:t> </a:t>
            </a:r>
            <a:r>
              <a:rPr lang="ar-SA" sz="2400" b="1">
                <a:cs typeface="2  Nazanin" panose="00000400000000000000" pitchFamily="2" charset="-78"/>
              </a:rPr>
              <a:t>چیست؟</a:t>
            </a:r>
            <a:br>
              <a:rPr lang="ar-SA" sz="2400" b="1">
                <a:cs typeface="2  Nazanin" panose="00000400000000000000" pitchFamily="2" charset="-78"/>
              </a:rPr>
            </a:br>
            <a:r>
              <a:rPr lang="ar-SA" sz="2400" b="1">
                <a:cs typeface="2  Nazanin" panose="00000400000000000000" pitchFamily="2" charset="-78"/>
              </a:rPr>
              <a:t>ابزار قدرتمند برای نوشتن، سازمان‌دهی و پیوند دادن ایده‌ها با فرمت </a:t>
            </a:r>
            <a:r>
              <a:rPr lang="en-US" sz="2400" b="1">
                <a:cs typeface="2  Nazanin" panose="00000400000000000000" pitchFamily="2" charset="-78"/>
              </a:rPr>
              <a:t>Markdown </a:t>
            </a:r>
            <a:r>
              <a:rPr lang="fa-IR" sz="2400" b="1">
                <a:cs typeface="2  Nazanin" panose="00000400000000000000" pitchFamily="2" charset="-78"/>
              </a:rPr>
              <a:t>-</a:t>
            </a:r>
            <a:r>
              <a:rPr lang="en-US" sz="2400" b="1">
                <a:cs typeface="2  Nazanin" panose="00000400000000000000" pitchFamily="2" charset="-78"/>
              </a:rPr>
              <a:t> </a:t>
            </a:r>
            <a:r>
              <a:rPr lang="ar-SA" sz="2400" b="1">
                <a:cs typeface="2  Nazanin" panose="00000400000000000000" pitchFamily="2" charset="-78"/>
              </a:rPr>
              <a:t>همه‌چیز روی کامپیوتر شما، بدون نیاز به اینترنت.</a:t>
            </a:r>
            <a:endParaRPr lang="fa-IR" sz="2400" b="1">
              <a:cs typeface="2  Nazanin" panose="00000400000000000000" pitchFamily="2" charset="-78"/>
            </a:endParaRPr>
          </a:p>
        </p:txBody>
      </p:sp>
      <p:sp>
        <p:nvSpPr>
          <p:cNvPr id="9" name="TextBox 8">
            <a:extLst>
              <a:ext uri="{FF2B5EF4-FFF2-40B4-BE49-F238E27FC236}">
                <a16:creationId xmlns:a16="http://schemas.microsoft.com/office/drawing/2014/main" id="{49477E89-A16E-11E8-EFE9-9D0920F32568}"/>
              </a:ext>
            </a:extLst>
          </p:cNvPr>
          <p:cNvSpPr txBox="1"/>
          <p:nvPr/>
        </p:nvSpPr>
        <p:spPr>
          <a:xfrm>
            <a:off x="457200" y="2850727"/>
            <a:ext cx="8324193" cy="1938992"/>
          </a:xfrm>
          <a:prstGeom prst="rect">
            <a:avLst/>
          </a:prstGeom>
          <a:noFill/>
        </p:spPr>
        <p:txBody>
          <a:bodyPr wrap="square">
            <a:spAutoFit/>
          </a:bodyPr>
          <a:lstStyle/>
          <a:p>
            <a:pPr algn="r" rtl="1"/>
            <a:r>
              <a:rPr lang="fa-IR" sz="2400" b="1">
                <a:cs typeface="2  Nazanin" panose="00000400000000000000" pitchFamily="2" charset="-78"/>
              </a:rPr>
              <a:t>🔹 </a:t>
            </a:r>
            <a:r>
              <a:rPr lang="ar-SA" sz="2400" b="1">
                <a:cs typeface="2  Nazanin" panose="00000400000000000000" pitchFamily="2" charset="-78"/>
              </a:rPr>
              <a:t>کاربردها:</a:t>
            </a:r>
            <a:br>
              <a:rPr lang="ar-SA" sz="2400" b="1">
                <a:cs typeface="2  Nazanin" panose="00000400000000000000" pitchFamily="2" charset="-78"/>
              </a:rPr>
            </a:br>
            <a:r>
              <a:rPr lang="en-US" sz="2400" b="1">
                <a:cs typeface="2  Nazanin" panose="00000400000000000000" pitchFamily="2" charset="-78"/>
              </a:rPr>
              <a:t>✅ </a:t>
            </a:r>
            <a:r>
              <a:rPr lang="ar-SA" sz="2400" b="1">
                <a:cs typeface="2  Nazanin" panose="00000400000000000000" pitchFamily="2" charset="-78"/>
              </a:rPr>
              <a:t>مدیریت دانش شخصی (</a:t>
            </a:r>
            <a:r>
              <a:rPr lang="en-US" sz="2400" b="1">
                <a:cs typeface="2  Nazanin" panose="00000400000000000000" pitchFamily="2" charset="-78"/>
              </a:rPr>
              <a:t>PKM</a:t>
            </a:r>
            <a:r>
              <a:rPr lang="fa-IR" sz="2400" b="1">
                <a:cs typeface="2  Nazanin" panose="00000400000000000000" pitchFamily="2" charset="-78"/>
              </a:rPr>
              <a:t>)</a:t>
            </a:r>
            <a:br>
              <a:rPr lang="en-US" sz="2400" b="1">
                <a:cs typeface="2  Nazanin" panose="00000400000000000000" pitchFamily="2" charset="-78"/>
              </a:rPr>
            </a:br>
            <a:r>
              <a:rPr lang="en-US" sz="2400" b="1">
                <a:cs typeface="2  Nazanin" panose="00000400000000000000" pitchFamily="2" charset="-78"/>
              </a:rPr>
              <a:t>✅ </a:t>
            </a:r>
            <a:r>
              <a:rPr lang="ar-SA" sz="2400" b="1">
                <a:cs typeface="2  Nazanin" panose="00000400000000000000" pitchFamily="2" charset="-78"/>
              </a:rPr>
              <a:t>پژوهش و نویسندگی</a:t>
            </a:r>
            <a:br>
              <a:rPr lang="ar-SA" sz="2400" b="1">
                <a:cs typeface="2  Nazanin" panose="00000400000000000000" pitchFamily="2" charset="-78"/>
              </a:rPr>
            </a:br>
            <a:r>
              <a:rPr lang="en-US" sz="2400" b="1">
                <a:cs typeface="2  Nazanin" panose="00000400000000000000" pitchFamily="2" charset="-78"/>
              </a:rPr>
              <a:t>✅ </a:t>
            </a:r>
            <a:r>
              <a:rPr lang="ar-SA" sz="2400" b="1">
                <a:cs typeface="2  Nazanin" panose="00000400000000000000" pitchFamily="2" charset="-78"/>
              </a:rPr>
              <a:t>برنامه‌ریزی درسی و آموزشی</a:t>
            </a:r>
            <a:br>
              <a:rPr lang="ar-SA" sz="2400" b="1">
                <a:cs typeface="2  Nazanin" panose="00000400000000000000" pitchFamily="2" charset="-78"/>
              </a:rPr>
            </a:br>
            <a:r>
              <a:rPr lang="en-US" sz="2400" b="1">
                <a:cs typeface="2  Nazanin" panose="00000400000000000000" pitchFamily="2" charset="-78"/>
              </a:rPr>
              <a:t>✅ </a:t>
            </a:r>
            <a:r>
              <a:rPr lang="ar-SA" sz="2400" b="1">
                <a:cs typeface="2  Nazanin" panose="00000400000000000000" pitchFamily="2" charset="-78"/>
              </a:rPr>
              <a:t>ژورنال‌نویسی و برنامه‌ریزی روزانه</a:t>
            </a:r>
            <a:endParaRPr lang="fa-IR" sz="2400" b="1">
              <a:cs typeface="2  Nazanin" panose="00000400000000000000" pitchFamily="2" charset="-78"/>
            </a:endParaRPr>
          </a:p>
        </p:txBody>
      </p:sp>
      <p:sp>
        <p:nvSpPr>
          <p:cNvPr id="11" name="TextBox 10">
            <a:extLst>
              <a:ext uri="{FF2B5EF4-FFF2-40B4-BE49-F238E27FC236}">
                <a16:creationId xmlns:a16="http://schemas.microsoft.com/office/drawing/2014/main" id="{345A4451-7417-AC57-0CB2-BCEAC95A70AD}"/>
              </a:ext>
            </a:extLst>
          </p:cNvPr>
          <p:cNvSpPr txBox="1"/>
          <p:nvPr/>
        </p:nvSpPr>
        <p:spPr>
          <a:xfrm>
            <a:off x="772511" y="5065071"/>
            <a:ext cx="8008882" cy="1569660"/>
          </a:xfrm>
          <a:prstGeom prst="rect">
            <a:avLst/>
          </a:prstGeom>
          <a:noFill/>
        </p:spPr>
        <p:txBody>
          <a:bodyPr wrap="square">
            <a:spAutoFit/>
          </a:bodyPr>
          <a:lstStyle/>
          <a:p>
            <a:pPr algn="r" rtl="1"/>
            <a:r>
              <a:rPr lang="fa-IR" sz="2400" b="1">
                <a:cs typeface="2  Nazanin" panose="00000400000000000000" pitchFamily="2" charset="-78"/>
              </a:rPr>
              <a:t>🔹 شروع سریع:</a:t>
            </a:r>
          </a:p>
          <a:p>
            <a:pPr algn="r" rtl="1"/>
            <a:r>
              <a:rPr lang="fa-IR" sz="2400" b="1">
                <a:cs typeface="2  Nazanin" panose="00000400000000000000" pitchFamily="2" charset="-78"/>
              </a:rPr>
              <a:t>۱. دانلود از </a:t>
            </a:r>
            <a:r>
              <a:rPr lang="en-US" sz="2400" b="1">
                <a:cs typeface="2  Nazanin" panose="00000400000000000000" pitchFamily="2" charset="-78"/>
              </a:rPr>
              <a:t>obsidian.md</a:t>
            </a:r>
          </a:p>
          <a:p>
            <a:pPr algn="r" rtl="1"/>
            <a:r>
              <a:rPr lang="fa-IR" sz="2400" b="1">
                <a:cs typeface="2  Nazanin" panose="00000400000000000000" pitchFamily="2" charset="-78"/>
              </a:rPr>
              <a:t>۲. ساخت </a:t>
            </a:r>
            <a:r>
              <a:rPr lang="en-US" sz="2400" b="1">
                <a:cs typeface="2  Nazanin" panose="00000400000000000000" pitchFamily="2" charset="-78"/>
              </a:rPr>
              <a:t>Vault</a:t>
            </a:r>
          </a:p>
          <a:p>
            <a:pPr algn="r" rtl="1"/>
            <a:r>
              <a:rPr lang="fa-IR" sz="2400" b="1">
                <a:cs typeface="2  Nazanin" panose="00000400000000000000" pitchFamily="2" charset="-78"/>
              </a:rPr>
              <a:t>۳. نوشتن اولین یادداشت با [[لینک داخلی]]</a:t>
            </a:r>
          </a:p>
        </p:txBody>
      </p:sp>
      <p:sp>
        <p:nvSpPr>
          <p:cNvPr id="2" name="TextBox 1">
            <a:extLst>
              <a:ext uri="{FF2B5EF4-FFF2-40B4-BE49-F238E27FC236}">
                <a16:creationId xmlns:a16="http://schemas.microsoft.com/office/drawing/2014/main" id="{31F6B8B6-F3A8-4542-4206-566535D1DF31}"/>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8</a:t>
            </a:r>
            <a:endParaRPr lang="fa-IR" sz="1200"/>
          </a:p>
        </p:txBody>
      </p:sp>
    </p:spTree>
    <p:extLst>
      <p:ext uri="{BB962C8B-B14F-4D97-AF65-F5344CB8AC3E}">
        <p14:creationId xmlns:p14="http://schemas.microsoft.com/office/powerpoint/2010/main" val="4437488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a:extLst>
              <a:ext uri="{FF2B5EF4-FFF2-40B4-BE49-F238E27FC236}">
                <a16:creationId xmlns:a16="http://schemas.microsoft.com/office/drawing/2014/main" id="{6FF04E19-7ACD-8B0D-4FE3-BA010D835BE6}"/>
              </a:ext>
            </a:extLst>
          </p:cNvPr>
          <p:cNvSpPr>
            <a:spLocks noChangeArrowheads="1"/>
          </p:cNvSpPr>
          <p:nvPr/>
        </p:nvSpPr>
        <p:spPr bwMode="auto">
          <a:xfrm>
            <a:off x="146956" y="305070"/>
            <a:ext cx="8703129" cy="6247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a:ln>
                  <a:noFill/>
                </a:ln>
                <a:solidFill>
                  <a:schemeClr val="tx1"/>
                </a:solidFill>
                <a:effectLst/>
                <a:latin typeface="Arial" panose="020B0604020202020204" pitchFamily="34" charset="0"/>
                <a:cs typeface="Titr" panose="00000700000000000000" pitchFamily="2" charset="-78"/>
              </a:rPr>
              <a:t>🌱 Ai-ICDL </a:t>
            </a:r>
            <a:r>
              <a:rPr kumimoji="0" lang="ar-SA" altLang="en-US" sz="3200" b="1" i="0" u="none" strike="noStrike" cap="none" normalizeH="0" baseline="0">
                <a:ln>
                  <a:noFill/>
                </a:ln>
                <a:solidFill>
                  <a:schemeClr val="tx1"/>
                </a:solidFill>
                <a:effectLst/>
                <a:latin typeface="Arial" panose="020B0604020202020204" pitchFamily="34" charset="0"/>
                <a:cs typeface="Titr" panose="00000700000000000000" pitchFamily="2" charset="-78"/>
              </a:rPr>
              <a:t>انسانی: مهارت، اندیشه، و نان روزانه</a:t>
            </a:r>
            <a:r>
              <a:rPr kumimoji="0" lang="en-US" altLang="en-US" sz="3200" b="1" i="0" u="none" strike="noStrike" cap="none" normalizeH="0" baseline="0">
                <a:ln>
                  <a:noFill/>
                </a:ln>
                <a:solidFill>
                  <a:schemeClr val="tx1"/>
                </a:solidFill>
                <a:effectLst/>
                <a:latin typeface="Arial" panose="020B0604020202020204" pitchFamily="34" charset="0"/>
                <a:cs typeface="Titr" panose="00000700000000000000" pitchFamily="2" charset="-78"/>
              </a:rPr>
              <a:t>!</a:t>
            </a:r>
          </a:p>
          <a:p>
            <a:pPr lvl="0" algn="r" defTabSz="914400" rtl="1" eaLnBrk="0" fontAlgn="base" hangingPunct="0">
              <a:spcBef>
                <a:spcPct val="0"/>
              </a:spcBef>
              <a:spcAft>
                <a:spcPct val="0"/>
              </a:spcAft>
            </a:pPr>
            <a:r>
              <a:rPr lang="en-US" altLang="en-US" sz="2800" b="1">
                <a:latin typeface="Arial" panose="020B0604020202020204" pitchFamily="34" charset="0"/>
                <a:cs typeface="Nazanin" panose="00000400000000000000" pitchFamily="2" charset="-78"/>
              </a:rPr>
              <a:t>🔹 </a:t>
            </a:r>
            <a:r>
              <a:rPr lang="ar-SA" altLang="en-US" sz="2800" b="1">
                <a:latin typeface="Arial" panose="020B0604020202020204" pitchFamily="34" charset="0"/>
                <a:cs typeface="Nazanin" panose="00000400000000000000" pitchFamily="2" charset="-78"/>
              </a:rPr>
              <a:t>هوش مصنوعی برای مردم، نه فقط نخبگان</a:t>
            </a:r>
            <a:r>
              <a:rPr lang="fa-IR" altLang="en-US" sz="2800" b="1">
                <a:latin typeface="Arial" panose="020B0604020202020204" pitchFamily="34" charset="0"/>
                <a:cs typeface="Nazanin" panose="00000400000000000000" pitchFamily="2" charset="-78"/>
              </a:rPr>
              <a:t> و شرکت‌ها</a:t>
            </a:r>
            <a:br>
              <a:rPr kumimoji="0" lang="en-US" altLang="en-US" sz="2800" b="0" i="0" u="none" strike="noStrike" cap="none" normalizeH="0" baseline="0">
                <a:ln>
                  <a:noFill/>
                </a:ln>
                <a:solidFill>
                  <a:schemeClr val="tx1"/>
                </a:solidFill>
                <a:effectLst/>
                <a:latin typeface="Arial" panose="020B0604020202020204" pitchFamily="34" charset="0"/>
                <a:cs typeface="Nazanin" panose="00000400000000000000" pitchFamily="2" charset="-78"/>
              </a:rPr>
            </a:br>
            <a:r>
              <a:rPr kumimoji="0" lang="ar-SA" altLang="en-US" sz="2800" b="0" i="0" u="none" strike="noStrike" cap="none" normalizeH="0" baseline="0">
                <a:ln>
                  <a:noFill/>
                </a:ln>
                <a:solidFill>
                  <a:schemeClr val="tx1"/>
                </a:solidFill>
                <a:effectLst/>
                <a:latin typeface="Arial" panose="020B0604020202020204" pitchFamily="34" charset="0"/>
                <a:cs typeface="Nazanin" panose="00000400000000000000" pitchFamily="2" charset="-78"/>
              </a:rPr>
              <a:t>از حلیمی و نانوایی تا جویندگان مهارت؛</a:t>
            </a:r>
            <a:r>
              <a:rPr kumimoji="0" lang="fa-IR" altLang="en-US" sz="2800" b="0" i="0" u="none" strike="noStrike" cap="none" normalizeH="0" baseline="0">
                <a:ln>
                  <a:noFill/>
                </a:ln>
                <a:solidFill>
                  <a:schemeClr val="tx1"/>
                </a:solidFill>
                <a:effectLst/>
                <a:latin typeface="Arial" panose="020B0604020202020204" pitchFamily="34" charset="0"/>
                <a:cs typeface="Nazanin" panose="00000400000000000000" pitchFamily="2" charset="-78"/>
              </a:rPr>
              <a:t> </a:t>
            </a:r>
            <a:r>
              <a:rPr kumimoji="0" lang="en-US" altLang="en-US" sz="2800" b="0" i="0" u="none" strike="noStrike" cap="none" normalizeH="0" baseline="0">
                <a:ln>
                  <a:noFill/>
                </a:ln>
                <a:solidFill>
                  <a:schemeClr val="tx1"/>
                </a:solidFill>
                <a:effectLst/>
                <a:latin typeface="Arial" panose="020B0604020202020204" pitchFamily="34" charset="0"/>
                <a:cs typeface="Nazanin" panose="00000400000000000000" pitchFamily="2" charset="-78"/>
              </a:rPr>
              <a:t> AI </a:t>
            </a:r>
            <a:r>
              <a:rPr kumimoji="0" lang="ar-SA" altLang="en-US" sz="2800" b="0" i="0" u="none" strike="noStrike" cap="none" normalizeH="0" baseline="0">
                <a:ln>
                  <a:noFill/>
                </a:ln>
                <a:solidFill>
                  <a:schemeClr val="tx1"/>
                </a:solidFill>
                <a:effectLst/>
                <a:latin typeface="Arial" panose="020B0604020202020204" pitchFamily="34" charset="0"/>
                <a:cs typeface="Nazanin" panose="00000400000000000000" pitchFamily="2" charset="-78"/>
              </a:rPr>
              <a:t>باید در خدمت ساده‌سازی زندگی روزمره و تقویت تفکر انسانی باشد</a:t>
            </a:r>
            <a:r>
              <a:rPr kumimoji="0" lang="en-US" altLang="en-US" sz="2800" b="0" i="0" u="none" strike="noStrike" cap="none" normalizeH="0" baseline="0">
                <a:ln>
                  <a:noFill/>
                </a:ln>
                <a:solidFill>
                  <a:schemeClr val="tx1"/>
                </a:solidFill>
                <a:effectLst/>
                <a:latin typeface="Arial" panose="020B0604020202020204" pitchFamily="34" charset="0"/>
                <a:cs typeface="Nazanin" panose="00000400000000000000" pitchFamily="2" charset="-78"/>
              </a:rPr>
              <a:t>.</a:t>
            </a: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cs typeface="Nazanin" panose="00000400000000000000" pitchFamily="2" charset="-78"/>
              </a:rPr>
              <a:t>🔹 </a:t>
            </a:r>
            <a:r>
              <a:rPr kumimoji="0" lang="ar-SA" altLang="en-US" sz="2800" b="1" i="0" u="none" strike="noStrike" cap="none" normalizeH="0" baseline="0">
                <a:ln>
                  <a:noFill/>
                </a:ln>
                <a:solidFill>
                  <a:schemeClr val="tx1"/>
                </a:solidFill>
                <a:effectLst/>
                <a:latin typeface="Arial" panose="020B0604020202020204" pitchFamily="34" charset="0"/>
                <a:cs typeface="Nazanin" panose="00000400000000000000" pitchFamily="2" charset="-78"/>
              </a:rPr>
              <a:t>ترکیب مهارت و معنا</a:t>
            </a:r>
            <a:endParaRPr kumimoji="0" lang="en-US" altLang="en-US" sz="2800" b="0" i="0" u="none" strike="noStrike" cap="none" normalizeH="0" baseline="0">
              <a:ln>
                <a:noFill/>
              </a:ln>
              <a:solidFill>
                <a:schemeClr val="tx1"/>
              </a:solidFill>
              <a:effectLst/>
              <a:latin typeface="Arial" panose="020B0604020202020204" pitchFamily="34" charset="0"/>
              <a:cs typeface="Nazanin" panose="00000400000000000000" pitchFamily="2" charset="-78"/>
            </a:endParaRPr>
          </a:p>
          <a:p>
            <a:pPr marL="342900" marR="0" lvl="0" indent="-342900" algn="r" defTabSz="914400" rtl="1"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ar-SA" altLang="en-US" sz="2400" b="0" i="0" u="none" strike="noStrike" cap="none" normalizeH="0" baseline="0">
                <a:ln>
                  <a:noFill/>
                </a:ln>
                <a:solidFill>
                  <a:schemeClr val="tx1"/>
                </a:solidFill>
                <a:effectLst/>
                <a:latin typeface="Arial" panose="020B0604020202020204" pitchFamily="34" charset="0"/>
                <a:cs typeface="Nazanin" panose="00000400000000000000" pitchFamily="2" charset="-78"/>
              </a:rPr>
              <a:t>خلاصه‌سازی دیالوگ‌های نانوایی با</a:t>
            </a:r>
            <a:r>
              <a:rPr kumimoji="0" lang="en-US" altLang="en-US" sz="2400" b="0" i="0" u="none" strike="noStrike" cap="none" normalizeH="0" baseline="0">
                <a:ln>
                  <a:noFill/>
                </a:ln>
                <a:solidFill>
                  <a:schemeClr val="tx1"/>
                </a:solidFill>
                <a:effectLst/>
                <a:latin typeface="Arial" panose="020B0604020202020204" pitchFamily="34" charset="0"/>
                <a:cs typeface="Nazanin" panose="00000400000000000000" pitchFamily="2" charset="-78"/>
              </a:rPr>
              <a:t> ChatGPT</a:t>
            </a:r>
          </a:p>
          <a:p>
            <a:pPr marL="342900" marR="0" lvl="0" indent="-342900" algn="r" defTabSz="914400" rtl="1"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ar-SA" altLang="en-US" sz="2400" b="0" i="0" u="none" strike="noStrike" cap="none" normalizeH="0" baseline="0">
                <a:ln>
                  <a:noFill/>
                </a:ln>
                <a:solidFill>
                  <a:schemeClr val="tx1"/>
                </a:solidFill>
                <a:effectLst/>
                <a:latin typeface="Arial" panose="020B0604020202020204" pitchFamily="34" charset="0"/>
                <a:cs typeface="Nazanin" panose="00000400000000000000" pitchFamily="2" charset="-78"/>
              </a:rPr>
              <a:t>نامه‌نویسی شغلی به سبک سعدی و نیما</a:t>
            </a:r>
            <a:endParaRPr kumimoji="0" lang="en-US" altLang="en-US" sz="2400" b="0" i="0" u="none" strike="noStrike" cap="none" normalizeH="0" baseline="0">
              <a:ln>
                <a:noFill/>
              </a:ln>
              <a:solidFill>
                <a:schemeClr val="tx1"/>
              </a:solidFill>
              <a:effectLst/>
              <a:latin typeface="Arial" panose="020B0604020202020204" pitchFamily="34" charset="0"/>
              <a:cs typeface="Nazanin" panose="00000400000000000000" pitchFamily="2" charset="-78"/>
            </a:endParaRPr>
          </a:p>
          <a:p>
            <a:pPr marL="342900" indent="-342900" algn="r" defTabSz="914400" rtl="1" eaLnBrk="0" fontAlgn="base" hangingPunct="0">
              <a:spcBef>
                <a:spcPct val="0"/>
              </a:spcBef>
              <a:spcAft>
                <a:spcPct val="0"/>
              </a:spcAft>
              <a:buFont typeface="Wingdings" panose="05000000000000000000" pitchFamily="2" charset="2"/>
              <a:buChar char="ü"/>
            </a:pPr>
            <a:r>
              <a:rPr lang="ar-SA" altLang="en-US" sz="2400">
                <a:latin typeface="Arial" panose="020B0604020202020204" pitchFamily="34" charset="0"/>
                <a:cs typeface="Nazanin" panose="00000400000000000000" pitchFamily="2" charset="-78"/>
              </a:rPr>
              <a:t>طراحی گزارش کار با داده‌های واقعی از کف خیابان</a:t>
            </a:r>
            <a:endParaRPr lang="en-US" altLang="en-US" sz="2400">
              <a:latin typeface="Arial" panose="020B0604020202020204" pitchFamily="34" charset="0"/>
              <a:cs typeface="Nazanin" panose="000004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cs typeface="Nazanin" panose="00000400000000000000" pitchFamily="2" charset="-78"/>
              </a:rPr>
              <a:t>🔹 </a:t>
            </a:r>
            <a:r>
              <a:rPr kumimoji="0" lang="ar-SA" altLang="en-US" sz="2800" b="1" i="0" u="none" strike="noStrike" cap="none" normalizeH="0" baseline="0">
                <a:ln>
                  <a:noFill/>
                </a:ln>
                <a:solidFill>
                  <a:schemeClr val="tx1"/>
                </a:solidFill>
                <a:effectLst/>
                <a:latin typeface="Arial" panose="020B0604020202020204" pitchFamily="34" charset="0"/>
                <a:cs typeface="Nazanin" panose="00000400000000000000" pitchFamily="2" charset="-78"/>
              </a:rPr>
              <a:t>آشتی تکنولوژی با فرهنگ و فلسفه</a:t>
            </a:r>
            <a:endParaRPr kumimoji="0" lang="en-US" altLang="en-US" sz="2800" b="0" i="0" u="none" strike="noStrike" cap="none" normalizeH="0" baseline="0">
              <a:ln>
                <a:noFill/>
              </a:ln>
              <a:solidFill>
                <a:schemeClr val="tx1"/>
              </a:solidFill>
              <a:effectLst/>
              <a:latin typeface="Arial" panose="020B0604020202020204" pitchFamily="34" charset="0"/>
              <a:cs typeface="Nazanin" panose="00000400000000000000" pitchFamily="2" charset="-78"/>
            </a:endParaRPr>
          </a:p>
          <a:p>
            <a:pPr marL="342900" marR="0" lvl="0" indent="-342900" algn="r" defTabSz="914400" rtl="1" eaLnBrk="0" fontAlgn="base" hangingPunct="0">
              <a:lnSpc>
                <a:spcPct val="100000"/>
              </a:lnSpc>
              <a:spcBef>
                <a:spcPct val="0"/>
              </a:spcBef>
              <a:spcAft>
                <a:spcPct val="0"/>
              </a:spcAft>
              <a:buClrTx/>
              <a:buSzTx/>
              <a:buFont typeface="Wingdings" panose="05000000000000000000" pitchFamily="2" charset="2"/>
              <a:buChar char="ü"/>
              <a:tabLst/>
            </a:pPr>
            <a:r>
              <a:rPr lang="ar-SA" altLang="en-US" sz="2400">
                <a:latin typeface="Arial" panose="020B0604020202020204" pitchFamily="34" charset="0"/>
                <a:cs typeface="Nazanin" panose="00000400000000000000" pitchFamily="2" charset="-78"/>
              </a:rPr>
              <a:t>مناظره نیچه و حافظ درباره شغل آینده</a:t>
            </a:r>
            <a:endParaRPr lang="en-US" altLang="en-US" sz="2400">
              <a:latin typeface="Arial" panose="020B0604020202020204" pitchFamily="34" charset="0"/>
              <a:cs typeface="Nazanin" panose="00000400000000000000" pitchFamily="2" charset="-78"/>
            </a:endParaRPr>
          </a:p>
          <a:p>
            <a:pPr marL="342900" indent="-342900" algn="r" defTabSz="914400" rtl="1" eaLnBrk="0" fontAlgn="base" hangingPunct="0">
              <a:spcBef>
                <a:spcPct val="0"/>
              </a:spcBef>
              <a:spcAft>
                <a:spcPct val="0"/>
              </a:spcAft>
              <a:buFont typeface="Wingdings" panose="05000000000000000000" pitchFamily="2" charset="2"/>
              <a:buChar char="ü"/>
            </a:pPr>
            <a:r>
              <a:rPr lang="ar-SA" altLang="en-US" sz="2400">
                <a:latin typeface="Arial" panose="020B0604020202020204" pitchFamily="34" charset="0"/>
                <a:cs typeface="Nazanin" panose="00000400000000000000" pitchFamily="2" charset="-78"/>
              </a:rPr>
              <a:t>تحلیل گرافیکی مفهوم "نان" در</a:t>
            </a:r>
            <a:r>
              <a:rPr lang="en-US" altLang="en-US" sz="2400">
                <a:latin typeface="Arial" panose="020B0604020202020204" pitchFamily="34" charset="0"/>
                <a:cs typeface="Nazanin" panose="00000400000000000000" pitchFamily="2" charset="-78"/>
              </a:rPr>
              <a:t> Word </a:t>
            </a:r>
            <a:r>
              <a:rPr lang="ar-SA" altLang="en-US" sz="2400">
                <a:latin typeface="Arial" panose="020B0604020202020204" pitchFamily="34" charset="0"/>
                <a:cs typeface="Nazanin" panose="00000400000000000000" pitchFamily="2" charset="-78"/>
              </a:rPr>
              <a:t>و</a:t>
            </a:r>
            <a:r>
              <a:rPr lang="en-US" altLang="en-US" sz="2400">
                <a:latin typeface="Arial" panose="020B0604020202020204" pitchFamily="34" charset="0"/>
                <a:cs typeface="Nazanin" panose="00000400000000000000" pitchFamily="2" charset="-78"/>
              </a:rPr>
              <a:t> Excel</a:t>
            </a:r>
          </a:p>
          <a:p>
            <a:pPr marL="342900" indent="-342900" algn="r" defTabSz="914400" rtl="1" eaLnBrk="0" fontAlgn="base" hangingPunct="0">
              <a:spcBef>
                <a:spcPct val="0"/>
              </a:spcBef>
              <a:spcAft>
                <a:spcPct val="0"/>
              </a:spcAft>
              <a:buFont typeface="Wingdings" panose="05000000000000000000" pitchFamily="2" charset="2"/>
              <a:buChar char="ü"/>
            </a:pPr>
            <a:r>
              <a:rPr lang="ar-SA" altLang="en-US" sz="2400">
                <a:latin typeface="Arial" panose="020B0604020202020204" pitchFamily="34" charset="0"/>
                <a:cs typeface="Nazanin" panose="00000400000000000000" pitchFamily="2" charset="-78"/>
              </a:rPr>
              <a:t>صداگذاری روی شعر محلی با</a:t>
            </a:r>
            <a:r>
              <a:rPr lang="fa-IR" altLang="en-US" sz="2400">
                <a:latin typeface="Arial" panose="020B0604020202020204" pitchFamily="34" charset="0"/>
                <a:cs typeface="Nazanin" panose="00000400000000000000" pitchFamily="2" charset="-78"/>
              </a:rPr>
              <a:t> </a:t>
            </a:r>
            <a:r>
              <a:rPr lang="en-US" altLang="en-US" sz="2400">
                <a:latin typeface="Arial" panose="020B0604020202020204" pitchFamily="34" charset="0"/>
                <a:cs typeface="Nazanin" panose="00000400000000000000" pitchFamily="2" charset="-78"/>
              </a:rPr>
              <a:t> Voice-AI</a:t>
            </a: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cs typeface="Nazanin" panose="00000400000000000000" pitchFamily="2" charset="-78"/>
              </a:rPr>
              <a:t>🔹 </a:t>
            </a:r>
            <a:r>
              <a:rPr kumimoji="0" lang="ar-SA" altLang="en-US" sz="2800" b="1" i="0" u="none" strike="noStrike" cap="none" normalizeH="0" baseline="0">
                <a:ln>
                  <a:noFill/>
                </a:ln>
                <a:solidFill>
                  <a:schemeClr val="tx1"/>
                </a:solidFill>
                <a:effectLst/>
                <a:latin typeface="Arial" panose="020B0604020202020204" pitchFamily="34" charset="0"/>
                <a:cs typeface="Nazanin" panose="00000400000000000000" pitchFamily="2" charset="-78"/>
              </a:rPr>
              <a:t>از سلیکون‌ولی تا سقاخانه</a:t>
            </a:r>
            <a:br>
              <a:rPr kumimoji="0" lang="en-US" altLang="en-US" sz="2800" b="0" i="0" u="none" strike="noStrike" cap="none" normalizeH="0" baseline="0">
                <a:ln>
                  <a:noFill/>
                </a:ln>
                <a:solidFill>
                  <a:schemeClr val="tx1"/>
                </a:solidFill>
                <a:effectLst/>
                <a:latin typeface="Arial" panose="020B0604020202020204" pitchFamily="34" charset="0"/>
                <a:cs typeface="Nazanin" panose="00000400000000000000" pitchFamily="2" charset="-78"/>
              </a:rPr>
            </a:br>
            <a:r>
              <a:rPr kumimoji="0" lang="ar-SA" altLang="en-US" sz="2800" b="0" i="0" u="none" strike="noStrike" cap="none" normalizeH="0" baseline="0">
                <a:ln>
                  <a:noFill/>
                </a:ln>
                <a:solidFill>
                  <a:schemeClr val="tx1"/>
                </a:solidFill>
                <a:effectLst/>
                <a:latin typeface="Arial" panose="020B0604020202020204" pitchFamily="34" charset="0"/>
                <a:cs typeface="Nazanin" panose="00000400000000000000" pitchFamily="2" charset="-78"/>
              </a:rPr>
              <a:t>ما می‌خواهیم ابزارهای دیجیتال را مردمی، فرهنگی، </a:t>
            </a:r>
            <a:endParaRPr kumimoji="0" lang="fa-IR" altLang="en-US" sz="2800" b="0" i="0" u="none" strike="noStrike" cap="none" normalizeH="0" baseline="0">
              <a:ln>
                <a:noFill/>
              </a:ln>
              <a:solidFill>
                <a:schemeClr val="tx1"/>
              </a:solidFill>
              <a:effectLst/>
              <a:latin typeface="Arial" panose="020B0604020202020204" pitchFamily="34" charset="0"/>
              <a:cs typeface="Nazanin" panose="000004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ar-SA" altLang="en-US" sz="2800" b="0" i="0" u="none" strike="noStrike" cap="none" normalizeH="0" baseline="0">
                <a:ln>
                  <a:noFill/>
                </a:ln>
                <a:solidFill>
                  <a:schemeClr val="tx1"/>
                </a:solidFill>
                <a:effectLst/>
                <a:latin typeface="Arial" panose="020B0604020202020204" pitchFamily="34" charset="0"/>
                <a:cs typeface="Nazanin" panose="00000400000000000000" pitchFamily="2" charset="-78"/>
              </a:rPr>
              <a:t>و متفکرانه بسازیم؛ مهارتی کاربردی، اندیشه‌ای مترقی</a:t>
            </a:r>
            <a:r>
              <a:rPr kumimoji="0" lang="en-US" altLang="en-US" sz="2800" b="0" i="0" u="none" strike="noStrike" cap="none" normalizeH="0" baseline="0">
                <a:ln>
                  <a:noFill/>
                </a:ln>
                <a:solidFill>
                  <a:schemeClr val="tx1"/>
                </a:solidFill>
                <a:effectLst/>
                <a:latin typeface="Arial" panose="020B0604020202020204" pitchFamily="34" charset="0"/>
                <a:cs typeface="Nazanin" panose="00000400000000000000" pitchFamily="2" charset="-78"/>
              </a:rPr>
              <a:t>.</a:t>
            </a:r>
          </a:p>
        </p:txBody>
      </p:sp>
      <p:sp>
        <p:nvSpPr>
          <p:cNvPr id="2" name="TextBox 1">
            <a:extLst>
              <a:ext uri="{FF2B5EF4-FFF2-40B4-BE49-F238E27FC236}">
                <a16:creationId xmlns:a16="http://schemas.microsoft.com/office/drawing/2014/main" id="{B8CC4186-CE79-2187-B800-F28EAC23F4C2}"/>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9</a:t>
            </a:r>
            <a:endParaRPr lang="fa-IR" sz="12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fa-IR" sz="3200" noProof="0">
                <a:cs typeface="Titr" panose="00000700000000000000" pitchFamily="2" charset="-78"/>
              </a:rPr>
              <a:t>توصیه‌هایی برای تدریس </a:t>
            </a:r>
            <a:r>
              <a:rPr lang="fa-IR" sz="3200">
                <a:latin typeface="Arial Black" panose="020B0A04020102020204" pitchFamily="34" charset="0"/>
                <a:cs typeface="Titr" panose="00000700000000000000" pitchFamily="2" charset="-78"/>
              </a:rPr>
              <a:t>AI</a:t>
            </a:r>
            <a:r>
              <a:rPr lang="en-US" sz="3200">
                <a:latin typeface="Arial Black" panose="020B0A04020102020204" pitchFamily="34" charset="0"/>
                <a:cs typeface="Titr" panose="00000700000000000000" pitchFamily="2" charset="-78"/>
              </a:rPr>
              <a:t>-</a:t>
            </a:r>
            <a:r>
              <a:rPr lang="fa-IR" sz="3200" noProof="0">
                <a:latin typeface="Arial Black" panose="020B0A04020102020204" pitchFamily="34" charset="0"/>
                <a:cs typeface="Titr" panose="00000700000000000000" pitchFamily="2" charset="-78"/>
              </a:rPr>
              <a:t>ICDL </a:t>
            </a:r>
            <a:r>
              <a:rPr lang="fa-IR" sz="3200" noProof="0">
                <a:cs typeface="Titr" panose="00000700000000000000" pitchFamily="2" charset="-78"/>
              </a:rPr>
              <a:t>در عصر</a:t>
            </a:r>
          </a:p>
        </p:txBody>
      </p:sp>
      <p:sp>
        <p:nvSpPr>
          <p:cNvPr id="3" name="Content Placeholder 2"/>
          <p:cNvSpPr>
            <a:spLocks noGrp="1"/>
          </p:cNvSpPr>
          <p:nvPr>
            <p:ph idx="1"/>
          </p:nvPr>
        </p:nvSpPr>
        <p:spPr>
          <a:xfrm>
            <a:off x="628650" y="1560786"/>
            <a:ext cx="7886700" cy="5076497"/>
          </a:xfrm>
        </p:spPr>
        <p:txBody>
          <a:bodyPr>
            <a:normAutofit fontScale="85000" lnSpcReduction="20000"/>
          </a:bodyPr>
          <a:lstStyle/>
          <a:p>
            <a:pPr marL="0" indent="0" algn="r" rtl="1">
              <a:buNone/>
            </a:pPr>
            <a:r>
              <a:rPr lang="fa-IR" sz="3300" b="1">
                <a:cs typeface="Nazanin" panose="00000400000000000000" pitchFamily="2" charset="-78"/>
              </a:rPr>
              <a:t>1. از حفظ کردن به حل مسئله بروید:</a:t>
            </a:r>
          </a:p>
          <a:p>
            <a:pPr marL="0" indent="0" algn="r" rtl="1">
              <a:buNone/>
            </a:pPr>
            <a:r>
              <a:rPr lang="fa-IR" noProof="0">
                <a:cs typeface="Nazanin" panose="00000400000000000000" pitchFamily="2" charset="-78"/>
              </a:rPr>
              <a:t>آموزش را از «یادگیری دکمه‌ها» به «حل مسئله‌های واقعی» ببرید.</a:t>
            </a:r>
          </a:p>
          <a:p>
            <a:pPr marL="0" indent="0" algn="r" rtl="1">
              <a:buNone/>
            </a:pPr>
            <a:r>
              <a:rPr lang="fa-IR" sz="3300" b="1">
                <a:cs typeface="Nazanin" panose="00000400000000000000" pitchFamily="2" charset="-78"/>
              </a:rPr>
              <a:t>۲. از ابزارهای سبک و آنلاین استفاده کنید:</a:t>
            </a:r>
          </a:p>
          <a:p>
            <a:pPr marL="0" indent="0" algn="r" rtl="1">
              <a:buNone/>
            </a:pPr>
            <a:r>
              <a:rPr lang="fa-IR" noProof="0">
                <a:cs typeface="Nazanin" panose="00000400000000000000" pitchFamily="2" charset="-78"/>
              </a:rPr>
              <a:t>از جایگزین‌هایی مانند </a:t>
            </a:r>
            <a:r>
              <a:rPr lang="en-US" noProof="0">
                <a:cs typeface="Nazanin" panose="00000400000000000000" pitchFamily="2" charset="-78"/>
              </a:rPr>
              <a:t>Google Docs، Google Sheets </a:t>
            </a:r>
            <a:r>
              <a:rPr lang="fa-IR" noProof="0">
                <a:cs typeface="Nazanin" panose="00000400000000000000" pitchFamily="2" charset="-78"/>
              </a:rPr>
              <a:t>و افزونه‌های </a:t>
            </a:r>
            <a:r>
              <a:rPr lang="en-US" noProof="0">
                <a:cs typeface="Nazanin" panose="00000400000000000000" pitchFamily="2" charset="-78"/>
              </a:rPr>
              <a:t>AI </a:t>
            </a:r>
            <a:r>
              <a:rPr lang="fa-IR" noProof="0">
                <a:cs typeface="Nazanin" panose="00000400000000000000" pitchFamily="2" charset="-78"/>
              </a:rPr>
              <a:t>آن‌ها بهره بگیرید.</a:t>
            </a:r>
          </a:p>
          <a:p>
            <a:pPr marL="0" lvl="0" indent="0" algn="r" rtl="1">
              <a:buNone/>
            </a:pPr>
            <a:r>
              <a:rPr lang="fa-IR" sz="3300" b="1">
                <a:cs typeface="Nazanin" panose="00000400000000000000" pitchFamily="2" charset="-78"/>
              </a:rPr>
              <a:t>۳. مهارت‌های قرن ۲۱ را اضافه کنید: </a:t>
            </a:r>
            <a:r>
              <a:rPr lang="fa-IR">
                <a:cs typeface="Nazanin" panose="00000400000000000000" pitchFamily="2" charset="-78"/>
              </a:rPr>
              <a:t>موارد زیر را در سرفصل‌ها بگنجانید:</a:t>
            </a:r>
            <a:endParaRPr lang="en-US" sz="3200">
              <a:cs typeface="Nazanin" panose="00000400000000000000" pitchFamily="2" charset="-78"/>
            </a:endParaRPr>
          </a:p>
          <a:p>
            <a:pPr lvl="1" algn="r" rtl="1"/>
            <a:r>
              <a:rPr lang="fa-IR">
                <a:cs typeface="Nazanin" panose="00000400000000000000" pitchFamily="2" charset="-78"/>
              </a:rPr>
              <a:t>مدیریت فایل‌ها در فضای ابری</a:t>
            </a:r>
            <a:endParaRPr lang="en-US" sz="2800">
              <a:cs typeface="Nazanin" panose="00000400000000000000" pitchFamily="2" charset="-78"/>
            </a:endParaRPr>
          </a:p>
          <a:p>
            <a:pPr lvl="1" algn="r" rtl="1"/>
            <a:r>
              <a:rPr lang="fa-IR">
                <a:cs typeface="Nazanin" panose="00000400000000000000" pitchFamily="2" charset="-78"/>
              </a:rPr>
              <a:t>امنیت و حریم خصوصی دیجیتال</a:t>
            </a:r>
            <a:endParaRPr lang="en-US" sz="2800">
              <a:cs typeface="Nazanin" panose="00000400000000000000" pitchFamily="2" charset="-78"/>
            </a:endParaRPr>
          </a:p>
          <a:p>
            <a:pPr lvl="1" algn="r" rtl="1"/>
            <a:r>
              <a:rPr lang="fa-IR">
                <a:cs typeface="Nazanin" panose="00000400000000000000" pitchFamily="2" charset="-78"/>
              </a:rPr>
              <a:t>همکاری آنلاین در تیم‌ها</a:t>
            </a:r>
            <a:endParaRPr lang="en-US" sz="2800">
              <a:cs typeface="Nazanin" panose="00000400000000000000" pitchFamily="2" charset="-78"/>
            </a:endParaRPr>
          </a:p>
          <a:p>
            <a:pPr lvl="1" algn="r" rtl="1"/>
            <a:r>
              <a:rPr lang="fa-IR">
                <a:cs typeface="Nazanin" panose="00000400000000000000" pitchFamily="2" charset="-78"/>
              </a:rPr>
              <a:t>اتوماسیون کارهای تکراری با </a:t>
            </a:r>
            <a:r>
              <a:rPr lang="en-US" sz="2000">
                <a:cs typeface="Nazanin" panose="00000400000000000000" pitchFamily="2" charset="-78"/>
              </a:rPr>
              <a:t>AI</a:t>
            </a:r>
            <a:r>
              <a:rPr lang="fa-IR">
                <a:cs typeface="Nazanin" panose="00000400000000000000" pitchFamily="2" charset="-78"/>
              </a:rPr>
              <a:t> (مثل </a:t>
            </a:r>
            <a:r>
              <a:rPr lang="en-US" sz="2000">
                <a:cs typeface="Nazanin" panose="00000400000000000000" pitchFamily="2" charset="-78"/>
              </a:rPr>
              <a:t>Macro</a:t>
            </a:r>
            <a:r>
              <a:rPr lang="fa-IR">
                <a:cs typeface="Nazanin" panose="00000400000000000000" pitchFamily="2" charset="-78"/>
              </a:rPr>
              <a:t>ها یا </a:t>
            </a:r>
            <a:r>
              <a:rPr lang="en-US" sz="2000">
                <a:cs typeface="Nazanin" panose="00000400000000000000" pitchFamily="2" charset="-78"/>
              </a:rPr>
              <a:t>Zapier</a:t>
            </a:r>
            <a:r>
              <a:rPr lang="fa-IR">
                <a:cs typeface="Nazanin" panose="00000400000000000000" pitchFamily="2" charset="-78"/>
              </a:rPr>
              <a:t>)</a:t>
            </a:r>
            <a:endParaRPr lang="en-US" sz="2800">
              <a:cs typeface="Nazanin" panose="00000400000000000000" pitchFamily="2" charset="-78"/>
            </a:endParaRPr>
          </a:p>
          <a:p>
            <a:pPr marL="0" indent="0" algn="r" rtl="1">
              <a:buNone/>
            </a:pPr>
            <a:r>
              <a:rPr lang="fa-IR" sz="3300" b="1">
                <a:cs typeface="Nazanin" panose="00000400000000000000" pitchFamily="2" charset="-78"/>
              </a:rPr>
              <a:t>۴. ICDL را پروژه‌محور و با کمک هوش مصنوعی تدریس کنید</a:t>
            </a:r>
            <a:r>
              <a:rPr lang="en-US" sz="3300" b="1">
                <a:cs typeface="Nazanin" panose="00000400000000000000" pitchFamily="2" charset="-78"/>
              </a:rPr>
              <a:t>:</a:t>
            </a:r>
          </a:p>
          <a:p>
            <a:pPr marL="0" indent="0" algn="r" rtl="1">
              <a:buNone/>
            </a:pPr>
            <a:r>
              <a:rPr lang="fa-IR" sz="2400">
                <a:cs typeface="Nazanin" panose="00000400000000000000" pitchFamily="2" charset="-78"/>
              </a:rPr>
              <a:t>طراحی فاکتور فروش در </a:t>
            </a:r>
            <a:r>
              <a:rPr lang="en-US" sz="2400">
                <a:cs typeface="Nazanin" panose="00000400000000000000" pitchFamily="2" charset="-78"/>
              </a:rPr>
              <a:t>Excel</a:t>
            </a:r>
            <a:r>
              <a:rPr lang="fa-IR" sz="2400">
                <a:cs typeface="Nazanin" panose="00000400000000000000" pitchFamily="2" charset="-78"/>
              </a:rPr>
              <a:t> - نوشتن نامه اداری یا ساخت رزومه شغلی در </a:t>
            </a:r>
            <a:r>
              <a:rPr lang="en-US" sz="2400">
                <a:cs typeface="Nazanin" panose="00000400000000000000" pitchFamily="2" charset="-78"/>
              </a:rPr>
              <a:t>Word</a:t>
            </a:r>
          </a:p>
          <a:p>
            <a:pPr marL="0" indent="0" algn="r" rtl="1">
              <a:buNone/>
            </a:pPr>
            <a:r>
              <a:rPr lang="fa-IR" sz="2400">
                <a:cs typeface="Nazanin" panose="00000400000000000000" pitchFamily="2" charset="-78"/>
              </a:rPr>
              <a:t>ارائه تصویری با هوش مصنوعی در </a:t>
            </a:r>
            <a:r>
              <a:rPr lang="en-US" sz="2400">
                <a:cs typeface="Nazanin" panose="00000400000000000000" pitchFamily="2" charset="-78"/>
              </a:rPr>
              <a:t>PowerPoint</a:t>
            </a:r>
            <a:r>
              <a:rPr lang="fa-IR" sz="2400">
                <a:cs typeface="Nazanin" panose="00000400000000000000" pitchFamily="2" charset="-78"/>
              </a:rPr>
              <a:t> - ساخت تصویر برای اسلاید با </a:t>
            </a:r>
            <a:r>
              <a:rPr lang="en-US" sz="2400">
                <a:cs typeface="Nazanin" panose="00000400000000000000" pitchFamily="2" charset="-78"/>
              </a:rPr>
              <a:t>DALL·E</a:t>
            </a:r>
          </a:p>
          <a:p>
            <a:pPr marL="0" indent="0" algn="r" rtl="1">
              <a:buNone/>
            </a:pPr>
            <a:r>
              <a:rPr lang="fa-IR" sz="2400">
                <a:cs typeface="Nazanin" panose="00000400000000000000" pitchFamily="2" charset="-78"/>
              </a:rPr>
              <a:t>- طراحی پوستر با </a:t>
            </a:r>
            <a:r>
              <a:rPr lang="en-US" sz="2400">
                <a:cs typeface="Nazanin" panose="00000400000000000000" pitchFamily="2" charset="-78"/>
              </a:rPr>
              <a:t>Canva AI</a:t>
            </a:r>
          </a:p>
          <a:p>
            <a:pPr marL="0" indent="0" algn="r" rtl="1">
              <a:buNone/>
            </a:pPr>
            <a:endParaRPr lang="en-US" sz="2400">
              <a:cs typeface="Nazanin" panose="00000400000000000000" pitchFamily="2" charset="-78"/>
            </a:endParaRPr>
          </a:p>
          <a:p>
            <a:pPr marL="0" indent="0" algn="r" rtl="1">
              <a:buNone/>
            </a:pPr>
            <a:endParaRPr lang="fa-IR" noProof="0">
              <a:cs typeface="Nazanin" panose="00000400000000000000" pitchFamily="2" charset="-78"/>
            </a:endParaRPr>
          </a:p>
        </p:txBody>
      </p:sp>
      <p:sp>
        <p:nvSpPr>
          <p:cNvPr id="4" name="TextBox 3">
            <a:extLst>
              <a:ext uri="{FF2B5EF4-FFF2-40B4-BE49-F238E27FC236}">
                <a16:creationId xmlns:a16="http://schemas.microsoft.com/office/drawing/2014/main" id="{CB95AC81-A709-DF3B-2F13-86957051165E}"/>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10</a:t>
            </a:r>
            <a:endParaRPr lang="fa-IR" sz="12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E2456B2-7D6F-F29E-562A-761A718AC6E3}"/>
              </a:ext>
            </a:extLst>
          </p:cNvPr>
          <p:cNvPicPr>
            <a:picLocks noChangeAspect="1"/>
          </p:cNvPicPr>
          <p:nvPr/>
        </p:nvPicPr>
        <p:blipFill>
          <a:blip r:embed="rId2"/>
          <a:stretch>
            <a:fillRect/>
          </a:stretch>
        </p:blipFill>
        <p:spPr>
          <a:xfrm>
            <a:off x="3506147" y="1595464"/>
            <a:ext cx="2714625" cy="2907665"/>
          </a:xfrm>
          <a:prstGeom prst="rect">
            <a:avLst/>
          </a:prstGeom>
        </p:spPr>
      </p:pic>
      <p:pic>
        <p:nvPicPr>
          <p:cNvPr id="5" name="Picture 4">
            <a:extLst>
              <a:ext uri="{FF2B5EF4-FFF2-40B4-BE49-F238E27FC236}">
                <a16:creationId xmlns:a16="http://schemas.microsoft.com/office/drawing/2014/main" id="{33B3F1C0-3D39-B7B2-5120-FE5249077F6C}"/>
              </a:ext>
            </a:extLst>
          </p:cNvPr>
          <p:cNvPicPr>
            <a:picLocks noChangeAspect="1"/>
          </p:cNvPicPr>
          <p:nvPr/>
        </p:nvPicPr>
        <p:blipFill>
          <a:blip r:embed="rId3"/>
          <a:stretch>
            <a:fillRect/>
          </a:stretch>
        </p:blipFill>
        <p:spPr>
          <a:xfrm>
            <a:off x="783515" y="1595464"/>
            <a:ext cx="2276475" cy="2907665"/>
          </a:xfrm>
          <a:prstGeom prst="rect">
            <a:avLst/>
          </a:prstGeom>
        </p:spPr>
      </p:pic>
      <p:sp>
        <p:nvSpPr>
          <p:cNvPr id="6" name="TextBox 5">
            <a:extLst>
              <a:ext uri="{FF2B5EF4-FFF2-40B4-BE49-F238E27FC236}">
                <a16:creationId xmlns:a16="http://schemas.microsoft.com/office/drawing/2014/main" id="{3AF9C52A-3548-9291-A5A0-E7D59CA15EAA}"/>
              </a:ext>
            </a:extLst>
          </p:cNvPr>
          <p:cNvSpPr txBox="1"/>
          <p:nvPr/>
        </p:nvSpPr>
        <p:spPr>
          <a:xfrm>
            <a:off x="2861641" y="5751350"/>
            <a:ext cx="2979281" cy="646331"/>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a:spAutoFit/>
          </a:bodyPr>
          <a:lstStyle/>
          <a:p>
            <a:pPr algn="ctr"/>
            <a:r>
              <a:rPr lang="fa-IR" dirty="0">
                <a:cs typeface="2  Titr" panose="00000700000000000000" pitchFamily="2" charset="-78"/>
              </a:rPr>
              <a:t>شعار جی‌کوئری:</a:t>
            </a:r>
          </a:p>
          <a:p>
            <a:pPr algn="ctr"/>
            <a:r>
              <a:rPr lang="fa-IR" dirty="0">
                <a:cs typeface="2  Titr" panose="00000700000000000000" pitchFamily="2" charset="-78"/>
              </a:rPr>
              <a:t>«کمتر بنویس، بیشتر انجام بده»</a:t>
            </a:r>
            <a:endParaRPr lang="en-US" dirty="0">
              <a:cs typeface="2  Titr" panose="00000700000000000000" pitchFamily="2" charset="-78"/>
            </a:endParaRPr>
          </a:p>
        </p:txBody>
      </p:sp>
      <p:sp>
        <p:nvSpPr>
          <p:cNvPr id="2" name="Title 1">
            <a:extLst>
              <a:ext uri="{FF2B5EF4-FFF2-40B4-BE49-F238E27FC236}">
                <a16:creationId xmlns:a16="http://schemas.microsoft.com/office/drawing/2014/main" id="{55952B7C-77E4-F819-8737-6161D1D4698C}"/>
              </a:ext>
            </a:extLst>
          </p:cNvPr>
          <p:cNvSpPr>
            <a:spLocks noGrp="1"/>
          </p:cNvSpPr>
          <p:nvPr>
            <p:ph type="title"/>
          </p:nvPr>
        </p:nvSpPr>
        <p:spPr>
          <a:xfrm>
            <a:off x="628650" y="365126"/>
            <a:ext cx="7886700" cy="1325563"/>
          </a:xfrm>
        </p:spPr>
        <p:txBody>
          <a:bodyPr>
            <a:normAutofit/>
          </a:bodyPr>
          <a:lstStyle/>
          <a:p>
            <a:pPr algn="r" rtl="1"/>
            <a:r>
              <a:rPr lang="fa-IR" sz="3600" noProof="0">
                <a:cs typeface="Titr" panose="00000700000000000000" pitchFamily="2" charset="-78"/>
              </a:rPr>
              <a:t>افزودنی‌های </a:t>
            </a:r>
            <a:r>
              <a:rPr lang="en-US" b="1" noProof="0">
                <a:cs typeface="Titr" panose="00000700000000000000" pitchFamily="2" charset="-78"/>
              </a:rPr>
              <a:t>MS-Word</a:t>
            </a:r>
            <a:r>
              <a:rPr lang="fa-IR" b="1" noProof="0">
                <a:cs typeface="Titr" panose="00000700000000000000" pitchFamily="2" charset="-78"/>
              </a:rPr>
              <a:t> را دریابید!</a:t>
            </a:r>
            <a:endParaRPr lang="fa-IR" sz="3600" b="1" noProof="0">
              <a:cs typeface="Titr" panose="00000700000000000000" pitchFamily="2" charset="-78"/>
            </a:endParaRPr>
          </a:p>
        </p:txBody>
      </p:sp>
      <p:sp>
        <p:nvSpPr>
          <p:cNvPr id="3" name="TextBox 2">
            <a:extLst>
              <a:ext uri="{FF2B5EF4-FFF2-40B4-BE49-F238E27FC236}">
                <a16:creationId xmlns:a16="http://schemas.microsoft.com/office/drawing/2014/main" id="{F25189CD-DCFC-30A6-D3A6-BFDAC948712E}"/>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11</a:t>
            </a:r>
            <a:endParaRPr lang="fa-IR" sz="1200"/>
          </a:p>
        </p:txBody>
      </p:sp>
    </p:spTree>
    <p:extLst>
      <p:ext uri="{BB962C8B-B14F-4D97-AF65-F5344CB8AC3E}">
        <p14:creationId xmlns:p14="http://schemas.microsoft.com/office/powerpoint/2010/main" val="25522918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90658" y="670342"/>
            <a:ext cx="8558754" cy="523220"/>
          </a:xfrm>
          <a:prstGeom prst="rect">
            <a:avLst/>
          </a:prstGeom>
          <a:noFill/>
        </p:spPr>
        <p:txBody>
          <a:bodyPr wrap="none">
            <a:spAutoFit/>
          </a:bodyPr>
          <a:lstStyle/>
          <a:p>
            <a:pPr algn="r" rtl="1">
              <a:defRPr sz="2800" b="1"/>
            </a:pPr>
            <a:r>
              <a:rPr sz="2800">
                <a:cs typeface="Titr" panose="00000700000000000000" pitchFamily="2" charset="-78"/>
              </a:rPr>
              <a:t>📊 بنچمارک‌های مهم برای ارزیابی مدل‌های زبانی بزرگ (LLMs)</a:t>
            </a:r>
          </a:p>
        </p:txBody>
      </p:sp>
      <p:sp>
        <p:nvSpPr>
          <p:cNvPr id="4" name="TextBox 3"/>
          <p:cNvSpPr txBox="1"/>
          <p:nvPr/>
        </p:nvSpPr>
        <p:spPr>
          <a:xfrm>
            <a:off x="457200" y="1371600"/>
            <a:ext cx="8454238" cy="5324535"/>
          </a:xfrm>
          <a:prstGeom prst="rect">
            <a:avLst/>
          </a:prstGeom>
          <a:noFill/>
        </p:spPr>
        <p:txBody>
          <a:bodyPr wrap="square">
            <a:spAutoFit/>
          </a:bodyPr>
          <a:lstStyle/>
          <a:p>
            <a:pPr algn="r" rtl="1">
              <a:defRPr sz="1800"/>
            </a:pPr>
            <a:endParaRPr lang="fa-IR" sz="2000" b="1" noProof="0">
              <a:cs typeface="Nazanin" panose="00000400000000000000" pitchFamily="2" charset="-78"/>
            </a:endParaRPr>
          </a:p>
          <a:p>
            <a:pPr algn="r" rtl="1"/>
            <a:r>
              <a:rPr lang="fa-IR" sz="2000" b="1" noProof="0">
                <a:cs typeface="Nazanin" panose="00000400000000000000" pitchFamily="2" charset="-78"/>
              </a:rPr>
              <a:t>• MMLU: آزمون چندرشته‌ای با سوالات علوم انسانی، پزشکی، حقوق، ریاضی و... </a:t>
            </a:r>
          </a:p>
          <a:p>
            <a:pPr algn="l"/>
            <a:r>
              <a:rPr lang="fa-IR" sz="2000" b="1" noProof="0">
                <a:cs typeface="Nazanin" panose="00000400000000000000" pitchFamily="2" charset="-78"/>
              </a:rPr>
              <a:t>   🔗 https://huggingface.co/datasets/mmlu</a:t>
            </a:r>
          </a:p>
          <a:p>
            <a:pPr algn="r" rtl="1"/>
            <a:endParaRPr lang="fa-IR" sz="2000" b="1" noProof="0">
              <a:cs typeface="Nazanin" panose="00000400000000000000" pitchFamily="2" charset="-78"/>
            </a:endParaRPr>
          </a:p>
          <a:p>
            <a:pPr algn="r" rtl="1"/>
            <a:r>
              <a:rPr lang="fa-IR" sz="2000" b="1" noProof="0">
                <a:cs typeface="Nazanin" panose="00000400000000000000" pitchFamily="2" charset="-78"/>
              </a:rPr>
              <a:t>• GSM</a:t>
            </a:r>
            <a:r>
              <a:rPr lang="en-US" sz="2000" b="1" noProof="0">
                <a:cs typeface="Nazanin" panose="00000400000000000000" pitchFamily="2" charset="-78"/>
              </a:rPr>
              <a:t>8</a:t>
            </a:r>
            <a:r>
              <a:rPr lang="fa-IR" sz="2000" b="1" noProof="0">
                <a:cs typeface="Nazanin" panose="00000400000000000000" pitchFamily="2" charset="-78"/>
              </a:rPr>
              <a:t>K: مسائل ریاضی سطح ابتدایی با نیاز به استدلال مرحله‌به‌مرحله  </a:t>
            </a:r>
          </a:p>
          <a:p>
            <a:pPr algn="l"/>
            <a:r>
              <a:rPr lang="fa-IR" sz="2000" b="1" noProof="0">
                <a:cs typeface="Nazanin" panose="00000400000000000000" pitchFamily="2" charset="-78"/>
              </a:rPr>
              <a:t>   🔗 https://huggingface.co/datasets/gsm</a:t>
            </a:r>
            <a:r>
              <a:rPr lang="en-US" sz="2000" b="1" noProof="0">
                <a:cs typeface="Nazanin" panose="00000400000000000000" pitchFamily="2" charset="-78"/>
              </a:rPr>
              <a:t>8</a:t>
            </a:r>
            <a:r>
              <a:rPr lang="fa-IR" sz="2000" b="1" noProof="0">
                <a:cs typeface="Nazanin" panose="00000400000000000000" pitchFamily="2" charset="-78"/>
              </a:rPr>
              <a:t>k</a:t>
            </a:r>
          </a:p>
          <a:p>
            <a:pPr algn="r" rtl="1"/>
            <a:endParaRPr lang="fa-IR" sz="2000" b="1" noProof="0">
              <a:cs typeface="Nazanin" panose="00000400000000000000" pitchFamily="2" charset="-78"/>
            </a:endParaRPr>
          </a:p>
          <a:p>
            <a:pPr algn="r" rtl="1"/>
            <a:r>
              <a:rPr lang="fa-IR" sz="2000" b="1" noProof="0">
                <a:cs typeface="Nazanin" panose="00000400000000000000" pitchFamily="2" charset="-78"/>
              </a:rPr>
              <a:t>• HumanEval: ارزیابی توانایی کدنویسی با سوالات برنامه‌نویسی در پایتون  </a:t>
            </a:r>
          </a:p>
          <a:p>
            <a:pPr algn="l"/>
            <a:r>
              <a:rPr lang="fa-IR" sz="2000" b="1" noProof="0">
                <a:cs typeface="Nazanin" panose="00000400000000000000" pitchFamily="2" charset="-78"/>
              </a:rPr>
              <a:t>   🔗 https://huggingface.co/datasets/openai_humaneval</a:t>
            </a:r>
          </a:p>
          <a:p>
            <a:pPr algn="r" rtl="1"/>
            <a:endParaRPr lang="fa-IR" sz="2000" b="1" noProof="0">
              <a:cs typeface="Nazanin" panose="00000400000000000000" pitchFamily="2" charset="-78"/>
            </a:endParaRPr>
          </a:p>
          <a:p>
            <a:pPr algn="r" rtl="1"/>
            <a:r>
              <a:rPr lang="fa-IR" sz="2000" b="1" noProof="0">
                <a:cs typeface="Nazanin" panose="00000400000000000000" pitchFamily="2" charset="-78"/>
              </a:rPr>
              <a:t>• SWE-Bench Verified: رفع باگ واقعی در مخازن GitHub – نزدیک‌ترین معیار به دنیای واقعی برنامه‌نویسی  </a:t>
            </a:r>
          </a:p>
          <a:p>
            <a:pPr algn="l"/>
            <a:r>
              <a:rPr lang="fa-IR" sz="2000" b="1" noProof="0">
                <a:cs typeface="Nazanin" panose="00000400000000000000" pitchFamily="2" charset="-78"/>
              </a:rPr>
              <a:t>   🔗 https://github.com/princeton-nlp/SWE-bench</a:t>
            </a:r>
          </a:p>
          <a:p>
            <a:pPr algn="r" rtl="1"/>
            <a:endParaRPr lang="fa-IR" sz="2000" b="1" noProof="0">
              <a:cs typeface="Nazanin" panose="00000400000000000000" pitchFamily="2" charset="-78"/>
            </a:endParaRPr>
          </a:p>
          <a:p>
            <a:pPr algn="r" rtl="1"/>
            <a:r>
              <a:rPr lang="fa-IR" sz="2000" b="1" noProof="0">
                <a:cs typeface="Nazanin" panose="00000400000000000000" pitchFamily="2" charset="-78"/>
              </a:rPr>
              <a:t>• TruthfulQA: ارزیابی میزان راست‌گویی مدل در برابر باورهای نادرست یا کلیشه‌ها  </a:t>
            </a:r>
          </a:p>
          <a:p>
            <a:pPr algn="l"/>
            <a:r>
              <a:rPr lang="fa-IR" sz="2000" b="1" noProof="0">
                <a:cs typeface="Nazanin" panose="00000400000000000000" pitchFamily="2" charset="-78"/>
              </a:rPr>
              <a:t>   🔗 https://huggingface.co/datasets/truthful_qa</a:t>
            </a:r>
          </a:p>
          <a:p>
            <a:pPr algn="r" rtl="1"/>
            <a:endParaRPr lang="fa-IR" sz="2000" b="1" noProof="0">
              <a:cs typeface="Nazanin" panose="00000400000000000000" pitchFamily="2" charset="-78"/>
            </a:endParaRPr>
          </a:p>
        </p:txBody>
      </p:sp>
      <p:sp>
        <p:nvSpPr>
          <p:cNvPr id="2" name="TextBox 1">
            <a:extLst>
              <a:ext uri="{FF2B5EF4-FFF2-40B4-BE49-F238E27FC236}">
                <a16:creationId xmlns:a16="http://schemas.microsoft.com/office/drawing/2014/main" id="{7F588D5C-89AA-4E8E-30AC-77C9A9F20EF9}"/>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12</a:t>
            </a:r>
            <a:endParaRPr lang="fa-IR" sz="12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778637" y="640080"/>
            <a:ext cx="6050053" cy="584775"/>
          </a:xfrm>
          <a:prstGeom prst="rect">
            <a:avLst/>
          </a:prstGeom>
          <a:noFill/>
        </p:spPr>
        <p:txBody>
          <a:bodyPr wrap="none">
            <a:spAutoFit/>
          </a:bodyPr>
          <a:lstStyle/>
          <a:p>
            <a:pPr algn="r" rtl="1">
              <a:defRPr sz="2800" b="1"/>
            </a:pPr>
            <a:r>
              <a:rPr sz="3200">
                <a:cs typeface="Titr" panose="00000700000000000000" pitchFamily="2" charset="-78"/>
              </a:rPr>
              <a:t>دسته‌بندی مدل‌های زبانی بزرگ (LLMs)</a:t>
            </a:r>
          </a:p>
        </p:txBody>
      </p:sp>
      <p:sp>
        <p:nvSpPr>
          <p:cNvPr id="4" name="TextBox 3"/>
          <p:cNvSpPr txBox="1"/>
          <p:nvPr/>
        </p:nvSpPr>
        <p:spPr>
          <a:xfrm>
            <a:off x="204906" y="1224855"/>
            <a:ext cx="8734187" cy="5632311"/>
          </a:xfrm>
          <a:prstGeom prst="rect">
            <a:avLst/>
          </a:prstGeom>
          <a:noFill/>
        </p:spPr>
        <p:txBody>
          <a:bodyPr wrap="none">
            <a:spAutoFit/>
          </a:bodyPr>
          <a:lstStyle/>
          <a:p>
            <a:pPr algn="r" rtl="1">
              <a:defRPr sz="1800"/>
            </a:pPr>
            <a:endParaRPr sz="2400">
              <a:cs typeface="Titr" panose="00000700000000000000" pitchFamily="2" charset="-78"/>
            </a:endParaRPr>
          </a:p>
          <a:p>
            <a:pPr algn="r" rtl="1"/>
            <a:r>
              <a:rPr lang="fa-IR" sz="2400">
                <a:cs typeface="Titr" panose="00000700000000000000" pitchFamily="2" charset="-78"/>
              </a:rPr>
              <a:t>۱. </a:t>
            </a:r>
            <a:r>
              <a:rPr sz="2400">
                <a:cs typeface="Titr" panose="00000700000000000000" pitchFamily="2" charset="-78"/>
              </a:rPr>
              <a:t> مدل‌های عمومی و تجاری</a:t>
            </a:r>
            <a:r>
              <a:rPr lang="fa-IR" sz="2400">
                <a:cs typeface="Titr" panose="00000700000000000000" pitchFamily="2" charset="-78"/>
              </a:rPr>
              <a:t>:</a:t>
            </a:r>
            <a:endParaRPr sz="2400">
              <a:cs typeface="Titr" panose="00000700000000000000" pitchFamily="2" charset="-78"/>
            </a:endParaRPr>
          </a:p>
          <a:p>
            <a:pPr algn="l"/>
            <a:r>
              <a:rPr sz="2400">
                <a:cs typeface="Titr" panose="00000700000000000000" pitchFamily="2" charset="-78"/>
              </a:rPr>
              <a:t>   - GPT-4 (OpenAI), Claude 3 (Anthropic), Gemini 1.5 (Google)</a:t>
            </a:r>
          </a:p>
          <a:p>
            <a:pPr algn="r" rtl="1"/>
            <a:r>
              <a:rPr sz="2400">
                <a:cs typeface="Titr" panose="00000700000000000000" pitchFamily="2" charset="-78"/>
              </a:rPr>
              <a:t>   </a:t>
            </a:r>
          </a:p>
          <a:p>
            <a:pPr algn="r" rtl="1"/>
            <a:r>
              <a:rPr lang="fa-IR" sz="2400">
                <a:cs typeface="Titr" panose="00000700000000000000" pitchFamily="2" charset="-78"/>
              </a:rPr>
              <a:t>۲. </a:t>
            </a:r>
            <a:r>
              <a:rPr sz="2400">
                <a:cs typeface="Titr" panose="00000700000000000000" pitchFamily="2" charset="-78"/>
              </a:rPr>
              <a:t> مدل‌های متن‌باز (Open-source)</a:t>
            </a:r>
            <a:r>
              <a:rPr lang="fa-IR" sz="2400">
                <a:cs typeface="Titr" panose="00000700000000000000" pitchFamily="2" charset="-78"/>
              </a:rPr>
              <a:t>:</a:t>
            </a:r>
            <a:endParaRPr sz="2400">
              <a:cs typeface="Titr" panose="00000700000000000000" pitchFamily="2" charset="-78"/>
            </a:endParaRPr>
          </a:p>
          <a:p>
            <a:pPr algn="l"/>
            <a:r>
              <a:rPr sz="2400">
                <a:cs typeface="Titr" panose="00000700000000000000" pitchFamily="2" charset="-78"/>
              </a:rPr>
              <a:t>   - LLaMA 3 (Meta), Mistral, Falcon, XGen</a:t>
            </a:r>
          </a:p>
          <a:p>
            <a:pPr algn="r" rtl="1"/>
            <a:endParaRPr sz="2400">
              <a:cs typeface="Titr" panose="00000700000000000000" pitchFamily="2" charset="-78"/>
            </a:endParaRPr>
          </a:p>
          <a:p>
            <a:pPr algn="r" rtl="1"/>
            <a:r>
              <a:rPr lang="fa-IR" sz="2400">
                <a:cs typeface="Titr" panose="00000700000000000000" pitchFamily="2" charset="-78"/>
              </a:rPr>
              <a:t>۳. </a:t>
            </a:r>
            <a:r>
              <a:rPr sz="2400">
                <a:cs typeface="Titr" panose="00000700000000000000" pitchFamily="2" charset="-78"/>
              </a:rPr>
              <a:t> مدل‌های تخصصی</a:t>
            </a:r>
            <a:r>
              <a:rPr lang="fa-IR" sz="2400">
                <a:cs typeface="Titr" panose="00000700000000000000" pitchFamily="2" charset="-78"/>
              </a:rPr>
              <a:t>:</a:t>
            </a:r>
            <a:endParaRPr sz="2400">
              <a:cs typeface="Titr" panose="00000700000000000000" pitchFamily="2" charset="-78"/>
            </a:endParaRPr>
          </a:p>
          <a:p>
            <a:pPr algn="l"/>
            <a:r>
              <a:rPr sz="2400">
                <a:cs typeface="Titr" panose="00000700000000000000" pitchFamily="2" charset="-78"/>
              </a:rPr>
              <a:t>   - Med-PaLM (پزشکی), Code LLaMA (کدنویسی), BloombergGPT (مالی)</a:t>
            </a:r>
          </a:p>
          <a:p>
            <a:pPr algn="r" rtl="1"/>
            <a:endParaRPr sz="2400">
              <a:cs typeface="Titr" panose="00000700000000000000" pitchFamily="2" charset="-78"/>
            </a:endParaRPr>
          </a:p>
          <a:p>
            <a:pPr algn="r" rtl="1"/>
            <a:r>
              <a:rPr lang="fa-IR" sz="2400">
                <a:cs typeface="Titr" panose="00000700000000000000" pitchFamily="2" charset="-78"/>
              </a:rPr>
              <a:t>۴. </a:t>
            </a:r>
            <a:r>
              <a:rPr sz="2400">
                <a:cs typeface="Titr" panose="00000700000000000000" pitchFamily="2" charset="-78"/>
              </a:rPr>
              <a:t> مدل‌های چندزبانه</a:t>
            </a:r>
            <a:r>
              <a:rPr lang="fa-IR" sz="2400">
                <a:cs typeface="Titr" panose="00000700000000000000" pitchFamily="2" charset="-78"/>
              </a:rPr>
              <a:t>:</a:t>
            </a:r>
            <a:endParaRPr sz="2400">
              <a:cs typeface="Titr" panose="00000700000000000000" pitchFamily="2" charset="-78"/>
            </a:endParaRPr>
          </a:p>
          <a:p>
            <a:pPr algn="l"/>
            <a:r>
              <a:rPr sz="2400">
                <a:cs typeface="Titr" panose="00000700000000000000" pitchFamily="2" charset="-78"/>
              </a:rPr>
              <a:t>   - SeamlessM4T, XGLM, mT5, Persian-GPT</a:t>
            </a:r>
          </a:p>
          <a:p>
            <a:pPr algn="r" rtl="1"/>
            <a:endParaRPr lang="en-US" sz="2400">
              <a:cs typeface="Titr" panose="00000700000000000000" pitchFamily="2" charset="-78"/>
            </a:endParaRPr>
          </a:p>
          <a:p>
            <a:pPr algn="r" rtl="1"/>
            <a:r>
              <a:rPr sz="2400">
                <a:cs typeface="Titr" panose="00000700000000000000" pitchFamily="2" charset="-78"/>
              </a:rPr>
              <a:t>هر مدل برای کاربرد خاصی بهینه شده؛ انتخاب درست = عملکرد بهتر!</a:t>
            </a:r>
          </a:p>
          <a:p>
            <a:pPr algn="r" rtl="1"/>
            <a:endParaRPr sz="2400">
              <a:cs typeface="Titr" panose="00000700000000000000" pitchFamily="2" charset="-78"/>
            </a:endParaRPr>
          </a:p>
        </p:txBody>
      </p:sp>
      <p:sp>
        <p:nvSpPr>
          <p:cNvPr id="2" name="TextBox 1">
            <a:extLst>
              <a:ext uri="{FF2B5EF4-FFF2-40B4-BE49-F238E27FC236}">
                <a16:creationId xmlns:a16="http://schemas.microsoft.com/office/drawing/2014/main" id="{F1831919-55CE-96A2-A7FA-E31D3A31BE36}"/>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13</a:t>
            </a:r>
            <a:endParaRPr lang="fa-IR" sz="12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9805" y="876563"/>
            <a:ext cx="9004388" cy="584775"/>
          </a:xfrm>
          <a:prstGeom prst="rect">
            <a:avLst/>
          </a:prstGeom>
          <a:noFill/>
        </p:spPr>
        <p:txBody>
          <a:bodyPr wrap="none">
            <a:spAutoFit/>
          </a:bodyPr>
          <a:lstStyle/>
          <a:p>
            <a:pPr algn="r" rtl="1">
              <a:defRPr sz="2800" b="1"/>
            </a:pPr>
            <a:r>
              <a:rPr sz="3200">
                <a:cs typeface="Nazanin" panose="00000400000000000000" pitchFamily="2" charset="-78"/>
              </a:rPr>
              <a:t>نکات جالب درباره‌ی بنچمارک‌ها و مدل‌های زبانی بزرگ (LLMs)</a:t>
            </a:r>
          </a:p>
        </p:txBody>
      </p:sp>
      <p:sp>
        <p:nvSpPr>
          <p:cNvPr id="4" name="TextBox 3"/>
          <p:cNvSpPr txBox="1"/>
          <p:nvPr/>
        </p:nvSpPr>
        <p:spPr>
          <a:xfrm>
            <a:off x="137099" y="1601746"/>
            <a:ext cx="8869800" cy="4893647"/>
          </a:xfrm>
          <a:prstGeom prst="rect">
            <a:avLst/>
          </a:prstGeom>
          <a:noFill/>
        </p:spPr>
        <p:txBody>
          <a:bodyPr wrap="none">
            <a:spAutoFit/>
          </a:bodyPr>
          <a:lstStyle/>
          <a:p>
            <a:pPr algn="r" rtl="1">
              <a:defRPr sz="1800"/>
            </a:pPr>
            <a:endParaRPr sz="2400" b="1">
              <a:cs typeface="Nazanin" panose="00000400000000000000" pitchFamily="2" charset="-78"/>
            </a:endParaRPr>
          </a:p>
          <a:p>
            <a:pPr algn="r" rtl="1"/>
            <a:r>
              <a:rPr sz="2400" b="1">
                <a:cs typeface="Nazanin" panose="00000400000000000000" pitchFamily="2" charset="-78"/>
              </a:rPr>
              <a:t>🔎 بنچمارک‌ها:</a:t>
            </a:r>
          </a:p>
          <a:p>
            <a:pPr marL="342900" indent="-342900" algn="r" rtl="1">
              <a:buFont typeface="Wingdings" panose="05000000000000000000" pitchFamily="2" charset="2"/>
              <a:buChar char="ü"/>
            </a:pPr>
            <a:r>
              <a:rPr sz="2400" b="1">
                <a:cs typeface="Nazanin" panose="00000400000000000000" pitchFamily="2" charset="-78"/>
              </a:rPr>
              <a:t> SWE-Bench شامل باگ‌های واقعی از GitHub </a:t>
            </a:r>
            <a:r>
              <a:rPr lang="fa-IR" sz="2400" b="1">
                <a:cs typeface="Nazanin" panose="00000400000000000000" pitchFamily="2" charset="-78"/>
              </a:rPr>
              <a:t> </a:t>
            </a:r>
            <a:r>
              <a:rPr sz="2400" b="1">
                <a:cs typeface="Nazanin" panose="00000400000000000000" pitchFamily="2" charset="-78"/>
              </a:rPr>
              <a:t>است، نه سوالات آموزشی ساده!</a:t>
            </a:r>
          </a:p>
          <a:p>
            <a:pPr marL="342900" indent="-342900" algn="r" rtl="1">
              <a:buFont typeface="Wingdings" panose="05000000000000000000" pitchFamily="2" charset="2"/>
              <a:buChar char="ü"/>
            </a:pPr>
            <a:r>
              <a:rPr sz="2400" b="1">
                <a:cs typeface="Nazanin" panose="00000400000000000000" pitchFamily="2" charset="-78"/>
              </a:rPr>
              <a:t> TruthfulQA مثل دروغ‌سنج است، برای سنجش صداقت مدل.</a:t>
            </a:r>
          </a:p>
          <a:p>
            <a:pPr marL="342900" indent="-342900" algn="r" rtl="1">
              <a:buFont typeface="Wingdings" panose="05000000000000000000" pitchFamily="2" charset="2"/>
              <a:buChar char="ü"/>
            </a:pPr>
            <a:r>
              <a:rPr sz="2400" b="1">
                <a:cs typeface="Nazanin" panose="00000400000000000000" pitchFamily="2" charset="-78"/>
              </a:rPr>
              <a:t> GSM8K توانایی حل مسائل ریاضی مرحله‌به‌مرحله را می‌سنجد.</a:t>
            </a:r>
          </a:p>
          <a:p>
            <a:pPr marL="342900" indent="-342900" algn="r" rtl="1">
              <a:buFont typeface="Wingdings" panose="05000000000000000000" pitchFamily="2" charset="2"/>
              <a:buChar char="ü"/>
            </a:pPr>
            <a:r>
              <a:rPr sz="2400" b="1">
                <a:cs typeface="Nazanin" panose="00000400000000000000" pitchFamily="2" charset="-78"/>
              </a:rPr>
              <a:t> MMLU شامل سوالات سخت از رشته‌های تخصصی مانند پزشکی و حقوق است.</a:t>
            </a:r>
          </a:p>
          <a:p>
            <a:pPr algn="r" rtl="1"/>
            <a:endParaRPr sz="2400" b="1">
              <a:cs typeface="Nazanin" panose="00000400000000000000" pitchFamily="2" charset="-78"/>
            </a:endParaRPr>
          </a:p>
          <a:p>
            <a:pPr algn="r" rtl="1"/>
            <a:r>
              <a:rPr sz="2400" b="1">
                <a:cs typeface="Nazanin" panose="00000400000000000000" pitchFamily="2" charset="-78"/>
              </a:rPr>
              <a:t>🤖 مدل‌ها:</a:t>
            </a:r>
          </a:p>
          <a:p>
            <a:pPr marL="342900" indent="-342900" algn="r" rtl="1">
              <a:buFont typeface="Wingdings" panose="05000000000000000000" pitchFamily="2" charset="2"/>
              <a:buChar char="ü"/>
            </a:pPr>
            <a:r>
              <a:rPr sz="2400" b="1">
                <a:cs typeface="Nazanin" panose="00000400000000000000" pitchFamily="2" charset="-78"/>
              </a:rPr>
              <a:t> Claude 3.5 در برخی تست‌ها از GPT-4 </a:t>
            </a:r>
            <a:r>
              <a:rPr lang="fa-IR" sz="2400" b="1">
                <a:cs typeface="Nazanin" panose="00000400000000000000" pitchFamily="2" charset="-78"/>
              </a:rPr>
              <a:t> </a:t>
            </a:r>
            <a:r>
              <a:rPr sz="2400" b="1">
                <a:cs typeface="Nazanin" panose="00000400000000000000" pitchFamily="2" charset="-78"/>
              </a:rPr>
              <a:t>بهتر است، ولی در کدنویسی نه!</a:t>
            </a:r>
          </a:p>
          <a:p>
            <a:pPr marL="342900" indent="-342900" algn="r" rtl="1">
              <a:buFont typeface="Wingdings" panose="05000000000000000000" pitchFamily="2" charset="2"/>
              <a:buChar char="ü"/>
            </a:pPr>
            <a:r>
              <a:rPr sz="2400" b="1">
                <a:cs typeface="Nazanin" panose="00000400000000000000" pitchFamily="2" charset="-78"/>
              </a:rPr>
              <a:t> مدل‌های متن‌باز مانند LLaMA 3 </a:t>
            </a:r>
            <a:r>
              <a:rPr lang="fa-IR" sz="2400" b="1">
                <a:cs typeface="Nazanin" panose="00000400000000000000" pitchFamily="2" charset="-78"/>
              </a:rPr>
              <a:t> </a:t>
            </a:r>
            <a:r>
              <a:rPr sz="2400" b="1">
                <a:cs typeface="Nazanin" panose="00000400000000000000" pitchFamily="2" charset="-78"/>
              </a:rPr>
              <a:t>و Mistral </a:t>
            </a:r>
            <a:r>
              <a:rPr lang="fa-IR" sz="2400" b="1">
                <a:cs typeface="Nazanin" panose="00000400000000000000" pitchFamily="2" charset="-78"/>
              </a:rPr>
              <a:t> </a:t>
            </a:r>
            <a:r>
              <a:rPr sz="2400" b="1">
                <a:cs typeface="Nazanin" panose="00000400000000000000" pitchFamily="2" charset="-78"/>
              </a:rPr>
              <a:t>بسیار قدرتمند و رایگان هستند.</a:t>
            </a:r>
          </a:p>
          <a:p>
            <a:pPr marL="342900" indent="-342900" algn="r" rtl="1">
              <a:buFont typeface="Wingdings" panose="05000000000000000000" pitchFamily="2" charset="2"/>
              <a:buChar char="ü"/>
            </a:pPr>
            <a:r>
              <a:rPr sz="2400" b="1">
                <a:cs typeface="Nazanin" panose="00000400000000000000" pitchFamily="2" charset="-78"/>
              </a:rPr>
              <a:t> Med-PaLM در پزشکی از GPT </a:t>
            </a:r>
            <a:r>
              <a:rPr lang="fa-IR" sz="2400" b="1">
                <a:cs typeface="Nazanin" panose="00000400000000000000" pitchFamily="2" charset="-78"/>
              </a:rPr>
              <a:t> </a:t>
            </a:r>
            <a:r>
              <a:rPr sz="2400" b="1">
                <a:cs typeface="Nazanin" panose="00000400000000000000" pitchFamily="2" charset="-78"/>
              </a:rPr>
              <a:t>بهتر عمل می‌کند.</a:t>
            </a:r>
          </a:p>
          <a:p>
            <a:pPr marL="342900" indent="-342900" algn="r" rtl="1">
              <a:buFont typeface="Wingdings" panose="05000000000000000000" pitchFamily="2" charset="2"/>
              <a:buChar char="ü"/>
            </a:pPr>
            <a:r>
              <a:rPr sz="2400" b="1">
                <a:cs typeface="Nazanin" panose="00000400000000000000" pitchFamily="2" charset="-78"/>
              </a:rPr>
              <a:t> مدل‌های چندزبانه هنوز جای پیشرفت دارند، مخصوصاً در زبان‌هایی مثل فارسی.</a:t>
            </a:r>
          </a:p>
          <a:p>
            <a:pPr algn="r" rtl="1"/>
            <a:endParaRPr sz="2400" b="1">
              <a:cs typeface="Nazanin" panose="00000400000000000000" pitchFamily="2" charset="-78"/>
            </a:endParaRPr>
          </a:p>
        </p:txBody>
      </p:sp>
      <p:sp>
        <p:nvSpPr>
          <p:cNvPr id="2" name="TextBox 1">
            <a:extLst>
              <a:ext uri="{FF2B5EF4-FFF2-40B4-BE49-F238E27FC236}">
                <a16:creationId xmlns:a16="http://schemas.microsoft.com/office/drawing/2014/main" id="{3FA6BA22-21BF-2E31-449F-9DB81E9D7927}"/>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14</a:t>
            </a:r>
            <a:endParaRPr lang="fa-IR" sz="12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a:extLst>
              <a:ext uri="{FF2B5EF4-FFF2-40B4-BE49-F238E27FC236}">
                <a16:creationId xmlns:a16="http://schemas.microsoft.com/office/drawing/2014/main" id="{45A4B6BD-8329-4262-9BFF-C39A91D60C83}"/>
              </a:ext>
            </a:extLst>
          </p:cNvPr>
          <p:cNvSpPr txBox="1"/>
          <p:nvPr/>
        </p:nvSpPr>
        <p:spPr>
          <a:xfrm>
            <a:off x="2284177" y="1463982"/>
            <a:ext cx="5779607" cy="323165"/>
          </a:xfrm>
          <a:prstGeom prst="rect">
            <a:avLst/>
          </a:prstGeom>
          <a:noFill/>
        </p:spPr>
        <p:txBody>
          <a:bodyPr wrap="square">
            <a:spAutoFit/>
          </a:bodyPr>
          <a:lstStyle/>
          <a:p>
            <a:pPr algn="ctr" rtl="1"/>
            <a:r>
              <a:rPr lang="fa-IR" sz="1500" b="1" dirty="0">
                <a:cs typeface="2  Titr" panose="00000700000000000000" pitchFamily="2" charset="-78"/>
              </a:rPr>
              <a:t>در صفحه اصلی </a:t>
            </a:r>
            <a:r>
              <a:rPr lang="en-US" sz="1500" b="1" dirty="0">
                <a:cs typeface="2  Titr" panose="00000700000000000000" pitchFamily="2" charset="-78"/>
              </a:rPr>
              <a:t> OpenAI </a:t>
            </a:r>
            <a:r>
              <a:rPr lang="fa-IR" sz="1500" b="1" dirty="0">
                <a:cs typeface="2  Titr" panose="00000700000000000000" pitchFamily="2" charset="-78"/>
              </a:rPr>
              <a:t>یک حساب ایجاد کنید: </a:t>
            </a:r>
            <a:r>
              <a:rPr lang="en-US" sz="1500" b="1" dirty="0">
                <a:cs typeface="2  Titr" panose="00000700000000000000" pitchFamily="2" charset="-78"/>
              </a:rPr>
              <a:t>https://openai.com</a:t>
            </a:r>
          </a:p>
        </p:txBody>
      </p:sp>
      <p:pic>
        <p:nvPicPr>
          <p:cNvPr id="12" name="Picture 11">
            <a:extLst>
              <a:ext uri="{FF2B5EF4-FFF2-40B4-BE49-F238E27FC236}">
                <a16:creationId xmlns:a16="http://schemas.microsoft.com/office/drawing/2014/main" id="{F5AA8F8A-11A9-4663-BDE8-BF39430E3F78}"/>
              </a:ext>
            </a:extLst>
          </p:cNvPr>
          <p:cNvPicPr>
            <a:picLocks noChangeAspect="1"/>
          </p:cNvPicPr>
          <p:nvPr/>
        </p:nvPicPr>
        <p:blipFill>
          <a:blip r:embed="rId3"/>
          <a:stretch>
            <a:fillRect/>
          </a:stretch>
        </p:blipFill>
        <p:spPr>
          <a:xfrm>
            <a:off x="3451104" y="2130668"/>
            <a:ext cx="5585322" cy="2153440"/>
          </a:xfrm>
          <a:prstGeom prst="rect">
            <a:avLst/>
          </a:prstGeom>
        </p:spPr>
      </p:pic>
      <p:pic>
        <p:nvPicPr>
          <p:cNvPr id="14" name="Picture 13">
            <a:extLst>
              <a:ext uri="{FF2B5EF4-FFF2-40B4-BE49-F238E27FC236}">
                <a16:creationId xmlns:a16="http://schemas.microsoft.com/office/drawing/2014/main" id="{FB7ED0B8-8EF4-40FF-934D-740F03257600}"/>
              </a:ext>
            </a:extLst>
          </p:cNvPr>
          <p:cNvPicPr>
            <a:picLocks noChangeAspect="1"/>
          </p:cNvPicPr>
          <p:nvPr/>
        </p:nvPicPr>
        <p:blipFill>
          <a:blip r:embed="rId4"/>
          <a:stretch>
            <a:fillRect/>
          </a:stretch>
        </p:blipFill>
        <p:spPr>
          <a:xfrm>
            <a:off x="4079879" y="4794549"/>
            <a:ext cx="4303017" cy="1223347"/>
          </a:xfrm>
          <a:prstGeom prst="rect">
            <a:avLst/>
          </a:prstGeom>
        </p:spPr>
      </p:pic>
      <p:sp>
        <p:nvSpPr>
          <p:cNvPr id="15" name="TextBox 14">
            <a:extLst>
              <a:ext uri="{FF2B5EF4-FFF2-40B4-BE49-F238E27FC236}">
                <a16:creationId xmlns:a16="http://schemas.microsoft.com/office/drawing/2014/main" id="{6FF1711E-284C-4807-B7E6-08EF828F11AD}"/>
              </a:ext>
            </a:extLst>
          </p:cNvPr>
          <p:cNvSpPr txBox="1"/>
          <p:nvPr/>
        </p:nvSpPr>
        <p:spPr>
          <a:xfrm>
            <a:off x="565001" y="2130668"/>
            <a:ext cx="2100948" cy="41549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2100" b="1" dirty="0"/>
              <a:t>numberland.ir</a:t>
            </a:r>
          </a:p>
        </p:txBody>
      </p:sp>
      <p:sp>
        <p:nvSpPr>
          <p:cNvPr id="16" name="Title 1">
            <a:extLst>
              <a:ext uri="{FF2B5EF4-FFF2-40B4-BE49-F238E27FC236}">
                <a16:creationId xmlns:a16="http://schemas.microsoft.com/office/drawing/2014/main" id="{86D4CE23-17C7-46AA-B09E-531F2F8FCFFA}"/>
              </a:ext>
            </a:extLst>
          </p:cNvPr>
          <p:cNvSpPr txBox="1">
            <a:spLocks/>
          </p:cNvSpPr>
          <p:nvPr/>
        </p:nvSpPr>
        <p:spPr>
          <a:xfrm>
            <a:off x="4321062" y="134569"/>
            <a:ext cx="4715364" cy="670799"/>
          </a:xfrm>
          <a:prstGeom prst="rect">
            <a:avLst/>
          </a:prstGeom>
          <a:effectLst/>
        </p:spPr>
        <p:txBody>
          <a:bodyPr vert="horz" lIns="68580" tIns="34290" rIns="68580" bIns="34290" rtlCol="0" anchor="b">
            <a:normAutofit/>
          </a:bodyPr>
          <a:lstStyle>
            <a:lvl1pPr algn="r" defTabSz="457200" rtl="0" eaLnBrk="1" latinLnBrk="0" hangingPunct="1">
              <a:spcBef>
                <a:spcPct val="0"/>
              </a:spcBef>
              <a:buNone/>
              <a:defRPr sz="48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rtl="1"/>
            <a:r>
              <a:rPr lang="fa-IR" sz="2700">
                <a:latin typeface="Google Sans"/>
                <a:cs typeface="2  Titr" panose="00000700000000000000" pitchFamily="2" charset="-78"/>
              </a:rPr>
              <a:t>تلفن مجازی برای ایجاد حساب </a:t>
            </a:r>
            <a:endParaRPr lang="fa-IR" sz="2700" b="1" dirty="0">
              <a:latin typeface="Google Sans"/>
              <a:cs typeface="2  Titr" panose="00000700000000000000" pitchFamily="2" charset="-78"/>
            </a:endParaRPr>
          </a:p>
        </p:txBody>
      </p:sp>
      <p:sp>
        <p:nvSpPr>
          <p:cNvPr id="7" name="Title 1">
            <a:extLst>
              <a:ext uri="{FF2B5EF4-FFF2-40B4-BE49-F238E27FC236}">
                <a16:creationId xmlns:a16="http://schemas.microsoft.com/office/drawing/2014/main" id="{B07C4892-F8E9-44F6-BC8B-63BCEB31F212}"/>
              </a:ext>
            </a:extLst>
          </p:cNvPr>
          <p:cNvSpPr txBox="1">
            <a:spLocks/>
          </p:cNvSpPr>
          <p:nvPr/>
        </p:nvSpPr>
        <p:spPr>
          <a:xfrm>
            <a:off x="1053732" y="753999"/>
            <a:ext cx="7429499" cy="670799"/>
          </a:xfrm>
          <a:prstGeom prst="rect">
            <a:avLst/>
          </a:prstGeom>
        </p:spPr>
        <p:txBody>
          <a:bodyPr vert="horz" lIns="68580" tIns="34290" rIns="68580" bIns="34290" rtlCol="0" anchor="b">
            <a:normAutofit/>
          </a:bodyPr>
          <a:lstStyle>
            <a:lvl1pPr algn="l" defTabSz="914400" rtl="0" eaLnBrk="1" latinLnBrk="0" hangingPunct="1">
              <a:lnSpc>
                <a:spcPct val="90000"/>
              </a:lnSpc>
              <a:spcBef>
                <a:spcPct val="0"/>
              </a:spcBef>
              <a:buNone/>
              <a:defRPr sz="6000" kern="1200" cap="all" baseline="0">
                <a:solidFill>
                  <a:schemeClr val="tx1"/>
                </a:solidFill>
                <a:latin typeface="+mj-lt"/>
                <a:ea typeface="+mj-ea"/>
                <a:cs typeface="+mj-cs"/>
              </a:defRPr>
            </a:lvl1pPr>
          </a:lstStyle>
          <a:p>
            <a:pPr algn="r" rtl="1"/>
            <a:r>
              <a:rPr lang="fa-IR" sz="3200">
                <a:latin typeface="Google Sans"/>
                <a:cs typeface="2  Titr" panose="00000700000000000000" pitchFamily="2" charset="-78"/>
              </a:rPr>
              <a:t>ابزارهای هوش مصنوعی در گوشی یا لپ‌تاپ</a:t>
            </a:r>
            <a:endParaRPr lang="fa-IR" sz="3200" dirty="0">
              <a:latin typeface="Google Sans"/>
              <a:cs typeface="2  Titr" panose="00000700000000000000" pitchFamily="2" charset="-78"/>
            </a:endParaRPr>
          </a:p>
        </p:txBody>
      </p:sp>
      <p:sp>
        <p:nvSpPr>
          <p:cNvPr id="2" name="TextBox 1">
            <a:extLst>
              <a:ext uri="{FF2B5EF4-FFF2-40B4-BE49-F238E27FC236}">
                <a16:creationId xmlns:a16="http://schemas.microsoft.com/office/drawing/2014/main" id="{22585985-5829-1BAB-07A5-E43508F35CA0}"/>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15</a:t>
            </a:r>
            <a:endParaRPr lang="fa-IR" sz="1200"/>
          </a:p>
        </p:txBody>
      </p:sp>
    </p:spTree>
    <p:extLst>
      <p:ext uri="{BB962C8B-B14F-4D97-AF65-F5344CB8AC3E}">
        <p14:creationId xmlns:p14="http://schemas.microsoft.com/office/powerpoint/2010/main" val="6651569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87930AE-85FB-4D48-8CBD-F5FAF3A71EBD}"/>
              </a:ext>
            </a:extLst>
          </p:cNvPr>
          <p:cNvPicPr>
            <a:picLocks noChangeAspect="1"/>
          </p:cNvPicPr>
          <p:nvPr/>
        </p:nvPicPr>
        <p:blipFill>
          <a:blip r:embed="rId2"/>
          <a:stretch>
            <a:fillRect/>
          </a:stretch>
        </p:blipFill>
        <p:spPr>
          <a:xfrm>
            <a:off x="828967" y="1736688"/>
            <a:ext cx="3260134" cy="4134971"/>
          </a:xfrm>
          <a:prstGeom prst="rect">
            <a:avLst/>
          </a:prstGeom>
        </p:spPr>
      </p:pic>
      <p:pic>
        <p:nvPicPr>
          <p:cNvPr id="5" name="Picture 4">
            <a:extLst>
              <a:ext uri="{FF2B5EF4-FFF2-40B4-BE49-F238E27FC236}">
                <a16:creationId xmlns:a16="http://schemas.microsoft.com/office/drawing/2014/main" id="{82B6A07C-33CA-4482-AD91-95EDC1E790D5}"/>
              </a:ext>
            </a:extLst>
          </p:cNvPr>
          <p:cNvPicPr>
            <a:picLocks noChangeAspect="1"/>
          </p:cNvPicPr>
          <p:nvPr/>
        </p:nvPicPr>
        <p:blipFill>
          <a:blip r:embed="rId3"/>
          <a:stretch>
            <a:fillRect/>
          </a:stretch>
        </p:blipFill>
        <p:spPr>
          <a:xfrm>
            <a:off x="4636546" y="1736688"/>
            <a:ext cx="3705837" cy="4168053"/>
          </a:xfrm>
          <a:prstGeom prst="rect">
            <a:avLst/>
          </a:prstGeom>
        </p:spPr>
      </p:pic>
      <p:sp>
        <p:nvSpPr>
          <p:cNvPr id="2" name="Title 1">
            <a:extLst>
              <a:ext uri="{FF2B5EF4-FFF2-40B4-BE49-F238E27FC236}">
                <a16:creationId xmlns:a16="http://schemas.microsoft.com/office/drawing/2014/main" id="{E2B1AD28-6CAF-5C6F-7204-01C680D97E4D}"/>
              </a:ext>
            </a:extLst>
          </p:cNvPr>
          <p:cNvSpPr txBox="1">
            <a:spLocks/>
          </p:cNvSpPr>
          <p:nvPr/>
        </p:nvSpPr>
        <p:spPr>
          <a:xfrm>
            <a:off x="1053732" y="92456"/>
            <a:ext cx="7429499" cy="670799"/>
          </a:xfrm>
          <a:prstGeom prst="rect">
            <a:avLst/>
          </a:prstGeom>
        </p:spPr>
        <p:txBody>
          <a:bodyPr vert="horz" lIns="68580" tIns="34290" rIns="68580" bIns="34290" rtlCol="0" anchor="b">
            <a:normAutofit/>
          </a:bodyPr>
          <a:lstStyle>
            <a:lvl1pPr algn="l" defTabSz="914400" rtl="0" eaLnBrk="1" latinLnBrk="0" hangingPunct="1">
              <a:lnSpc>
                <a:spcPct val="90000"/>
              </a:lnSpc>
              <a:spcBef>
                <a:spcPct val="0"/>
              </a:spcBef>
              <a:buNone/>
              <a:defRPr sz="6000" kern="1200" cap="all" baseline="0">
                <a:solidFill>
                  <a:schemeClr val="tx1"/>
                </a:solidFill>
                <a:latin typeface="+mj-lt"/>
                <a:ea typeface="+mj-ea"/>
                <a:cs typeface="+mj-cs"/>
              </a:defRPr>
            </a:lvl1pPr>
          </a:lstStyle>
          <a:p>
            <a:pPr algn="r" rtl="1"/>
            <a:r>
              <a:rPr lang="fa-IR" sz="3200">
                <a:latin typeface="Google Sans"/>
                <a:cs typeface="2  Titr" panose="00000700000000000000" pitchFamily="2" charset="-78"/>
              </a:rPr>
              <a:t>ما ربات نیستیم!</a:t>
            </a:r>
            <a:endParaRPr lang="fa-IR" sz="3200" dirty="0">
              <a:latin typeface="Google Sans"/>
              <a:cs typeface="2  Titr" panose="00000700000000000000" pitchFamily="2" charset="-78"/>
            </a:endParaRPr>
          </a:p>
        </p:txBody>
      </p:sp>
      <p:sp>
        <p:nvSpPr>
          <p:cNvPr id="3" name="TextBox 2">
            <a:extLst>
              <a:ext uri="{FF2B5EF4-FFF2-40B4-BE49-F238E27FC236}">
                <a16:creationId xmlns:a16="http://schemas.microsoft.com/office/drawing/2014/main" id="{3EB7AB63-9A18-9CA8-3B70-44B6D8514A16}"/>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16</a:t>
            </a:r>
            <a:endParaRPr lang="fa-IR" sz="1200"/>
          </a:p>
        </p:txBody>
      </p:sp>
    </p:spTree>
    <p:extLst>
      <p:ext uri="{BB962C8B-B14F-4D97-AF65-F5344CB8AC3E}">
        <p14:creationId xmlns:p14="http://schemas.microsoft.com/office/powerpoint/2010/main" val="26988231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8BBE3-2BA6-1597-BCD6-89918B5DF46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7696225-9E4F-C8A1-F753-0832569B00B2}"/>
              </a:ext>
            </a:extLst>
          </p:cNvPr>
          <p:cNvPicPr>
            <a:picLocks noChangeAspect="1"/>
          </p:cNvPicPr>
          <p:nvPr/>
        </p:nvPicPr>
        <p:blipFill>
          <a:blip r:embed="rId2"/>
          <a:stretch>
            <a:fillRect/>
          </a:stretch>
        </p:blipFill>
        <p:spPr>
          <a:xfrm>
            <a:off x="130899" y="0"/>
            <a:ext cx="3314700" cy="3479006"/>
          </a:xfrm>
          <a:prstGeom prst="rect">
            <a:avLst/>
          </a:prstGeom>
        </p:spPr>
      </p:pic>
      <p:sp>
        <p:nvSpPr>
          <p:cNvPr id="5" name="TextBox 4">
            <a:extLst>
              <a:ext uri="{FF2B5EF4-FFF2-40B4-BE49-F238E27FC236}">
                <a16:creationId xmlns:a16="http://schemas.microsoft.com/office/drawing/2014/main" id="{C0DAFD5A-9E58-1EA7-48F1-6902C63FF398}"/>
              </a:ext>
            </a:extLst>
          </p:cNvPr>
          <p:cNvSpPr txBox="1"/>
          <p:nvPr/>
        </p:nvSpPr>
        <p:spPr>
          <a:xfrm>
            <a:off x="4080342" y="930846"/>
            <a:ext cx="4573680" cy="646331"/>
          </a:xfrm>
          <a:prstGeom prst="rect">
            <a:avLst/>
          </a:prstGeom>
          <a:noFill/>
        </p:spPr>
        <p:txBody>
          <a:bodyPr wrap="square">
            <a:spAutoFit/>
          </a:bodyPr>
          <a:lstStyle/>
          <a:p>
            <a:r>
              <a:rPr lang="fa-IR" sz="3600"/>
              <a:t>https://neapay.com/</a:t>
            </a:r>
          </a:p>
        </p:txBody>
      </p:sp>
      <p:pic>
        <p:nvPicPr>
          <p:cNvPr id="7" name="Picture 6">
            <a:extLst>
              <a:ext uri="{FF2B5EF4-FFF2-40B4-BE49-F238E27FC236}">
                <a16:creationId xmlns:a16="http://schemas.microsoft.com/office/drawing/2014/main" id="{FB01D6CE-078A-B14E-9D1F-31A30F604A47}"/>
              </a:ext>
            </a:extLst>
          </p:cNvPr>
          <p:cNvPicPr>
            <a:picLocks noChangeAspect="1"/>
          </p:cNvPicPr>
          <p:nvPr/>
        </p:nvPicPr>
        <p:blipFill>
          <a:blip r:embed="rId3"/>
          <a:stretch>
            <a:fillRect/>
          </a:stretch>
        </p:blipFill>
        <p:spPr>
          <a:xfrm>
            <a:off x="1053732" y="2793206"/>
            <a:ext cx="2107406" cy="4064794"/>
          </a:xfrm>
          <a:prstGeom prst="rect">
            <a:avLst/>
          </a:prstGeom>
        </p:spPr>
      </p:pic>
      <p:pic>
        <p:nvPicPr>
          <p:cNvPr id="9" name="Picture 8">
            <a:extLst>
              <a:ext uri="{FF2B5EF4-FFF2-40B4-BE49-F238E27FC236}">
                <a16:creationId xmlns:a16="http://schemas.microsoft.com/office/drawing/2014/main" id="{35528D53-A8C0-BFBB-93A0-4DB26F3C16A5}"/>
              </a:ext>
            </a:extLst>
          </p:cNvPr>
          <p:cNvPicPr>
            <a:picLocks noChangeAspect="1"/>
          </p:cNvPicPr>
          <p:nvPr/>
        </p:nvPicPr>
        <p:blipFill>
          <a:blip r:embed="rId4"/>
          <a:stretch>
            <a:fillRect/>
          </a:stretch>
        </p:blipFill>
        <p:spPr>
          <a:xfrm>
            <a:off x="3366684" y="1906397"/>
            <a:ext cx="5572125" cy="2235994"/>
          </a:xfrm>
          <a:prstGeom prst="rect">
            <a:avLst/>
          </a:prstGeom>
        </p:spPr>
      </p:pic>
      <p:pic>
        <p:nvPicPr>
          <p:cNvPr id="13" name="Picture 12">
            <a:extLst>
              <a:ext uri="{FF2B5EF4-FFF2-40B4-BE49-F238E27FC236}">
                <a16:creationId xmlns:a16="http://schemas.microsoft.com/office/drawing/2014/main" id="{2140C35B-9176-9D76-538C-03F8DBE246EE}"/>
              </a:ext>
            </a:extLst>
          </p:cNvPr>
          <p:cNvPicPr>
            <a:picLocks noChangeAspect="1"/>
          </p:cNvPicPr>
          <p:nvPr/>
        </p:nvPicPr>
        <p:blipFill>
          <a:blip r:embed="rId5"/>
          <a:stretch>
            <a:fillRect/>
          </a:stretch>
        </p:blipFill>
        <p:spPr>
          <a:xfrm>
            <a:off x="5088328" y="4471611"/>
            <a:ext cx="3850481" cy="1943100"/>
          </a:xfrm>
          <a:prstGeom prst="rect">
            <a:avLst/>
          </a:prstGeom>
        </p:spPr>
      </p:pic>
      <p:sp>
        <p:nvSpPr>
          <p:cNvPr id="2" name="Title 1">
            <a:extLst>
              <a:ext uri="{FF2B5EF4-FFF2-40B4-BE49-F238E27FC236}">
                <a16:creationId xmlns:a16="http://schemas.microsoft.com/office/drawing/2014/main" id="{E2CFE0ED-3BA8-8CF2-724F-83F85F8CBA21}"/>
              </a:ext>
            </a:extLst>
          </p:cNvPr>
          <p:cNvSpPr txBox="1">
            <a:spLocks/>
          </p:cNvSpPr>
          <p:nvPr/>
        </p:nvSpPr>
        <p:spPr>
          <a:xfrm>
            <a:off x="1053732" y="92456"/>
            <a:ext cx="7429499" cy="670799"/>
          </a:xfrm>
          <a:prstGeom prst="rect">
            <a:avLst/>
          </a:prstGeom>
        </p:spPr>
        <p:txBody>
          <a:bodyPr vert="horz" lIns="68580" tIns="34290" rIns="68580" bIns="34290" rtlCol="0" anchor="b">
            <a:normAutofit/>
          </a:bodyPr>
          <a:lstStyle>
            <a:lvl1pPr algn="l" defTabSz="914400" rtl="0" eaLnBrk="1" latinLnBrk="0" hangingPunct="1">
              <a:lnSpc>
                <a:spcPct val="90000"/>
              </a:lnSpc>
              <a:spcBef>
                <a:spcPct val="0"/>
              </a:spcBef>
              <a:buNone/>
              <a:defRPr sz="6000" kern="1200" cap="all" baseline="0">
                <a:solidFill>
                  <a:schemeClr val="tx1"/>
                </a:solidFill>
                <a:latin typeface="+mj-lt"/>
                <a:ea typeface="+mj-ea"/>
                <a:cs typeface="+mj-cs"/>
              </a:defRPr>
            </a:lvl1pPr>
          </a:lstStyle>
          <a:p>
            <a:pPr algn="r" rtl="1"/>
            <a:r>
              <a:rPr lang="fa-IR" sz="3200">
                <a:latin typeface="Google Sans"/>
                <a:cs typeface="2  Titr" panose="00000700000000000000" pitchFamily="2" charset="-78"/>
              </a:rPr>
              <a:t>مسترکارت؟!</a:t>
            </a:r>
            <a:endParaRPr lang="fa-IR" sz="3200" dirty="0">
              <a:latin typeface="Google Sans"/>
              <a:cs typeface="2  Titr" panose="00000700000000000000" pitchFamily="2" charset="-78"/>
            </a:endParaRPr>
          </a:p>
        </p:txBody>
      </p:sp>
      <p:sp>
        <p:nvSpPr>
          <p:cNvPr id="4" name="TextBox 3">
            <a:extLst>
              <a:ext uri="{FF2B5EF4-FFF2-40B4-BE49-F238E27FC236}">
                <a16:creationId xmlns:a16="http://schemas.microsoft.com/office/drawing/2014/main" id="{D22FF26C-6A0F-E71E-8313-15673173354F}"/>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17</a:t>
            </a:r>
            <a:endParaRPr lang="fa-IR" sz="1200"/>
          </a:p>
        </p:txBody>
      </p:sp>
    </p:spTree>
    <p:extLst>
      <p:ext uri="{BB962C8B-B14F-4D97-AF65-F5344CB8AC3E}">
        <p14:creationId xmlns:p14="http://schemas.microsoft.com/office/powerpoint/2010/main" val="4206217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8BA3DE7-15FF-A3D0-FB0B-2D3CDB5ED769}"/>
              </a:ext>
            </a:extLst>
          </p:cNvPr>
          <p:cNvPicPr>
            <a:picLocks noChangeAspect="1"/>
          </p:cNvPicPr>
          <p:nvPr/>
        </p:nvPicPr>
        <p:blipFill>
          <a:blip r:embed="rId2"/>
          <a:stretch>
            <a:fillRect/>
          </a:stretch>
        </p:blipFill>
        <p:spPr>
          <a:xfrm>
            <a:off x="0" y="9854"/>
            <a:ext cx="3042745" cy="6761656"/>
          </a:xfrm>
          <a:prstGeom prst="rect">
            <a:avLst/>
          </a:prstGeom>
        </p:spPr>
      </p:pic>
      <p:sp>
        <p:nvSpPr>
          <p:cNvPr id="7" name="TextBox 6">
            <a:extLst>
              <a:ext uri="{FF2B5EF4-FFF2-40B4-BE49-F238E27FC236}">
                <a16:creationId xmlns:a16="http://schemas.microsoft.com/office/drawing/2014/main" id="{18DFEBF5-0AAB-09B8-D86C-A17AC4A53F1C}"/>
              </a:ext>
            </a:extLst>
          </p:cNvPr>
          <p:cNvSpPr txBox="1"/>
          <p:nvPr/>
        </p:nvSpPr>
        <p:spPr>
          <a:xfrm>
            <a:off x="788276" y="-264841"/>
            <a:ext cx="8355724" cy="7417415"/>
          </a:xfrm>
          <a:prstGeom prst="rect">
            <a:avLst/>
          </a:prstGeom>
          <a:noFill/>
        </p:spPr>
        <p:txBody>
          <a:bodyPr wrap="square">
            <a:spAutoFit/>
          </a:bodyPr>
          <a:lstStyle/>
          <a:p>
            <a:pPr algn="r" rtl="1"/>
            <a:endParaRPr lang="fa-IR" sz="1700" noProof="0">
              <a:cs typeface="Nazanin" panose="00000400000000000000" pitchFamily="2" charset="-78"/>
            </a:endParaRPr>
          </a:p>
          <a:p>
            <a:pPr algn="r" rtl="1"/>
            <a:r>
              <a:rPr lang="fa-IR" sz="1700" noProof="0">
                <a:cs typeface="Nazanin" panose="00000400000000000000" pitchFamily="2" charset="-78"/>
              </a:rPr>
              <a:t>1. Brave – مرورگری امن و سریع با قابلیت جلوگیری از تبلیغات.</a:t>
            </a:r>
          </a:p>
          <a:p>
            <a:pPr algn="r" rtl="1"/>
            <a:r>
              <a:rPr lang="fa-IR" sz="1700" noProof="0">
                <a:cs typeface="Nazanin" panose="00000400000000000000" pitchFamily="2" charset="-78"/>
              </a:rPr>
              <a:t>2. Vivaldi – مرورگر قدرتمند با قابلیت سفارشی‌سازی بالا.</a:t>
            </a:r>
          </a:p>
          <a:p>
            <a:pPr algn="r" rtl="1"/>
            <a:r>
              <a:rPr lang="fa-IR" sz="1700" noProof="0">
                <a:cs typeface="Nazanin" panose="00000400000000000000" pitchFamily="2" charset="-78"/>
              </a:rPr>
              <a:t>3. Notion – ابزار قدرتمند برای مدیریت یادداشت‌ها و پروژه‌ها.</a:t>
            </a:r>
          </a:p>
          <a:p>
            <a:pPr algn="r" rtl="1"/>
            <a:r>
              <a:rPr lang="fa-IR" sz="1700" noProof="0">
                <a:cs typeface="Nazanin" panose="00000400000000000000" pitchFamily="2" charset="-78"/>
              </a:rPr>
              <a:t>4. DeepNote – پلتفرمی برای یادداشت‌برداری هوشمند.</a:t>
            </a:r>
          </a:p>
          <a:p>
            <a:pPr algn="r" rtl="1"/>
            <a:r>
              <a:rPr lang="fa-IR" sz="1700" noProof="0">
                <a:cs typeface="Nazanin" panose="00000400000000000000" pitchFamily="2" charset="-78"/>
              </a:rPr>
              <a:t>5. Obsidian – برنامه‌ای برای ذخیره و مدیریت یادداشت‌ها به صورت گرافی.</a:t>
            </a:r>
          </a:p>
          <a:p>
            <a:pPr algn="r" rtl="1"/>
            <a:r>
              <a:rPr lang="fa-IR" sz="1700" noProof="0">
                <a:cs typeface="Nazanin" panose="00000400000000000000" pitchFamily="2" charset="-78"/>
              </a:rPr>
              <a:t>6. Shecan – خدمات DNS برای دور زدن محدودیت‌های اینترنتی.</a:t>
            </a:r>
          </a:p>
          <a:p>
            <a:pPr algn="r" rtl="1"/>
            <a:r>
              <a:rPr lang="fa-IR" sz="1700" noProof="0">
                <a:cs typeface="Nazanin" panose="00000400000000000000" pitchFamily="2" charset="-78"/>
              </a:rPr>
              <a:t>7. ArgoVPN – یک وی‌پی‌ان رایگان برای دسترسی به سایت‌های محدودشده.</a:t>
            </a:r>
          </a:p>
          <a:p>
            <a:pPr algn="r" rtl="1"/>
            <a:r>
              <a:rPr lang="fa-IR" sz="1700" noProof="0">
                <a:cs typeface="Nazanin" panose="00000400000000000000" pitchFamily="2" charset="-78"/>
              </a:rPr>
              <a:t>8. IraniCard – مدیریت امور مالی و پرداخت‌های ایرانی.</a:t>
            </a:r>
          </a:p>
          <a:p>
            <a:pPr algn="r" rtl="1"/>
            <a:r>
              <a:rPr lang="fa-IR" sz="1700" noProof="0">
                <a:cs typeface="Nazanin" panose="00000400000000000000" pitchFamily="2" charset="-78"/>
              </a:rPr>
              <a:t>9. Edge Gallery – مجموعه‌ای از تصاویر هوش مصنوعی.</a:t>
            </a:r>
          </a:p>
          <a:p>
            <a:pPr algn="r" rtl="1"/>
            <a:r>
              <a:rPr lang="fa-IR" sz="1700" noProof="0">
                <a:cs typeface="Nazanin" panose="00000400000000000000" pitchFamily="2" charset="-78"/>
              </a:rPr>
              <a:t>10. KLINGAI – برنامه‌ای مرتبط با فناوری</a:t>
            </a:r>
            <a:r>
              <a:rPr lang="fa-IR" sz="1700">
                <a:cs typeface="Nazanin" panose="00000400000000000000" pitchFamily="2" charset="-78"/>
              </a:rPr>
              <a:t> عکس/ویدیو</a:t>
            </a:r>
            <a:r>
              <a:rPr lang="fa-IR" sz="1700" noProof="0">
                <a:cs typeface="Nazanin" panose="00000400000000000000" pitchFamily="2" charset="-78"/>
              </a:rPr>
              <a:t> هوش مصنوعی.</a:t>
            </a:r>
          </a:p>
          <a:p>
            <a:pPr algn="r" rtl="1"/>
            <a:r>
              <a:rPr lang="fa-IR" sz="1700" noProof="0">
                <a:cs typeface="Nazanin" panose="00000400000000000000" pitchFamily="2" charset="-78"/>
              </a:rPr>
              <a:t>11. Leonardo.Ai – ابزار طراحی و تولید تصاویر با کمک هوش مصنوعی.</a:t>
            </a:r>
          </a:p>
          <a:p>
            <a:pPr algn="r" rtl="1"/>
            <a:r>
              <a:rPr lang="fa-IR" sz="1700" noProof="0">
                <a:cs typeface="Nazanin" panose="00000400000000000000" pitchFamily="2" charset="-78"/>
              </a:rPr>
              <a:t>12. Suno – سرویس مرتبط با تولید موسیقی و صدا.</a:t>
            </a:r>
          </a:p>
          <a:p>
            <a:pPr algn="r" rtl="1"/>
            <a:r>
              <a:rPr lang="fa-IR" sz="1700" noProof="0">
                <a:cs typeface="Nazanin" panose="00000400000000000000" pitchFamily="2" charset="-78"/>
              </a:rPr>
              <a:t>13. Clips AI – ابزاری برای تولید و ویرایش ویدئو با کمک هوش مصنوعی.</a:t>
            </a:r>
          </a:p>
          <a:p>
            <a:pPr algn="r" rtl="1"/>
            <a:r>
              <a:rPr lang="fa-IR" sz="1700" noProof="0">
                <a:cs typeface="Nazanin" panose="00000400000000000000" pitchFamily="2" charset="-78"/>
              </a:rPr>
              <a:t>14. NotebookLM – برنامه‌ای برای مدیریت اسناد و اطلاعات.</a:t>
            </a:r>
          </a:p>
          <a:p>
            <a:pPr algn="r" rtl="1"/>
            <a:r>
              <a:rPr lang="fa-IR" sz="1700" noProof="0">
                <a:cs typeface="Nazanin" panose="00000400000000000000" pitchFamily="2" charset="-78"/>
              </a:rPr>
              <a:t>15. starryai – ابزار هوش مصنوعی برای تولید هنر دیجیتال.</a:t>
            </a:r>
          </a:p>
          <a:p>
            <a:pPr algn="r" rtl="1"/>
            <a:r>
              <a:rPr lang="fa-IR" sz="1700" noProof="0">
                <a:cs typeface="Nazanin" panose="00000400000000000000" pitchFamily="2" charset="-78"/>
              </a:rPr>
              <a:t>16. Otter – اپلیکیشن برای تبدیل گفتار به متن.</a:t>
            </a:r>
          </a:p>
          <a:p>
            <a:pPr algn="r" rtl="1"/>
            <a:r>
              <a:rPr lang="fa-IR" sz="1700" noProof="0">
                <a:cs typeface="Nazanin" panose="00000400000000000000" pitchFamily="2" charset="-78"/>
              </a:rPr>
              <a:t>17. ChatAI: AI Chatbot – چت‌بات هوش مصنوعی برای مکالمات و دستیار شخصی.</a:t>
            </a:r>
          </a:p>
          <a:p>
            <a:pPr algn="r" rtl="1"/>
            <a:r>
              <a:rPr lang="fa-IR" sz="1700" noProof="0">
                <a:cs typeface="Nazanin" panose="00000400000000000000" pitchFamily="2" charset="-78"/>
              </a:rPr>
              <a:t>18. DeepSeek – ابزار جستجوی هوشمند بر پایه هوش مصنوعی.</a:t>
            </a:r>
          </a:p>
          <a:p>
            <a:pPr algn="r" rtl="1"/>
            <a:r>
              <a:rPr lang="fa-IR" sz="1700" noProof="0">
                <a:cs typeface="Nazanin" panose="00000400000000000000" pitchFamily="2" charset="-78"/>
              </a:rPr>
              <a:t>19. Perplexity – موتور جستجوی مبتنی بر هوش مصنوعی با تحلیل دقیق محتوا.</a:t>
            </a:r>
          </a:p>
          <a:p>
            <a:pPr algn="r" rtl="1"/>
            <a:r>
              <a:rPr lang="fa-IR" sz="1700" noProof="0">
                <a:cs typeface="Nazanin" panose="00000400000000000000" pitchFamily="2" charset="-78"/>
              </a:rPr>
              <a:t>20. Le Chat – دستیار هوش مصنوعی برای گفتگو.</a:t>
            </a:r>
          </a:p>
          <a:p>
            <a:pPr algn="r" rtl="1"/>
            <a:r>
              <a:rPr lang="fa-IR" sz="1700" noProof="0">
                <a:cs typeface="Nazanin" panose="00000400000000000000" pitchFamily="2" charset="-78"/>
              </a:rPr>
              <a:t>21. Claude – مدل زبان هوش مصنوعی با قابلیت پاسخ‌گویی سریع.</a:t>
            </a:r>
          </a:p>
          <a:p>
            <a:pPr algn="r" rtl="1"/>
            <a:r>
              <a:rPr lang="fa-IR" sz="1700" noProof="0">
                <a:cs typeface="Nazanin" panose="00000400000000000000" pitchFamily="2" charset="-78"/>
              </a:rPr>
              <a:t>22. ChatGPT – چت‌بات معروف هوش مصنوعی برای مکالمات و کمک‌های مختلف.</a:t>
            </a:r>
          </a:p>
          <a:p>
            <a:pPr algn="r" rtl="1"/>
            <a:r>
              <a:rPr lang="fa-IR" sz="1700" noProof="0">
                <a:cs typeface="Nazanin" panose="00000400000000000000" pitchFamily="2" charset="-78"/>
              </a:rPr>
              <a:t>23. Gemini – ابزار پردازش زبان طبیعی و تحلیل داده‌ها.</a:t>
            </a:r>
          </a:p>
          <a:p>
            <a:pPr algn="r" rtl="1"/>
            <a:r>
              <a:rPr lang="fa-IR" sz="1700" noProof="0">
                <a:cs typeface="Nazanin" panose="00000400000000000000" pitchFamily="2" charset="-78"/>
              </a:rPr>
              <a:t>24. Copilot – همیار هوش مصنوعی که اطلاعات و پیشنهادات کاربردی ارائه می‌دهد.</a:t>
            </a:r>
          </a:p>
          <a:p>
            <a:pPr algn="r" rtl="1"/>
            <a:r>
              <a:rPr lang="fa-IR" sz="1700" noProof="0">
                <a:cs typeface="Nazanin" panose="00000400000000000000" pitchFamily="2" charset="-78"/>
              </a:rPr>
              <a:t>25. Grok Beta – چت‌بات هوش مصنوعی با تحلیل داده‌های اجتماعی.</a:t>
            </a:r>
          </a:p>
          <a:p>
            <a:pPr algn="r" rtl="1"/>
            <a:r>
              <a:rPr lang="fa-IR" sz="1700" noProof="0">
                <a:cs typeface="Nazanin" panose="00000400000000000000" pitchFamily="2" charset="-78"/>
              </a:rPr>
              <a:t>26. Qwen – سیستم پردازش زبان برای تعاملات هوش مصنوعی.</a:t>
            </a:r>
          </a:p>
          <a:p>
            <a:pPr algn="r" rtl="1"/>
            <a:endParaRPr lang="fa-IR" sz="1700" noProof="0">
              <a:cs typeface="Nazanin" panose="00000400000000000000" pitchFamily="2" charset="-78"/>
            </a:endParaRPr>
          </a:p>
        </p:txBody>
      </p:sp>
      <p:pic>
        <p:nvPicPr>
          <p:cNvPr id="3" name="Picture 2">
            <a:extLst>
              <a:ext uri="{FF2B5EF4-FFF2-40B4-BE49-F238E27FC236}">
                <a16:creationId xmlns:a16="http://schemas.microsoft.com/office/drawing/2014/main" id="{6DE5D70F-E25C-7F86-2AD7-1B47C24200FF}"/>
              </a:ext>
            </a:extLst>
          </p:cNvPr>
          <p:cNvPicPr>
            <a:picLocks noChangeAspect="1"/>
          </p:cNvPicPr>
          <p:nvPr/>
        </p:nvPicPr>
        <p:blipFill>
          <a:blip r:embed="rId3"/>
          <a:stretch>
            <a:fillRect/>
          </a:stretch>
        </p:blipFill>
        <p:spPr>
          <a:xfrm>
            <a:off x="2507842" y="2911367"/>
            <a:ext cx="1027766" cy="1270054"/>
          </a:xfrm>
          <a:prstGeom prst="rect">
            <a:avLst/>
          </a:prstGeom>
        </p:spPr>
      </p:pic>
      <p:sp>
        <p:nvSpPr>
          <p:cNvPr id="2" name="TextBox 1">
            <a:extLst>
              <a:ext uri="{FF2B5EF4-FFF2-40B4-BE49-F238E27FC236}">
                <a16:creationId xmlns:a16="http://schemas.microsoft.com/office/drawing/2014/main" id="{97FFAF3B-C69D-1181-D6EA-786E590C2185}"/>
              </a:ext>
            </a:extLst>
          </p:cNvPr>
          <p:cNvSpPr txBox="1"/>
          <p:nvPr/>
        </p:nvSpPr>
        <p:spPr>
          <a:xfrm>
            <a:off x="3683976" y="-443"/>
            <a:ext cx="747347" cy="276999"/>
          </a:xfrm>
          <a:prstGeom prst="rect">
            <a:avLst/>
          </a:prstGeom>
          <a:noFill/>
        </p:spPr>
        <p:txBody>
          <a:bodyPr wrap="square">
            <a:spAutoFit/>
          </a:bodyPr>
          <a:lstStyle/>
          <a:p>
            <a:pPr algn="ctr"/>
            <a:r>
              <a:rPr lang="fa-IR" sz="1200">
                <a:cs typeface="2  Nazanin" panose="00000400000000000000" pitchFamily="2" charset="-78"/>
              </a:rPr>
              <a:t>اسلاید 18</a:t>
            </a:r>
            <a:endParaRPr lang="fa-IR" sz="1200"/>
          </a:p>
        </p:txBody>
      </p:sp>
    </p:spTree>
    <p:extLst>
      <p:ext uri="{BB962C8B-B14F-4D97-AF65-F5344CB8AC3E}">
        <p14:creationId xmlns:p14="http://schemas.microsoft.com/office/powerpoint/2010/main" val="35518751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BD366-763B-0B5D-CE4C-A966EBA9611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F105022-5973-A7C4-5674-00A795CB1D2E}"/>
              </a:ext>
            </a:extLst>
          </p:cNvPr>
          <p:cNvPicPr>
            <a:picLocks noChangeAspect="1"/>
          </p:cNvPicPr>
          <p:nvPr/>
        </p:nvPicPr>
        <p:blipFill>
          <a:blip r:embed="rId2"/>
          <a:stretch>
            <a:fillRect/>
          </a:stretch>
        </p:blipFill>
        <p:spPr>
          <a:xfrm>
            <a:off x="84084" y="2109623"/>
            <a:ext cx="3163614" cy="1342542"/>
          </a:xfrm>
          <a:prstGeom prst="rect">
            <a:avLst/>
          </a:prstGeom>
        </p:spPr>
      </p:pic>
      <p:sp>
        <p:nvSpPr>
          <p:cNvPr id="4" name="Rectangle 1">
            <a:extLst>
              <a:ext uri="{FF2B5EF4-FFF2-40B4-BE49-F238E27FC236}">
                <a16:creationId xmlns:a16="http://schemas.microsoft.com/office/drawing/2014/main" id="{C04EA37C-83A3-9D27-D074-3684FB137E4D}"/>
              </a:ext>
            </a:extLst>
          </p:cNvPr>
          <p:cNvSpPr>
            <a:spLocks noChangeArrowheads="1"/>
          </p:cNvSpPr>
          <p:nvPr/>
        </p:nvSpPr>
        <p:spPr bwMode="auto">
          <a:xfrm>
            <a:off x="2249213" y="70364"/>
            <a:ext cx="6810703" cy="6247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a:ln>
                  <a:noFill/>
                </a:ln>
                <a:solidFill>
                  <a:schemeClr val="tx1"/>
                </a:solidFill>
                <a:effectLst/>
                <a:latin typeface="Arial" panose="020B0604020202020204" pitchFamily="34" charset="0"/>
                <a:cs typeface="Nazanin" panose="00000400000000000000" pitchFamily="2" charset="-78"/>
              </a:rPr>
              <a:t>🧠 </a:t>
            </a:r>
            <a:r>
              <a:rPr kumimoji="0" lang="ar-SA" altLang="en-US" sz="2000" b="1" i="0" u="none" strike="noStrike" cap="none" normalizeH="0" baseline="0">
                <a:ln>
                  <a:noFill/>
                </a:ln>
                <a:solidFill>
                  <a:schemeClr val="tx1"/>
                </a:solidFill>
                <a:effectLst/>
                <a:latin typeface="Arial" panose="020B0604020202020204" pitchFamily="34" charset="0"/>
                <a:cs typeface="Nazanin" panose="00000400000000000000" pitchFamily="2" charset="-78"/>
              </a:rPr>
              <a:t>معرفی اکانت‌های هوش مصنوعی ایرانیکارت</a:t>
            </a:r>
            <a:endParaRPr kumimoji="0" lang="en-US" altLang="en-US" sz="2000" b="1" i="0" u="none" strike="noStrike" cap="none" normalizeH="0" baseline="0">
              <a:ln>
                <a:noFill/>
              </a:ln>
              <a:solidFill>
                <a:schemeClr val="tx1"/>
              </a:solidFill>
              <a:effectLst/>
              <a:latin typeface="Arial" panose="020B0604020202020204" pitchFamily="34" charset="0"/>
              <a:cs typeface="Nazanin" panose="000004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AutoNum type="arabicPeriod"/>
              <a:tabLst/>
            </a:pPr>
            <a:r>
              <a:rPr kumimoji="0" lang="en-US" altLang="en-US" sz="2000" b="1" i="0" u="none" strike="noStrike" cap="none" normalizeH="0" baseline="0">
                <a:ln>
                  <a:noFill/>
                </a:ln>
                <a:solidFill>
                  <a:schemeClr val="tx1"/>
                </a:solidFill>
                <a:effectLst/>
                <a:latin typeface="Arial" panose="020B0604020202020204" pitchFamily="34" charset="0"/>
                <a:cs typeface="Nazanin" panose="00000400000000000000" pitchFamily="2" charset="-78"/>
              </a:rPr>
              <a:t>ChatGPT</a:t>
            </a:r>
            <a:br>
              <a:rPr kumimoji="0" lang="en-US"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br>
            <a:r>
              <a:rPr kumimoji="0" lang="ar-SA"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t>دستیار متنی هوشمند برای پاسخ به سؤالات و تولید محتوا</a:t>
            </a:r>
            <a:r>
              <a:rPr kumimoji="0" lang="en-US"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t>. </a:t>
            </a:r>
          </a:p>
          <a:p>
            <a:pPr marL="0" marR="0" lvl="0" indent="0" algn="r" defTabSz="914400" rtl="1" eaLnBrk="0" fontAlgn="base" latinLnBrk="0" hangingPunct="0">
              <a:lnSpc>
                <a:spcPct val="100000"/>
              </a:lnSpc>
              <a:spcBef>
                <a:spcPct val="0"/>
              </a:spcBef>
              <a:spcAft>
                <a:spcPct val="0"/>
              </a:spcAft>
              <a:buClrTx/>
              <a:buSzTx/>
              <a:buFontTx/>
              <a:buAutoNum type="arabicPeriod" startAt="2"/>
              <a:tabLst/>
            </a:pPr>
            <a:r>
              <a:rPr kumimoji="0" lang="en-US" altLang="en-US" sz="2000" b="1" i="0" u="none" strike="noStrike" cap="none" normalizeH="0" baseline="0">
                <a:ln>
                  <a:noFill/>
                </a:ln>
                <a:solidFill>
                  <a:schemeClr val="tx1"/>
                </a:solidFill>
                <a:effectLst/>
                <a:latin typeface="Arial" panose="020B0604020202020204" pitchFamily="34" charset="0"/>
                <a:cs typeface="Nazanin" panose="00000400000000000000" pitchFamily="2" charset="-78"/>
              </a:rPr>
              <a:t>Midjourney</a:t>
            </a:r>
            <a:br>
              <a:rPr kumimoji="0" lang="en-US"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br>
            <a:r>
              <a:rPr kumimoji="0" lang="ar-SA"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t>تبدیل متن به تصویر با کیفیت هنری بالا</a:t>
            </a:r>
            <a:r>
              <a:rPr kumimoji="0" lang="en-US"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t>. </a:t>
            </a:r>
          </a:p>
          <a:p>
            <a:pPr marL="0" marR="0" lvl="0" indent="0" algn="r" defTabSz="914400" rtl="1" eaLnBrk="0" fontAlgn="base" latinLnBrk="0" hangingPunct="0">
              <a:lnSpc>
                <a:spcPct val="100000"/>
              </a:lnSpc>
              <a:spcBef>
                <a:spcPct val="0"/>
              </a:spcBef>
              <a:spcAft>
                <a:spcPct val="0"/>
              </a:spcAft>
              <a:buClrTx/>
              <a:buSzTx/>
              <a:buFontTx/>
              <a:buAutoNum type="arabicPeriod" startAt="3"/>
              <a:tabLst/>
            </a:pPr>
            <a:r>
              <a:rPr kumimoji="0" lang="en-US" altLang="en-US" sz="2000" b="1" i="0" u="none" strike="noStrike" cap="none" normalizeH="0" baseline="0">
                <a:ln>
                  <a:noFill/>
                </a:ln>
                <a:solidFill>
                  <a:schemeClr val="tx1"/>
                </a:solidFill>
                <a:effectLst/>
                <a:latin typeface="Arial" panose="020B0604020202020204" pitchFamily="34" charset="0"/>
                <a:cs typeface="Nazanin" panose="00000400000000000000" pitchFamily="2" charset="-78"/>
              </a:rPr>
              <a:t>Claude AI</a:t>
            </a:r>
            <a:br>
              <a:rPr kumimoji="0" lang="en-US"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br>
            <a:r>
              <a:rPr kumimoji="0" lang="ar-SA"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t>چت‌بات پیشرفته برای خلاصه‌سازی، تحلیل و برنامه‌نویسی</a:t>
            </a:r>
            <a:r>
              <a:rPr kumimoji="0" lang="en-US"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t>. </a:t>
            </a:r>
          </a:p>
          <a:p>
            <a:pPr marL="0" marR="0" lvl="0" indent="0" algn="r" defTabSz="914400" rtl="1" eaLnBrk="0" fontAlgn="base" latinLnBrk="0" hangingPunct="0">
              <a:lnSpc>
                <a:spcPct val="100000"/>
              </a:lnSpc>
              <a:spcBef>
                <a:spcPct val="0"/>
              </a:spcBef>
              <a:spcAft>
                <a:spcPct val="0"/>
              </a:spcAft>
              <a:buClrTx/>
              <a:buSzTx/>
              <a:buFontTx/>
              <a:buAutoNum type="arabicPeriod" startAt="4"/>
              <a:tabLst/>
            </a:pPr>
            <a:r>
              <a:rPr kumimoji="0" lang="en-US" altLang="en-US" sz="2000" b="1" i="0" u="none" strike="noStrike" cap="none" normalizeH="0" baseline="0">
                <a:ln>
                  <a:noFill/>
                </a:ln>
                <a:solidFill>
                  <a:schemeClr val="tx1"/>
                </a:solidFill>
                <a:effectLst/>
                <a:latin typeface="Arial" panose="020B0604020202020204" pitchFamily="34" charset="0"/>
                <a:cs typeface="Nazanin" panose="00000400000000000000" pitchFamily="2" charset="-78"/>
              </a:rPr>
              <a:t>Sincode AI</a:t>
            </a:r>
            <a:br>
              <a:rPr kumimoji="0" lang="en-US"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br>
            <a:r>
              <a:rPr kumimoji="0" lang="ar-SA"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t>تولید محتوای متنی سریع و بهینه برای کسب‌وکارها</a:t>
            </a:r>
            <a:r>
              <a:rPr kumimoji="0" lang="en-US"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t>. </a:t>
            </a:r>
          </a:p>
          <a:p>
            <a:pPr marL="0" marR="0" lvl="0" indent="0" algn="r" defTabSz="914400" rtl="1" eaLnBrk="0" fontAlgn="base" latinLnBrk="0" hangingPunct="0">
              <a:lnSpc>
                <a:spcPct val="100000"/>
              </a:lnSpc>
              <a:spcBef>
                <a:spcPct val="0"/>
              </a:spcBef>
              <a:spcAft>
                <a:spcPct val="0"/>
              </a:spcAft>
              <a:buClrTx/>
              <a:buSzTx/>
              <a:buFontTx/>
              <a:buAutoNum type="arabicPeriod" startAt="5"/>
              <a:tabLst/>
            </a:pPr>
            <a:r>
              <a:rPr kumimoji="0" lang="en-US" altLang="en-US" sz="2000" b="1" i="0" u="none" strike="noStrike" cap="none" normalizeH="0" baseline="0">
                <a:ln>
                  <a:noFill/>
                </a:ln>
                <a:solidFill>
                  <a:schemeClr val="tx1"/>
                </a:solidFill>
                <a:effectLst/>
                <a:latin typeface="Arial" panose="020B0604020202020204" pitchFamily="34" charset="0"/>
                <a:cs typeface="Nazanin" panose="00000400000000000000" pitchFamily="2" charset="-78"/>
              </a:rPr>
              <a:t>ElevenLabs</a:t>
            </a:r>
            <a:br>
              <a:rPr kumimoji="0" lang="en-US"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br>
            <a:r>
              <a:rPr kumimoji="0" lang="ar-SA"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t>تبدیل متن به گفتار طبیعی برای کتاب‌های صوتی و پادکست‌ها</a:t>
            </a:r>
            <a:r>
              <a:rPr kumimoji="0" lang="en-US"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t>. </a:t>
            </a:r>
          </a:p>
          <a:p>
            <a:pPr marL="0" marR="0" lvl="0" indent="0" algn="r" defTabSz="914400" rtl="1" eaLnBrk="0" fontAlgn="base" latinLnBrk="0" hangingPunct="0">
              <a:lnSpc>
                <a:spcPct val="100000"/>
              </a:lnSpc>
              <a:spcBef>
                <a:spcPct val="0"/>
              </a:spcBef>
              <a:spcAft>
                <a:spcPct val="0"/>
              </a:spcAft>
              <a:buClrTx/>
              <a:buSzTx/>
              <a:buFontTx/>
              <a:buAutoNum type="arabicPeriod" startAt="6"/>
              <a:tabLst/>
            </a:pPr>
            <a:r>
              <a:rPr kumimoji="0" lang="en-US" altLang="en-US" sz="2000" b="1" i="0" u="none" strike="noStrike" cap="none" normalizeH="0" baseline="0">
                <a:ln>
                  <a:noFill/>
                </a:ln>
                <a:solidFill>
                  <a:schemeClr val="tx1"/>
                </a:solidFill>
                <a:effectLst/>
                <a:latin typeface="Arial" panose="020B0604020202020204" pitchFamily="34" charset="0"/>
                <a:cs typeface="Nazanin" panose="00000400000000000000" pitchFamily="2" charset="-78"/>
              </a:rPr>
              <a:t>Kling AI</a:t>
            </a:r>
            <a:br>
              <a:rPr kumimoji="0" lang="en-US"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br>
            <a:r>
              <a:rPr kumimoji="0" lang="ar-SA"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t>تولید ویدیوهای واقع‌گرایانه از متن یا تصویر</a:t>
            </a:r>
            <a:r>
              <a:rPr kumimoji="0" lang="en-US"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t>. </a:t>
            </a:r>
          </a:p>
          <a:p>
            <a:pPr marL="0" marR="0" lvl="0" indent="0" algn="r" defTabSz="914400" rtl="1" eaLnBrk="0" fontAlgn="base" latinLnBrk="0" hangingPunct="0">
              <a:lnSpc>
                <a:spcPct val="100000"/>
              </a:lnSpc>
              <a:spcBef>
                <a:spcPct val="0"/>
              </a:spcBef>
              <a:spcAft>
                <a:spcPct val="0"/>
              </a:spcAft>
              <a:buClrTx/>
              <a:buSzTx/>
              <a:buFontTx/>
              <a:buAutoNum type="arabicPeriod" startAt="7"/>
              <a:tabLst/>
            </a:pPr>
            <a:r>
              <a:rPr kumimoji="0" lang="en-US" altLang="en-US" sz="2000" b="1" i="0" u="none" strike="noStrike" cap="none" normalizeH="0" baseline="0">
                <a:ln>
                  <a:noFill/>
                </a:ln>
                <a:solidFill>
                  <a:schemeClr val="tx1"/>
                </a:solidFill>
                <a:effectLst/>
                <a:latin typeface="Arial" panose="020B0604020202020204" pitchFamily="34" charset="0"/>
                <a:cs typeface="Nazanin" panose="00000400000000000000" pitchFamily="2" charset="-78"/>
              </a:rPr>
              <a:t>Poe</a:t>
            </a:r>
            <a:br>
              <a:rPr kumimoji="0" lang="en-US"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br>
            <a:r>
              <a:rPr kumimoji="0" lang="ar-SA"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t>پلتفرم تجمیع چندین مدل هوش مصنوعی برای پاسخ‌گویی سریع</a:t>
            </a:r>
            <a:r>
              <a:rPr kumimoji="0" lang="en-US"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t>. </a:t>
            </a:r>
          </a:p>
          <a:p>
            <a:pPr marL="0" marR="0" lvl="0" indent="0" algn="r" defTabSz="914400" rtl="1" eaLnBrk="0" fontAlgn="base" latinLnBrk="0" hangingPunct="0">
              <a:lnSpc>
                <a:spcPct val="100000"/>
              </a:lnSpc>
              <a:spcBef>
                <a:spcPct val="0"/>
              </a:spcBef>
              <a:spcAft>
                <a:spcPct val="0"/>
              </a:spcAft>
              <a:buClrTx/>
              <a:buSzTx/>
              <a:buFontTx/>
              <a:buAutoNum type="arabicPeriod" startAt="8"/>
              <a:tabLst/>
            </a:pPr>
            <a:r>
              <a:rPr kumimoji="0" lang="en-US" altLang="en-US" sz="2000" b="1" i="0" u="none" strike="noStrike" cap="none" normalizeH="0" baseline="0">
                <a:ln>
                  <a:noFill/>
                </a:ln>
                <a:solidFill>
                  <a:schemeClr val="tx1"/>
                </a:solidFill>
                <a:effectLst/>
                <a:latin typeface="Arial" panose="020B0604020202020204" pitchFamily="34" charset="0"/>
                <a:cs typeface="Nazanin" panose="00000400000000000000" pitchFamily="2" charset="-78"/>
              </a:rPr>
              <a:t>Chatgot</a:t>
            </a:r>
            <a:br>
              <a:rPr kumimoji="0" lang="en-US"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br>
            <a:r>
              <a:rPr kumimoji="0" lang="ar-SA"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t>دسترسی هم‌زمان به چندین ربات هوش مصنوعی در یک پلتفرم</a:t>
            </a:r>
            <a:r>
              <a:rPr kumimoji="0" lang="en-US"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t>. </a:t>
            </a:r>
          </a:p>
          <a:p>
            <a:pPr marL="0" marR="0" lvl="0" indent="0" algn="r" defTabSz="914400" rtl="1" eaLnBrk="0" fontAlgn="base" latinLnBrk="0" hangingPunct="0">
              <a:lnSpc>
                <a:spcPct val="100000"/>
              </a:lnSpc>
              <a:spcBef>
                <a:spcPct val="0"/>
              </a:spcBef>
              <a:spcAft>
                <a:spcPct val="0"/>
              </a:spcAft>
              <a:buClrTx/>
              <a:buSzTx/>
              <a:buFontTx/>
              <a:buAutoNum type="arabicPeriod" startAt="9"/>
              <a:tabLst/>
            </a:pPr>
            <a:r>
              <a:rPr kumimoji="0" lang="en-US" altLang="en-US" sz="2000" b="1" i="0" u="none" strike="noStrike" cap="none" normalizeH="0" baseline="0">
                <a:ln>
                  <a:noFill/>
                </a:ln>
                <a:solidFill>
                  <a:schemeClr val="tx1"/>
                </a:solidFill>
                <a:effectLst/>
                <a:latin typeface="Arial" panose="020B0604020202020204" pitchFamily="34" charset="0"/>
                <a:cs typeface="Nazanin" panose="00000400000000000000" pitchFamily="2" charset="-78"/>
              </a:rPr>
              <a:t>Grok</a:t>
            </a:r>
            <a:br>
              <a:rPr kumimoji="0" lang="en-US"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br>
            <a:r>
              <a:rPr kumimoji="0" lang="ar-SA"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t>چت‌بات هوشمند با تحلیل ترندها و مشاوره تخصصی</a:t>
            </a:r>
            <a:r>
              <a:rPr kumimoji="0" lang="en-US"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t>. </a:t>
            </a:r>
          </a:p>
          <a:p>
            <a:pPr marL="0" marR="0" lvl="0" indent="0" algn="r" defTabSz="914400" rtl="1"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endParaRPr>
          </a:p>
        </p:txBody>
      </p:sp>
      <p:sp>
        <p:nvSpPr>
          <p:cNvPr id="6" name="Rectangle 3">
            <a:extLst>
              <a:ext uri="{FF2B5EF4-FFF2-40B4-BE49-F238E27FC236}">
                <a16:creationId xmlns:a16="http://schemas.microsoft.com/office/drawing/2014/main" id="{DC0F97F6-42B1-4CC6-A687-56848D188BEE}"/>
              </a:ext>
            </a:extLst>
          </p:cNvPr>
          <p:cNvSpPr>
            <a:spLocks noChangeArrowheads="1"/>
          </p:cNvSpPr>
          <p:nvPr/>
        </p:nvSpPr>
        <p:spPr bwMode="auto">
          <a:xfrm>
            <a:off x="550735" y="6102157"/>
            <a:ext cx="583685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1" eaLnBrk="0" fontAlgn="base" latinLnBrk="0" hangingPunct="0">
              <a:lnSpc>
                <a:spcPct val="100000"/>
              </a:lnSpc>
              <a:spcBef>
                <a:spcPct val="0"/>
              </a:spcBef>
              <a:spcAft>
                <a:spcPct val="0"/>
              </a:spcAft>
              <a:buClrTx/>
              <a:buSzTx/>
              <a:buFontTx/>
              <a:buNone/>
              <a:tabLst/>
            </a:pPr>
            <a:r>
              <a:rPr kumimoji="0" lang="ar-SA" altLang="en-US" sz="1800" b="0" i="0" u="none" strike="noStrike" cap="none" normalizeH="0" baseline="0">
                <a:ln>
                  <a:noFill/>
                </a:ln>
                <a:solidFill>
                  <a:schemeClr val="tx1"/>
                </a:solidFill>
                <a:effectLst/>
                <a:latin typeface="Arial" panose="020B0604020202020204" pitchFamily="34" charset="0"/>
                <a:cs typeface="Nazanin" panose="00000400000000000000" pitchFamily="2" charset="-78"/>
              </a:rPr>
              <a:t>برای مشاهده لیست کامل و خرید اکانت‌ها، به صفحه زیر مراجعه کنید</a:t>
            </a:r>
            <a:r>
              <a:rPr kumimoji="0" lang="en-US" altLang="en-US" sz="1800" b="0" i="0" u="none" strike="noStrike" cap="none" normalizeH="0" baseline="0">
                <a:ln>
                  <a:noFill/>
                </a:ln>
                <a:solidFill>
                  <a:schemeClr val="tx1"/>
                </a:solidFill>
                <a:effectLst/>
                <a:latin typeface="Arial" panose="020B0604020202020204" pitchFamily="34" charset="0"/>
                <a:cs typeface="Nazanin" panose="00000400000000000000" pitchFamily="2" charset="-78"/>
              </a:rPr>
              <a:t>:</a:t>
            </a:r>
            <a:br>
              <a:rPr kumimoji="0" lang="en-US" altLang="en-US" sz="1800" b="0" i="0" u="none" strike="noStrike" cap="none" normalizeH="0" baseline="0">
                <a:ln>
                  <a:noFill/>
                </a:ln>
                <a:solidFill>
                  <a:schemeClr val="tx1"/>
                </a:solidFill>
                <a:effectLst/>
                <a:latin typeface="Arial" panose="020B0604020202020204" pitchFamily="34" charset="0"/>
                <a:cs typeface="Nazanin" panose="00000400000000000000" pitchFamily="2" charset="-78"/>
              </a:rPr>
            </a:br>
            <a:r>
              <a:rPr kumimoji="0" lang="en-US" altLang="en-US" sz="1800" b="0" i="0" u="none" strike="noStrike" cap="none" normalizeH="0" baseline="0">
                <a:ln>
                  <a:noFill/>
                </a:ln>
                <a:solidFill>
                  <a:schemeClr val="tx1"/>
                </a:solidFill>
                <a:effectLst/>
                <a:latin typeface="Arial" panose="020B0604020202020204" pitchFamily="34" charset="0"/>
                <a:cs typeface="Nazanin" panose="00000400000000000000" pitchFamily="2" charset="-78"/>
              </a:rPr>
              <a:t>🔗 </a:t>
            </a:r>
            <a:r>
              <a:rPr kumimoji="0" lang="en-US" altLang="en-US" sz="1800" b="0" i="0" u="none" strike="noStrike" cap="none" normalizeH="0" baseline="0">
                <a:ln>
                  <a:noFill/>
                </a:ln>
                <a:solidFill>
                  <a:schemeClr val="tx1"/>
                </a:solidFill>
                <a:effectLst/>
                <a:latin typeface="Arial" panose="020B0604020202020204" pitchFamily="34" charset="0"/>
                <a:cs typeface="Nazanin" panose="00000400000000000000" pitchFamily="2" charset="-78"/>
                <a:hlinkClick r:id="rId3"/>
              </a:rPr>
              <a:t>iranicard.ir/payments/accounts/artificial-intelligence</a:t>
            </a:r>
            <a:endParaRPr kumimoji="0" lang="en-US" altLang="en-US" sz="1800" b="0" i="0" u="none" strike="noStrike" cap="none" normalizeH="0" baseline="0">
              <a:ln>
                <a:noFill/>
              </a:ln>
              <a:solidFill>
                <a:schemeClr val="tx1"/>
              </a:solidFill>
              <a:effectLst/>
              <a:latin typeface="Arial" panose="020B0604020202020204" pitchFamily="34" charset="0"/>
              <a:cs typeface="Nazanin" panose="00000400000000000000" pitchFamily="2" charset="-78"/>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3CF311E0-F3E4-0263-93BC-9E7096F05485}"/>
              </a:ext>
            </a:extLst>
          </p:cNvPr>
          <p:cNvSpPr txBox="1"/>
          <p:nvPr/>
        </p:nvSpPr>
        <p:spPr>
          <a:xfrm>
            <a:off x="3824653" y="100627"/>
            <a:ext cx="747347" cy="276999"/>
          </a:xfrm>
          <a:prstGeom prst="rect">
            <a:avLst/>
          </a:prstGeom>
          <a:noFill/>
        </p:spPr>
        <p:txBody>
          <a:bodyPr wrap="square">
            <a:spAutoFit/>
          </a:bodyPr>
          <a:lstStyle/>
          <a:p>
            <a:pPr algn="ctr"/>
            <a:r>
              <a:rPr lang="fa-IR" sz="1200">
                <a:cs typeface="2  Nazanin" panose="00000400000000000000" pitchFamily="2" charset="-78"/>
              </a:rPr>
              <a:t>اسلاید 19</a:t>
            </a:r>
            <a:endParaRPr lang="fa-IR" sz="1200"/>
          </a:p>
        </p:txBody>
      </p:sp>
    </p:spTree>
    <p:extLst>
      <p:ext uri="{BB962C8B-B14F-4D97-AF65-F5344CB8AC3E}">
        <p14:creationId xmlns:p14="http://schemas.microsoft.com/office/powerpoint/2010/main" val="2078201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C43DD-79A4-CACC-22EC-A4B23D434C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E1478C-E94E-1CDF-F2AE-0D301C6CE9C3}"/>
              </a:ext>
            </a:extLst>
          </p:cNvPr>
          <p:cNvSpPr>
            <a:spLocks noGrp="1"/>
          </p:cNvSpPr>
          <p:nvPr>
            <p:ph type="title"/>
          </p:nvPr>
        </p:nvSpPr>
        <p:spPr>
          <a:xfrm>
            <a:off x="0" y="297473"/>
            <a:ext cx="9144000" cy="894398"/>
          </a:xfrm>
        </p:spPr>
        <p:txBody>
          <a:bodyPr>
            <a:normAutofit/>
          </a:bodyPr>
          <a:lstStyle/>
          <a:p>
            <a:pPr algn="ctr" rtl="1"/>
            <a:r>
              <a:rPr lang="fa-IR" sz="3600" b="0" i="0" dirty="0">
                <a:effectLst/>
                <a:latin typeface="Google Sans"/>
                <a:cs typeface="2  Titr" panose="00000700000000000000" pitchFamily="2" charset="-78"/>
              </a:rPr>
              <a:t>ابزارهای هوش مصنوعی در گوشی یا لپ‌تاپ</a:t>
            </a:r>
          </a:p>
        </p:txBody>
      </p:sp>
      <p:sp>
        <p:nvSpPr>
          <p:cNvPr id="4" name="TextBox 3">
            <a:extLst>
              <a:ext uri="{FF2B5EF4-FFF2-40B4-BE49-F238E27FC236}">
                <a16:creationId xmlns:a16="http://schemas.microsoft.com/office/drawing/2014/main" id="{78A9F304-5383-6D77-A1A0-C4AB3B883205}"/>
              </a:ext>
            </a:extLst>
          </p:cNvPr>
          <p:cNvSpPr txBox="1"/>
          <p:nvPr/>
        </p:nvSpPr>
        <p:spPr>
          <a:xfrm>
            <a:off x="231228" y="1234647"/>
            <a:ext cx="8360979" cy="5262979"/>
          </a:xfrm>
          <a:prstGeom prst="rect">
            <a:avLst/>
          </a:prstGeom>
          <a:noFill/>
        </p:spPr>
        <p:txBody>
          <a:bodyPr wrap="square">
            <a:spAutoFit/>
          </a:bodyPr>
          <a:lstStyle/>
          <a:p>
            <a:pPr algn="r" rtl="1"/>
            <a:r>
              <a:rPr lang="fa-IR" sz="2400">
                <a:cs typeface="Nazanin" panose="00000400000000000000" pitchFamily="2" charset="-78"/>
              </a:rPr>
              <a:t>🧠 </a:t>
            </a:r>
            <a:r>
              <a:rPr lang="en-US" sz="2400" b="1">
                <a:latin typeface="Arial Black" panose="020B0A04020102020204" pitchFamily="34" charset="0"/>
                <a:cs typeface="Nazanin" panose="00000400000000000000" pitchFamily="2" charset="-78"/>
              </a:rPr>
              <a:t>Hix.ai</a:t>
            </a:r>
            <a:r>
              <a:rPr lang="fa-IR" sz="2400">
                <a:cs typeface="Nazanin" panose="00000400000000000000" pitchFamily="2" charset="-78"/>
              </a:rPr>
              <a:t>-</a:t>
            </a:r>
            <a:r>
              <a:rPr lang="en-US" sz="2400">
                <a:cs typeface="Nazanin" panose="00000400000000000000" pitchFamily="2" charset="-78"/>
              </a:rPr>
              <a:t> </a:t>
            </a:r>
            <a:r>
              <a:rPr lang="fa-IR" sz="2400">
                <a:cs typeface="Nazanin" panose="00000400000000000000" pitchFamily="2" charset="-78"/>
              </a:rPr>
              <a:t>هوش مصنوعی برای نویسندگی، پاسخ‌دهی و بهره‌وری در وب</a:t>
            </a:r>
          </a:p>
          <a:p>
            <a:pPr algn="r" rtl="1"/>
            <a:r>
              <a:rPr lang="fa-IR" sz="2400">
                <a:cs typeface="Nazanin" panose="00000400000000000000" pitchFamily="2" charset="-78"/>
              </a:rPr>
              <a:t>🔹 تولید محتوا در لحظه</a:t>
            </a:r>
          </a:p>
          <a:p>
            <a:pPr algn="r" rtl="1"/>
            <a:r>
              <a:rPr lang="fa-IR" sz="2400">
                <a:cs typeface="Nazanin" panose="00000400000000000000" pitchFamily="2" charset="-78"/>
              </a:rPr>
              <a:t>✅ نوشتن مقاله، پست وبلاگ، ایمیل، رزومه، معرفی‌نامه و... تنها با چند کلمه ورودی</a:t>
            </a:r>
          </a:p>
          <a:p>
            <a:pPr algn="r" rtl="1"/>
            <a:r>
              <a:rPr lang="fa-IR" sz="2400">
                <a:cs typeface="Nazanin" panose="00000400000000000000" pitchFamily="2" charset="-78"/>
              </a:rPr>
              <a:t>🔹 پاسخ‌گویی هوشمند</a:t>
            </a:r>
          </a:p>
          <a:p>
            <a:pPr algn="r" rtl="1"/>
            <a:r>
              <a:rPr lang="fa-IR" sz="2400">
                <a:cs typeface="Nazanin" panose="00000400000000000000" pitchFamily="2" charset="-78"/>
              </a:rPr>
              <a:t>✅ پاسخ‌دهی سریع و خودکار به ایمیل‌ها، پیام‌ها و نظرات</a:t>
            </a:r>
          </a:p>
          <a:p>
            <a:pPr algn="r" rtl="1"/>
            <a:r>
              <a:rPr lang="fa-IR" sz="2400">
                <a:cs typeface="Nazanin" panose="00000400000000000000" pitchFamily="2" charset="-78"/>
              </a:rPr>
              <a:t>🔹 تلخیص، بازنویسی و ترجمه</a:t>
            </a:r>
          </a:p>
          <a:p>
            <a:pPr algn="r" rtl="1"/>
            <a:r>
              <a:rPr lang="fa-IR" sz="2400">
                <a:cs typeface="Nazanin" panose="00000400000000000000" pitchFamily="2" charset="-78"/>
              </a:rPr>
              <a:t>✅ خلاصه‌سازی متن از هر وب‌سایت</a:t>
            </a:r>
          </a:p>
          <a:p>
            <a:pPr algn="r" rtl="1"/>
            <a:r>
              <a:rPr lang="fa-IR" sz="2400">
                <a:cs typeface="Nazanin" panose="00000400000000000000" pitchFamily="2" charset="-78"/>
              </a:rPr>
              <a:t>✅ بازنویسی حرفه‌ای و بازآرایی جملات</a:t>
            </a:r>
          </a:p>
          <a:p>
            <a:pPr algn="r" rtl="1"/>
            <a:r>
              <a:rPr lang="fa-IR" sz="2400">
                <a:cs typeface="Nazanin" panose="00000400000000000000" pitchFamily="2" charset="-78"/>
              </a:rPr>
              <a:t>✅ ترجمه روان و دقیق چندزبانه</a:t>
            </a:r>
          </a:p>
          <a:p>
            <a:pPr algn="r" rtl="1"/>
            <a:r>
              <a:rPr lang="fa-IR" sz="2400">
                <a:cs typeface="Nazanin" panose="00000400000000000000" pitchFamily="2" charset="-78"/>
              </a:rPr>
              <a:t>🔹 ترکیب درخواست‌ها و فرمان‌های پیچیده</a:t>
            </a:r>
          </a:p>
          <a:p>
            <a:pPr algn="r" rtl="1"/>
            <a:r>
              <a:rPr lang="fa-IR" sz="2400">
                <a:cs typeface="Nazanin" panose="00000400000000000000" pitchFamily="2" charset="-78"/>
              </a:rPr>
              <a:t>✅ پردازش چند فرمان همزمان در یک پیام (مثلاً: «خلاصه کن + ایمیل بساز + رسمی باش»)</a:t>
            </a:r>
          </a:p>
          <a:p>
            <a:pPr algn="r" rtl="1"/>
            <a:r>
              <a:rPr lang="fa-IR" sz="2400">
                <a:cs typeface="Nazanin" panose="00000400000000000000" pitchFamily="2" charset="-78"/>
              </a:rPr>
              <a:t>🔹 فعالسازی با صدا (</a:t>
            </a:r>
            <a:r>
              <a:rPr lang="en-US" sz="2400">
                <a:cs typeface="Nazanin" panose="00000400000000000000" pitchFamily="2" charset="-78"/>
              </a:rPr>
              <a:t>Voice Input)</a:t>
            </a:r>
          </a:p>
          <a:p>
            <a:pPr algn="r" rtl="1"/>
            <a:r>
              <a:rPr lang="fa-IR" sz="2400">
                <a:cs typeface="Nazanin" panose="00000400000000000000" pitchFamily="2" charset="-78"/>
              </a:rPr>
              <a:t>✅ بدون تایپ؛ صحبت کنید و پاسخ بگیرید</a:t>
            </a:r>
          </a:p>
        </p:txBody>
      </p:sp>
      <p:sp>
        <p:nvSpPr>
          <p:cNvPr id="3" name="TextBox 2">
            <a:extLst>
              <a:ext uri="{FF2B5EF4-FFF2-40B4-BE49-F238E27FC236}">
                <a16:creationId xmlns:a16="http://schemas.microsoft.com/office/drawing/2014/main" id="{AAE5FBD3-FDDF-A839-D09C-2B2028B0B718}"/>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20</a:t>
            </a:r>
            <a:endParaRPr lang="fa-IR" sz="1200"/>
          </a:p>
        </p:txBody>
      </p:sp>
    </p:spTree>
    <p:extLst>
      <p:ext uri="{BB962C8B-B14F-4D97-AF65-F5344CB8AC3E}">
        <p14:creationId xmlns:p14="http://schemas.microsoft.com/office/powerpoint/2010/main" val="21917939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E6D49-9775-1E58-068E-44262884455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2E92027-C449-6D6C-D532-8AB7C59DE329}"/>
              </a:ext>
            </a:extLst>
          </p:cNvPr>
          <p:cNvPicPr>
            <a:picLocks noChangeAspect="1"/>
          </p:cNvPicPr>
          <p:nvPr/>
        </p:nvPicPr>
        <p:blipFill>
          <a:blip r:embed="rId2"/>
          <a:stretch>
            <a:fillRect/>
          </a:stretch>
        </p:blipFill>
        <p:spPr>
          <a:xfrm>
            <a:off x="0" y="120551"/>
            <a:ext cx="9144000" cy="6616898"/>
          </a:xfrm>
          <a:prstGeom prst="rect">
            <a:avLst/>
          </a:prstGeom>
        </p:spPr>
      </p:pic>
      <p:sp>
        <p:nvSpPr>
          <p:cNvPr id="2" name="TextBox 1">
            <a:extLst>
              <a:ext uri="{FF2B5EF4-FFF2-40B4-BE49-F238E27FC236}">
                <a16:creationId xmlns:a16="http://schemas.microsoft.com/office/drawing/2014/main" id="{B68E8753-B398-459D-CBFE-C60D3281E6D3}"/>
              </a:ext>
            </a:extLst>
          </p:cNvPr>
          <p:cNvSpPr txBox="1"/>
          <p:nvPr/>
        </p:nvSpPr>
        <p:spPr>
          <a:xfrm>
            <a:off x="4317022" y="100627"/>
            <a:ext cx="747347" cy="276999"/>
          </a:xfrm>
          <a:prstGeom prst="rect">
            <a:avLst/>
          </a:prstGeom>
          <a:noFill/>
        </p:spPr>
        <p:txBody>
          <a:bodyPr wrap="square">
            <a:spAutoFit/>
          </a:bodyPr>
          <a:lstStyle/>
          <a:p>
            <a:pPr algn="ctr"/>
            <a:r>
              <a:rPr lang="fa-IR" sz="1200">
                <a:solidFill>
                  <a:schemeClr val="bg1"/>
                </a:solidFill>
                <a:cs typeface="2  Nazanin" panose="00000400000000000000" pitchFamily="2" charset="-78"/>
              </a:rPr>
              <a:t>اسلاید 21</a:t>
            </a:r>
            <a:endParaRPr lang="fa-IR" sz="1200">
              <a:solidFill>
                <a:schemeClr val="bg1"/>
              </a:solidFill>
            </a:endParaRPr>
          </a:p>
        </p:txBody>
      </p:sp>
    </p:spTree>
    <p:extLst>
      <p:ext uri="{BB962C8B-B14F-4D97-AF65-F5344CB8AC3E}">
        <p14:creationId xmlns:p14="http://schemas.microsoft.com/office/powerpoint/2010/main" val="40683989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AECA2-016E-F2F8-321E-5422E17FF28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D722ADF-B295-D735-E86A-E746A429B936}"/>
              </a:ext>
            </a:extLst>
          </p:cNvPr>
          <p:cNvPicPr>
            <a:picLocks noChangeAspect="1"/>
          </p:cNvPicPr>
          <p:nvPr/>
        </p:nvPicPr>
        <p:blipFill>
          <a:blip r:embed="rId2"/>
          <a:stretch>
            <a:fillRect/>
          </a:stretch>
        </p:blipFill>
        <p:spPr>
          <a:xfrm>
            <a:off x="105437" y="1232830"/>
            <a:ext cx="2790825" cy="5324475"/>
          </a:xfrm>
          <a:prstGeom prst="rect">
            <a:avLst/>
          </a:prstGeom>
        </p:spPr>
      </p:pic>
      <p:pic>
        <p:nvPicPr>
          <p:cNvPr id="5" name="Picture 4">
            <a:extLst>
              <a:ext uri="{FF2B5EF4-FFF2-40B4-BE49-F238E27FC236}">
                <a16:creationId xmlns:a16="http://schemas.microsoft.com/office/drawing/2014/main" id="{2B43F1CB-600F-781E-1B7E-DE4B49B055A9}"/>
              </a:ext>
            </a:extLst>
          </p:cNvPr>
          <p:cNvPicPr>
            <a:picLocks noChangeAspect="1"/>
          </p:cNvPicPr>
          <p:nvPr/>
        </p:nvPicPr>
        <p:blipFill>
          <a:blip r:embed="rId3"/>
          <a:stretch>
            <a:fillRect/>
          </a:stretch>
        </p:blipFill>
        <p:spPr>
          <a:xfrm>
            <a:off x="2999230" y="1189968"/>
            <a:ext cx="3162300" cy="5276850"/>
          </a:xfrm>
          <a:prstGeom prst="rect">
            <a:avLst/>
          </a:prstGeom>
        </p:spPr>
      </p:pic>
      <p:pic>
        <p:nvPicPr>
          <p:cNvPr id="7" name="Picture 6">
            <a:extLst>
              <a:ext uri="{FF2B5EF4-FFF2-40B4-BE49-F238E27FC236}">
                <a16:creationId xmlns:a16="http://schemas.microsoft.com/office/drawing/2014/main" id="{5FC78CAE-60B3-BF15-B65B-8A802E8E33EF}"/>
              </a:ext>
            </a:extLst>
          </p:cNvPr>
          <p:cNvPicPr>
            <a:picLocks noChangeAspect="1"/>
          </p:cNvPicPr>
          <p:nvPr/>
        </p:nvPicPr>
        <p:blipFill>
          <a:blip r:embed="rId4"/>
          <a:stretch>
            <a:fillRect/>
          </a:stretch>
        </p:blipFill>
        <p:spPr>
          <a:xfrm>
            <a:off x="6264498" y="1189968"/>
            <a:ext cx="3238500" cy="5410200"/>
          </a:xfrm>
          <a:prstGeom prst="rect">
            <a:avLst/>
          </a:prstGeom>
        </p:spPr>
      </p:pic>
      <p:sp>
        <p:nvSpPr>
          <p:cNvPr id="2" name="TextBox 1">
            <a:extLst>
              <a:ext uri="{FF2B5EF4-FFF2-40B4-BE49-F238E27FC236}">
                <a16:creationId xmlns:a16="http://schemas.microsoft.com/office/drawing/2014/main" id="{BD868397-270E-6D52-1FB4-6DB0610E083A}"/>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22</a:t>
            </a:r>
            <a:endParaRPr lang="fa-IR" sz="1200"/>
          </a:p>
        </p:txBody>
      </p:sp>
    </p:spTree>
    <p:extLst>
      <p:ext uri="{BB962C8B-B14F-4D97-AF65-F5344CB8AC3E}">
        <p14:creationId xmlns:p14="http://schemas.microsoft.com/office/powerpoint/2010/main" val="18549584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76038477-CFAF-ABF6-76EF-4D006A341C33}"/>
              </a:ext>
            </a:extLst>
          </p:cNvPr>
          <p:cNvSpPr>
            <a:spLocks noChangeArrowheads="1"/>
          </p:cNvSpPr>
          <p:nvPr/>
        </p:nvSpPr>
        <p:spPr bwMode="auto">
          <a:xfrm>
            <a:off x="362858" y="313391"/>
            <a:ext cx="8570246"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eaLnBrk="0" fontAlgn="base" latinLnBrk="0" hangingPunct="0">
              <a:lnSpc>
                <a:spcPct val="100000"/>
              </a:lnSpc>
              <a:spcBef>
                <a:spcPct val="0"/>
              </a:spcBef>
              <a:spcAft>
                <a:spcPct val="0"/>
              </a:spcAft>
              <a:buClrTx/>
              <a:buSzTx/>
              <a:buFontTx/>
              <a:buNone/>
              <a:tabLst/>
            </a:pPr>
            <a:r>
              <a:rPr kumimoji="0" lang="ar-SA" altLang="en-US" sz="3600" b="0" i="0" u="none" strike="noStrike" cap="none" normalizeH="0" baseline="0">
                <a:ln>
                  <a:noFill/>
                </a:ln>
                <a:solidFill>
                  <a:schemeClr val="tx1"/>
                </a:solidFill>
                <a:effectLst/>
                <a:latin typeface="Arial" panose="020B0604020202020204" pitchFamily="34" charset="0"/>
                <a:cs typeface="Titr" panose="00000700000000000000" pitchFamily="2" charset="-78"/>
              </a:rPr>
              <a:t>نمای کلی اپلیکیشن‌های هوش مصنوعی جهانی</a:t>
            </a:r>
            <a:r>
              <a:rPr kumimoji="0" lang="en-US" altLang="en-US" sz="3600" b="0" i="0" u="none" strike="noStrike" cap="none" normalizeH="0" baseline="0">
                <a:ln>
                  <a:noFill/>
                </a:ln>
                <a:solidFill>
                  <a:schemeClr val="tx1"/>
                </a:solidFill>
                <a:effectLst/>
                <a:latin typeface="Arial" panose="020B0604020202020204" pitchFamily="34" charset="0"/>
                <a:cs typeface="Titr" panose="00000700000000000000" pitchFamily="2" charset="-78"/>
              </a:rPr>
              <a:t> 🌍</a:t>
            </a:r>
            <a:br>
              <a:rPr kumimoji="0" lang="en-US" altLang="en-US" sz="3600" b="0" i="0" u="none" strike="noStrike" cap="none" normalizeH="0" baseline="0">
                <a:ln>
                  <a:noFill/>
                </a:ln>
                <a:solidFill>
                  <a:schemeClr val="tx1"/>
                </a:solidFill>
                <a:effectLst/>
                <a:latin typeface="Arial" panose="020B0604020202020204" pitchFamily="34" charset="0"/>
                <a:cs typeface="Titr" panose="00000700000000000000" pitchFamily="2" charset="-78"/>
              </a:rPr>
            </a:br>
            <a:r>
              <a:rPr kumimoji="0" lang="ar-SA" altLang="en-US" sz="2400" b="0" i="0" u="none" strike="noStrike" cap="none" normalizeH="0" baseline="0">
                <a:ln>
                  <a:noFill/>
                </a:ln>
                <a:solidFill>
                  <a:schemeClr val="tx1"/>
                </a:solidFill>
                <a:effectLst/>
                <a:latin typeface="Arial" panose="020B0604020202020204" pitchFamily="34" charset="0"/>
                <a:cs typeface="Nazanin" panose="00000400000000000000" pitchFamily="2" charset="-78"/>
              </a:rPr>
              <a:t>در این ارائه کوتاه، اپلیکیشن‌های هوش مصنوعی برتر در مناطق مختلف جهان از جمله آمریکا، چین، اروپا، روسیه، ژاپن، هند و کانادا را بررسی می‌کنیم — با تمرکز بر نوآوری، توانایی‌های زبانی و تأثیر ملی</a:t>
            </a:r>
            <a:r>
              <a:rPr kumimoji="0" lang="en-US" altLang="en-US" sz="2400" b="0" i="0" u="none" strike="noStrike" cap="none" normalizeH="0" baseline="0">
                <a:ln>
                  <a:noFill/>
                </a:ln>
                <a:solidFill>
                  <a:schemeClr val="tx1"/>
                </a:solidFill>
                <a:effectLst/>
                <a:latin typeface="Arial" panose="020B0604020202020204" pitchFamily="34" charset="0"/>
                <a:cs typeface="Nazanin" panose="00000400000000000000" pitchFamily="2" charset="-78"/>
              </a:rPr>
              <a:t>.</a:t>
            </a:r>
          </a:p>
        </p:txBody>
      </p:sp>
      <p:pic>
        <p:nvPicPr>
          <p:cNvPr id="10" name="Picture 9">
            <a:extLst>
              <a:ext uri="{FF2B5EF4-FFF2-40B4-BE49-F238E27FC236}">
                <a16:creationId xmlns:a16="http://schemas.microsoft.com/office/drawing/2014/main" id="{4AA7586B-15BD-1803-4B0A-DEF2AE19FC60}"/>
              </a:ext>
            </a:extLst>
          </p:cNvPr>
          <p:cNvPicPr>
            <a:picLocks noChangeAspect="1"/>
          </p:cNvPicPr>
          <p:nvPr/>
        </p:nvPicPr>
        <p:blipFill>
          <a:blip r:embed="rId2"/>
          <a:stretch>
            <a:fillRect/>
          </a:stretch>
        </p:blipFill>
        <p:spPr>
          <a:xfrm>
            <a:off x="0" y="2647180"/>
            <a:ext cx="9347776" cy="3072039"/>
          </a:xfrm>
          <a:prstGeom prst="rect">
            <a:avLst/>
          </a:prstGeom>
        </p:spPr>
      </p:pic>
      <p:sp>
        <p:nvSpPr>
          <p:cNvPr id="2" name="TextBox 1">
            <a:extLst>
              <a:ext uri="{FF2B5EF4-FFF2-40B4-BE49-F238E27FC236}">
                <a16:creationId xmlns:a16="http://schemas.microsoft.com/office/drawing/2014/main" id="{01F13531-7BA1-EAE9-54BD-816EF4E00D5C}"/>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23</a:t>
            </a:r>
            <a:endParaRPr lang="fa-IR" sz="1200"/>
          </a:p>
        </p:txBody>
      </p:sp>
    </p:spTree>
    <p:extLst>
      <p:ext uri="{BB962C8B-B14F-4D97-AF65-F5344CB8AC3E}">
        <p14:creationId xmlns:p14="http://schemas.microsoft.com/office/powerpoint/2010/main" val="14347949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58A73-D36F-DBC6-63B2-1197D6D7EC82}"/>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FC667DE-EE03-1AFA-BA90-7498514B5FBD}"/>
              </a:ext>
            </a:extLst>
          </p:cNvPr>
          <p:cNvGraphicFramePr>
            <a:graphicFrameLocks noGrp="1"/>
          </p:cNvGraphicFramePr>
          <p:nvPr>
            <p:extLst>
              <p:ext uri="{D42A27DB-BD31-4B8C-83A1-F6EECF244321}">
                <p14:modId xmlns:p14="http://schemas.microsoft.com/office/powerpoint/2010/main" val="2367916066"/>
              </p:ext>
            </p:extLst>
          </p:nvPr>
        </p:nvGraphicFramePr>
        <p:xfrm>
          <a:off x="628650" y="1275217"/>
          <a:ext cx="7886700" cy="4511040"/>
        </p:xfrm>
        <a:graphic>
          <a:graphicData uri="http://schemas.openxmlformats.org/drawingml/2006/table">
            <a:tbl>
              <a:tblPr>
                <a:tableStyleId>{5940675A-B579-460E-94D1-54222C63F5DA}</a:tableStyleId>
              </a:tblPr>
              <a:tblGrid>
                <a:gridCol w="1971675">
                  <a:extLst>
                    <a:ext uri="{9D8B030D-6E8A-4147-A177-3AD203B41FA5}">
                      <a16:colId xmlns:a16="http://schemas.microsoft.com/office/drawing/2014/main" val="1131476678"/>
                    </a:ext>
                  </a:extLst>
                </a:gridCol>
                <a:gridCol w="2784475">
                  <a:extLst>
                    <a:ext uri="{9D8B030D-6E8A-4147-A177-3AD203B41FA5}">
                      <a16:colId xmlns:a16="http://schemas.microsoft.com/office/drawing/2014/main" val="3069116739"/>
                    </a:ext>
                  </a:extLst>
                </a:gridCol>
                <a:gridCol w="2032000">
                  <a:extLst>
                    <a:ext uri="{9D8B030D-6E8A-4147-A177-3AD203B41FA5}">
                      <a16:colId xmlns:a16="http://schemas.microsoft.com/office/drawing/2014/main" val="2217795587"/>
                    </a:ext>
                  </a:extLst>
                </a:gridCol>
                <a:gridCol w="1098550">
                  <a:extLst>
                    <a:ext uri="{9D8B030D-6E8A-4147-A177-3AD203B41FA5}">
                      <a16:colId xmlns:a16="http://schemas.microsoft.com/office/drawing/2014/main" val="1707097987"/>
                    </a:ext>
                  </a:extLst>
                </a:gridCol>
              </a:tblGrid>
              <a:tr h="0">
                <a:tc>
                  <a:txBody>
                    <a:bodyPr/>
                    <a:lstStyle/>
                    <a:p>
                      <a:pPr algn="ctr"/>
                      <a:r>
                        <a:rPr lang="ar-SA" sz="2000">
                          <a:cs typeface="Nazanin" panose="00000400000000000000" pitchFamily="2" charset="-78"/>
                        </a:rPr>
                        <a:t>نام</a:t>
                      </a:r>
                    </a:p>
                  </a:txBody>
                  <a:tcPr anchor="ctr"/>
                </a:tc>
                <a:tc>
                  <a:txBody>
                    <a:bodyPr/>
                    <a:lstStyle/>
                    <a:p>
                      <a:pPr algn="ctr"/>
                      <a:r>
                        <a:rPr lang="ar-SA" sz="2000">
                          <a:cs typeface="Nazanin" panose="00000400000000000000" pitchFamily="2" charset="-78"/>
                        </a:rPr>
                        <a:t>توضیح</a:t>
                      </a:r>
                    </a:p>
                  </a:txBody>
                  <a:tcPr anchor="ctr"/>
                </a:tc>
                <a:tc>
                  <a:txBody>
                    <a:bodyPr/>
                    <a:lstStyle/>
                    <a:p>
                      <a:pPr algn="ctr"/>
                      <a:r>
                        <a:rPr lang="ar-SA" sz="2000">
                          <a:cs typeface="Nazanin" panose="00000400000000000000" pitchFamily="2" charset="-78"/>
                        </a:rPr>
                        <a:t>قابلیت ویژه</a:t>
                      </a:r>
                    </a:p>
                  </a:txBody>
                  <a:tcPr anchor="ctr"/>
                </a:tc>
                <a:tc>
                  <a:txBody>
                    <a:bodyPr/>
                    <a:lstStyle/>
                    <a:p>
                      <a:pPr algn="ctr"/>
                      <a:r>
                        <a:rPr lang="ar-SA" sz="2000">
                          <a:cs typeface="Nazanin" panose="00000400000000000000" pitchFamily="2" charset="-78"/>
                        </a:rPr>
                        <a:t>کشور سازنده</a:t>
                      </a:r>
                    </a:p>
                  </a:txBody>
                  <a:tcPr anchor="ctr"/>
                </a:tc>
                <a:extLst>
                  <a:ext uri="{0D108BD9-81ED-4DB2-BD59-A6C34878D82A}">
                    <a16:rowId xmlns:a16="http://schemas.microsoft.com/office/drawing/2014/main" val="2759474229"/>
                  </a:ext>
                </a:extLst>
              </a:tr>
              <a:tr h="0">
                <a:tc>
                  <a:txBody>
                    <a:bodyPr/>
                    <a:lstStyle/>
                    <a:p>
                      <a:r>
                        <a:rPr lang="en-US" sz="2000" b="1">
                          <a:cs typeface="Nazanin" panose="00000400000000000000" pitchFamily="2" charset="-78"/>
                        </a:rPr>
                        <a:t>Poe by Quora</a:t>
                      </a:r>
                      <a:endParaRPr lang="en-US" sz="2000">
                        <a:cs typeface="Nazanin" panose="00000400000000000000" pitchFamily="2" charset="-78"/>
                      </a:endParaRPr>
                    </a:p>
                  </a:txBody>
                  <a:tcPr anchor="ctr"/>
                </a:tc>
                <a:tc>
                  <a:txBody>
                    <a:bodyPr/>
                    <a:lstStyle/>
                    <a:p>
                      <a:pPr algn="r" rtl="1"/>
                      <a:r>
                        <a:rPr lang="ar-SA" sz="2000">
                          <a:cs typeface="Nazanin" panose="00000400000000000000" pitchFamily="2" charset="-78"/>
                        </a:rPr>
                        <a:t>پلتفرم دسترسی به چند چت‌بات </a:t>
                      </a:r>
                      <a:r>
                        <a:rPr lang="en-US" sz="2000">
                          <a:cs typeface="Nazanin" panose="00000400000000000000" pitchFamily="2" charset="-78"/>
                        </a:rPr>
                        <a:t>(ChatGPT, Claude, Llama,...)</a:t>
                      </a:r>
                    </a:p>
                  </a:txBody>
                  <a:tcPr anchor="ctr"/>
                </a:tc>
                <a:tc>
                  <a:txBody>
                    <a:bodyPr/>
                    <a:lstStyle/>
                    <a:p>
                      <a:pPr algn="r" rtl="1"/>
                      <a:r>
                        <a:rPr lang="ar-SA" sz="2000">
                          <a:cs typeface="Nazanin" panose="00000400000000000000" pitchFamily="2" charset="-78"/>
                        </a:rPr>
                        <a:t>یک اپ برای همه‌ی مدل‌ها</a:t>
                      </a:r>
                    </a:p>
                  </a:txBody>
                  <a:tcPr anchor="ctr"/>
                </a:tc>
                <a:tc>
                  <a:txBody>
                    <a:bodyPr/>
                    <a:lstStyle/>
                    <a:p>
                      <a:pPr algn="r" rtl="1"/>
                      <a:r>
                        <a:rPr lang="ar-SA" sz="2000">
                          <a:cs typeface="Nazanin" panose="00000400000000000000" pitchFamily="2" charset="-78"/>
                        </a:rPr>
                        <a:t>آمریکا</a:t>
                      </a:r>
                    </a:p>
                  </a:txBody>
                  <a:tcPr anchor="ctr"/>
                </a:tc>
                <a:extLst>
                  <a:ext uri="{0D108BD9-81ED-4DB2-BD59-A6C34878D82A}">
                    <a16:rowId xmlns:a16="http://schemas.microsoft.com/office/drawing/2014/main" val="1884000259"/>
                  </a:ext>
                </a:extLst>
              </a:tr>
              <a:tr h="0">
                <a:tc>
                  <a:txBody>
                    <a:bodyPr/>
                    <a:lstStyle/>
                    <a:p>
                      <a:r>
                        <a:rPr lang="en-US" sz="2000" b="1">
                          <a:cs typeface="Nazanin" panose="00000400000000000000" pitchFamily="2" charset="-78"/>
                        </a:rPr>
                        <a:t>Krea.ai</a:t>
                      </a:r>
                      <a:endParaRPr lang="en-US" sz="2000">
                        <a:cs typeface="Nazanin" panose="00000400000000000000" pitchFamily="2" charset="-78"/>
                      </a:endParaRPr>
                    </a:p>
                  </a:txBody>
                  <a:tcPr anchor="ctr"/>
                </a:tc>
                <a:tc>
                  <a:txBody>
                    <a:bodyPr/>
                    <a:lstStyle/>
                    <a:p>
                      <a:pPr algn="r" rtl="1"/>
                      <a:r>
                        <a:rPr lang="ar-SA" sz="2000">
                          <a:cs typeface="Nazanin" panose="00000400000000000000" pitchFamily="2" charset="-78"/>
                        </a:rPr>
                        <a:t>طراحی و تصویرسازی </a:t>
                      </a:r>
                      <a:r>
                        <a:rPr lang="en-US" sz="2000">
                          <a:cs typeface="Nazanin" panose="00000400000000000000" pitchFamily="2" charset="-78"/>
                        </a:rPr>
                        <a:t>real-time</a:t>
                      </a:r>
                    </a:p>
                  </a:txBody>
                  <a:tcPr anchor="ctr"/>
                </a:tc>
                <a:tc>
                  <a:txBody>
                    <a:bodyPr/>
                    <a:lstStyle/>
                    <a:p>
                      <a:pPr algn="r" rtl="1"/>
                      <a:r>
                        <a:rPr lang="ar-SA" sz="2000">
                          <a:cs typeface="Nazanin" panose="00000400000000000000" pitchFamily="2" charset="-78"/>
                        </a:rPr>
                        <a:t>تولید تصویر لحظه‌ای با قلم دیجیتال و متن</a:t>
                      </a:r>
                    </a:p>
                  </a:txBody>
                  <a:tcPr anchor="ctr"/>
                </a:tc>
                <a:tc>
                  <a:txBody>
                    <a:bodyPr/>
                    <a:lstStyle/>
                    <a:p>
                      <a:pPr algn="r" rtl="1"/>
                      <a:r>
                        <a:rPr lang="ar-SA" sz="2000">
                          <a:cs typeface="Nazanin" panose="00000400000000000000" pitchFamily="2" charset="-78"/>
                        </a:rPr>
                        <a:t>اسپانیا</a:t>
                      </a:r>
                    </a:p>
                  </a:txBody>
                  <a:tcPr anchor="ctr"/>
                </a:tc>
                <a:extLst>
                  <a:ext uri="{0D108BD9-81ED-4DB2-BD59-A6C34878D82A}">
                    <a16:rowId xmlns:a16="http://schemas.microsoft.com/office/drawing/2014/main" val="2846450253"/>
                  </a:ext>
                </a:extLst>
              </a:tr>
              <a:tr h="0">
                <a:tc>
                  <a:txBody>
                    <a:bodyPr/>
                    <a:lstStyle/>
                    <a:p>
                      <a:r>
                        <a:rPr lang="en-US" sz="2000" b="1">
                          <a:cs typeface="Nazanin" panose="00000400000000000000" pitchFamily="2" charset="-78"/>
                        </a:rPr>
                        <a:t>Runway ML</a:t>
                      </a:r>
                      <a:endParaRPr lang="en-US" sz="2000">
                        <a:cs typeface="Nazanin" panose="00000400000000000000" pitchFamily="2" charset="-78"/>
                      </a:endParaRPr>
                    </a:p>
                  </a:txBody>
                  <a:tcPr anchor="ctr"/>
                </a:tc>
                <a:tc>
                  <a:txBody>
                    <a:bodyPr/>
                    <a:lstStyle/>
                    <a:p>
                      <a:pPr algn="r" rtl="1"/>
                      <a:r>
                        <a:rPr lang="ar-SA" sz="2000">
                          <a:cs typeface="Nazanin" panose="00000400000000000000" pitchFamily="2" charset="-78"/>
                        </a:rPr>
                        <a:t>ویدیو به ویدیو، افکت‌های </a:t>
                      </a:r>
                      <a:r>
                        <a:rPr lang="en-US" sz="2000">
                          <a:cs typeface="Nazanin" panose="00000400000000000000" pitchFamily="2" charset="-78"/>
                        </a:rPr>
                        <a:t>AI، </a:t>
                      </a:r>
                      <a:r>
                        <a:rPr lang="ar-SA" sz="2000">
                          <a:cs typeface="Nazanin" panose="00000400000000000000" pitchFamily="2" charset="-78"/>
                        </a:rPr>
                        <a:t>حذف پس‌زمینه</a:t>
                      </a:r>
                    </a:p>
                  </a:txBody>
                  <a:tcPr anchor="ctr"/>
                </a:tc>
                <a:tc>
                  <a:txBody>
                    <a:bodyPr/>
                    <a:lstStyle/>
                    <a:p>
                      <a:pPr algn="r" rtl="1"/>
                      <a:r>
                        <a:rPr lang="ar-SA" sz="2000">
                          <a:cs typeface="Nazanin" panose="00000400000000000000" pitchFamily="2" charset="-78"/>
                        </a:rPr>
                        <a:t>برای تولید فیلم و موزیک‌ویدیو</a:t>
                      </a:r>
                    </a:p>
                  </a:txBody>
                  <a:tcPr anchor="ctr"/>
                </a:tc>
                <a:tc>
                  <a:txBody>
                    <a:bodyPr/>
                    <a:lstStyle/>
                    <a:p>
                      <a:pPr algn="r" rtl="1"/>
                      <a:r>
                        <a:rPr lang="ar-SA" sz="2000">
                          <a:cs typeface="Nazanin" panose="00000400000000000000" pitchFamily="2" charset="-78"/>
                        </a:rPr>
                        <a:t>آمریکا</a:t>
                      </a:r>
                    </a:p>
                  </a:txBody>
                  <a:tcPr anchor="ctr"/>
                </a:tc>
                <a:extLst>
                  <a:ext uri="{0D108BD9-81ED-4DB2-BD59-A6C34878D82A}">
                    <a16:rowId xmlns:a16="http://schemas.microsoft.com/office/drawing/2014/main" val="1418811959"/>
                  </a:ext>
                </a:extLst>
              </a:tr>
              <a:tr h="0">
                <a:tc>
                  <a:txBody>
                    <a:bodyPr/>
                    <a:lstStyle/>
                    <a:p>
                      <a:r>
                        <a:rPr lang="en-US" sz="2000" b="1">
                          <a:cs typeface="Nazanin" panose="00000400000000000000" pitchFamily="2" charset="-78"/>
                        </a:rPr>
                        <a:t>Scenario</a:t>
                      </a:r>
                      <a:endParaRPr lang="en-US" sz="2000">
                        <a:cs typeface="Nazanin" panose="00000400000000000000" pitchFamily="2" charset="-78"/>
                      </a:endParaRPr>
                    </a:p>
                  </a:txBody>
                  <a:tcPr anchor="ctr"/>
                </a:tc>
                <a:tc>
                  <a:txBody>
                    <a:bodyPr/>
                    <a:lstStyle/>
                    <a:p>
                      <a:pPr algn="r" rtl="1"/>
                      <a:r>
                        <a:rPr lang="ar-SA" sz="2000">
                          <a:cs typeface="Nazanin" panose="00000400000000000000" pitchFamily="2" charset="-78"/>
                        </a:rPr>
                        <a:t>ساخت کاراکتر و دنیاهای گیم</a:t>
                      </a:r>
                    </a:p>
                  </a:txBody>
                  <a:tcPr anchor="ctr"/>
                </a:tc>
                <a:tc>
                  <a:txBody>
                    <a:bodyPr/>
                    <a:lstStyle/>
                    <a:p>
                      <a:pPr algn="r" rtl="1"/>
                      <a:r>
                        <a:rPr lang="ar-SA" sz="2000">
                          <a:cs typeface="Nazanin" panose="00000400000000000000" pitchFamily="2" charset="-78"/>
                        </a:rPr>
                        <a:t>مدل‌سازی مخصوص بازی‌سازان</a:t>
                      </a:r>
                    </a:p>
                  </a:txBody>
                  <a:tcPr anchor="ctr"/>
                </a:tc>
                <a:tc>
                  <a:txBody>
                    <a:bodyPr/>
                    <a:lstStyle/>
                    <a:p>
                      <a:pPr algn="r" rtl="1"/>
                      <a:r>
                        <a:rPr lang="ar-SA" sz="2000">
                          <a:cs typeface="Nazanin" panose="00000400000000000000" pitchFamily="2" charset="-78"/>
                        </a:rPr>
                        <a:t>آمریکا</a:t>
                      </a:r>
                    </a:p>
                  </a:txBody>
                  <a:tcPr anchor="ctr"/>
                </a:tc>
                <a:extLst>
                  <a:ext uri="{0D108BD9-81ED-4DB2-BD59-A6C34878D82A}">
                    <a16:rowId xmlns:a16="http://schemas.microsoft.com/office/drawing/2014/main" val="3100761883"/>
                  </a:ext>
                </a:extLst>
              </a:tr>
              <a:tr h="0">
                <a:tc>
                  <a:txBody>
                    <a:bodyPr/>
                    <a:lstStyle/>
                    <a:p>
                      <a:r>
                        <a:rPr lang="en-US" sz="2000" b="1">
                          <a:cs typeface="Nazanin" panose="00000400000000000000" pitchFamily="2" charset="-78"/>
                        </a:rPr>
                        <a:t>Pika Labs</a:t>
                      </a:r>
                      <a:endParaRPr lang="en-US" sz="2000">
                        <a:cs typeface="Nazanin" panose="00000400000000000000" pitchFamily="2" charset="-78"/>
                      </a:endParaRPr>
                    </a:p>
                  </a:txBody>
                  <a:tcPr anchor="ctr"/>
                </a:tc>
                <a:tc>
                  <a:txBody>
                    <a:bodyPr/>
                    <a:lstStyle/>
                    <a:p>
                      <a:pPr algn="r" rtl="1"/>
                      <a:r>
                        <a:rPr lang="ar-SA" sz="2000">
                          <a:cs typeface="Nazanin" panose="00000400000000000000" pitchFamily="2" charset="-78"/>
                        </a:rPr>
                        <a:t>تبدیل متن به ویدیو</a:t>
                      </a:r>
                      <a:endParaRPr lang="en-US" sz="2000">
                        <a:cs typeface="Nazanin" panose="00000400000000000000" pitchFamily="2" charset="-78"/>
                      </a:endParaRPr>
                    </a:p>
                    <a:p>
                      <a:pPr algn="r" rtl="1"/>
                      <a:r>
                        <a:rPr lang="en-US" sz="2000">
                          <a:cs typeface="Nazanin" panose="00000400000000000000" pitchFamily="2" charset="-78"/>
                        </a:rPr>
                        <a:t>(Text to Video)</a:t>
                      </a:r>
                    </a:p>
                  </a:txBody>
                  <a:tcPr anchor="ctr"/>
                </a:tc>
                <a:tc>
                  <a:txBody>
                    <a:bodyPr/>
                    <a:lstStyle/>
                    <a:p>
                      <a:pPr algn="r" rtl="1"/>
                      <a:r>
                        <a:rPr lang="ar-SA" sz="2000">
                          <a:cs typeface="Nazanin" panose="00000400000000000000" pitchFamily="2" charset="-78"/>
                        </a:rPr>
                        <a:t>ساخت انیمیشن از متن ساده</a:t>
                      </a:r>
                    </a:p>
                  </a:txBody>
                  <a:tcPr anchor="ctr"/>
                </a:tc>
                <a:tc>
                  <a:txBody>
                    <a:bodyPr/>
                    <a:lstStyle/>
                    <a:p>
                      <a:pPr algn="r" rtl="1"/>
                      <a:r>
                        <a:rPr lang="ar-SA" sz="2000">
                          <a:cs typeface="Nazanin" panose="00000400000000000000" pitchFamily="2" charset="-78"/>
                        </a:rPr>
                        <a:t>آمریکا</a:t>
                      </a:r>
                    </a:p>
                  </a:txBody>
                  <a:tcPr anchor="ctr"/>
                </a:tc>
                <a:extLst>
                  <a:ext uri="{0D108BD9-81ED-4DB2-BD59-A6C34878D82A}">
                    <a16:rowId xmlns:a16="http://schemas.microsoft.com/office/drawing/2014/main" val="2424877365"/>
                  </a:ext>
                </a:extLst>
              </a:tr>
            </a:tbl>
          </a:graphicData>
        </a:graphic>
      </p:graphicFrame>
      <p:sp>
        <p:nvSpPr>
          <p:cNvPr id="4" name="TextBox 3">
            <a:extLst>
              <a:ext uri="{FF2B5EF4-FFF2-40B4-BE49-F238E27FC236}">
                <a16:creationId xmlns:a16="http://schemas.microsoft.com/office/drawing/2014/main" id="{FA3D1BF3-1139-E82B-7D80-45C619E64C85}"/>
              </a:ext>
            </a:extLst>
          </p:cNvPr>
          <p:cNvSpPr txBox="1"/>
          <p:nvPr/>
        </p:nvSpPr>
        <p:spPr>
          <a:xfrm>
            <a:off x="2569029" y="487010"/>
            <a:ext cx="6074228" cy="584775"/>
          </a:xfrm>
          <a:prstGeom prst="rect">
            <a:avLst/>
          </a:prstGeom>
          <a:noFill/>
        </p:spPr>
        <p:txBody>
          <a:bodyPr wrap="square">
            <a:spAutoFit/>
          </a:bodyPr>
          <a:lstStyle/>
          <a:p>
            <a:pPr algn="l" rtl="1"/>
            <a:r>
              <a:rPr lang="en-US" sz="3200">
                <a:cs typeface="Titr" panose="00000700000000000000" pitchFamily="2" charset="-78"/>
              </a:rPr>
              <a:t>🧠 </a:t>
            </a:r>
            <a:r>
              <a:rPr lang="ar-SA" sz="3200" b="1">
                <a:cs typeface="Titr" panose="00000700000000000000" pitchFamily="2" charset="-78"/>
              </a:rPr>
              <a:t>هوش مصنوعی مولد (جدید و خاص)</a:t>
            </a:r>
            <a:endParaRPr lang="fa-IR" sz="3200">
              <a:cs typeface="Titr" panose="00000700000000000000" pitchFamily="2" charset="-78"/>
            </a:endParaRPr>
          </a:p>
        </p:txBody>
      </p:sp>
      <p:sp>
        <p:nvSpPr>
          <p:cNvPr id="3" name="TextBox 2">
            <a:extLst>
              <a:ext uri="{FF2B5EF4-FFF2-40B4-BE49-F238E27FC236}">
                <a16:creationId xmlns:a16="http://schemas.microsoft.com/office/drawing/2014/main" id="{28CAA30D-AF2C-3CAC-0DD9-B3EF12EFB149}"/>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24</a:t>
            </a:r>
            <a:endParaRPr lang="fa-IR" sz="1200"/>
          </a:p>
        </p:txBody>
      </p:sp>
    </p:spTree>
    <p:extLst>
      <p:ext uri="{BB962C8B-B14F-4D97-AF65-F5344CB8AC3E}">
        <p14:creationId xmlns:p14="http://schemas.microsoft.com/office/powerpoint/2010/main" val="25081215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D4F7A-CDB4-650B-7778-4839CAA94CD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2087F24-671E-B6A9-FA94-17DB3501A47C}"/>
              </a:ext>
            </a:extLst>
          </p:cNvPr>
          <p:cNvSpPr txBox="1"/>
          <p:nvPr/>
        </p:nvSpPr>
        <p:spPr>
          <a:xfrm>
            <a:off x="116114" y="409805"/>
            <a:ext cx="9027886" cy="584775"/>
          </a:xfrm>
          <a:prstGeom prst="rect">
            <a:avLst/>
          </a:prstGeom>
          <a:noFill/>
        </p:spPr>
        <p:txBody>
          <a:bodyPr wrap="square">
            <a:spAutoFit/>
          </a:bodyPr>
          <a:lstStyle/>
          <a:p>
            <a:pPr algn="r" rtl="1"/>
            <a:r>
              <a:rPr lang="ar-SA" sz="3200">
                <a:cs typeface="Titr" panose="00000700000000000000" pitchFamily="2" charset="-78"/>
              </a:rPr>
              <a:t>✍️ </a:t>
            </a:r>
            <a:r>
              <a:rPr lang="ar-SA" sz="3200" b="1">
                <a:cs typeface="Titr" panose="00000700000000000000" pitchFamily="2" charset="-78"/>
              </a:rPr>
              <a:t>نویسندگی، تولید محتوا و داستان‌پردازی با هوش مصنوعی</a:t>
            </a:r>
            <a:endParaRPr lang="fa-IR" sz="3200">
              <a:cs typeface="Titr" panose="00000700000000000000" pitchFamily="2" charset="-78"/>
            </a:endParaRPr>
          </a:p>
        </p:txBody>
      </p:sp>
      <p:graphicFrame>
        <p:nvGraphicFramePr>
          <p:cNvPr id="4" name="Table 3">
            <a:extLst>
              <a:ext uri="{FF2B5EF4-FFF2-40B4-BE49-F238E27FC236}">
                <a16:creationId xmlns:a16="http://schemas.microsoft.com/office/drawing/2014/main" id="{3E9CE607-FE55-2FFA-5895-79BE598478C4}"/>
              </a:ext>
            </a:extLst>
          </p:cNvPr>
          <p:cNvGraphicFramePr>
            <a:graphicFrameLocks noGrp="1"/>
          </p:cNvGraphicFramePr>
          <p:nvPr>
            <p:extLst>
              <p:ext uri="{D42A27DB-BD31-4B8C-83A1-F6EECF244321}">
                <p14:modId xmlns:p14="http://schemas.microsoft.com/office/powerpoint/2010/main" val="3239440891"/>
              </p:ext>
            </p:extLst>
          </p:nvPr>
        </p:nvGraphicFramePr>
        <p:xfrm>
          <a:off x="628650" y="1479437"/>
          <a:ext cx="7886700" cy="2499360"/>
        </p:xfrm>
        <a:graphic>
          <a:graphicData uri="http://schemas.openxmlformats.org/drawingml/2006/table">
            <a:tbl>
              <a:tblPr>
                <a:tableStyleId>{5940675A-B579-460E-94D1-54222C63F5DA}</a:tableStyleId>
              </a:tblPr>
              <a:tblGrid>
                <a:gridCol w="1971675">
                  <a:extLst>
                    <a:ext uri="{9D8B030D-6E8A-4147-A177-3AD203B41FA5}">
                      <a16:colId xmlns:a16="http://schemas.microsoft.com/office/drawing/2014/main" val="2995675895"/>
                    </a:ext>
                  </a:extLst>
                </a:gridCol>
                <a:gridCol w="2381578">
                  <a:extLst>
                    <a:ext uri="{9D8B030D-6E8A-4147-A177-3AD203B41FA5}">
                      <a16:colId xmlns:a16="http://schemas.microsoft.com/office/drawing/2014/main" val="4185726841"/>
                    </a:ext>
                  </a:extLst>
                </a:gridCol>
                <a:gridCol w="2727435">
                  <a:extLst>
                    <a:ext uri="{9D8B030D-6E8A-4147-A177-3AD203B41FA5}">
                      <a16:colId xmlns:a16="http://schemas.microsoft.com/office/drawing/2014/main" val="1793734379"/>
                    </a:ext>
                  </a:extLst>
                </a:gridCol>
                <a:gridCol w="806012">
                  <a:extLst>
                    <a:ext uri="{9D8B030D-6E8A-4147-A177-3AD203B41FA5}">
                      <a16:colId xmlns:a16="http://schemas.microsoft.com/office/drawing/2014/main" val="2078058386"/>
                    </a:ext>
                  </a:extLst>
                </a:gridCol>
              </a:tblGrid>
              <a:tr h="0">
                <a:tc>
                  <a:txBody>
                    <a:bodyPr/>
                    <a:lstStyle/>
                    <a:p>
                      <a:pPr algn="r" rtl="1"/>
                      <a:r>
                        <a:rPr lang="ar-SA" sz="2000"/>
                        <a:t>نام</a:t>
                      </a:r>
                      <a:endParaRPr lang="ar-SA" sz="2000">
                        <a:cs typeface="Nazanin" panose="00000400000000000000" pitchFamily="2" charset="-78"/>
                      </a:endParaRPr>
                    </a:p>
                  </a:txBody>
                  <a:tcPr anchor="ctr"/>
                </a:tc>
                <a:tc>
                  <a:txBody>
                    <a:bodyPr/>
                    <a:lstStyle/>
                    <a:p>
                      <a:pPr algn="r" rtl="1"/>
                      <a:r>
                        <a:rPr lang="ar-SA" sz="2000"/>
                        <a:t>توضیح</a:t>
                      </a:r>
                      <a:endParaRPr lang="ar-SA" sz="2000">
                        <a:cs typeface="Nazanin" panose="00000400000000000000" pitchFamily="2" charset="-78"/>
                      </a:endParaRPr>
                    </a:p>
                  </a:txBody>
                  <a:tcPr anchor="ctr"/>
                </a:tc>
                <a:tc>
                  <a:txBody>
                    <a:bodyPr/>
                    <a:lstStyle/>
                    <a:p>
                      <a:pPr algn="r" rtl="1"/>
                      <a:r>
                        <a:rPr lang="ar-SA" sz="2000"/>
                        <a:t>قابلیت ویژه</a:t>
                      </a:r>
                      <a:endParaRPr lang="ar-SA" sz="2000">
                        <a:cs typeface="Nazanin" panose="00000400000000000000" pitchFamily="2" charset="-78"/>
                      </a:endParaRPr>
                    </a:p>
                  </a:txBody>
                  <a:tcPr anchor="ctr"/>
                </a:tc>
                <a:tc>
                  <a:txBody>
                    <a:bodyPr/>
                    <a:lstStyle/>
                    <a:p>
                      <a:pPr algn="r" rtl="1"/>
                      <a:r>
                        <a:rPr lang="ar-SA" sz="2000"/>
                        <a:t>کشور</a:t>
                      </a:r>
                      <a:endParaRPr lang="ar-SA" sz="2000">
                        <a:cs typeface="Nazanin" panose="00000400000000000000" pitchFamily="2" charset="-78"/>
                      </a:endParaRPr>
                    </a:p>
                  </a:txBody>
                  <a:tcPr anchor="ctr"/>
                </a:tc>
                <a:extLst>
                  <a:ext uri="{0D108BD9-81ED-4DB2-BD59-A6C34878D82A}">
                    <a16:rowId xmlns:a16="http://schemas.microsoft.com/office/drawing/2014/main" val="2763549886"/>
                  </a:ext>
                </a:extLst>
              </a:tr>
              <a:tr h="0">
                <a:tc>
                  <a:txBody>
                    <a:bodyPr/>
                    <a:lstStyle/>
                    <a:p>
                      <a:pPr algn="l" rtl="0"/>
                      <a:r>
                        <a:rPr lang="en-US" sz="2000" b="1"/>
                        <a:t>Sudowrite</a:t>
                      </a:r>
                      <a:endParaRPr lang="en-US" sz="2000">
                        <a:cs typeface="Nazanin" panose="00000400000000000000" pitchFamily="2" charset="-78"/>
                      </a:endParaRPr>
                    </a:p>
                  </a:txBody>
                  <a:tcPr anchor="ctr"/>
                </a:tc>
                <a:tc>
                  <a:txBody>
                    <a:bodyPr/>
                    <a:lstStyle/>
                    <a:p>
                      <a:pPr algn="r" rtl="1"/>
                      <a:r>
                        <a:rPr lang="ar-SA" sz="2000"/>
                        <a:t>نویسنده‌ی کمکی برای داستان‌نویسان</a:t>
                      </a:r>
                      <a:endParaRPr lang="ar-SA" sz="2000">
                        <a:cs typeface="Nazanin" panose="00000400000000000000" pitchFamily="2" charset="-78"/>
                      </a:endParaRPr>
                    </a:p>
                  </a:txBody>
                  <a:tcPr anchor="ctr"/>
                </a:tc>
                <a:tc>
                  <a:txBody>
                    <a:bodyPr/>
                    <a:lstStyle/>
                    <a:p>
                      <a:pPr algn="r" rtl="1"/>
                      <a:r>
                        <a:rPr lang="ar-SA" sz="2000"/>
                        <a:t>الهام‌بخش خلاقیت در رمان</a:t>
                      </a:r>
                      <a:endParaRPr lang="ar-SA" sz="2000">
                        <a:cs typeface="Nazanin" panose="00000400000000000000" pitchFamily="2" charset="-78"/>
                      </a:endParaRPr>
                    </a:p>
                  </a:txBody>
                  <a:tcPr anchor="ctr"/>
                </a:tc>
                <a:tc>
                  <a:txBody>
                    <a:bodyPr/>
                    <a:lstStyle/>
                    <a:p>
                      <a:pPr algn="r" rtl="1"/>
                      <a:r>
                        <a:rPr lang="ar-SA" sz="2000"/>
                        <a:t>آمریکا</a:t>
                      </a:r>
                      <a:endParaRPr lang="ar-SA" sz="2000">
                        <a:cs typeface="Nazanin" panose="00000400000000000000" pitchFamily="2" charset="-78"/>
                      </a:endParaRPr>
                    </a:p>
                  </a:txBody>
                  <a:tcPr anchor="ctr"/>
                </a:tc>
                <a:extLst>
                  <a:ext uri="{0D108BD9-81ED-4DB2-BD59-A6C34878D82A}">
                    <a16:rowId xmlns:a16="http://schemas.microsoft.com/office/drawing/2014/main" val="565808077"/>
                  </a:ext>
                </a:extLst>
              </a:tr>
              <a:tr h="0">
                <a:tc>
                  <a:txBody>
                    <a:bodyPr/>
                    <a:lstStyle/>
                    <a:p>
                      <a:pPr algn="l" rtl="0"/>
                      <a:r>
                        <a:rPr lang="en-US" sz="2000" b="1"/>
                        <a:t>Jasper AI</a:t>
                      </a:r>
                      <a:endParaRPr lang="en-US" sz="2000">
                        <a:cs typeface="Nazanin" panose="00000400000000000000" pitchFamily="2" charset="-78"/>
                      </a:endParaRPr>
                    </a:p>
                  </a:txBody>
                  <a:tcPr anchor="ctr"/>
                </a:tc>
                <a:tc>
                  <a:txBody>
                    <a:bodyPr/>
                    <a:lstStyle/>
                    <a:p>
                      <a:pPr algn="r" rtl="1"/>
                      <a:r>
                        <a:rPr lang="ar-SA" sz="2000"/>
                        <a:t>تولید محتوای تجاری، تبلیغاتی و بلاگ</a:t>
                      </a:r>
                      <a:endParaRPr lang="ar-SA" sz="2000">
                        <a:cs typeface="Nazanin" panose="00000400000000000000" pitchFamily="2" charset="-78"/>
                      </a:endParaRPr>
                    </a:p>
                  </a:txBody>
                  <a:tcPr anchor="ctr"/>
                </a:tc>
                <a:tc>
                  <a:txBody>
                    <a:bodyPr/>
                    <a:lstStyle/>
                    <a:p>
                      <a:pPr algn="r" rtl="1"/>
                      <a:r>
                        <a:rPr lang="ar-SA" sz="2000"/>
                        <a:t>قالب‌های آماده، تبلیغ نویسی</a:t>
                      </a:r>
                      <a:endParaRPr lang="ar-SA" sz="2000">
                        <a:cs typeface="Nazanin" panose="00000400000000000000" pitchFamily="2" charset="-78"/>
                      </a:endParaRPr>
                    </a:p>
                  </a:txBody>
                  <a:tcPr anchor="ctr"/>
                </a:tc>
                <a:tc>
                  <a:txBody>
                    <a:bodyPr/>
                    <a:lstStyle/>
                    <a:p>
                      <a:pPr algn="r" rtl="1"/>
                      <a:r>
                        <a:rPr lang="ar-SA" sz="2000"/>
                        <a:t>آمریکا</a:t>
                      </a:r>
                      <a:endParaRPr lang="ar-SA" sz="2000">
                        <a:cs typeface="Nazanin" panose="00000400000000000000" pitchFamily="2" charset="-78"/>
                      </a:endParaRPr>
                    </a:p>
                  </a:txBody>
                  <a:tcPr anchor="ctr"/>
                </a:tc>
                <a:extLst>
                  <a:ext uri="{0D108BD9-81ED-4DB2-BD59-A6C34878D82A}">
                    <a16:rowId xmlns:a16="http://schemas.microsoft.com/office/drawing/2014/main" val="3795733662"/>
                  </a:ext>
                </a:extLst>
              </a:tr>
              <a:tr h="0">
                <a:tc>
                  <a:txBody>
                    <a:bodyPr/>
                    <a:lstStyle/>
                    <a:p>
                      <a:pPr algn="l" rtl="0"/>
                      <a:r>
                        <a:rPr lang="en-US" sz="2000" b="1"/>
                        <a:t>NovelAI</a:t>
                      </a:r>
                      <a:endParaRPr lang="en-US" sz="2000">
                        <a:cs typeface="Nazanin" panose="00000400000000000000" pitchFamily="2" charset="-78"/>
                      </a:endParaRPr>
                    </a:p>
                  </a:txBody>
                  <a:tcPr anchor="ctr"/>
                </a:tc>
                <a:tc>
                  <a:txBody>
                    <a:bodyPr/>
                    <a:lstStyle/>
                    <a:p>
                      <a:pPr algn="r" rtl="1"/>
                      <a:r>
                        <a:rPr lang="ar-SA" sz="2000"/>
                        <a:t>داستان‌نویسی و نقش‌آفرینی با </a:t>
                      </a:r>
                      <a:r>
                        <a:rPr lang="en-US" sz="2000"/>
                        <a:t>AI</a:t>
                      </a:r>
                      <a:endParaRPr lang="en-US" sz="2000">
                        <a:cs typeface="Nazanin" panose="00000400000000000000" pitchFamily="2" charset="-78"/>
                      </a:endParaRPr>
                    </a:p>
                  </a:txBody>
                  <a:tcPr anchor="ctr"/>
                </a:tc>
                <a:tc>
                  <a:txBody>
                    <a:bodyPr/>
                    <a:lstStyle/>
                    <a:p>
                      <a:pPr algn="r" rtl="1"/>
                      <a:r>
                        <a:rPr lang="ar-SA" sz="2000"/>
                        <a:t>کنترل کامل شخصیت‌ها و سبک</a:t>
                      </a:r>
                      <a:endParaRPr lang="ar-SA" sz="2000">
                        <a:cs typeface="Nazanin" panose="00000400000000000000" pitchFamily="2" charset="-78"/>
                      </a:endParaRPr>
                    </a:p>
                  </a:txBody>
                  <a:tcPr anchor="ctr"/>
                </a:tc>
                <a:tc>
                  <a:txBody>
                    <a:bodyPr/>
                    <a:lstStyle/>
                    <a:p>
                      <a:pPr algn="r" rtl="1"/>
                      <a:r>
                        <a:rPr lang="ar-SA" sz="2000"/>
                        <a:t>آمریکا</a:t>
                      </a:r>
                      <a:endParaRPr lang="ar-SA" sz="2000">
                        <a:cs typeface="Nazanin" panose="00000400000000000000" pitchFamily="2" charset="-78"/>
                      </a:endParaRPr>
                    </a:p>
                  </a:txBody>
                  <a:tcPr anchor="ctr"/>
                </a:tc>
                <a:extLst>
                  <a:ext uri="{0D108BD9-81ED-4DB2-BD59-A6C34878D82A}">
                    <a16:rowId xmlns:a16="http://schemas.microsoft.com/office/drawing/2014/main" val="476487098"/>
                  </a:ext>
                </a:extLst>
              </a:tr>
            </a:tbl>
          </a:graphicData>
        </a:graphic>
      </p:graphicFrame>
      <p:sp>
        <p:nvSpPr>
          <p:cNvPr id="2" name="TextBox 1">
            <a:extLst>
              <a:ext uri="{FF2B5EF4-FFF2-40B4-BE49-F238E27FC236}">
                <a16:creationId xmlns:a16="http://schemas.microsoft.com/office/drawing/2014/main" id="{835C1B3B-D16D-ECA5-82CB-252AC71C0A3B}"/>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25</a:t>
            </a:r>
            <a:endParaRPr lang="fa-IR" sz="1200"/>
          </a:p>
        </p:txBody>
      </p:sp>
    </p:spTree>
    <p:extLst>
      <p:ext uri="{BB962C8B-B14F-4D97-AF65-F5344CB8AC3E}">
        <p14:creationId xmlns:p14="http://schemas.microsoft.com/office/powerpoint/2010/main" val="13246197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42342-2131-9031-42BB-050D1337A23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45CE957-2E04-AEC2-A283-787FEA58A033}"/>
              </a:ext>
            </a:extLst>
          </p:cNvPr>
          <p:cNvSpPr txBox="1"/>
          <p:nvPr/>
        </p:nvSpPr>
        <p:spPr>
          <a:xfrm>
            <a:off x="116114" y="409805"/>
            <a:ext cx="9027886" cy="584775"/>
          </a:xfrm>
          <a:prstGeom prst="rect">
            <a:avLst/>
          </a:prstGeom>
          <a:noFill/>
        </p:spPr>
        <p:txBody>
          <a:bodyPr wrap="square">
            <a:spAutoFit/>
          </a:bodyPr>
          <a:lstStyle/>
          <a:p>
            <a:pPr algn="r" rtl="1"/>
            <a:r>
              <a:rPr lang="ar-SA" sz="3200">
                <a:cs typeface="Titr" panose="00000700000000000000" pitchFamily="2" charset="-78"/>
              </a:rPr>
              <a:t>👨‍🏫 آموزش و یادگیری با کمک هوش مصنوعی</a:t>
            </a:r>
            <a:endParaRPr lang="fa-IR" sz="3200">
              <a:cs typeface="Titr" panose="00000700000000000000" pitchFamily="2" charset="-78"/>
            </a:endParaRPr>
          </a:p>
        </p:txBody>
      </p:sp>
      <p:graphicFrame>
        <p:nvGraphicFramePr>
          <p:cNvPr id="6" name="Table 5">
            <a:extLst>
              <a:ext uri="{FF2B5EF4-FFF2-40B4-BE49-F238E27FC236}">
                <a16:creationId xmlns:a16="http://schemas.microsoft.com/office/drawing/2014/main" id="{8F64E30B-D0D0-F6EF-4AB4-69D93EC9CF61}"/>
              </a:ext>
            </a:extLst>
          </p:cNvPr>
          <p:cNvGraphicFramePr>
            <a:graphicFrameLocks noGrp="1"/>
          </p:cNvGraphicFramePr>
          <p:nvPr>
            <p:extLst>
              <p:ext uri="{D42A27DB-BD31-4B8C-83A1-F6EECF244321}">
                <p14:modId xmlns:p14="http://schemas.microsoft.com/office/powerpoint/2010/main" val="2476612117"/>
              </p:ext>
            </p:extLst>
          </p:nvPr>
        </p:nvGraphicFramePr>
        <p:xfrm>
          <a:off x="628650" y="1645920"/>
          <a:ext cx="7886700" cy="3596640"/>
        </p:xfrm>
        <a:graphic>
          <a:graphicData uri="http://schemas.openxmlformats.org/drawingml/2006/table">
            <a:tbl>
              <a:tblPr>
                <a:tableStyleId>{5940675A-B579-460E-94D1-54222C63F5DA}</a:tableStyleId>
              </a:tblPr>
              <a:tblGrid>
                <a:gridCol w="1971675">
                  <a:extLst>
                    <a:ext uri="{9D8B030D-6E8A-4147-A177-3AD203B41FA5}">
                      <a16:colId xmlns:a16="http://schemas.microsoft.com/office/drawing/2014/main" val="4026670355"/>
                    </a:ext>
                  </a:extLst>
                </a:gridCol>
                <a:gridCol w="2653846">
                  <a:extLst>
                    <a:ext uri="{9D8B030D-6E8A-4147-A177-3AD203B41FA5}">
                      <a16:colId xmlns:a16="http://schemas.microsoft.com/office/drawing/2014/main" val="3726159942"/>
                    </a:ext>
                  </a:extLst>
                </a:gridCol>
                <a:gridCol w="2235200">
                  <a:extLst>
                    <a:ext uri="{9D8B030D-6E8A-4147-A177-3AD203B41FA5}">
                      <a16:colId xmlns:a16="http://schemas.microsoft.com/office/drawing/2014/main" val="354523140"/>
                    </a:ext>
                  </a:extLst>
                </a:gridCol>
                <a:gridCol w="1025979">
                  <a:extLst>
                    <a:ext uri="{9D8B030D-6E8A-4147-A177-3AD203B41FA5}">
                      <a16:colId xmlns:a16="http://schemas.microsoft.com/office/drawing/2014/main" val="1375156348"/>
                    </a:ext>
                  </a:extLst>
                </a:gridCol>
              </a:tblGrid>
              <a:tr h="0">
                <a:tc>
                  <a:txBody>
                    <a:bodyPr/>
                    <a:lstStyle/>
                    <a:p>
                      <a:pPr algn="r" rtl="1"/>
                      <a:r>
                        <a:rPr lang="ar-SA" sz="2000">
                          <a:cs typeface="2  Nazanin" panose="00000400000000000000" pitchFamily="2" charset="-78"/>
                        </a:rPr>
                        <a:t>نام</a:t>
                      </a:r>
                    </a:p>
                  </a:txBody>
                  <a:tcPr anchor="ctr"/>
                </a:tc>
                <a:tc>
                  <a:txBody>
                    <a:bodyPr/>
                    <a:lstStyle/>
                    <a:p>
                      <a:pPr algn="r" rtl="1"/>
                      <a:r>
                        <a:rPr lang="ar-SA" sz="2000">
                          <a:cs typeface="2  Nazanin" panose="00000400000000000000" pitchFamily="2" charset="-78"/>
                        </a:rPr>
                        <a:t>توضیح</a:t>
                      </a:r>
                    </a:p>
                  </a:txBody>
                  <a:tcPr anchor="ctr"/>
                </a:tc>
                <a:tc>
                  <a:txBody>
                    <a:bodyPr/>
                    <a:lstStyle/>
                    <a:p>
                      <a:pPr algn="r" rtl="1"/>
                      <a:r>
                        <a:rPr lang="ar-SA" sz="2000">
                          <a:cs typeface="2  Nazanin" panose="00000400000000000000" pitchFamily="2" charset="-78"/>
                        </a:rPr>
                        <a:t>ویژگی خاص</a:t>
                      </a:r>
                    </a:p>
                  </a:txBody>
                  <a:tcPr anchor="ctr"/>
                </a:tc>
                <a:tc>
                  <a:txBody>
                    <a:bodyPr/>
                    <a:lstStyle/>
                    <a:p>
                      <a:pPr algn="r" rtl="1"/>
                      <a:r>
                        <a:rPr lang="ar-SA" sz="2000">
                          <a:cs typeface="2  Nazanin" panose="00000400000000000000" pitchFamily="2" charset="-78"/>
                        </a:rPr>
                        <a:t>کشور</a:t>
                      </a:r>
                    </a:p>
                  </a:txBody>
                  <a:tcPr anchor="ctr"/>
                </a:tc>
                <a:extLst>
                  <a:ext uri="{0D108BD9-81ED-4DB2-BD59-A6C34878D82A}">
                    <a16:rowId xmlns:a16="http://schemas.microsoft.com/office/drawing/2014/main" val="4049221454"/>
                  </a:ext>
                </a:extLst>
              </a:tr>
              <a:tr h="0">
                <a:tc>
                  <a:txBody>
                    <a:bodyPr/>
                    <a:lstStyle/>
                    <a:p>
                      <a:pPr algn="l" rtl="1"/>
                      <a:r>
                        <a:rPr lang="en-US" sz="2000" b="1">
                          <a:cs typeface="2  Nazanin" panose="00000400000000000000" pitchFamily="2" charset="-78"/>
                        </a:rPr>
                        <a:t>SciSpace Copilot</a:t>
                      </a:r>
                      <a:endParaRPr lang="en-US" sz="2000">
                        <a:cs typeface="2  Nazanin" panose="00000400000000000000" pitchFamily="2" charset="-78"/>
                      </a:endParaRPr>
                    </a:p>
                  </a:txBody>
                  <a:tcPr anchor="ctr"/>
                </a:tc>
                <a:tc>
                  <a:txBody>
                    <a:bodyPr/>
                    <a:lstStyle/>
                    <a:p>
                      <a:pPr algn="r" rtl="1"/>
                      <a:r>
                        <a:rPr lang="ar-SA" sz="2000">
                          <a:cs typeface="2  Nazanin" panose="00000400000000000000" pitchFamily="2" charset="-78"/>
                        </a:rPr>
                        <a:t>خواندن و توضیح مقالات علمی</a:t>
                      </a:r>
                    </a:p>
                  </a:txBody>
                  <a:tcPr anchor="ctr"/>
                </a:tc>
                <a:tc>
                  <a:txBody>
                    <a:bodyPr/>
                    <a:lstStyle/>
                    <a:p>
                      <a:pPr algn="r" rtl="1"/>
                      <a:r>
                        <a:rPr lang="ar-SA" sz="2000">
                          <a:cs typeface="2  Nazanin" panose="00000400000000000000" pitchFamily="2" charset="-78"/>
                        </a:rPr>
                        <a:t>پرسش مستقیم از </a:t>
                      </a:r>
                      <a:r>
                        <a:rPr lang="en-US" sz="2000">
                          <a:cs typeface="2  Nazanin" panose="00000400000000000000" pitchFamily="2" charset="-78"/>
                        </a:rPr>
                        <a:t>PDF </a:t>
                      </a:r>
                      <a:r>
                        <a:rPr lang="ar-SA" sz="2000">
                          <a:cs typeface="2  Nazanin" panose="00000400000000000000" pitchFamily="2" charset="-78"/>
                        </a:rPr>
                        <a:t>علمی</a:t>
                      </a:r>
                    </a:p>
                  </a:txBody>
                  <a:tcPr anchor="ctr"/>
                </a:tc>
                <a:tc>
                  <a:txBody>
                    <a:bodyPr/>
                    <a:lstStyle/>
                    <a:p>
                      <a:pPr algn="r" rtl="1"/>
                      <a:r>
                        <a:rPr lang="ar-SA" sz="2000">
                          <a:cs typeface="2  Nazanin" panose="00000400000000000000" pitchFamily="2" charset="-78"/>
                        </a:rPr>
                        <a:t>هند</a:t>
                      </a:r>
                    </a:p>
                  </a:txBody>
                  <a:tcPr anchor="ctr"/>
                </a:tc>
                <a:extLst>
                  <a:ext uri="{0D108BD9-81ED-4DB2-BD59-A6C34878D82A}">
                    <a16:rowId xmlns:a16="http://schemas.microsoft.com/office/drawing/2014/main" val="2368747253"/>
                  </a:ext>
                </a:extLst>
              </a:tr>
              <a:tr h="0">
                <a:tc>
                  <a:txBody>
                    <a:bodyPr/>
                    <a:lstStyle/>
                    <a:p>
                      <a:pPr algn="l" rtl="1"/>
                      <a:r>
                        <a:rPr lang="en-US" sz="2000" b="1">
                          <a:cs typeface="2  Nazanin" panose="00000400000000000000" pitchFamily="2" charset="-78"/>
                        </a:rPr>
                        <a:t>Consensus.app</a:t>
                      </a:r>
                      <a:endParaRPr lang="en-US" sz="2000">
                        <a:cs typeface="2  Nazanin" panose="00000400000000000000" pitchFamily="2" charset="-78"/>
                      </a:endParaRPr>
                    </a:p>
                  </a:txBody>
                  <a:tcPr anchor="ctr"/>
                </a:tc>
                <a:tc>
                  <a:txBody>
                    <a:bodyPr/>
                    <a:lstStyle/>
                    <a:p>
                      <a:pPr algn="r" rtl="1"/>
                      <a:r>
                        <a:rPr lang="ar-SA" sz="2000">
                          <a:cs typeface="2  Nazanin" panose="00000400000000000000" pitchFamily="2" charset="-78"/>
                        </a:rPr>
                        <a:t>جستجو در مقالات علمی با </a:t>
                      </a:r>
                      <a:r>
                        <a:rPr lang="en-US" sz="2000">
                          <a:cs typeface="2  Nazanin" panose="00000400000000000000" pitchFamily="2" charset="-78"/>
                        </a:rPr>
                        <a:t>AI</a:t>
                      </a:r>
                    </a:p>
                  </a:txBody>
                  <a:tcPr anchor="ctr"/>
                </a:tc>
                <a:tc>
                  <a:txBody>
                    <a:bodyPr/>
                    <a:lstStyle/>
                    <a:p>
                      <a:pPr algn="r" rtl="1"/>
                      <a:r>
                        <a:rPr lang="ar-SA" sz="2000">
                          <a:cs typeface="2  Nazanin" panose="00000400000000000000" pitchFamily="2" charset="-78"/>
                        </a:rPr>
                        <a:t>خلاصه‌سازی پژوهش‌ها</a:t>
                      </a:r>
                    </a:p>
                  </a:txBody>
                  <a:tcPr anchor="ctr"/>
                </a:tc>
                <a:tc>
                  <a:txBody>
                    <a:bodyPr/>
                    <a:lstStyle/>
                    <a:p>
                      <a:pPr algn="r" rtl="1"/>
                      <a:r>
                        <a:rPr lang="ar-SA" sz="2000">
                          <a:cs typeface="2  Nazanin" panose="00000400000000000000" pitchFamily="2" charset="-78"/>
                        </a:rPr>
                        <a:t>آمریکا</a:t>
                      </a:r>
                    </a:p>
                  </a:txBody>
                  <a:tcPr anchor="ctr"/>
                </a:tc>
                <a:extLst>
                  <a:ext uri="{0D108BD9-81ED-4DB2-BD59-A6C34878D82A}">
                    <a16:rowId xmlns:a16="http://schemas.microsoft.com/office/drawing/2014/main" val="1490485035"/>
                  </a:ext>
                </a:extLst>
              </a:tr>
              <a:tr h="0">
                <a:tc>
                  <a:txBody>
                    <a:bodyPr/>
                    <a:lstStyle/>
                    <a:p>
                      <a:pPr algn="l" rtl="1"/>
                      <a:r>
                        <a:rPr lang="en-US" sz="2000" b="1">
                          <a:cs typeface="2  Nazanin" panose="00000400000000000000" pitchFamily="2" charset="-78"/>
                        </a:rPr>
                        <a:t>Genei</a:t>
                      </a:r>
                      <a:endParaRPr lang="en-US" sz="2000">
                        <a:cs typeface="2  Nazanin" panose="00000400000000000000" pitchFamily="2" charset="-78"/>
                      </a:endParaRPr>
                    </a:p>
                  </a:txBody>
                  <a:tcPr anchor="ctr"/>
                </a:tc>
                <a:tc>
                  <a:txBody>
                    <a:bodyPr/>
                    <a:lstStyle/>
                    <a:p>
                      <a:pPr algn="r" rtl="1"/>
                      <a:r>
                        <a:rPr lang="ar-SA" sz="2000">
                          <a:cs typeface="2  Nazanin" panose="00000400000000000000" pitchFamily="2" charset="-78"/>
                        </a:rPr>
                        <a:t>خلاصه‌سازی متون بلند </a:t>
                      </a:r>
                      <a:endParaRPr lang="en-US" sz="2000">
                        <a:cs typeface="2  Nazanin" panose="00000400000000000000" pitchFamily="2" charset="-78"/>
                      </a:endParaRPr>
                    </a:p>
                    <a:p>
                      <a:pPr algn="r" rtl="1"/>
                      <a:r>
                        <a:rPr lang="en-US" sz="2000">
                          <a:cs typeface="2  Nazanin" panose="00000400000000000000" pitchFamily="2" charset="-78"/>
                        </a:rPr>
                        <a:t>(PDF, </a:t>
                      </a:r>
                      <a:r>
                        <a:rPr lang="ar-SA" sz="2000">
                          <a:cs typeface="2  Nazanin" panose="00000400000000000000" pitchFamily="2" charset="-78"/>
                        </a:rPr>
                        <a:t>مقاله</a:t>
                      </a:r>
                      <a:r>
                        <a:rPr lang="en-US" sz="2000">
                          <a:cs typeface="2  Nazanin" panose="00000400000000000000" pitchFamily="2" charset="-78"/>
                        </a:rPr>
                        <a:t>)</a:t>
                      </a:r>
                      <a:endParaRPr lang="ar-SA" sz="2000">
                        <a:cs typeface="2  Nazanin" panose="00000400000000000000" pitchFamily="2" charset="-78"/>
                      </a:endParaRPr>
                    </a:p>
                  </a:txBody>
                  <a:tcPr anchor="ctr"/>
                </a:tc>
                <a:tc>
                  <a:txBody>
                    <a:bodyPr/>
                    <a:lstStyle/>
                    <a:p>
                      <a:pPr algn="r" rtl="1"/>
                      <a:r>
                        <a:rPr lang="ar-SA" sz="2000">
                          <a:cs typeface="2  Nazanin" panose="00000400000000000000" pitchFamily="2" charset="-78"/>
                        </a:rPr>
                        <a:t>تولید چکیده هوشمند</a:t>
                      </a:r>
                    </a:p>
                  </a:txBody>
                  <a:tcPr anchor="ctr"/>
                </a:tc>
                <a:tc>
                  <a:txBody>
                    <a:bodyPr/>
                    <a:lstStyle/>
                    <a:p>
                      <a:pPr algn="r" rtl="1"/>
                      <a:r>
                        <a:rPr lang="ar-SA" sz="2000">
                          <a:cs typeface="2  Nazanin" panose="00000400000000000000" pitchFamily="2" charset="-78"/>
                        </a:rPr>
                        <a:t>انگلستان</a:t>
                      </a:r>
                    </a:p>
                  </a:txBody>
                  <a:tcPr anchor="ctr"/>
                </a:tc>
                <a:extLst>
                  <a:ext uri="{0D108BD9-81ED-4DB2-BD59-A6C34878D82A}">
                    <a16:rowId xmlns:a16="http://schemas.microsoft.com/office/drawing/2014/main" val="2519386993"/>
                  </a:ext>
                </a:extLst>
              </a:tr>
              <a:tr h="0">
                <a:tc>
                  <a:txBody>
                    <a:bodyPr/>
                    <a:lstStyle/>
                    <a:p>
                      <a:pPr algn="l" rtl="1"/>
                      <a:r>
                        <a:rPr lang="en-US" sz="2000" b="1">
                          <a:cs typeface="2  Nazanin" panose="00000400000000000000" pitchFamily="2" charset="-78"/>
                        </a:rPr>
                        <a:t>Tangent</a:t>
                      </a:r>
                      <a:endParaRPr lang="en-US" sz="2000">
                        <a:cs typeface="2  Nazanin" panose="00000400000000000000" pitchFamily="2" charset="-78"/>
                      </a:endParaRPr>
                    </a:p>
                  </a:txBody>
                  <a:tcPr anchor="ctr"/>
                </a:tc>
                <a:tc>
                  <a:txBody>
                    <a:bodyPr/>
                    <a:lstStyle/>
                    <a:p>
                      <a:pPr algn="r" rtl="1"/>
                      <a:r>
                        <a:rPr lang="ar-SA" sz="2000">
                          <a:cs typeface="2  Nazanin" panose="00000400000000000000" pitchFamily="2" charset="-78"/>
                        </a:rPr>
                        <a:t>یادگیری با پرسیدن از کتاب درسی</a:t>
                      </a:r>
                    </a:p>
                  </a:txBody>
                  <a:tcPr anchor="ctr"/>
                </a:tc>
                <a:tc>
                  <a:txBody>
                    <a:bodyPr/>
                    <a:lstStyle/>
                    <a:p>
                      <a:pPr algn="r" rtl="1"/>
                      <a:r>
                        <a:rPr lang="ar-SA" sz="2000">
                          <a:cs typeface="2  Nazanin" panose="00000400000000000000" pitchFamily="2" charset="-78"/>
                        </a:rPr>
                        <a:t>مخصوص دانش‌آموزان</a:t>
                      </a:r>
                    </a:p>
                  </a:txBody>
                  <a:tcPr anchor="ctr"/>
                </a:tc>
                <a:tc>
                  <a:txBody>
                    <a:bodyPr/>
                    <a:lstStyle/>
                    <a:p>
                      <a:pPr algn="r" rtl="1"/>
                      <a:r>
                        <a:rPr lang="ar-SA" sz="2000">
                          <a:cs typeface="2  Nazanin" panose="00000400000000000000" pitchFamily="2" charset="-78"/>
                        </a:rPr>
                        <a:t>آمریکا</a:t>
                      </a:r>
                    </a:p>
                  </a:txBody>
                  <a:tcPr anchor="ctr"/>
                </a:tc>
                <a:extLst>
                  <a:ext uri="{0D108BD9-81ED-4DB2-BD59-A6C34878D82A}">
                    <a16:rowId xmlns:a16="http://schemas.microsoft.com/office/drawing/2014/main" val="713605635"/>
                  </a:ext>
                </a:extLst>
              </a:tr>
              <a:tr h="0">
                <a:tc>
                  <a:txBody>
                    <a:bodyPr/>
                    <a:lstStyle/>
                    <a:p>
                      <a:pPr algn="l" rtl="1"/>
                      <a:r>
                        <a:rPr lang="en-US" sz="2000" b="1">
                          <a:cs typeface="2  Nazanin" panose="00000400000000000000" pitchFamily="2" charset="-78"/>
                        </a:rPr>
                        <a:t>Looria AI</a:t>
                      </a:r>
                      <a:endParaRPr lang="en-US" sz="2000">
                        <a:cs typeface="2  Nazanin" panose="00000400000000000000" pitchFamily="2" charset="-78"/>
                      </a:endParaRPr>
                    </a:p>
                  </a:txBody>
                  <a:tcPr anchor="ctr"/>
                </a:tc>
                <a:tc>
                  <a:txBody>
                    <a:bodyPr/>
                    <a:lstStyle/>
                    <a:p>
                      <a:pPr algn="r" rtl="1"/>
                      <a:r>
                        <a:rPr lang="ar-SA" sz="2000">
                          <a:cs typeface="2  Nazanin" panose="00000400000000000000" pitchFamily="2" charset="-78"/>
                        </a:rPr>
                        <a:t>پیشنهاد هوشمند خرید</a:t>
                      </a:r>
                    </a:p>
                  </a:txBody>
                  <a:tcPr anchor="ctr"/>
                </a:tc>
                <a:tc>
                  <a:txBody>
                    <a:bodyPr/>
                    <a:lstStyle/>
                    <a:p>
                      <a:pPr algn="r" rtl="1"/>
                      <a:r>
                        <a:rPr lang="ar-SA" sz="2000">
                          <a:cs typeface="2  Nazanin" panose="00000400000000000000" pitchFamily="2" charset="-78"/>
                        </a:rPr>
                        <a:t>مقایسه فنی محصولات با نظرات کاربر</a:t>
                      </a:r>
                    </a:p>
                  </a:txBody>
                  <a:tcPr anchor="ctr"/>
                </a:tc>
                <a:tc>
                  <a:txBody>
                    <a:bodyPr/>
                    <a:lstStyle/>
                    <a:p>
                      <a:pPr algn="r" rtl="1"/>
                      <a:r>
                        <a:rPr lang="ar-SA" sz="2000">
                          <a:cs typeface="2  Nazanin" panose="00000400000000000000" pitchFamily="2" charset="-78"/>
                        </a:rPr>
                        <a:t>آمریکا</a:t>
                      </a:r>
                    </a:p>
                  </a:txBody>
                  <a:tcPr anchor="ctr"/>
                </a:tc>
                <a:extLst>
                  <a:ext uri="{0D108BD9-81ED-4DB2-BD59-A6C34878D82A}">
                    <a16:rowId xmlns:a16="http://schemas.microsoft.com/office/drawing/2014/main" val="4175649347"/>
                  </a:ext>
                </a:extLst>
              </a:tr>
            </a:tbl>
          </a:graphicData>
        </a:graphic>
      </p:graphicFrame>
      <p:sp>
        <p:nvSpPr>
          <p:cNvPr id="2" name="TextBox 1">
            <a:extLst>
              <a:ext uri="{FF2B5EF4-FFF2-40B4-BE49-F238E27FC236}">
                <a16:creationId xmlns:a16="http://schemas.microsoft.com/office/drawing/2014/main" id="{1DAB9402-316C-D7AC-937B-5AAB43DDB336}"/>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26</a:t>
            </a:r>
            <a:endParaRPr lang="fa-IR" sz="1200"/>
          </a:p>
        </p:txBody>
      </p:sp>
    </p:spTree>
    <p:extLst>
      <p:ext uri="{BB962C8B-B14F-4D97-AF65-F5344CB8AC3E}">
        <p14:creationId xmlns:p14="http://schemas.microsoft.com/office/powerpoint/2010/main" val="22650393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B97BF-F135-B9EF-140B-15B2A2F66D3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6BDCDA5-89E1-3D32-968D-8D04BA50EB5B}"/>
              </a:ext>
            </a:extLst>
          </p:cNvPr>
          <p:cNvSpPr txBox="1"/>
          <p:nvPr/>
        </p:nvSpPr>
        <p:spPr>
          <a:xfrm>
            <a:off x="116114" y="409805"/>
            <a:ext cx="9027886" cy="584775"/>
          </a:xfrm>
          <a:prstGeom prst="rect">
            <a:avLst/>
          </a:prstGeom>
          <a:noFill/>
        </p:spPr>
        <p:txBody>
          <a:bodyPr wrap="square">
            <a:spAutoFit/>
          </a:bodyPr>
          <a:lstStyle/>
          <a:p>
            <a:pPr algn="r" rtl="1"/>
            <a:r>
              <a:rPr lang="ar-SA" sz="3200">
                <a:cs typeface="Titr" panose="00000700000000000000" pitchFamily="2" charset="-78"/>
              </a:rPr>
              <a:t>🎤 صدا، موسیقی و دوبله با هوش مصنوعی</a:t>
            </a:r>
            <a:endParaRPr lang="fa-IR" sz="3200">
              <a:cs typeface="Titr" panose="00000700000000000000" pitchFamily="2" charset="-78"/>
            </a:endParaRPr>
          </a:p>
        </p:txBody>
      </p:sp>
      <p:graphicFrame>
        <p:nvGraphicFramePr>
          <p:cNvPr id="2" name="Table 1">
            <a:extLst>
              <a:ext uri="{FF2B5EF4-FFF2-40B4-BE49-F238E27FC236}">
                <a16:creationId xmlns:a16="http://schemas.microsoft.com/office/drawing/2014/main" id="{6AD70842-E846-E9E8-F755-3E763B4B0D01}"/>
              </a:ext>
            </a:extLst>
          </p:cNvPr>
          <p:cNvGraphicFramePr>
            <a:graphicFrameLocks noGrp="1"/>
          </p:cNvGraphicFramePr>
          <p:nvPr>
            <p:extLst>
              <p:ext uri="{D42A27DB-BD31-4B8C-83A1-F6EECF244321}">
                <p14:modId xmlns:p14="http://schemas.microsoft.com/office/powerpoint/2010/main" val="3771387533"/>
              </p:ext>
            </p:extLst>
          </p:nvPr>
        </p:nvGraphicFramePr>
        <p:xfrm>
          <a:off x="686707" y="1739968"/>
          <a:ext cx="7886700" cy="2286000"/>
        </p:xfrm>
        <a:graphic>
          <a:graphicData uri="http://schemas.openxmlformats.org/drawingml/2006/table">
            <a:tbl>
              <a:tblPr>
                <a:tableStyleId>{5940675A-B579-460E-94D1-54222C63F5DA}</a:tableStyleId>
              </a:tblPr>
              <a:tblGrid>
                <a:gridCol w="1630824">
                  <a:extLst>
                    <a:ext uri="{9D8B030D-6E8A-4147-A177-3AD203B41FA5}">
                      <a16:colId xmlns:a16="http://schemas.microsoft.com/office/drawing/2014/main" val="2740437403"/>
                    </a:ext>
                  </a:extLst>
                </a:gridCol>
                <a:gridCol w="2885090">
                  <a:extLst>
                    <a:ext uri="{9D8B030D-6E8A-4147-A177-3AD203B41FA5}">
                      <a16:colId xmlns:a16="http://schemas.microsoft.com/office/drawing/2014/main" val="3218661739"/>
                    </a:ext>
                  </a:extLst>
                </a:gridCol>
                <a:gridCol w="2427889">
                  <a:extLst>
                    <a:ext uri="{9D8B030D-6E8A-4147-A177-3AD203B41FA5}">
                      <a16:colId xmlns:a16="http://schemas.microsoft.com/office/drawing/2014/main" val="880448635"/>
                    </a:ext>
                  </a:extLst>
                </a:gridCol>
                <a:gridCol w="942897">
                  <a:extLst>
                    <a:ext uri="{9D8B030D-6E8A-4147-A177-3AD203B41FA5}">
                      <a16:colId xmlns:a16="http://schemas.microsoft.com/office/drawing/2014/main" val="645874362"/>
                    </a:ext>
                  </a:extLst>
                </a:gridCol>
              </a:tblGrid>
              <a:tr h="0">
                <a:tc>
                  <a:txBody>
                    <a:bodyPr/>
                    <a:lstStyle/>
                    <a:p>
                      <a:pPr algn="r" rtl="1"/>
                      <a:r>
                        <a:rPr lang="ar-SA" sz="2000">
                          <a:cs typeface="2  Nazanin" panose="00000400000000000000" pitchFamily="2" charset="-78"/>
                        </a:rPr>
                        <a:t>نام</a:t>
                      </a:r>
                    </a:p>
                  </a:txBody>
                  <a:tcPr anchor="ctr"/>
                </a:tc>
                <a:tc>
                  <a:txBody>
                    <a:bodyPr/>
                    <a:lstStyle/>
                    <a:p>
                      <a:pPr algn="r" rtl="1"/>
                      <a:r>
                        <a:rPr lang="ar-SA" sz="2000">
                          <a:cs typeface="2  Nazanin" panose="00000400000000000000" pitchFamily="2" charset="-78"/>
                        </a:rPr>
                        <a:t>توضیح</a:t>
                      </a:r>
                    </a:p>
                  </a:txBody>
                  <a:tcPr anchor="ctr"/>
                </a:tc>
                <a:tc>
                  <a:txBody>
                    <a:bodyPr/>
                    <a:lstStyle/>
                    <a:p>
                      <a:pPr algn="r" rtl="1"/>
                      <a:r>
                        <a:rPr lang="ar-SA" sz="2000">
                          <a:cs typeface="2  Nazanin" panose="00000400000000000000" pitchFamily="2" charset="-78"/>
                        </a:rPr>
                        <a:t>ویژگی خاص</a:t>
                      </a:r>
                    </a:p>
                  </a:txBody>
                  <a:tcPr anchor="ctr"/>
                </a:tc>
                <a:tc>
                  <a:txBody>
                    <a:bodyPr/>
                    <a:lstStyle/>
                    <a:p>
                      <a:pPr algn="r" rtl="1"/>
                      <a:r>
                        <a:rPr lang="ar-SA" sz="2000">
                          <a:cs typeface="2  Nazanin" panose="00000400000000000000" pitchFamily="2" charset="-78"/>
                        </a:rPr>
                        <a:t>کشور</a:t>
                      </a:r>
                    </a:p>
                  </a:txBody>
                  <a:tcPr anchor="ctr"/>
                </a:tc>
                <a:extLst>
                  <a:ext uri="{0D108BD9-81ED-4DB2-BD59-A6C34878D82A}">
                    <a16:rowId xmlns:a16="http://schemas.microsoft.com/office/drawing/2014/main" val="1682517266"/>
                  </a:ext>
                </a:extLst>
              </a:tr>
              <a:tr h="0">
                <a:tc>
                  <a:txBody>
                    <a:bodyPr/>
                    <a:lstStyle/>
                    <a:p>
                      <a:pPr algn="l" rtl="0"/>
                      <a:r>
                        <a:rPr lang="en-US" sz="2000" b="1">
                          <a:cs typeface="2  Nazanin" panose="00000400000000000000" pitchFamily="2" charset="-78"/>
                        </a:rPr>
                        <a:t>ElevenLabs</a:t>
                      </a:r>
                      <a:endParaRPr lang="en-US" sz="2000">
                        <a:cs typeface="2  Nazanin" panose="00000400000000000000" pitchFamily="2" charset="-78"/>
                      </a:endParaRPr>
                    </a:p>
                  </a:txBody>
                  <a:tcPr anchor="ctr"/>
                </a:tc>
                <a:tc>
                  <a:txBody>
                    <a:bodyPr/>
                    <a:lstStyle/>
                    <a:p>
                      <a:pPr algn="r" rtl="1"/>
                      <a:r>
                        <a:rPr lang="ar-SA" sz="2000">
                          <a:cs typeface="2  Nazanin" panose="00000400000000000000" pitchFamily="2" charset="-78"/>
                        </a:rPr>
                        <a:t>تبدیل متن به گفتار بسیار طبیعی</a:t>
                      </a:r>
                    </a:p>
                  </a:txBody>
                  <a:tcPr anchor="ctr"/>
                </a:tc>
                <a:tc>
                  <a:txBody>
                    <a:bodyPr/>
                    <a:lstStyle/>
                    <a:p>
                      <a:pPr algn="r" rtl="1"/>
                      <a:r>
                        <a:rPr lang="ar-SA" sz="2000">
                          <a:cs typeface="2  Nazanin" panose="00000400000000000000" pitchFamily="2" charset="-78"/>
                        </a:rPr>
                        <a:t>صداسازی واقعی، حتی تقلید صدا</a:t>
                      </a:r>
                    </a:p>
                  </a:txBody>
                  <a:tcPr anchor="ctr"/>
                </a:tc>
                <a:tc>
                  <a:txBody>
                    <a:bodyPr/>
                    <a:lstStyle/>
                    <a:p>
                      <a:pPr algn="r" rtl="1"/>
                      <a:r>
                        <a:rPr lang="ar-SA" sz="2000">
                          <a:cs typeface="2  Nazanin" panose="00000400000000000000" pitchFamily="2" charset="-78"/>
                        </a:rPr>
                        <a:t>آمریکا</a:t>
                      </a:r>
                    </a:p>
                  </a:txBody>
                  <a:tcPr anchor="ctr"/>
                </a:tc>
                <a:extLst>
                  <a:ext uri="{0D108BD9-81ED-4DB2-BD59-A6C34878D82A}">
                    <a16:rowId xmlns:a16="http://schemas.microsoft.com/office/drawing/2014/main" val="4114519601"/>
                  </a:ext>
                </a:extLst>
              </a:tr>
              <a:tr h="0">
                <a:tc>
                  <a:txBody>
                    <a:bodyPr/>
                    <a:lstStyle/>
                    <a:p>
                      <a:pPr algn="l" rtl="0"/>
                      <a:r>
                        <a:rPr lang="en-US" sz="2000" b="1">
                          <a:cs typeface="2  Nazanin" panose="00000400000000000000" pitchFamily="2" charset="-78"/>
                        </a:rPr>
                        <a:t>Voice.ai</a:t>
                      </a:r>
                      <a:endParaRPr lang="en-US" sz="2000">
                        <a:cs typeface="2  Nazanin" panose="00000400000000000000" pitchFamily="2" charset="-78"/>
                      </a:endParaRPr>
                    </a:p>
                  </a:txBody>
                  <a:tcPr anchor="ctr"/>
                </a:tc>
                <a:tc>
                  <a:txBody>
                    <a:bodyPr/>
                    <a:lstStyle/>
                    <a:p>
                      <a:pPr algn="r" rtl="1"/>
                      <a:r>
                        <a:rPr lang="ar-SA" sz="2000">
                          <a:cs typeface="2  Nazanin" panose="00000400000000000000" pitchFamily="2" charset="-78"/>
                        </a:rPr>
                        <a:t>تبدیل صدا به صدای دیگر</a:t>
                      </a:r>
                    </a:p>
                  </a:txBody>
                  <a:tcPr anchor="ctr"/>
                </a:tc>
                <a:tc>
                  <a:txBody>
                    <a:bodyPr/>
                    <a:lstStyle/>
                    <a:p>
                      <a:pPr algn="r" rtl="1"/>
                      <a:r>
                        <a:rPr lang="ar-SA" sz="2000">
                          <a:cs typeface="2  Nazanin" panose="00000400000000000000" pitchFamily="2" charset="-78"/>
                        </a:rPr>
                        <a:t>کاربرد برای استریمرها</a:t>
                      </a:r>
                    </a:p>
                  </a:txBody>
                  <a:tcPr anchor="ctr"/>
                </a:tc>
                <a:tc>
                  <a:txBody>
                    <a:bodyPr/>
                    <a:lstStyle/>
                    <a:p>
                      <a:pPr algn="r" rtl="1"/>
                      <a:r>
                        <a:rPr lang="ar-SA" sz="2000">
                          <a:cs typeface="2  Nazanin" panose="00000400000000000000" pitchFamily="2" charset="-78"/>
                        </a:rPr>
                        <a:t>آمریکا</a:t>
                      </a:r>
                    </a:p>
                  </a:txBody>
                  <a:tcPr anchor="ctr"/>
                </a:tc>
                <a:extLst>
                  <a:ext uri="{0D108BD9-81ED-4DB2-BD59-A6C34878D82A}">
                    <a16:rowId xmlns:a16="http://schemas.microsoft.com/office/drawing/2014/main" val="3396953387"/>
                  </a:ext>
                </a:extLst>
              </a:tr>
              <a:tr h="0">
                <a:tc>
                  <a:txBody>
                    <a:bodyPr/>
                    <a:lstStyle/>
                    <a:p>
                      <a:pPr algn="l" rtl="0"/>
                      <a:r>
                        <a:rPr lang="en-US" sz="2000" b="1">
                          <a:cs typeface="2  Nazanin" panose="00000400000000000000" pitchFamily="2" charset="-78"/>
                        </a:rPr>
                        <a:t>Riffusion</a:t>
                      </a:r>
                      <a:endParaRPr lang="en-US" sz="2000">
                        <a:cs typeface="2  Nazanin" panose="00000400000000000000" pitchFamily="2" charset="-78"/>
                      </a:endParaRPr>
                    </a:p>
                  </a:txBody>
                  <a:tcPr anchor="ctr"/>
                </a:tc>
                <a:tc>
                  <a:txBody>
                    <a:bodyPr/>
                    <a:lstStyle/>
                    <a:p>
                      <a:pPr algn="r" rtl="1"/>
                      <a:r>
                        <a:rPr lang="ar-SA" sz="2000">
                          <a:cs typeface="2  Nazanin" panose="00000400000000000000" pitchFamily="2" charset="-78"/>
                        </a:rPr>
                        <a:t>تولید موسیقی از فرکانس و متن</a:t>
                      </a:r>
                    </a:p>
                  </a:txBody>
                  <a:tcPr anchor="ctr"/>
                </a:tc>
                <a:tc>
                  <a:txBody>
                    <a:bodyPr/>
                    <a:lstStyle/>
                    <a:p>
                      <a:pPr algn="r" rtl="1"/>
                      <a:r>
                        <a:rPr lang="ar-SA" sz="2000">
                          <a:cs typeface="2  Nazanin" panose="00000400000000000000" pitchFamily="2" charset="-78"/>
                        </a:rPr>
                        <a:t>مبتنی بر طیف صدا</a:t>
                      </a:r>
                    </a:p>
                  </a:txBody>
                  <a:tcPr anchor="ctr"/>
                </a:tc>
                <a:tc>
                  <a:txBody>
                    <a:bodyPr/>
                    <a:lstStyle/>
                    <a:p>
                      <a:pPr algn="r" rtl="1"/>
                      <a:r>
                        <a:rPr lang="ar-SA" sz="2000">
                          <a:cs typeface="2  Nazanin" panose="00000400000000000000" pitchFamily="2" charset="-78"/>
                        </a:rPr>
                        <a:t>آمریکا</a:t>
                      </a:r>
                    </a:p>
                  </a:txBody>
                  <a:tcPr anchor="ctr"/>
                </a:tc>
                <a:extLst>
                  <a:ext uri="{0D108BD9-81ED-4DB2-BD59-A6C34878D82A}">
                    <a16:rowId xmlns:a16="http://schemas.microsoft.com/office/drawing/2014/main" val="4120072192"/>
                  </a:ext>
                </a:extLst>
              </a:tr>
              <a:tr h="0">
                <a:tc>
                  <a:txBody>
                    <a:bodyPr/>
                    <a:lstStyle/>
                    <a:p>
                      <a:pPr algn="l" rtl="0"/>
                      <a:r>
                        <a:rPr lang="en-US" sz="2000" b="1">
                          <a:cs typeface="2  Nazanin" panose="00000400000000000000" pitchFamily="2" charset="-78"/>
                        </a:rPr>
                        <a:t>LALAL.AI</a:t>
                      </a:r>
                      <a:endParaRPr lang="en-US" sz="2000">
                        <a:cs typeface="2  Nazanin" panose="00000400000000000000" pitchFamily="2" charset="-78"/>
                      </a:endParaRPr>
                    </a:p>
                  </a:txBody>
                  <a:tcPr anchor="ctr"/>
                </a:tc>
                <a:tc>
                  <a:txBody>
                    <a:bodyPr/>
                    <a:lstStyle/>
                    <a:p>
                      <a:pPr algn="r" rtl="1"/>
                      <a:r>
                        <a:rPr lang="ar-SA" sz="2000">
                          <a:cs typeface="2  Nazanin" panose="00000400000000000000" pitchFamily="2" charset="-78"/>
                        </a:rPr>
                        <a:t>استخراج صدای خواننده از موسیقی</a:t>
                      </a:r>
                    </a:p>
                  </a:txBody>
                  <a:tcPr anchor="ctr"/>
                </a:tc>
                <a:tc>
                  <a:txBody>
                    <a:bodyPr/>
                    <a:lstStyle/>
                    <a:p>
                      <a:pPr algn="r" rtl="1"/>
                      <a:r>
                        <a:rPr lang="ar-SA" sz="2000">
                          <a:cs typeface="2  Nazanin" panose="00000400000000000000" pitchFamily="2" charset="-78"/>
                        </a:rPr>
                        <a:t>جدا کردن درام، وکال و...</a:t>
                      </a:r>
                    </a:p>
                  </a:txBody>
                  <a:tcPr anchor="ctr"/>
                </a:tc>
                <a:tc>
                  <a:txBody>
                    <a:bodyPr/>
                    <a:lstStyle/>
                    <a:p>
                      <a:pPr algn="r" rtl="1"/>
                      <a:r>
                        <a:rPr lang="ar-SA" sz="2000">
                          <a:cs typeface="2  Nazanin" panose="00000400000000000000" pitchFamily="2" charset="-78"/>
                        </a:rPr>
                        <a:t>اوکراین</a:t>
                      </a:r>
                    </a:p>
                  </a:txBody>
                  <a:tcPr anchor="ctr"/>
                </a:tc>
                <a:extLst>
                  <a:ext uri="{0D108BD9-81ED-4DB2-BD59-A6C34878D82A}">
                    <a16:rowId xmlns:a16="http://schemas.microsoft.com/office/drawing/2014/main" val="2013810442"/>
                  </a:ext>
                </a:extLst>
              </a:tr>
            </a:tbl>
          </a:graphicData>
        </a:graphic>
      </p:graphicFrame>
      <p:sp>
        <p:nvSpPr>
          <p:cNvPr id="4" name="TextBox 3">
            <a:extLst>
              <a:ext uri="{FF2B5EF4-FFF2-40B4-BE49-F238E27FC236}">
                <a16:creationId xmlns:a16="http://schemas.microsoft.com/office/drawing/2014/main" id="{4AD43939-8E64-B5A6-996C-573DB6D5C32D}"/>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27</a:t>
            </a:r>
            <a:endParaRPr lang="fa-IR" sz="1200"/>
          </a:p>
        </p:txBody>
      </p:sp>
    </p:spTree>
    <p:extLst>
      <p:ext uri="{BB962C8B-B14F-4D97-AF65-F5344CB8AC3E}">
        <p14:creationId xmlns:p14="http://schemas.microsoft.com/office/powerpoint/2010/main" val="7874196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7D840F-DA35-247A-EAFC-699EECDA842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88FB416-9DB8-619A-45BD-6E9329A3F4EE}"/>
              </a:ext>
            </a:extLst>
          </p:cNvPr>
          <p:cNvSpPr txBox="1"/>
          <p:nvPr/>
        </p:nvSpPr>
        <p:spPr>
          <a:xfrm>
            <a:off x="116114" y="409805"/>
            <a:ext cx="9027886" cy="584775"/>
          </a:xfrm>
          <a:prstGeom prst="rect">
            <a:avLst/>
          </a:prstGeom>
          <a:noFill/>
        </p:spPr>
        <p:txBody>
          <a:bodyPr wrap="square">
            <a:spAutoFit/>
          </a:bodyPr>
          <a:lstStyle/>
          <a:p>
            <a:pPr algn="r" rtl="1"/>
            <a:r>
              <a:rPr lang="ar-SA" sz="3200">
                <a:cs typeface="Titr" panose="00000700000000000000" pitchFamily="2" charset="-78"/>
              </a:rPr>
              <a:t>🌐 سایر اپ‌های جالب و خاص</a:t>
            </a:r>
            <a:endParaRPr lang="fa-IR" sz="3200">
              <a:cs typeface="Titr" panose="00000700000000000000" pitchFamily="2" charset="-78"/>
            </a:endParaRPr>
          </a:p>
        </p:txBody>
      </p:sp>
      <p:graphicFrame>
        <p:nvGraphicFramePr>
          <p:cNvPr id="2" name="Table 1">
            <a:extLst>
              <a:ext uri="{FF2B5EF4-FFF2-40B4-BE49-F238E27FC236}">
                <a16:creationId xmlns:a16="http://schemas.microsoft.com/office/drawing/2014/main" id="{9F0FD373-C850-2F42-EC7E-5C8B2CC1F173}"/>
              </a:ext>
            </a:extLst>
          </p:cNvPr>
          <p:cNvGraphicFramePr>
            <a:graphicFrameLocks noGrp="1"/>
          </p:cNvGraphicFramePr>
          <p:nvPr>
            <p:extLst>
              <p:ext uri="{D42A27DB-BD31-4B8C-83A1-F6EECF244321}">
                <p14:modId xmlns:p14="http://schemas.microsoft.com/office/powerpoint/2010/main" val="698036776"/>
              </p:ext>
            </p:extLst>
          </p:nvPr>
        </p:nvGraphicFramePr>
        <p:xfrm>
          <a:off x="686707" y="1702957"/>
          <a:ext cx="7886700" cy="2895600"/>
        </p:xfrm>
        <a:graphic>
          <a:graphicData uri="http://schemas.openxmlformats.org/drawingml/2006/table">
            <a:tbl>
              <a:tblPr>
                <a:tableStyleId>{5940675A-B579-460E-94D1-54222C63F5DA}</a:tableStyleId>
              </a:tblPr>
              <a:tblGrid>
                <a:gridCol w="1664607">
                  <a:extLst>
                    <a:ext uri="{9D8B030D-6E8A-4147-A177-3AD203B41FA5}">
                      <a16:colId xmlns:a16="http://schemas.microsoft.com/office/drawing/2014/main" val="3764781880"/>
                    </a:ext>
                  </a:extLst>
                </a:gridCol>
                <a:gridCol w="3265715">
                  <a:extLst>
                    <a:ext uri="{9D8B030D-6E8A-4147-A177-3AD203B41FA5}">
                      <a16:colId xmlns:a16="http://schemas.microsoft.com/office/drawing/2014/main" val="601801287"/>
                    </a:ext>
                  </a:extLst>
                </a:gridCol>
                <a:gridCol w="2956378">
                  <a:extLst>
                    <a:ext uri="{9D8B030D-6E8A-4147-A177-3AD203B41FA5}">
                      <a16:colId xmlns:a16="http://schemas.microsoft.com/office/drawing/2014/main" val="1158955527"/>
                    </a:ext>
                  </a:extLst>
                </a:gridCol>
              </a:tblGrid>
              <a:tr h="0">
                <a:tc>
                  <a:txBody>
                    <a:bodyPr/>
                    <a:lstStyle/>
                    <a:p>
                      <a:pPr algn="r" rtl="1"/>
                      <a:r>
                        <a:rPr lang="ar-SA" sz="2000">
                          <a:cs typeface="2  Nazanin" panose="00000400000000000000" pitchFamily="2" charset="-78"/>
                        </a:rPr>
                        <a:t>نام</a:t>
                      </a:r>
                    </a:p>
                  </a:txBody>
                  <a:tcPr anchor="ctr"/>
                </a:tc>
                <a:tc>
                  <a:txBody>
                    <a:bodyPr/>
                    <a:lstStyle/>
                    <a:p>
                      <a:pPr algn="r" rtl="1"/>
                      <a:r>
                        <a:rPr lang="ar-SA" sz="2000">
                          <a:cs typeface="2  Nazanin" panose="00000400000000000000" pitchFamily="2" charset="-78"/>
                        </a:rPr>
                        <a:t>کاربرد</a:t>
                      </a:r>
                    </a:p>
                  </a:txBody>
                  <a:tcPr anchor="ctr"/>
                </a:tc>
                <a:tc>
                  <a:txBody>
                    <a:bodyPr/>
                    <a:lstStyle/>
                    <a:p>
                      <a:pPr algn="r" rtl="1"/>
                      <a:r>
                        <a:rPr lang="ar-SA" sz="2000">
                          <a:cs typeface="2  Nazanin" panose="00000400000000000000" pitchFamily="2" charset="-78"/>
                        </a:rPr>
                        <a:t>توضیح</a:t>
                      </a:r>
                    </a:p>
                  </a:txBody>
                  <a:tcPr anchor="ctr"/>
                </a:tc>
                <a:extLst>
                  <a:ext uri="{0D108BD9-81ED-4DB2-BD59-A6C34878D82A}">
                    <a16:rowId xmlns:a16="http://schemas.microsoft.com/office/drawing/2014/main" val="715289100"/>
                  </a:ext>
                </a:extLst>
              </a:tr>
              <a:tr h="0">
                <a:tc>
                  <a:txBody>
                    <a:bodyPr/>
                    <a:lstStyle/>
                    <a:p>
                      <a:pPr algn="l" rtl="0"/>
                      <a:r>
                        <a:rPr lang="en-US" sz="2000" b="1">
                          <a:cs typeface="2  Nazanin" panose="00000400000000000000" pitchFamily="2" charset="-78"/>
                        </a:rPr>
                        <a:t>Phind</a:t>
                      </a:r>
                      <a:endParaRPr lang="en-US" sz="2000">
                        <a:cs typeface="2  Nazanin" panose="00000400000000000000" pitchFamily="2" charset="-78"/>
                      </a:endParaRPr>
                    </a:p>
                  </a:txBody>
                  <a:tcPr anchor="ctr"/>
                </a:tc>
                <a:tc>
                  <a:txBody>
                    <a:bodyPr/>
                    <a:lstStyle/>
                    <a:p>
                      <a:pPr algn="r" rtl="1"/>
                      <a:r>
                        <a:rPr lang="ar-SA" sz="2000">
                          <a:cs typeface="2  Nazanin" panose="00000400000000000000" pitchFamily="2" charset="-78"/>
                        </a:rPr>
                        <a:t>مخصوص برنامه‌نویس‌ها</a:t>
                      </a:r>
                    </a:p>
                  </a:txBody>
                  <a:tcPr anchor="ctr"/>
                </a:tc>
                <a:tc>
                  <a:txBody>
                    <a:bodyPr/>
                    <a:lstStyle/>
                    <a:p>
                      <a:pPr algn="r" rtl="1"/>
                      <a:r>
                        <a:rPr lang="ar-SA" sz="2000">
                          <a:cs typeface="2  Nazanin" panose="00000400000000000000" pitchFamily="2" charset="-78"/>
                        </a:rPr>
                        <a:t>پاسخ‌دهی مبتنی بر داکیومنت‌های رسمی</a:t>
                      </a:r>
                    </a:p>
                  </a:txBody>
                  <a:tcPr anchor="ctr"/>
                </a:tc>
                <a:extLst>
                  <a:ext uri="{0D108BD9-81ED-4DB2-BD59-A6C34878D82A}">
                    <a16:rowId xmlns:a16="http://schemas.microsoft.com/office/drawing/2014/main" val="4272945802"/>
                  </a:ext>
                </a:extLst>
              </a:tr>
              <a:tr h="0">
                <a:tc>
                  <a:txBody>
                    <a:bodyPr/>
                    <a:lstStyle/>
                    <a:p>
                      <a:pPr algn="l" rtl="0"/>
                      <a:r>
                        <a:rPr lang="en-US" sz="2000" b="1">
                          <a:cs typeface="2  Nazanin" panose="00000400000000000000" pitchFamily="2" charset="-78"/>
                        </a:rPr>
                        <a:t>Blackbox AI</a:t>
                      </a:r>
                      <a:endParaRPr lang="en-US" sz="2000">
                        <a:cs typeface="2  Nazanin" panose="00000400000000000000" pitchFamily="2" charset="-78"/>
                      </a:endParaRPr>
                    </a:p>
                  </a:txBody>
                  <a:tcPr anchor="ctr"/>
                </a:tc>
                <a:tc>
                  <a:txBody>
                    <a:bodyPr/>
                    <a:lstStyle/>
                    <a:p>
                      <a:pPr algn="r" rtl="1"/>
                      <a:r>
                        <a:rPr lang="ar-SA" sz="2000">
                          <a:cs typeface="2  Nazanin" panose="00000400000000000000" pitchFamily="2" charset="-78"/>
                        </a:rPr>
                        <a:t>جستجو در کد</a:t>
                      </a:r>
                    </a:p>
                  </a:txBody>
                  <a:tcPr anchor="ctr"/>
                </a:tc>
                <a:tc>
                  <a:txBody>
                    <a:bodyPr/>
                    <a:lstStyle/>
                    <a:p>
                      <a:pPr algn="r" rtl="1"/>
                      <a:r>
                        <a:rPr lang="ar-SA" sz="2000">
                          <a:cs typeface="2  Nazanin" panose="00000400000000000000" pitchFamily="2" charset="-78"/>
                        </a:rPr>
                        <a:t>استخراج کد از ویدیو، حل خطا</a:t>
                      </a:r>
                    </a:p>
                  </a:txBody>
                  <a:tcPr anchor="ctr"/>
                </a:tc>
                <a:extLst>
                  <a:ext uri="{0D108BD9-81ED-4DB2-BD59-A6C34878D82A}">
                    <a16:rowId xmlns:a16="http://schemas.microsoft.com/office/drawing/2014/main" val="4226517406"/>
                  </a:ext>
                </a:extLst>
              </a:tr>
              <a:tr h="0">
                <a:tc>
                  <a:txBody>
                    <a:bodyPr/>
                    <a:lstStyle/>
                    <a:p>
                      <a:pPr algn="l" rtl="0"/>
                      <a:r>
                        <a:rPr lang="en-US" sz="2000" b="1">
                          <a:cs typeface="2  Nazanin" panose="00000400000000000000" pitchFamily="2" charset="-78"/>
                        </a:rPr>
                        <a:t>Rewind AI</a:t>
                      </a:r>
                      <a:endParaRPr lang="en-US" sz="2000">
                        <a:cs typeface="2  Nazanin" panose="00000400000000000000" pitchFamily="2" charset="-78"/>
                      </a:endParaRPr>
                    </a:p>
                  </a:txBody>
                  <a:tcPr anchor="ctr"/>
                </a:tc>
                <a:tc>
                  <a:txBody>
                    <a:bodyPr/>
                    <a:lstStyle/>
                    <a:p>
                      <a:pPr algn="r" rtl="1"/>
                      <a:r>
                        <a:rPr lang="ar-SA" sz="2000">
                          <a:cs typeface="2  Nazanin" panose="00000400000000000000" pitchFamily="2" charset="-78"/>
                        </a:rPr>
                        <a:t>ضبط تمام فعالیت‌های دسکتاپ و جستجو در گذشته</a:t>
                      </a:r>
                    </a:p>
                  </a:txBody>
                  <a:tcPr anchor="ctr"/>
                </a:tc>
                <a:tc>
                  <a:txBody>
                    <a:bodyPr/>
                    <a:lstStyle/>
                    <a:p>
                      <a:pPr algn="r" rtl="1"/>
                      <a:r>
                        <a:rPr lang="ar-SA" sz="2000">
                          <a:cs typeface="2  Nazanin" panose="00000400000000000000" pitchFamily="2" charset="-78"/>
                        </a:rPr>
                        <a:t>نیاز به مک‌بوک دارد</a:t>
                      </a:r>
                    </a:p>
                  </a:txBody>
                  <a:tcPr anchor="ctr"/>
                </a:tc>
                <a:extLst>
                  <a:ext uri="{0D108BD9-81ED-4DB2-BD59-A6C34878D82A}">
                    <a16:rowId xmlns:a16="http://schemas.microsoft.com/office/drawing/2014/main" val="1523828467"/>
                  </a:ext>
                </a:extLst>
              </a:tr>
              <a:tr h="0">
                <a:tc>
                  <a:txBody>
                    <a:bodyPr/>
                    <a:lstStyle/>
                    <a:p>
                      <a:pPr algn="l" rtl="0"/>
                      <a:r>
                        <a:rPr lang="en-US" sz="2000" b="1">
                          <a:cs typeface="2  Nazanin" panose="00000400000000000000" pitchFamily="2" charset="-78"/>
                        </a:rPr>
                        <a:t>Monica AI</a:t>
                      </a:r>
                      <a:endParaRPr lang="en-US" sz="2000">
                        <a:cs typeface="2  Nazanin" panose="00000400000000000000" pitchFamily="2" charset="-78"/>
                      </a:endParaRPr>
                    </a:p>
                  </a:txBody>
                  <a:tcPr anchor="ctr"/>
                </a:tc>
                <a:tc>
                  <a:txBody>
                    <a:bodyPr/>
                    <a:lstStyle/>
                    <a:p>
                      <a:pPr algn="r" rtl="1"/>
                      <a:r>
                        <a:rPr lang="ar-SA" sz="2000">
                          <a:cs typeface="2  Nazanin" panose="00000400000000000000" pitchFamily="2" charset="-78"/>
                        </a:rPr>
                        <a:t>دستیار شخصی در مرورگر</a:t>
                      </a:r>
                    </a:p>
                  </a:txBody>
                  <a:tcPr anchor="ctr"/>
                </a:tc>
                <a:tc>
                  <a:txBody>
                    <a:bodyPr/>
                    <a:lstStyle/>
                    <a:p>
                      <a:pPr algn="r" rtl="1"/>
                      <a:r>
                        <a:rPr lang="ar-SA" sz="2000">
                          <a:cs typeface="2  Nazanin" panose="00000400000000000000" pitchFamily="2" charset="-78"/>
                        </a:rPr>
                        <a:t>استخراج متن از وب، خلاصه، توضیح</a:t>
                      </a:r>
                    </a:p>
                  </a:txBody>
                  <a:tcPr anchor="ctr"/>
                </a:tc>
                <a:extLst>
                  <a:ext uri="{0D108BD9-81ED-4DB2-BD59-A6C34878D82A}">
                    <a16:rowId xmlns:a16="http://schemas.microsoft.com/office/drawing/2014/main" val="1592204992"/>
                  </a:ext>
                </a:extLst>
              </a:tr>
            </a:tbl>
          </a:graphicData>
        </a:graphic>
      </p:graphicFrame>
      <p:sp>
        <p:nvSpPr>
          <p:cNvPr id="4" name="TextBox 3">
            <a:extLst>
              <a:ext uri="{FF2B5EF4-FFF2-40B4-BE49-F238E27FC236}">
                <a16:creationId xmlns:a16="http://schemas.microsoft.com/office/drawing/2014/main" id="{2352E084-7B52-B58D-2819-5E6B3DF0B556}"/>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28</a:t>
            </a:r>
            <a:endParaRPr lang="fa-IR" sz="1200"/>
          </a:p>
        </p:txBody>
      </p:sp>
    </p:spTree>
    <p:extLst>
      <p:ext uri="{BB962C8B-B14F-4D97-AF65-F5344CB8AC3E}">
        <p14:creationId xmlns:p14="http://schemas.microsoft.com/office/powerpoint/2010/main" val="30983574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EBFAA-A178-5B9E-3747-E21E02EF175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FFCBF61-AF63-99EB-4576-0AED5D6B8296}"/>
              </a:ext>
            </a:extLst>
          </p:cNvPr>
          <p:cNvSpPr txBox="1"/>
          <p:nvPr/>
        </p:nvSpPr>
        <p:spPr>
          <a:xfrm>
            <a:off x="0" y="409805"/>
            <a:ext cx="9027886" cy="707886"/>
          </a:xfrm>
          <a:prstGeom prst="rect">
            <a:avLst/>
          </a:prstGeom>
          <a:noFill/>
        </p:spPr>
        <p:txBody>
          <a:bodyPr wrap="square">
            <a:spAutoFit/>
          </a:bodyPr>
          <a:lstStyle/>
          <a:p>
            <a:pPr algn="r" rtl="1"/>
            <a:r>
              <a:rPr lang="ar-SA" sz="3200">
                <a:cs typeface="Titr" panose="00000700000000000000" pitchFamily="2" charset="-78"/>
              </a:rPr>
              <a:t>کانادا (پیشرو در </a:t>
            </a:r>
            <a:r>
              <a:rPr lang="en-US" sz="4000" b="1">
                <a:cs typeface="Titr" panose="00000700000000000000" pitchFamily="2" charset="-78"/>
              </a:rPr>
              <a:t>AI</a:t>
            </a:r>
            <a:r>
              <a:rPr lang="en-US" sz="3200">
                <a:cs typeface="Titr" panose="00000700000000000000" pitchFamily="2" charset="-78"/>
              </a:rPr>
              <a:t> </a:t>
            </a:r>
            <a:r>
              <a:rPr lang="ar-SA" sz="3200">
                <a:cs typeface="Titr" panose="00000700000000000000" pitchFamily="2" charset="-78"/>
              </a:rPr>
              <a:t>آکادمیک و صنعتی)</a:t>
            </a:r>
            <a:endParaRPr lang="fa-IR" sz="3200" b="1">
              <a:cs typeface="Titr" panose="00000700000000000000" pitchFamily="2" charset="-78"/>
            </a:endParaRPr>
          </a:p>
        </p:txBody>
      </p:sp>
      <p:graphicFrame>
        <p:nvGraphicFramePr>
          <p:cNvPr id="6" name="Table 5">
            <a:extLst>
              <a:ext uri="{FF2B5EF4-FFF2-40B4-BE49-F238E27FC236}">
                <a16:creationId xmlns:a16="http://schemas.microsoft.com/office/drawing/2014/main" id="{795AB7D5-EDE2-BFE9-D1EA-F8F4514008B2}"/>
              </a:ext>
            </a:extLst>
          </p:cNvPr>
          <p:cNvGraphicFramePr>
            <a:graphicFrameLocks noGrp="1"/>
          </p:cNvGraphicFramePr>
          <p:nvPr>
            <p:extLst>
              <p:ext uri="{D42A27DB-BD31-4B8C-83A1-F6EECF244321}">
                <p14:modId xmlns:p14="http://schemas.microsoft.com/office/powerpoint/2010/main" val="3544306043"/>
              </p:ext>
            </p:extLst>
          </p:nvPr>
        </p:nvGraphicFramePr>
        <p:xfrm>
          <a:off x="628650" y="1774802"/>
          <a:ext cx="7886700" cy="3596640"/>
        </p:xfrm>
        <a:graphic>
          <a:graphicData uri="http://schemas.openxmlformats.org/drawingml/2006/table">
            <a:tbl>
              <a:tblPr>
                <a:tableStyleId>{5940675A-B579-460E-94D1-54222C63F5DA}</a:tableStyleId>
              </a:tblPr>
              <a:tblGrid>
                <a:gridCol w="2628900">
                  <a:extLst>
                    <a:ext uri="{9D8B030D-6E8A-4147-A177-3AD203B41FA5}">
                      <a16:colId xmlns:a16="http://schemas.microsoft.com/office/drawing/2014/main" val="2366710177"/>
                    </a:ext>
                  </a:extLst>
                </a:gridCol>
                <a:gridCol w="2628900">
                  <a:extLst>
                    <a:ext uri="{9D8B030D-6E8A-4147-A177-3AD203B41FA5}">
                      <a16:colId xmlns:a16="http://schemas.microsoft.com/office/drawing/2014/main" val="3572080153"/>
                    </a:ext>
                  </a:extLst>
                </a:gridCol>
                <a:gridCol w="2628900">
                  <a:extLst>
                    <a:ext uri="{9D8B030D-6E8A-4147-A177-3AD203B41FA5}">
                      <a16:colId xmlns:a16="http://schemas.microsoft.com/office/drawing/2014/main" val="1125780333"/>
                    </a:ext>
                  </a:extLst>
                </a:gridCol>
              </a:tblGrid>
              <a:tr h="0">
                <a:tc>
                  <a:txBody>
                    <a:bodyPr/>
                    <a:lstStyle/>
                    <a:p>
                      <a:pPr algn="r" rtl="1"/>
                      <a:r>
                        <a:rPr lang="ar-SA" sz="2000">
                          <a:cs typeface="2  Nazanin" panose="00000400000000000000" pitchFamily="2" charset="-78"/>
                        </a:rPr>
                        <a:t>نام</a:t>
                      </a:r>
                    </a:p>
                  </a:txBody>
                  <a:tcPr anchor="ctr"/>
                </a:tc>
                <a:tc>
                  <a:txBody>
                    <a:bodyPr/>
                    <a:lstStyle/>
                    <a:p>
                      <a:pPr algn="r" rtl="1"/>
                      <a:r>
                        <a:rPr lang="ar-SA" sz="2000">
                          <a:cs typeface="2  Nazanin" panose="00000400000000000000" pitchFamily="2" charset="-78"/>
                        </a:rPr>
                        <a:t>توضیح</a:t>
                      </a:r>
                    </a:p>
                  </a:txBody>
                  <a:tcPr anchor="ctr"/>
                </a:tc>
                <a:tc>
                  <a:txBody>
                    <a:bodyPr/>
                    <a:lstStyle/>
                    <a:p>
                      <a:pPr algn="r" rtl="1"/>
                      <a:r>
                        <a:rPr lang="ar-SA" sz="2000">
                          <a:cs typeface="2  Nazanin" panose="00000400000000000000" pitchFamily="2" charset="-78"/>
                        </a:rPr>
                        <a:t>قابلیت خاص</a:t>
                      </a:r>
                    </a:p>
                  </a:txBody>
                  <a:tcPr anchor="ctr"/>
                </a:tc>
                <a:extLst>
                  <a:ext uri="{0D108BD9-81ED-4DB2-BD59-A6C34878D82A}">
                    <a16:rowId xmlns:a16="http://schemas.microsoft.com/office/drawing/2014/main" val="874493290"/>
                  </a:ext>
                </a:extLst>
              </a:tr>
              <a:tr h="0">
                <a:tc>
                  <a:txBody>
                    <a:bodyPr/>
                    <a:lstStyle/>
                    <a:p>
                      <a:pPr algn="l" rtl="0"/>
                      <a:r>
                        <a:rPr lang="en-US" sz="2000" b="1">
                          <a:cs typeface="2  Nazanin" panose="00000400000000000000" pitchFamily="2" charset="-78"/>
                        </a:rPr>
                        <a:t>Cohere</a:t>
                      </a:r>
                      <a:endParaRPr lang="en-US" sz="2000">
                        <a:cs typeface="2  Nazanin" panose="00000400000000000000" pitchFamily="2" charset="-78"/>
                      </a:endParaRPr>
                    </a:p>
                  </a:txBody>
                  <a:tcPr anchor="ctr"/>
                </a:tc>
                <a:tc>
                  <a:txBody>
                    <a:bodyPr/>
                    <a:lstStyle/>
                    <a:p>
                      <a:pPr algn="r" rtl="1"/>
                      <a:r>
                        <a:rPr lang="ar-SA" sz="2000">
                          <a:cs typeface="2  Nazanin" panose="00000400000000000000" pitchFamily="2" charset="-78"/>
                        </a:rPr>
                        <a:t>مدل‌زبان باز برای کسب‌وکارها و توسعه‌دهنده‌ها</a:t>
                      </a:r>
                    </a:p>
                  </a:txBody>
                  <a:tcPr anchor="ctr"/>
                </a:tc>
                <a:tc>
                  <a:txBody>
                    <a:bodyPr/>
                    <a:lstStyle/>
                    <a:p>
                      <a:pPr algn="r" rtl="1"/>
                      <a:r>
                        <a:rPr lang="ar-SA" sz="2000">
                          <a:cs typeface="2  Nazanin" panose="00000400000000000000" pitchFamily="2" charset="-78"/>
                        </a:rPr>
                        <a:t>تمرکز روی </a:t>
                      </a:r>
                      <a:r>
                        <a:rPr lang="en-US" sz="2000">
                          <a:cs typeface="2  Nazanin" panose="00000400000000000000" pitchFamily="2" charset="-78"/>
                        </a:rPr>
                        <a:t>NLP </a:t>
                      </a:r>
                      <a:r>
                        <a:rPr lang="ar-SA" sz="2000">
                          <a:cs typeface="2  Nazanin" panose="00000400000000000000" pitchFamily="2" charset="-78"/>
                        </a:rPr>
                        <a:t>صنعتی، رقیب </a:t>
                      </a:r>
                      <a:r>
                        <a:rPr lang="en-US" sz="2000">
                          <a:cs typeface="2  Nazanin" panose="00000400000000000000" pitchFamily="2" charset="-78"/>
                        </a:rPr>
                        <a:t>OpenAI</a:t>
                      </a:r>
                    </a:p>
                  </a:txBody>
                  <a:tcPr anchor="ctr"/>
                </a:tc>
                <a:extLst>
                  <a:ext uri="{0D108BD9-81ED-4DB2-BD59-A6C34878D82A}">
                    <a16:rowId xmlns:a16="http://schemas.microsoft.com/office/drawing/2014/main" val="1401262708"/>
                  </a:ext>
                </a:extLst>
              </a:tr>
              <a:tr h="0">
                <a:tc>
                  <a:txBody>
                    <a:bodyPr/>
                    <a:lstStyle/>
                    <a:p>
                      <a:pPr algn="l" rtl="0"/>
                      <a:r>
                        <a:rPr lang="en-US" sz="2000" b="1">
                          <a:cs typeface="2  Nazanin" panose="00000400000000000000" pitchFamily="2" charset="-78"/>
                        </a:rPr>
                        <a:t>Waabi</a:t>
                      </a:r>
                      <a:endParaRPr lang="en-US" sz="2000">
                        <a:cs typeface="2  Nazanin" panose="00000400000000000000" pitchFamily="2" charset="-78"/>
                      </a:endParaRPr>
                    </a:p>
                  </a:txBody>
                  <a:tcPr anchor="ctr"/>
                </a:tc>
                <a:tc>
                  <a:txBody>
                    <a:bodyPr/>
                    <a:lstStyle/>
                    <a:p>
                      <a:pPr algn="r" rtl="1"/>
                      <a:r>
                        <a:rPr lang="ar-SA" sz="2000">
                          <a:cs typeface="2  Nazanin" panose="00000400000000000000" pitchFamily="2" charset="-78"/>
                        </a:rPr>
                        <a:t>شبیه‌ساز رانندگی خودران</a:t>
                      </a:r>
                    </a:p>
                  </a:txBody>
                  <a:tcPr anchor="ctr"/>
                </a:tc>
                <a:tc>
                  <a:txBody>
                    <a:bodyPr/>
                    <a:lstStyle/>
                    <a:p>
                      <a:pPr algn="r" rtl="1"/>
                      <a:r>
                        <a:rPr lang="ar-SA" sz="2000">
                          <a:cs typeface="2  Nazanin" panose="00000400000000000000" pitchFamily="2" charset="-78"/>
                        </a:rPr>
                        <a:t>آموزش سیستم خودران با داده مصنوعی</a:t>
                      </a:r>
                    </a:p>
                  </a:txBody>
                  <a:tcPr anchor="ctr"/>
                </a:tc>
                <a:extLst>
                  <a:ext uri="{0D108BD9-81ED-4DB2-BD59-A6C34878D82A}">
                    <a16:rowId xmlns:a16="http://schemas.microsoft.com/office/drawing/2014/main" val="733637161"/>
                  </a:ext>
                </a:extLst>
              </a:tr>
              <a:tr h="0">
                <a:tc>
                  <a:txBody>
                    <a:bodyPr/>
                    <a:lstStyle/>
                    <a:p>
                      <a:pPr algn="l" rtl="0"/>
                      <a:r>
                        <a:rPr lang="en-US" sz="2000" b="1">
                          <a:cs typeface="2  Nazanin" panose="00000400000000000000" pitchFamily="2" charset="-78"/>
                        </a:rPr>
                        <a:t>Element AI</a:t>
                      </a:r>
                      <a:r>
                        <a:rPr lang="en-US" sz="2000">
                          <a:cs typeface="2  Nazanin" panose="00000400000000000000" pitchFamily="2" charset="-78"/>
                        </a:rPr>
                        <a:t> (</a:t>
                      </a:r>
                      <a:r>
                        <a:rPr lang="ar-SA" sz="2000">
                          <a:cs typeface="2  Nazanin" panose="00000400000000000000" pitchFamily="2" charset="-78"/>
                        </a:rPr>
                        <a:t>ادغام‌شده در </a:t>
                      </a:r>
                      <a:r>
                        <a:rPr lang="en-US" sz="2000">
                          <a:cs typeface="2  Nazanin" panose="00000400000000000000" pitchFamily="2" charset="-78"/>
                        </a:rPr>
                        <a:t>ServiceNow)</a:t>
                      </a:r>
                    </a:p>
                  </a:txBody>
                  <a:tcPr anchor="ctr"/>
                </a:tc>
                <a:tc>
                  <a:txBody>
                    <a:bodyPr/>
                    <a:lstStyle/>
                    <a:p>
                      <a:pPr algn="r" rtl="1"/>
                      <a:r>
                        <a:rPr lang="ar-SA" sz="2000">
                          <a:cs typeface="2  Nazanin" panose="00000400000000000000" pitchFamily="2" charset="-78"/>
                        </a:rPr>
                        <a:t>سیستم‌های هوش تجاری برای شرکت‌ها</a:t>
                      </a:r>
                    </a:p>
                  </a:txBody>
                  <a:tcPr anchor="ctr"/>
                </a:tc>
                <a:tc>
                  <a:txBody>
                    <a:bodyPr/>
                    <a:lstStyle/>
                    <a:p>
                      <a:pPr algn="r" rtl="1"/>
                      <a:r>
                        <a:rPr lang="ar-SA" sz="2000">
                          <a:cs typeface="2  Nazanin" panose="00000400000000000000" pitchFamily="2" charset="-78"/>
                        </a:rPr>
                        <a:t>زیر نظر </a:t>
                      </a:r>
                      <a:r>
                        <a:rPr lang="en-US" sz="2000">
                          <a:cs typeface="2  Nazanin" panose="00000400000000000000" pitchFamily="2" charset="-78"/>
                        </a:rPr>
                        <a:t>Yoshua Bengio </a:t>
                      </a:r>
                      <a:r>
                        <a:rPr lang="ar-SA" sz="2000">
                          <a:cs typeface="2  Nazanin" panose="00000400000000000000" pitchFamily="2" charset="-78"/>
                        </a:rPr>
                        <a:t>بنیان‌گذار </a:t>
                      </a:r>
                      <a:r>
                        <a:rPr lang="en-US" sz="2000">
                          <a:cs typeface="2  Nazanin" panose="00000400000000000000" pitchFamily="2" charset="-78"/>
                        </a:rPr>
                        <a:t>DL</a:t>
                      </a:r>
                    </a:p>
                  </a:txBody>
                  <a:tcPr anchor="ctr"/>
                </a:tc>
                <a:extLst>
                  <a:ext uri="{0D108BD9-81ED-4DB2-BD59-A6C34878D82A}">
                    <a16:rowId xmlns:a16="http://schemas.microsoft.com/office/drawing/2014/main" val="1013043466"/>
                  </a:ext>
                </a:extLst>
              </a:tr>
              <a:tr h="0">
                <a:tc>
                  <a:txBody>
                    <a:bodyPr/>
                    <a:lstStyle/>
                    <a:p>
                      <a:pPr algn="l" rtl="0"/>
                      <a:r>
                        <a:rPr lang="en-US" sz="2000" b="1">
                          <a:cs typeface="2  Nazanin" panose="00000400000000000000" pitchFamily="2" charset="-78"/>
                        </a:rPr>
                        <a:t>Layer6 AI</a:t>
                      </a:r>
                      <a:r>
                        <a:rPr lang="en-US" sz="2000">
                          <a:cs typeface="2  Nazanin" panose="00000400000000000000" pitchFamily="2" charset="-78"/>
                        </a:rPr>
                        <a:t> (</a:t>
                      </a:r>
                      <a:r>
                        <a:rPr lang="ar-SA" sz="2000">
                          <a:cs typeface="2  Nazanin" panose="00000400000000000000" pitchFamily="2" charset="-78"/>
                        </a:rPr>
                        <a:t>وابسته به بانک </a:t>
                      </a:r>
                      <a:r>
                        <a:rPr lang="en-US" sz="2000">
                          <a:cs typeface="2  Nazanin" panose="00000400000000000000" pitchFamily="2" charset="-78"/>
                        </a:rPr>
                        <a:t>TD)</a:t>
                      </a:r>
                    </a:p>
                  </a:txBody>
                  <a:tcPr anchor="ctr"/>
                </a:tc>
                <a:tc>
                  <a:txBody>
                    <a:bodyPr/>
                    <a:lstStyle/>
                    <a:p>
                      <a:pPr algn="r" rtl="1"/>
                      <a:r>
                        <a:rPr lang="ar-SA" sz="2000">
                          <a:cs typeface="2  Nazanin" panose="00000400000000000000" pitchFamily="2" charset="-78"/>
                        </a:rPr>
                        <a:t>تحلیل داده و رفتار مشتری</a:t>
                      </a:r>
                    </a:p>
                  </a:txBody>
                  <a:tcPr anchor="ctr"/>
                </a:tc>
                <a:tc>
                  <a:txBody>
                    <a:bodyPr/>
                    <a:lstStyle/>
                    <a:p>
                      <a:pPr algn="r" rtl="1"/>
                      <a:r>
                        <a:rPr lang="ar-SA" sz="2000">
                          <a:cs typeface="2  Nazanin" panose="00000400000000000000" pitchFamily="2" charset="-78"/>
                        </a:rPr>
                        <a:t>کاربردی در فین‌تک</a:t>
                      </a:r>
                    </a:p>
                  </a:txBody>
                  <a:tcPr anchor="ctr"/>
                </a:tc>
                <a:extLst>
                  <a:ext uri="{0D108BD9-81ED-4DB2-BD59-A6C34878D82A}">
                    <a16:rowId xmlns:a16="http://schemas.microsoft.com/office/drawing/2014/main" val="4105325831"/>
                  </a:ext>
                </a:extLst>
              </a:tr>
              <a:tr h="0">
                <a:tc>
                  <a:txBody>
                    <a:bodyPr/>
                    <a:lstStyle/>
                    <a:p>
                      <a:pPr algn="l" rtl="0"/>
                      <a:r>
                        <a:rPr lang="en-US" sz="2000" b="1">
                          <a:cs typeface="2  Nazanin" panose="00000400000000000000" pitchFamily="2" charset="-78"/>
                        </a:rPr>
                        <a:t>BlueDot</a:t>
                      </a:r>
                      <a:endParaRPr lang="en-US" sz="2000">
                        <a:cs typeface="2  Nazanin" panose="00000400000000000000" pitchFamily="2" charset="-78"/>
                      </a:endParaRPr>
                    </a:p>
                  </a:txBody>
                  <a:tcPr anchor="ctr"/>
                </a:tc>
                <a:tc>
                  <a:txBody>
                    <a:bodyPr/>
                    <a:lstStyle/>
                    <a:p>
                      <a:pPr algn="r" rtl="1"/>
                      <a:r>
                        <a:rPr lang="ar-SA" sz="2000">
                          <a:cs typeface="2  Nazanin" panose="00000400000000000000" pitchFamily="2" charset="-78"/>
                        </a:rPr>
                        <a:t>پیش‌بینی بیماری‌های واگیر</a:t>
                      </a:r>
                    </a:p>
                  </a:txBody>
                  <a:tcPr anchor="ctr"/>
                </a:tc>
                <a:tc>
                  <a:txBody>
                    <a:bodyPr/>
                    <a:lstStyle/>
                    <a:p>
                      <a:pPr algn="r" rtl="1"/>
                      <a:r>
                        <a:rPr lang="ar-SA" sz="2000">
                          <a:cs typeface="2  Nazanin" panose="00000400000000000000" pitchFamily="2" charset="-78"/>
                        </a:rPr>
                        <a:t>تشخیص کرونا پیش از </a:t>
                      </a:r>
                      <a:r>
                        <a:rPr lang="en-US" sz="2000">
                          <a:cs typeface="2  Nazanin" panose="00000400000000000000" pitchFamily="2" charset="-78"/>
                        </a:rPr>
                        <a:t>WHO</a:t>
                      </a:r>
                    </a:p>
                  </a:txBody>
                  <a:tcPr anchor="ctr"/>
                </a:tc>
                <a:extLst>
                  <a:ext uri="{0D108BD9-81ED-4DB2-BD59-A6C34878D82A}">
                    <a16:rowId xmlns:a16="http://schemas.microsoft.com/office/drawing/2014/main" val="107905365"/>
                  </a:ext>
                </a:extLst>
              </a:tr>
            </a:tbl>
          </a:graphicData>
        </a:graphic>
      </p:graphicFrame>
      <p:sp>
        <p:nvSpPr>
          <p:cNvPr id="2" name="TextBox 1">
            <a:extLst>
              <a:ext uri="{FF2B5EF4-FFF2-40B4-BE49-F238E27FC236}">
                <a16:creationId xmlns:a16="http://schemas.microsoft.com/office/drawing/2014/main" id="{77DB4A4A-196A-65B7-40F4-C8715556715D}"/>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29</a:t>
            </a:r>
            <a:endParaRPr lang="fa-IR" sz="1200"/>
          </a:p>
        </p:txBody>
      </p:sp>
    </p:spTree>
    <p:extLst>
      <p:ext uri="{BB962C8B-B14F-4D97-AF65-F5344CB8AC3E}">
        <p14:creationId xmlns:p14="http://schemas.microsoft.com/office/powerpoint/2010/main" val="6436547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47157-C19E-BC50-6A7F-D1E1FAB9266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4F118D9-1D3D-44AF-C6DF-33F0216B8BCD}"/>
              </a:ext>
            </a:extLst>
          </p:cNvPr>
          <p:cNvSpPr txBox="1"/>
          <p:nvPr/>
        </p:nvSpPr>
        <p:spPr>
          <a:xfrm>
            <a:off x="116114" y="409805"/>
            <a:ext cx="9027886" cy="584775"/>
          </a:xfrm>
          <a:prstGeom prst="rect">
            <a:avLst/>
          </a:prstGeom>
          <a:noFill/>
        </p:spPr>
        <p:txBody>
          <a:bodyPr wrap="square">
            <a:spAutoFit/>
          </a:bodyPr>
          <a:lstStyle/>
          <a:p>
            <a:pPr algn="r" rtl="1"/>
            <a:r>
              <a:rPr lang="ar-SA" sz="3200">
                <a:cs typeface="Titr" panose="00000700000000000000" pitchFamily="2" charset="-78"/>
              </a:rPr>
              <a:t>اروپا (هوش مصنوعی مسئول و متن‌باز)</a:t>
            </a:r>
            <a:endParaRPr lang="fa-IR" sz="3200" b="1">
              <a:cs typeface="Titr" panose="00000700000000000000" pitchFamily="2" charset="-78"/>
            </a:endParaRPr>
          </a:p>
        </p:txBody>
      </p:sp>
      <p:graphicFrame>
        <p:nvGraphicFramePr>
          <p:cNvPr id="2" name="Table 1">
            <a:extLst>
              <a:ext uri="{FF2B5EF4-FFF2-40B4-BE49-F238E27FC236}">
                <a16:creationId xmlns:a16="http://schemas.microsoft.com/office/drawing/2014/main" id="{EE392135-8A1D-B509-5E13-1D534391295D}"/>
              </a:ext>
            </a:extLst>
          </p:cNvPr>
          <p:cNvGraphicFramePr>
            <a:graphicFrameLocks noGrp="1"/>
          </p:cNvGraphicFramePr>
          <p:nvPr>
            <p:extLst>
              <p:ext uri="{D42A27DB-BD31-4B8C-83A1-F6EECF244321}">
                <p14:modId xmlns:p14="http://schemas.microsoft.com/office/powerpoint/2010/main" val="3341412396"/>
              </p:ext>
            </p:extLst>
          </p:nvPr>
        </p:nvGraphicFramePr>
        <p:xfrm>
          <a:off x="628650" y="1782786"/>
          <a:ext cx="7886700" cy="3901440"/>
        </p:xfrm>
        <a:graphic>
          <a:graphicData uri="http://schemas.openxmlformats.org/drawingml/2006/table">
            <a:tbl>
              <a:tblPr>
                <a:tableStyleId>{5940675A-B579-460E-94D1-54222C63F5DA}</a:tableStyleId>
              </a:tblPr>
              <a:tblGrid>
                <a:gridCol w="1548493">
                  <a:extLst>
                    <a:ext uri="{9D8B030D-6E8A-4147-A177-3AD203B41FA5}">
                      <a16:colId xmlns:a16="http://schemas.microsoft.com/office/drawing/2014/main" val="1424547095"/>
                    </a:ext>
                  </a:extLst>
                </a:gridCol>
                <a:gridCol w="1988457">
                  <a:extLst>
                    <a:ext uri="{9D8B030D-6E8A-4147-A177-3AD203B41FA5}">
                      <a16:colId xmlns:a16="http://schemas.microsoft.com/office/drawing/2014/main" val="3662082110"/>
                    </a:ext>
                  </a:extLst>
                </a:gridCol>
                <a:gridCol w="2378075">
                  <a:extLst>
                    <a:ext uri="{9D8B030D-6E8A-4147-A177-3AD203B41FA5}">
                      <a16:colId xmlns:a16="http://schemas.microsoft.com/office/drawing/2014/main" val="1988120674"/>
                    </a:ext>
                  </a:extLst>
                </a:gridCol>
                <a:gridCol w="1971675">
                  <a:extLst>
                    <a:ext uri="{9D8B030D-6E8A-4147-A177-3AD203B41FA5}">
                      <a16:colId xmlns:a16="http://schemas.microsoft.com/office/drawing/2014/main" val="78257820"/>
                    </a:ext>
                  </a:extLst>
                </a:gridCol>
              </a:tblGrid>
              <a:tr h="0">
                <a:tc>
                  <a:txBody>
                    <a:bodyPr/>
                    <a:lstStyle/>
                    <a:p>
                      <a:pPr algn="r" rtl="1"/>
                      <a:r>
                        <a:rPr lang="ar-SA" sz="2000">
                          <a:cs typeface="2  Nazanin" panose="00000400000000000000" pitchFamily="2" charset="-78"/>
                        </a:rPr>
                        <a:t>کشور</a:t>
                      </a:r>
                    </a:p>
                  </a:txBody>
                  <a:tcPr anchor="ctr"/>
                </a:tc>
                <a:tc>
                  <a:txBody>
                    <a:bodyPr/>
                    <a:lstStyle/>
                    <a:p>
                      <a:pPr algn="r" rtl="1"/>
                      <a:r>
                        <a:rPr lang="ar-SA" sz="2000">
                          <a:cs typeface="2  Nazanin" panose="00000400000000000000" pitchFamily="2" charset="-78"/>
                        </a:rPr>
                        <a:t>نام اپ یا پروژه</a:t>
                      </a:r>
                    </a:p>
                  </a:txBody>
                  <a:tcPr anchor="ctr"/>
                </a:tc>
                <a:tc>
                  <a:txBody>
                    <a:bodyPr/>
                    <a:lstStyle/>
                    <a:p>
                      <a:pPr algn="r" rtl="1"/>
                      <a:r>
                        <a:rPr lang="ar-SA" sz="2000">
                          <a:cs typeface="2  Nazanin" panose="00000400000000000000" pitchFamily="2" charset="-78"/>
                        </a:rPr>
                        <a:t>توضیح</a:t>
                      </a:r>
                    </a:p>
                  </a:txBody>
                  <a:tcPr anchor="ctr"/>
                </a:tc>
                <a:tc>
                  <a:txBody>
                    <a:bodyPr/>
                    <a:lstStyle/>
                    <a:p>
                      <a:pPr algn="r" rtl="1"/>
                      <a:r>
                        <a:rPr lang="ar-SA" sz="2000">
                          <a:cs typeface="2  Nazanin" panose="00000400000000000000" pitchFamily="2" charset="-78"/>
                        </a:rPr>
                        <a:t>ویژگی</a:t>
                      </a:r>
                    </a:p>
                  </a:txBody>
                  <a:tcPr anchor="ctr"/>
                </a:tc>
                <a:extLst>
                  <a:ext uri="{0D108BD9-81ED-4DB2-BD59-A6C34878D82A}">
                    <a16:rowId xmlns:a16="http://schemas.microsoft.com/office/drawing/2014/main" val="3514570802"/>
                  </a:ext>
                </a:extLst>
              </a:tr>
              <a:tr h="0">
                <a:tc>
                  <a:txBody>
                    <a:bodyPr/>
                    <a:lstStyle/>
                    <a:p>
                      <a:pPr algn="l" rtl="0"/>
                      <a:r>
                        <a:rPr lang="en-US" sz="2000">
                          <a:cs typeface="2  Nazanin" panose="00000400000000000000" pitchFamily="2" charset="-78"/>
                        </a:rPr>
                        <a:t>🇬🇧 </a:t>
                      </a:r>
                      <a:r>
                        <a:rPr lang="ar-SA" sz="2000">
                          <a:cs typeface="2  Nazanin" panose="00000400000000000000" pitchFamily="2" charset="-78"/>
                        </a:rPr>
                        <a:t>انگلستان</a:t>
                      </a:r>
                    </a:p>
                  </a:txBody>
                  <a:tcPr anchor="ctr"/>
                </a:tc>
                <a:tc>
                  <a:txBody>
                    <a:bodyPr/>
                    <a:lstStyle/>
                    <a:p>
                      <a:pPr algn="l" rtl="0"/>
                      <a:r>
                        <a:rPr lang="en-US" sz="2000" b="1">
                          <a:cs typeface="2  Nazanin" panose="00000400000000000000" pitchFamily="2" charset="-78"/>
                        </a:rPr>
                        <a:t>Stability AI</a:t>
                      </a:r>
                      <a:endParaRPr lang="en-US" sz="2000">
                        <a:cs typeface="2  Nazanin" panose="00000400000000000000" pitchFamily="2" charset="-78"/>
                      </a:endParaRPr>
                    </a:p>
                  </a:txBody>
                  <a:tcPr anchor="ctr"/>
                </a:tc>
                <a:tc>
                  <a:txBody>
                    <a:bodyPr/>
                    <a:lstStyle/>
                    <a:p>
                      <a:pPr algn="ctr" rtl="1"/>
                      <a:r>
                        <a:rPr lang="ar-SA" sz="2000">
                          <a:cs typeface="2  Nazanin" panose="00000400000000000000" pitchFamily="2" charset="-78"/>
                        </a:rPr>
                        <a:t>سازنده‌ی </a:t>
                      </a:r>
                      <a:r>
                        <a:rPr lang="en-US" sz="2000">
                          <a:cs typeface="2  Nazanin" panose="00000400000000000000" pitchFamily="2" charset="-78"/>
                        </a:rPr>
                        <a:t>Stable Diffusion</a:t>
                      </a:r>
                    </a:p>
                  </a:txBody>
                  <a:tcPr anchor="ctr"/>
                </a:tc>
                <a:tc>
                  <a:txBody>
                    <a:bodyPr/>
                    <a:lstStyle/>
                    <a:p>
                      <a:pPr algn="ctr" rtl="1"/>
                      <a:r>
                        <a:rPr lang="ar-SA" sz="2000">
                          <a:cs typeface="2  Nazanin" panose="00000400000000000000" pitchFamily="2" charset="-78"/>
                        </a:rPr>
                        <a:t>تولید تصویر از متن، رایگان</a:t>
                      </a:r>
                    </a:p>
                  </a:txBody>
                  <a:tcPr anchor="ctr"/>
                </a:tc>
                <a:extLst>
                  <a:ext uri="{0D108BD9-81ED-4DB2-BD59-A6C34878D82A}">
                    <a16:rowId xmlns:a16="http://schemas.microsoft.com/office/drawing/2014/main" val="1770513223"/>
                  </a:ext>
                </a:extLst>
              </a:tr>
              <a:tr h="0">
                <a:tc>
                  <a:txBody>
                    <a:bodyPr/>
                    <a:lstStyle/>
                    <a:p>
                      <a:pPr algn="l" rtl="0"/>
                      <a:r>
                        <a:rPr lang="en-US" sz="2000">
                          <a:cs typeface="2  Nazanin" panose="00000400000000000000" pitchFamily="2" charset="-78"/>
                        </a:rPr>
                        <a:t>🇫🇷 </a:t>
                      </a:r>
                      <a:r>
                        <a:rPr lang="ar-SA" sz="2000">
                          <a:cs typeface="2  Nazanin" panose="00000400000000000000" pitchFamily="2" charset="-78"/>
                        </a:rPr>
                        <a:t>فرانسه</a:t>
                      </a:r>
                    </a:p>
                  </a:txBody>
                  <a:tcPr anchor="ctr"/>
                </a:tc>
                <a:tc>
                  <a:txBody>
                    <a:bodyPr/>
                    <a:lstStyle/>
                    <a:p>
                      <a:pPr algn="l" rtl="0"/>
                      <a:r>
                        <a:rPr lang="en-US" sz="2000" b="1">
                          <a:cs typeface="2  Nazanin" panose="00000400000000000000" pitchFamily="2" charset="-78"/>
                        </a:rPr>
                        <a:t>Mistral AI</a:t>
                      </a:r>
                      <a:endParaRPr lang="en-US" sz="2000">
                        <a:cs typeface="2  Nazanin" panose="00000400000000000000" pitchFamily="2" charset="-78"/>
                      </a:endParaRPr>
                    </a:p>
                  </a:txBody>
                  <a:tcPr anchor="ctr"/>
                </a:tc>
                <a:tc>
                  <a:txBody>
                    <a:bodyPr/>
                    <a:lstStyle/>
                    <a:p>
                      <a:pPr algn="ctr" rtl="1"/>
                      <a:r>
                        <a:rPr lang="ar-SA" sz="2000">
                          <a:cs typeface="2  Nazanin" panose="00000400000000000000" pitchFamily="2" charset="-78"/>
                        </a:rPr>
                        <a:t>مدل‌های زبانی باز و قدرتمند (</a:t>
                      </a:r>
                      <a:r>
                        <a:rPr lang="en-US" sz="2000">
                          <a:cs typeface="2  Nazanin" panose="00000400000000000000" pitchFamily="2" charset="-78"/>
                        </a:rPr>
                        <a:t>Mistral 7B)</a:t>
                      </a:r>
                    </a:p>
                  </a:txBody>
                  <a:tcPr anchor="ctr"/>
                </a:tc>
                <a:tc>
                  <a:txBody>
                    <a:bodyPr/>
                    <a:lstStyle/>
                    <a:p>
                      <a:pPr algn="ctr" rtl="1"/>
                      <a:r>
                        <a:rPr lang="ar-SA" sz="2000">
                          <a:cs typeface="2  Nazanin" panose="00000400000000000000" pitchFamily="2" charset="-78"/>
                        </a:rPr>
                        <a:t>رقیب اروپایی </a:t>
                      </a:r>
                      <a:r>
                        <a:rPr lang="en-US" sz="2000">
                          <a:cs typeface="2  Nazanin" panose="00000400000000000000" pitchFamily="2" charset="-78"/>
                        </a:rPr>
                        <a:t>ChatGPT</a:t>
                      </a:r>
                    </a:p>
                  </a:txBody>
                  <a:tcPr anchor="ctr"/>
                </a:tc>
                <a:extLst>
                  <a:ext uri="{0D108BD9-81ED-4DB2-BD59-A6C34878D82A}">
                    <a16:rowId xmlns:a16="http://schemas.microsoft.com/office/drawing/2014/main" val="2789018837"/>
                  </a:ext>
                </a:extLst>
              </a:tr>
              <a:tr h="0">
                <a:tc>
                  <a:txBody>
                    <a:bodyPr/>
                    <a:lstStyle/>
                    <a:p>
                      <a:pPr algn="l" rtl="0"/>
                      <a:r>
                        <a:rPr lang="en-US" sz="2000">
                          <a:cs typeface="2  Nazanin" panose="00000400000000000000" pitchFamily="2" charset="-78"/>
                        </a:rPr>
                        <a:t>🇩🇪 </a:t>
                      </a:r>
                      <a:r>
                        <a:rPr lang="ar-SA" sz="2000">
                          <a:cs typeface="2  Nazanin" panose="00000400000000000000" pitchFamily="2" charset="-78"/>
                        </a:rPr>
                        <a:t>آلمان</a:t>
                      </a:r>
                    </a:p>
                  </a:txBody>
                  <a:tcPr anchor="ctr"/>
                </a:tc>
                <a:tc>
                  <a:txBody>
                    <a:bodyPr/>
                    <a:lstStyle/>
                    <a:p>
                      <a:pPr algn="l" rtl="0"/>
                      <a:r>
                        <a:rPr lang="en-US" sz="2000" b="1">
                          <a:cs typeface="2  Nazanin" panose="00000400000000000000" pitchFamily="2" charset="-78"/>
                        </a:rPr>
                        <a:t>Aleph Alpha</a:t>
                      </a:r>
                      <a:endParaRPr lang="en-US" sz="2000">
                        <a:cs typeface="2  Nazanin" panose="00000400000000000000" pitchFamily="2" charset="-78"/>
                      </a:endParaRPr>
                    </a:p>
                  </a:txBody>
                  <a:tcPr anchor="ctr"/>
                </a:tc>
                <a:tc>
                  <a:txBody>
                    <a:bodyPr/>
                    <a:lstStyle/>
                    <a:p>
                      <a:pPr algn="ctr" rtl="1"/>
                      <a:r>
                        <a:rPr lang="ar-SA" sz="2000">
                          <a:cs typeface="2  Nazanin" panose="00000400000000000000" pitchFamily="2" charset="-78"/>
                        </a:rPr>
                        <a:t>مدل زبانی با قابلیت توضیح تصمیم</a:t>
                      </a:r>
                    </a:p>
                  </a:txBody>
                  <a:tcPr anchor="ctr"/>
                </a:tc>
                <a:tc>
                  <a:txBody>
                    <a:bodyPr/>
                    <a:lstStyle/>
                    <a:p>
                      <a:pPr algn="ctr" rtl="1"/>
                      <a:r>
                        <a:rPr lang="ar-SA" sz="2000">
                          <a:cs typeface="2  Nazanin" panose="00000400000000000000" pitchFamily="2" charset="-78"/>
                        </a:rPr>
                        <a:t>تمرکز بر شفافیت در </a:t>
                      </a:r>
                      <a:r>
                        <a:rPr lang="en-US" sz="2000">
                          <a:cs typeface="2  Nazanin" panose="00000400000000000000" pitchFamily="2" charset="-78"/>
                        </a:rPr>
                        <a:t>AI</a:t>
                      </a:r>
                    </a:p>
                  </a:txBody>
                  <a:tcPr anchor="ctr"/>
                </a:tc>
                <a:extLst>
                  <a:ext uri="{0D108BD9-81ED-4DB2-BD59-A6C34878D82A}">
                    <a16:rowId xmlns:a16="http://schemas.microsoft.com/office/drawing/2014/main" val="1949924885"/>
                  </a:ext>
                </a:extLst>
              </a:tr>
              <a:tr h="0">
                <a:tc>
                  <a:txBody>
                    <a:bodyPr/>
                    <a:lstStyle/>
                    <a:p>
                      <a:pPr algn="l" rtl="0"/>
                      <a:r>
                        <a:rPr lang="en-US" sz="2000">
                          <a:cs typeface="2  Nazanin" panose="00000400000000000000" pitchFamily="2" charset="-78"/>
                        </a:rPr>
                        <a:t>🇬🇧 </a:t>
                      </a:r>
                      <a:r>
                        <a:rPr lang="ar-SA" sz="2000">
                          <a:cs typeface="2  Nazanin" panose="00000400000000000000" pitchFamily="2" charset="-78"/>
                        </a:rPr>
                        <a:t>انگلستان</a:t>
                      </a:r>
                    </a:p>
                  </a:txBody>
                  <a:tcPr anchor="ctr"/>
                </a:tc>
                <a:tc>
                  <a:txBody>
                    <a:bodyPr/>
                    <a:lstStyle/>
                    <a:p>
                      <a:pPr algn="l" rtl="0"/>
                      <a:r>
                        <a:rPr lang="en-US" sz="2000" b="1">
                          <a:cs typeface="2  Nazanin" panose="00000400000000000000" pitchFamily="2" charset="-78"/>
                        </a:rPr>
                        <a:t>Synthesia</a:t>
                      </a:r>
                      <a:endParaRPr lang="en-US" sz="2000">
                        <a:cs typeface="2  Nazanin" panose="00000400000000000000" pitchFamily="2" charset="-78"/>
                      </a:endParaRPr>
                    </a:p>
                  </a:txBody>
                  <a:tcPr anchor="ctr"/>
                </a:tc>
                <a:tc>
                  <a:txBody>
                    <a:bodyPr/>
                    <a:lstStyle/>
                    <a:p>
                      <a:pPr algn="ctr" rtl="1"/>
                      <a:r>
                        <a:rPr lang="ar-SA" sz="2000">
                          <a:cs typeface="2  Nazanin" panose="00000400000000000000" pitchFamily="2" charset="-78"/>
                        </a:rPr>
                        <a:t>تولید ویدیو با چهره و صدا</a:t>
                      </a:r>
                    </a:p>
                  </a:txBody>
                  <a:tcPr anchor="ctr"/>
                </a:tc>
                <a:tc>
                  <a:txBody>
                    <a:bodyPr/>
                    <a:lstStyle/>
                    <a:p>
                      <a:pPr algn="ctr" rtl="1"/>
                      <a:r>
                        <a:rPr lang="ar-SA" sz="2000">
                          <a:cs typeface="2  Nazanin" panose="00000400000000000000" pitchFamily="2" charset="-78"/>
                        </a:rPr>
                        <a:t>مناسب آموزش، مارکتینگ</a:t>
                      </a:r>
                    </a:p>
                  </a:txBody>
                  <a:tcPr anchor="ctr"/>
                </a:tc>
                <a:extLst>
                  <a:ext uri="{0D108BD9-81ED-4DB2-BD59-A6C34878D82A}">
                    <a16:rowId xmlns:a16="http://schemas.microsoft.com/office/drawing/2014/main" val="3311073100"/>
                  </a:ext>
                </a:extLst>
              </a:tr>
              <a:tr h="0">
                <a:tc>
                  <a:txBody>
                    <a:bodyPr/>
                    <a:lstStyle/>
                    <a:p>
                      <a:pPr algn="l" rtl="0"/>
                      <a:r>
                        <a:rPr lang="en-US" sz="2000">
                          <a:cs typeface="2  Nazanin" panose="00000400000000000000" pitchFamily="2" charset="-78"/>
                        </a:rPr>
                        <a:t>🇳🇱 </a:t>
                      </a:r>
                      <a:r>
                        <a:rPr lang="ar-SA" sz="2000">
                          <a:cs typeface="2  Nazanin" panose="00000400000000000000" pitchFamily="2" charset="-78"/>
                        </a:rPr>
                        <a:t>هلند</a:t>
                      </a:r>
                    </a:p>
                  </a:txBody>
                  <a:tcPr anchor="ctr"/>
                </a:tc>
                <a:tc>
                  <a:txBody>
                    <a:bodyPr/>
                    <a:lstStyle/>
                    <a:p>
                      <a:pPr algn="l" rtl="0"/>
                      <a:r>
                        <a:rPr lang="en-US" sz="2000" b="1">
                          <a:cs typeface="2  Nazanin" panose="00000400000000000000" pitchFamily="2" charset="-78"/>
                        </a:rPr>
                        <a:t>AIVA AI Composer</a:t>
                      </a:r>
                      <a:endParaRPr lang="en-US" sz="2000">
                        <a:cs typeface="2  Nazanin" panose="00000400000000000000" pitchFamily="2" charset="-78"/>
                      </a:endParaRPr>
                    </a:p>
                  </a:txBody>
                  <a:tcPr anchor="ctr"/>
                </a:tc>
                <a:tc>
                  <a:txBody>
                    <a:bodyPr/>
                    <a:lstStyle/>
                    <a:p>
                      <a:pPr algn="ctr" rtl="1"/>
                      <a:r>
                        <a:rPr lang="ar-SA" sz="2000">
                          <a:cs typeface="2  Nazanin" panose="00000400000000000000" pitchFamily="2" charset="-78"/>
                        </a:rPr>
                        <a:t>آهنگسازی با هوش مصنوعی</a:t>
                      </a:r>
                    </a:p>
                  </a:txBody>
                  <a:tcPr anchor="ctr"/>
                </a:tc>
                <a:tc>
                  <a:txBody>
                    <a:bodyPr/>
                    <a:lstStyle/>
                    <a:p>
                      <a:pPr algn="ctr" rtl="1"/>
                      <a:r>
                        <a:rPr lang="ar-SA" sz="2000">
                          <a:cs typeface="2  Nazanin" panose="00000400000000000000" pitchFamily="2" charset="-78"/>
                        </a:rPr>
                        <a:t>موسیقی برای فیلم و بازی</a:t>
                      </a:r>
                    </a:p>
                  </a:txBody>
                  <a:tcPr anchor="ctr"/>
                </a:tc>
                <a:extLst>
                  <a:ext uri="{0D108BD9-81ED-4DB2-BD59-A6C34878D82A}">
                    <a16:rowId xmlns:a16="http://schemas.microsoft.com/office/drawing/2014/main" val="393157734"/>
                  </a:ext>
                </a:extLst>
              </a:tr>
            </a:tbl>
          </a:graphicData>
        </a:graphic>
      </p:graphicFrame>
      <p:sp>
        <p:nvSpPr>
          <p:cNvPr id="4" name="TextBox 3">
            <a:extLst>
              <a:ext uri="{FF2B5EF4-FFF2-40B4-BE49-F238E27FC236}">
                <a16:creationId xmlns:a16="http://schemas.microsoft.com/office/drawing/2014/main" id="{84D87F0B-48BF-D96F-8110-496EC27A76C0}"/>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30</a:t>
            </a:r>
            <a:endParaRPr lang="fa-IR" sz="1200"/>
          </a:p>
        </p:txBody>
      </p:sp>
    </p:spTree>
    <p:extLst>
      <p:ext uri="{BB962C8B-B14F-4D97-AF65-F5344CB8AC3E}">
        <p14:creationId xmlns:p14="http://schemas.microsoft.com/office/powerpoint/2010/main" val="25682947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5EE0B-3A12-FA1A-FD6E-C9EDD7F4AD2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0EE64F5-07C3-D632-BDB1-FF1E7D9167B6}"/>
              </a:ext>
            </a:extLst>
          </p:cNvPr>
          <p:cNvSpPr txBox="1"/>
          <p:nvPr/>
        </p:nvSpPr>
        <p:spPr>
          <a:xfrm>
            <a:off x="116114" y="409805"/>
            <a:ext cx="9027886" cy="584775"/>
          </a:xfrm>
          <a:prstGeom prst="rect">
            <a:avLst/>
          </a:prstGeom>
          <a:noFill/>
        </p:spPr>
        <p:txBody>
          <a:bodyPr wrap="square">
            <a:spAutoFit/>
          </a:bodyPr>
          <a:lstStyle/>
          <a:p>
            <a:pPr algn="r" rtl="1"/>
            <a:r>
              <a:rPr lang="ar-SA" sz="3200">
                <a:cs typeface="Titr" panose="00000700000000000000" pitchFamily="2" charset="-78"/>
              </a:rPr>
              <a:t>روسیه (تمرکز بر کاربرد بومی و نظامی)</a:t>
            </a:r>
            <a:endParaRPr lang="fa-IR" sz="3200" b="1">
              <a:cs typeface="Titr" panose="00000700000000000000" pitchFamily="2" charset="-78"/>
            </a:endParaRPr>
          </a:p>
        </p:txBody>
      </p:sp>
      <p:graphicFrame>
        <p:nvGraphicFramePr>
          <p:cNvPr id="2" name="Table 1">
            <a:extLst>
              <a:ext uri="{FF2B5EF4-FFF2-40B4-BE49-F238E27FC236}">
                <a16:creationId xmlns:a16="http://schemas.microsoft.com/office/drawing/2014/main" id="{1D8DFB8C-3A06-A168-6813-2321371156D0}"/>
              </a:ext>
            </a:extLst>
          </p:cNvPr>
          <p:cNvGraphicFramePr>
            <a:graphicFrameLocks noGrp="1"/>
          </p:cNvGraphicFramePr>
          <p:nvPr>
            <p:extLst>
              <p:ext uri="{D42A27DB-BD31-4B8C-83A1-F6EECF244321}">
                <p14:modId xmlns:p14="http://schemas.microsoft.com/office/powerpoint/2010/main" val="3936698318"/>
              </p:ext>
            </p:extLst>
          </p:nvPr>
        </p:nvGraphicFramePr>
        <p:xfrm>
          <a:off x="261257" y="1989614"/>
          <a:ext cx="8636000" cy="1584960"/>
        </p:xfrm>
        <a:graphic>
          <a:graphicData uri="http://schemas.openxmlformats.org/drawingml/2006/table">
            <a:tbl>
              <a:tblPr>
                <a:tableStyleId>{5940675A-B579-460E-94D1-54222C63F5DA}</a:tableStyleId>
              </a:tblPr>
              <a:tblGrid>
                <a:gridCol w="2075543">
                  <a:extLst>
                    <a:ext uri="{9D8B030D-6E8A-4147-A177-3AD203B41FA5}">
                      <a16:colId xmlns:a16="http://schemas.microsoft.com/office/drawing/2014/main" val="86971089"/>
                    </a:ext>
                  </a:extLst>
                </a:gridCol>
                <a:gridCol w="2830286">
                  <a:extLst>
                    <a:ext uri="{9D8B030D-6E8A-4147-A177-3AD203B41FA5}">
                      <a16:colId xmlns:a16="http://schemas.microsoft.com/office/drawing/2014/main" val="3915346504"/>
                    </a:ext>
                  </a:extLst>
                </a:gridCol>
                <a:gridCol w="3730171">
                  <a:extLst>
                    <a:ext uri="{9D8B030D-6E8A-4147-A177-3AD203B41FA5}">
                      <a16:colId xmlns:a16="http://schemas.microsoft.com/office/drawing/2014/main" val="370661665"/>
                    </a:ext>
                  </a:extLst>
                </a:gridCol>
              </a:tblGrid>
              <a:tr h="0">
                <a:tc>
                  <a:txBody>
                    <a:bodyPr/>
                    <a:lstStyle/>
                    <a:p>
                      <a:pPr algn="r" rtl="1"/>
                      <a:r>
                        <a:rPr lang="ar-SA" sz="2000">
                          <a:cs typeface="2  Nazanin" panose="00000400000000000000" pitchFamily="2" charset="-78"/>
                        </a:rPr>
                        <a:t>نام</a:t>
                      </a:r>
                    </a:p>
                  </a:txBody>
                  <a:tcPr anchor="ctr"/>
                </a:tc>
                <a:tc>
                  <a:txBody>
                    <a:bodyPr/>
                    <a:lstStyle/>
                    <a:p>
                      <a:pPr algn="r" rtl="1"/>
                      <a:r>
                        <a:rPr lang="ar-SA" sz="2000">
                          <a:cs typeface="2  Nazanin" panose="00000400000000000000" pitchFamily="2" charset="-78"/>
                        </a:rPr>
                        <a:t>توضیح</a:t>
                      </a:r>
                    </a:p>
                  </a:txBody>
                  <a:tcPr anchor="ctr"/>
                </a:tc>
                <a:tc>
                  <a:txBody>
                    <a:bodyPr/>
                    <a:lstStyle/>
                    <a:p>
                      <a:pPr algn="r" rtl="1"/>
                      <a:r>
                        <a:rPr lang="ar-SA" sz="2000">
                          <a:cs typeface="2  Nazanin" panose="00000400000000000000" pitchFamily="2" charset="-78"/>
                        </a:rPr>
                        <a:t>قابلیت خاص</a:t>
                      </a:r>
                    </a:p>
                  </a:txBody>
                  <a:tcPr anchor="ctr"/>
                </a:tc>
                <a:extLst>
                  <a:ext uri="{0D108BD9-81ED-4DB2-BD59-A6C34878D82A}">
                    <a16:rowId xmlns:a16="http://schemas.microsoft.com/office/drawing/2014/main" val="638789569"/>
                  </a:ext>
                </a:extLst>
              </a:tr>
              <a:tr h="0">
                <a:tc>
                  <a:txBody>
                    <a:bodyPr/>
                    <a:lstStyle/>
                    <a:p>
                      <a:pPr algn="l" rtl="0"/>
                      <a:r>
                        <a:rPr lang="en-US" sz="2000" b="1">
                          <a:cs typeface="2  Nazanin" panose="00000400000000000000" pitchFamily="2" charset="-78"/>
                        </a:rPr>
                        <a:t>Sber AI</a:t>
                      </a:r>
                      <a:endParaRPr lang="en-US" sz="2000">
                        <a:cs typeface="2  Nazanin" panose="00000400000000000000" pitchFamily="2" charset="-78"/>
                      </a:endParaRPr>
                    </a:p>
                  </a:txBody>
                  <a:tcPr anchor="ctr"/>
                </a:tc>
                <a:tc>
                  <a:txBody>
                    <a:bodyPr/>
                    <a:lstStyle/>
                    <a:p>
                      <a:pPr algn="r" rtl="1"/>
                      <a:r>
                        <a:rPr lang="ar-SA" sz="2000">
                          <a:cs typeface="2  Nazanin" panose="00000400000000000000" pitchFamily="2" charset="-78"/>
                        </a:rPr>
                        <a:t>زیرمجموعه بانک </a:t>
                      </a:r>
                      <a:r>
                        <a:rPr lang="en-US" sz="2000">
                          <a:cs typeface="2  Nazanin" panose="00000400000000000000" pitchFamily="2" charset="-78"/>
                        </a:rPr>
                        <a:t>Sberbank</a:t>
                      </a:r>
                    </a:p>
                  </a:txBody>
                  <a:tcPr anchor="ctr"/>
                </a:tc>
                <a:tc>
                  <a:txBody>
                    <a:bodyPr/>
                    <a:lstStyle/>
                    <a:p>
                      <a:pPr algn="r" rtl="1"/>
                      <a:r>
                        <a:rPr lang="ar-SA" sz="2000">
                          <a:cs typeface="2  Nazanin" panose="00000400000000000000" pitchFamily="2" charset="-78"/>
                        </a:rPr>
                        <a:t>مدل‌های زبانی روسی مانند </a:t>
                      </a:r>
                      <a:r>
                        <a:rPr lang="en-US" sz="2000">
                          <a:cs typeface="2  Nazanin" panose="00000400000000000000" pitchFamily="2" charset="-78"/>
                        </a:rPr>
                        <a:t>GigaChat</a:t>
                      </a:r>
                    </a:p>
                  </a:txBody>
                  <a:tcPr anchor="ctr"/>
                </a:tc>
                <a:extLst>
                  <a:ext uri="{0D108BD9-81ED-4DB2-BD59-A6C34878D82A}">
                    <a16:rowId xmlns:a16="http://schemas.microsoft.com/office/drawing/2014/main" val="609579610"/>
                  </a:ext>
                </a:extLst>
              </a:tr>
              <a:tr h="0">
                <a:tc>
                  <a:txBody>
                    <a:bodyPr/>
                    <a:lstStyle/>
                    <a:p>
                      <a:pPr algn="l" rtl="0"/>
                      <a:r>
                        <a:rPr lang="en-US" sz="2000" b="1">
                          <a:cs typeface="2  Nazanin" panose="00000400000000000000" pitchFamily="2" charset="-78"/>
                        </a:rPr>
                        <a:t>Yandex Alice</a:t>
                      </a:r>
                      <a:endParaRPr lang="en-US" sz="2000">
                        <a:cs typeface="2  Nazanin" panose="00000400000000000000" pitchFamily="2" charset="-78"/>
                      </a:endParaRPr>
                    </a:p>
                  </a:txBody>
                  <a:tcPr anchor="ctr"/>
                </a:tc>
                <a:tc>
                  <a:txBody>
                    <a:bodyPr/>
                    <a:lstStyle/>
                    <a:p>
                      <a:pPr algn="r" rtl="1"/>
                      <a:r>
                        <a:rPr lang="ar-SA" sz="2000">
                          <a:cs typeface="2  Nazanin" panose="00000400000000000000" pitchFamily="2" charset="-78"/>
                        </a:rPr>
                        <a:t>دستیار صوتی </a:t>
                      </a:r>
                      <a:r>
                        <a:rPr lang="en-US" sz="2000">
                          <a:cs typeface="2  Nazanin" panose="00000400000000000000" pitchFamily="2" charset="-78"/>
                        </a:rPr>
                        <a:t>Yandex</a:t>
                      </a:r>
                    </a:p>
                  </a:txBody>
                  <a:tcPr anchor="ctr"/>
                </a:tc>
                <a:tc>
                  <a:txBody>
                    <a:bodyPr/>
                    <a:lstStyle/>
                    <a:p>
                      <a:pPr algn="r" rtl="1"/>
                      <a:r>
                        <a:rPr lang="ar-SA" sz="2000">
                          <a:cs typeface="2  Nazanin" panose="00000400000000000000" pitchFamily="2" charset="-78"/>
                        </a:rPr>
                        <a:t>مشابه </a:t>
                      </a:r>
                      <a:r>
                        <a:rPr lang="en-US" sz="2000">
                          <a:cs typeface="2  Nazanin" panose="00000400000000000000" pitchFamily="2" charset="-78"/>
                        </a:rPr>
                        <a:t>Siri/Google Assistant</a:t>
                      </a:r>
                    </a:p>
                  </a:txBody>
                  <a:tcPr anchor="ctr"/>
                </a:tc>
                <a:extLst>
                  <a:ext uri="{0D108BD9-81ED-4DB2-BD59-A6C34878D82A}">
                    <a16:rowId xmlns:a16="http://schemas.microsoft.com/office/drawing/2014/main" val="4160239491"/>
                  </a:ext>
                </a:extLst>
              </a:tr>
              <a:tr h="0">
                <a:tc>
                  <a:txBody>
                    <a:bodyPr/>
                    <a:lstStyle/>
                    <a:p>
                      <a:pPr algn="l" rtl="0"/>
                      <a:r>
                        <a:rPr lang="en-US" sz="2000" b="1">
                          <a:cs typeface="2  Nazanin" panose="00000400000000000000" pitchFamily="2" charset="-78"/>
                        </a:rPr>
                        <a:t>Neuronet Project</a:t>
                      </a:r>
                      <a:endParaRPr lang="en-US" sz="2000">
                        <a:cs typeface="2  Nazanin" panose="00000400000000000000" pitchFamily="2" charset="-78"/>
                      </a:endParaRPr>
                    </a:p>
                  </a:txBody>
                  <a:tcPr anchor="ctr"/>
                </a:tc>
                <a:tc>
                  <a:txBody>
                    <a:bodyPr/>
                    <a:lstStyle/>
                    <a:p>
                      <a:pPr algn="r" rtl="1"/>
                      <a:r>
                        <a:rPr lang="ar-SA" sz="2000">
                          <a:cs typeface="2  Nazanin" panose="00000400000000000000" pitchFamily="2" charset="-78"/>
                        </a:rPr>
                        <a:t>بخشی از طرح ملی </a:t>
                      </a:r>
                      <a:r>
                        <a:rPr lang="en-US" sz="2000">
                          <a:cs typeface="2  Nazanin" panose="00000400000000000000" pitchFamily="2" charset="-78"/>
                        </a:rPr>
                        <a:t>AI</a:t>
                      </a:r>
                    </a:p>
                  </a:txBody>
                  <a:tcPr anchor="ctr"/>
                </a:tc>
                <a:tc>
                  <a:txBody>
                    <a:bodyPr/>
                    <a:lstStyle/>
                    <a:p>
                      <a:pPr algn="r" rtl="1"/>
                      <a:r>
                        <a:rPr lang="ar-SA" sz="2000">
                          <a:cs typeface="2  Nazanin" panose="00000400000000000000" pitchFamily="2" charset="-78"/>
                        </a:rPr>
                        <a:t>پردازش زبان روسی و ترجمه ماشینی</a:t>
                      </a:r>
                    </a:p>
                  </a:txBody>
                  <a:tcPr anchor="ctr"/>
                </a:tc>
                <a:extLst>
                  <a:ext uri="{0D108BD9-81ED-4DB2-BD59-A6C34878D82A}">
                    <a16:rowId xmlns:a16="http://schemas.microsoft.com/office/drawing/2014/main" val="1989516205"/>
                  </a:ext>
                </a:extLst>
              </a:tr>
            </a:tbl>
          </a:graphicData>
        </a:graphic>
      </p:graphicFrame>
      <p:sp>
        <p:nvSpPr>
          <p:cNvPr id="4" name="TextBox 3">
            <a:extLst>
              <a:ext uri="{FF2B5EF4-FFF2-40B4-BE49-F238E27FC236}">
                <a16:creationId xmlns:a16="http://schemas.microsoft.com/office/drawing/2014/main" id="{64C99F3B-0B5C-5E8E-2240-8D0400AAD139}"/>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31</a:t>
            </a:r>
            <a:endParaRPr lang="fa-IR" sz="1200"/>
          </a:p>
        </p:txBody>
      </p:sp>
    </p:spTree>
    <p:extLst>
      <p:ext uri="{BB962C8B-B14F-4D97-AF65-F5344CB8AC3E}">
        <p14:creationId xmlns:p14="http://schemas.microsoft.com/office/powerpoint/2010/main" val="29054341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F6FBC-3E23-0F17-464B-EDC9B754BA7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F805F55-C282-1D8E-7E64-16A745D8D427}"/>
              </a:ext>
            </a:extLst>
          </p:cNvPr>
          <p:cNvSpPr txBox="1"/>
          <p:nvPr/>
        </p:nvSpPr>
        <p:spPr>
          <a:xfrm>
            <a:off x="116114" y="409805"/>
            <a:ext cx="9027886" cy="584775"/>
          </a:xfrm>
          <a:prstGeom prst="rect">
            <a:avLst/>
          </a:prstGeom>
          <a:noFill/>
        </p:spPr>
        <p:txBody>
          <a:bodyPr wrap="square">
            <a:spAutoFit/>
          </a:bodyPr>
          <a:lstStyle/>
          <a:p>
            <a:pPr algn="r" rtl="1"/>
            <a:r>
              <a:rPr lang="ar-SA" sz="3200">
                <a:cs typeface="Titr" panose="00000700000000000000" pitchFamily="2" charset="-78"/>
              </a:rPr>
              <a:t>ژاپن (ترکیب </a:t>
            </a:r>
            <a:r>
              <a:rPr lang="en-US" sz="3200">
                <a:cs typeface="Titr" panose="00000700000000000000" pitchFamily="2" charset="-78"/>
              </a:rPr>
              <a:t>AI </a:t>
            </a:r>
            <a:r>
              <a:rPr lang="ar-SA" sz="3200">
                <a:cs typeface="Titr" panose="00000700000000000000" pitchFamily="2" charset="-78"/>
              </a:rPr>
              <a:t>با رباتیک و تعامل انسانی)</a:t>
            </a:r>
            <a:endParaRPr lang="fa-IR" sz="3200" b="1">
              <a:cs typeface="Titr" panose="00000700000000000000" pitchFamily="2" charset="-78"/>
            </a:endParaRPr>
          </a:p>
        </p:txBody>
      </p:sp>
      <p:graphicFrame>
        <p:nvGraphicFramePr>
          <p:cNvPr id="2" name="Table 1">
            <a:extLst>
              <a:ext uri="{FF2B5EF4-FFF2-40B4-BE49-F238E27FC236}">
                <a16:creationId xmlns:a16="http://schemas.microsoft.com/office/drawing/2014/main" id="{FD02DB0C-BD1D-FB8F-926C-9EA96874EB10}"/>
              </a:ext>
            </a:extLst>
          </p:cNvPr>
          <p:cNvGraphicFramePr>
            <a:graphicFrameLocks noGrp="1"/>
          </p:cNvGraphicFramePr>
          <p:nvPr>
            <p:extLst>
              <p:ext uri="{D42A27DB-BD31-4B8C-83A1-F6EECF244321}">
                <p14:modId xmlns:p14="http://schemas.microsoft.com/office/powerpoint/2010/main" val="1534766247"/>
              </p:ext>
            </p:extLst>
          </p:nvPr>
        </p:nvGraphicFramePr>
        <p:xfrm>
          <a:off x="628650" y="2057831"/>
          <a:ext cx="7886700" cy="2286000"/>
        </p:xfrm>
        <a:graphic>
          <a:graphicData uri="http://schemas.openxmlformats.org/drawingml/2006/table">
            <a:tbl>
              <a:tblPr>
                <a:tableStyleId>{5940675A-B579-460E-94D1-54222C63F5DA}</a:tableStyleId>
              </a:tblPr>
              <a:tblGrid>
                <a:gridCol w="1882321">
                  <a:extLst>
                    <a:ext uri="{9D8B030D-6E8A-4147-A177-3AD203B41FA5}">
                      <a16:colId xmlns:a16="http://schemas.microsoft.com/office/drawing/2014/main" val="210582682"/>
                    </a:ext>
                  </a:extLst>
                </a:gridCol>
                <a:gridCol w="2946400">
                  <a:extLst>
                    <a:ext uri="{9D8B030D-6E8A-4147-A177-3AD203B41FA5}">
                      <a16:colId xmlns:a16="http://schemas.microsoft.com/office/drawing/2014/main" val="90064725"/>
                    </a:ext>
                  </a:extLst>
                </a:gridCol>
                <a:gridCol w="3057979">
                  <a:extLst>
                    <a:ext uri="{9D8B030D-6E8A-4147-A177-3AD203B41FA5}">
                      <a16:colId xmlns:a16="http://schemas.microsoft.com/office/drawing/2014/main" val="4113179424"/>
                    </a:ext>
                  </a:extLst>
                </a:gridCol>
              </a:tblGrid>
              <a:tr h="0">
                <a:tc>
                  <a:txBody>
                    <a:bodyPr/>
                    <a:lstStyle/>
                    <a:p>
                      <a:pPr algn="r" rtl="1"/>
                      <a:r>
                        <a:rPr lang="ar-SA" sz="2000">
                          <a:cs typeface="2  Nazanin" panose="00000400000000000000" pitchFamily="2" charset="-78"/>
                        </a:rPr>
                        <a:t>نام</a:t>
                      </a:r>
                    </a:p>
                  </a:txBody>
                  <a:tcPr anchor="ctr"/>
                </a:tc>
                <a:tc>
                  <a:txBody>
                    <a:bodyPr/>
                    <a:lstStyle/>
                    <a:p>
                      <a:pPr algn="r" rtl="1"/>
                      <a:r>
                        <a:rPr lang="ar-SA" sz="2000">
                          <a:cs typeface="2  Nazanin" panose="00000400000000000000" pitchFamily="2" charset="-78"/>
                        </a:rPr>
                        <a:t>توضیح</a:t>
                      </a:r>
                    </a:p>
                  </a:txBody>
                  <a:tcPr anchor="ctr"/>
                </a:tc>
                <a:tc>
                  <a:txBody>
                    <a:bodyPr/>
                    <a:lstStyle/>
                    <a:p>
                      <a:pPr algn="r" rtl="1"/>
                      <a:r>
                        <a:rPr lang="ar-SA" sz="2000">
                          <a:cs typeface="2  Nazanin" panose="00000400000000000000" pitchFamily="2" charset="-78"/>
                        </a:rPr>
                        <a:t>ویژگی خاص</a:t>
                      </a:r>
                    </a:p>
                  </a:txBody>
                  <a:tcPr anchor="ctr"/>
                </a:tc>
                <a:extLst>
                  <a:ext uri="{0D108BD9-81ED-4DB2-BD59-A6C34878D82A}">
                    <a16:rowId xmlns:a16="http://schemas.microsoft.com/office/drawing/2014/main" val="3593048981"/>
                  </a:ext>
                </a:extLst>
              </a:tr>
              <a:tr h="0">
                <a:tc>
                  <a:txBody>
                    <a:bodyPr/>
                    <a:lstStyle/>
                    <a:p>
                      <a:pPr algn="l" rtl="1"/>
                      <a:r>
                        <a:rPr lang="en-US" sz="2000" b="1">
                          <a:cs typeface="2  Nazanin" panose="00000400000000000000" pitchFamily="2" charset="-78"/>
                        </a:rPr>
                        <a:t>Mirai Translate</a:t>
                      </a:r>
                      <a:endParaRPr lang="en-US" sz="2000">
                        <a:cs typeface="2  Nazanin" panose="00000400000000000000" pitchFamily="2" charset="-78"/>
                      </a:endParaRPr>
                    </a:p>
                  </a:txBody>
                  <a:tcPr anchor="ctr"/>
                </a:tc>
                <a:tc>
                  <a:txBody>
                    <a:bodyPr/>
                    <a:lstStyle/>
                    <a:p>
                      <a:pPr algn="r" rtl="1"/>
                      <a:r>
                        <a:rPr lang="ar-SA" sz="2000">
                          <a:cs typeface="2  Nazanin" panose="00000400000000000000" pitchFamily="2" charset="-78"/>
                        </a:rPr>
                        <a:t>ترجمه ماشینی ژاپنی ↔ انگلیسی</a:t>
                      </a:r>
                    </a:p>
                  </a:txBody>
                  <a:tcPr anchor="ctr"/>
                </a:tc>
                <a:tc>
                  <a:txBody>
                    <a:bodyPr/>
                    <a:lstStyle/>
                    <a:p>
                      <a:pPr algn="r" rtl="1"/>
                      <a:r>
                        <a:rPr lang="ar-SA" sz="2000">
                          <a:cs typeface="2  Nazanin" panose="00000400000000000000" pitchFamily="2" charset="-78"/>
                        </a:rPr>
                        <a:t>بسیار دقیق، برای متون رسمی</a:t>
                      </a:r>
                    </a:p>
                  </a:txBody>
                  <a:tcPr anchor="ctr"/>
                </a:tc>
                <a:extLst>
                  <a:ext uri="{0D108BD9-81ED-4DB2-BD59-A6C34878D82A}">
                    <a16:rowId xmlns:a16="http://schemas.microsoft.com/office/drawing/2014/main" val="1018327001"/>
                  </a:ext>
                </a:extLst>
              </a:tr>
              <a:tr h="0">
                <a:tc>
                  <a:txBody>
                    <a:bodyPr/>
                    <a:lstStyle/>
                    <a:p>
                      <a:pPr algn="l" rtl="1"/>
                      <a:r>
                        <a:rPr lang="en-US" sz="2000" b="1">
                          <a:cs typeface="2  Nazanin" panose="00000400000000000000" pitchFamily="2" charset="-78"/>
                        </a:rPr>
                        <a:t>Gatebox AI</a:t>
                      </a:r>
                      <a:endParaRPr lang="en-US" sz="2000">
                        <a:cs typeface="2  Nazanin" panose="00000400000000000000" pitchFamily="2" charset="-78"/>
                      </a:endParaRPr>
                    </a:p>
                  </a:txBody>
                  <a:tcPr anchor="ctr"/>
                </a:tc>
                <a:tc>
                  <a:txBody>
                    <a:bodyPr/>
                    <a:lstStyle/>
                    <a:p>
                      <a:pPr algn="r" rtl="1"/>
                      <a:r>
                        <a:rPr lang="ar-SA" sz="2000">
                          <a:cs typeface="2  Nazanin" panose="00000400000000000000" pitchFamily="2" charset="-78"/>
                        </a:rPr>
                        <a:t>شخصیت مجازی هم‌صحبت (هولوگرام خانگی)</a:t>
                      </a:r>
                    </a:p>
                  </a:txBody>
                  <a:tcPr anchor="ctr"/>
                </a:tc>
                <a:tc>
                  <a:txBody>
                    <a:bodyPr/>
                    <a:lstStyle/>
                    <a:p>
                      <a:pPr algn="r" rtl="1"/>
                      <a:r>
                        <a:rPr lang="ar-SA" sz="2000">
                          <a:cs typeface="2  Nazanin" panose="00000400000000000000" pitchFamily="2" charset="-78"/>
                        </a:rPr>
                        <a:t>ترکیب </a:t>
                      </a:r>
                      <a:r>
                        <a:rPr lang="en-US" sz="2000">
                          <a:cs typeface="2  Nazanin" panose="00000400000000000000" pitchFamily="2" charset="-78"/>
                        </a:rPr>
                        <a:t>AI </a:t>
                      </a:r>
                      <a:r>
                        <a:rPr lang="ar-SA" sz="2000">
                          <a:cs typeface="2  Nazanin" panose="00000400000000000000" pitchFamily="2" charset="-78"/>
                        </a:rPr>
                        <a:t>و </a:t>
                      </a:r>
                      <a:r>
                        <a:rPr lang="en-US" sz="2000">
                          <a:cs typeface="2  Nazanin" panose="00000400000000000000" pitchFamily="2" charset="-78"/>
                        </a:rPr>
                        <a:t>IoT</a:t>
                      </a:r>
                    </a:p>
                  </a:txBody>
                  <a:tcPr anchor="ctr"/>
                </a:tc>
                <a:extLst>
                  <a:ext uri="{0D108BD9-81ED-4DB2-BD59-A6C34878D82A}">
                    <a16:rowId xmlns:a16="http://schemas.microsoft.com/office/drawing/2014/main" val="403336872"/>
                  </a:ext>
                </a:extLst>
              </a:tr>
              <a:tr h="0">
                <a:tc>
                  <a:txBody>
                    <a:bodyPr/>
                    <a:lstStyle/>
                    <a:p>
                      <a:pPr algn="l" rtl="1"/>
                      <a:r>
                        <a:rPr lang="en-US" sz="2000" b="1">
                          <a:cs typeface="2  Nazanin" panose="00000400000000000000" pitchFamily="2" charset="-78"/>
                        </a:rPr>
                        <a:t>Kuki Chatbot</a:t>
                      </a:r>
                      <a:endParaRPr lang="en-US" sz="2000">
                        <a:cs typeface="2  Nazanin" panose="00000400000000000000" pitchFamily="2" charset="-78"/>
                      </a:endParaRPr>
                    </a:p>
                  </a:txBody>
                  <a:tcPr anchor="ctr"/>
                </a:tc>
                <a:tc>
                  <a:txBody>
                    <a:bodyPr/>
                    <a:lstStyle/>
                    <a:p>
                      <a:pPr algn="r" rtl="1"/>
                      <a:r>
                        <a:rPr lang="ar-SA" sz="2000">
                          <a:cs typeface="2  Nazanin" panose="00000400000000000000" pitchFamily="2" charset="-78"/>
                        </a:rPr>
                        <a:t>چت‌بات با احساس انسانی</a:t>
                      </a:r>
                    </a:p>
                  </a:txBody>
                  <a:tcPr anchor="ctr"/>
                </a:tc>
                <a:tc>
                  <a:txBody>
                    <a:bodyPr/>
                    <a:lstStyle/>
                    <a:p>
                      <a:pPr algn="r" rtl="1"/>
                      <a:r>
                        <a:rPr lang="ar-SA" sz="2000">
                          <a:cs typeface="2  Nazanin" panose="00000400000000000000" pitchFamily="2" charset="-78"/>
                        </a:rPr>
                        <a:t>برنده چند دوره </a:t>
                      </a:r>
                      <a:r>
                        <a:rPr lang="en-US" sz="2000">
                          <a:cs typeface="2  Nazanin" panose="00000400000000000000" pitchFamily="2" charset="-78"/>
                        </a:rPr>
                        <a:t>Loebner Prize</a:t>
                      </a:r>
                    </a:p>
                  </a:txBody>
                  <a:tcPr anchor="ctr"/>
                </a:tc>
                <a:extLst>
                  <a:ext uri="{0D108BD9-81ED-4DB2-BD59-A6C34878D82A}">
                    <a16:rowId xmlns:a16="http://schemas.microsoft.com/office/drawing/2014/main" val="3364157753"/>
                  </a:ext>
                </a:extLst>
              </a:tr>
              <a:tr h="0">
                <a:tc>
                  <a:txBody>
                    <a:bodyPr/>
                    <a:lstStyle/>
                    <a:p>
                      <a:pPr algn="l" rtl="1"/>
                      <a:r>
                        <a:rPr lang="en-US" sz="2000" b="1">
                          <a:cs typeface="2  Nazanin" panose="00000400000000000000" pitchFamily="2" charset="-78"/>
                        </a:rPr>
                        <a:t>Karakuri</a:t>
                      </a:r>
                      <a:endParaRPr lang="en-US" sz="2000">
                        <a:cs typeface="2  Nazanin" panose="00000400000000000000" pitchFamily="2" charset="-78"/>
                      </a:endParaRPr>
                    </a:p>
                  </a:txBody>
                  <a:tcPr anchor="ctr"/>
                </a:tc>
                <a:tc>
                  <a:txBody>
                    <a:bodyPr/>
                    <a:lstStyle/>
                    <a:p>
                      <a:pPr algn="r" rtl="1"/>
                      <a:r>
                        <a:rPr lang="ar-SA" sz="2000">
                          <a:cs typeface="2  Nazanin" panose="00000400000000000000" pitchFamily="2" charset="-78"/>
                        </a:rPr>
                        <a:t>ربات‌های رستورانی با </a:t>
                      </a:r>
                      <a:r>
                        <a:rPr lang="en-US" sz="2000">
                          <a:cs typeface="2  Nazanin" panose="00000400000000000000" pitchFamily="2" charset="-78"/>
                        </a:rPr>
                        <a:t>AI</a:t>
                      </a:r>
                    </a:p>
                  </a:txBody>
                  <a:tcPr anchor="ctr"/>
                </a:tc>
                <a:tc>
                  <a:txBody>
                    <a:bodyPr/>
                    <a:lstStyle/>
                    <a:p>
                      <a:pPr algn="r" rtl="1"/>
                      <a:r>
                        <a:rPr lang="ar-SA" sz="2000">
                          <a:cs typeface="2  Nazanin" panose="00000400000000000000" pitchFamily="2" charset="-78"/>
                        </a:rPr>
                        <a:t>سفارش‌گیری و پخت غذا با ربات</a:t>
                      </a:r>
                    </a:p>
                  </a:txBody>
                  <a:tcPr anchor="ctr"/>
                </a:tc>
                <a:extLst>
                  <a:ext uri="{0D108BD9-81ED-4DB2-BD59-A6C34878D82A}">
                    <a16:rowId xmlns:a16="http://schemas.microsoft.com/office/drawing/2014/main" val="1622096062"/>
                  </a:ext>
                </a:extLst>
              </a:tr>
            </a:tbl>
          </a:graphicData>
        </a:graphic>
      </p:graphicFrame>
      <p:sp>
        <p:nvSpPr>
          <p:cNvPr id="4" name="TextBox 3">
            <a:extLst>
              <a:ext uri="{FF2B5EF4-FFF2-40B4-BE49-F238E27FC236}">
                <a16:creationId xmlns:a16="http://schemas.microsoft.com/office/drawing/2014/main" id="{7255FE2E-81A1-6E6F-C87E-C012D5516FAA}"/>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32</a:t>
            </a:r>
            <a:endParaRPr lang="fa-IR" sz="1200"/>
          </a:p>
        </p:txBody>
      </p:sp>
    </p:spTree>
    <p:extLst>
      <p:ext uri="{BB962C8B-B14F-4D97-AF65-F5344CB8AC3E}">
        <p14:creationId xmlns:p14="http://schemas.microsoft.com/office/powerpoint/2010/main" val="16356322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1C6F9-B2CA-DABB-1D26-442C9CE3F6F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BB6D517-3925-9A7D-280B-8231BDE99FF1}"/>
              </a:ext>
            </a:extLst>
          </p:cNvPr>
          <p:cNvSpPr txBox="1"/>
          <p:nvPr/>
        </p:nvSpPr>
        <p:spPr>
          <a:xfrm>
            <a:off x="116114" y="409805"/>
            <a:ext cx="9027886" cy="584775"/>
          </a:xfrm>
          <a:prstGeom prst="rect">
            <a:avLst/>
          </a:prstGeom>
          <a:noFill/>
        </p:spPr>
        <p:txBody>
          <a:bodyPr wrap="square">
            <a:spAutoFit/>
          </a:bodyPr>
          <a:lstStyle/>
          <a:p>
            <a:pPr algn="r" rtl="1"/>
            <a:r>
              <a:rPr lang="ar-SA" sz="3200">
                <a:cs typeface="Titr" panose="00000700000000000000" pitchFamily="2" charset="-78"/>
              </a:rPr>
              <a:t>هند (</a:t>
            </a:r>
            <a:r>
              <a:rPr lang="en-US" sz="3200">
                <a:cs typeface="Titr" panose="00000700000000000000" pitchFamily="2" charset="-78"/>
              </a:rPr>
              <a:t>AI </a:t>
            </a:r>
            <a:r>
              <a:rPr lang="fa-IR" sz="3200">
                <a:cs typeface="Titr" panose="00000700000000000000" pitchFamily="2" charset="-78"/>
              </a:rPr>
              <a:t> </a:t>
            </a:r>
            <a:r>
              <a:rPr lang="ar-SA" sz="3200">
                <a:cs typeface="Titr" panose="00000700000000000000" pitchFamily="2" charset="-78"/>
              </a:rPr>
              <a:t>برای آموزش، کشاورزی، سلامت)</a:t>
            </a:r>
            <a:endParaRPr lang="fa-IR" sz="3200" b="1">
              <a:cs typeface="Titr" panose="00000700000000000000" pitchFamily="2" charset="-78"/>
            </a:endParaRPr>
          </a:p>
        </p:txBody>
      </p:sp>
      <p:graphicFrame>
        <p:nvGraphicFramePr>
          <p:cNvPr id="2" name="Table 1">
            <a:extLst>
              <a:ext uri="{FF2B5EF4-FFF2-40B4-BE49-F238E27FC236}">
                <a16:creationId xmlns:a16="http://schemas.microsoft.com/office/drawing/2014/main" id="{E3FEEAAE-B4B6-0D91-007A-C7888D75C203}"/>
              </a:ext>
            </a:extLst>
          </p:cNvPr>
          <p:cNvGraphicFramePr>
            <a:graphicFrameLocks noGrp="1"/>
          </p:cNvGraphicFramePr>
          <p:nvPr>
            <p:extLst>
              <p:ext uri="{D42A27DB-BD31-4B8C-83A1-F6EECF244321}">
                <p14:modId xmlns:p14="http://schemas.microsoft.com/office/powerpoint/2010/main" val="1122351677"/>
              </p:ext>
            </p:extLst>
          </p:nvPr>
        </p:nvGraphicFramePr>
        <p:xfrm>
          <a:off x="420914" y="1723276"/>
          <a:ext cx="8505372" cy="3291840"/>
        </p:xfrm>
        <a:graphic>
          <a:graphicData uri="http://schemas.openxmlformats.org/drawingml/2006/table">
            <a:tbl>
              <a:tblPr>
                <a:tableStyleId>{5940675A-B579-460E-94D1-54222C63F5DA}</a:tableStyleId>
              </a:tblPr>
              <a:tblGrid>
                <a:gridCol w="2177143">
                  <a:extLst>
                    <a:ext uri="{9D8B030D-6E8A-4147-A177-3AD203B41FA5}">
                      <a16:colId xmlns:a16="http://schemas.microsoft.com/office/drawing/2014/main" val="3657094687"/>
                    </a:ext>
                  </a:extLst>
                </a:gridCol>
                <a:gridCol w="3359077">
                  <a:extLst>
                    <a:ext uri="{9D8B030D-6E8A-4147-A177-3AD203B41FA5}">
                      <a16:colId xmlns:a16="http://schemas.microsoft.com/office/drawing/2014/main" val="1435052899"/>
                    </a:ext>
                  </a:extLst>
                </a:gridCol>
                <a:gridCol w="2969152">
                  <a:extLst>
                    <a:ext uri="{9D8B030D-6E8A-4147-A177-3AD203B41FA5}">
                      <a16:colId xmlns:a16="http://schemas.microsoft.com/office/drawing/2014/main" val="3886529150"/>
                    </a:ext>
                  </a:extLst>
                </a:gridCol>
              </a:tblGrid>
              <a:tr h="0">
                <a:tc>
                  <a:txBody>
                    <a:bodyPr/>
                    <a:lstStyle/>
                    <a:p>
                      <a:pPr algn="r" rtl="1"/>
                      <a:r>
                        <a:rPr lang="ar-SA" sz="2000">
                          <a:cs typeface="Nazanin" panose="00000400000000000000" pitchFamily="2" charset="-78"/>
                        </a:rPr>
                        <a:t>نام</a:t>
                      </a:r>
                      <a:r>
                        <a:rPr lang="en-US" sz="2000">
                          <a:cs typeface="Nazanin" panose="00000400000000000000" pitchFamily="2" charset="-78"/>
                        </a:rPr>
                        <a:t>n</a:t>
                      </a:r>
                      <a:endParaRPr lang="ar-SA" sz="2000">
                        <a:cs typeface="Nazanin" panose="00000400000000000000" pitchFamily="2" charset="-78"/>
                      </a:endParaRPr>
                    </a:p>
                  </a:txBody>
                  <a:tcPr anchor="ctr"/>
                </a:tc>
                <a:tc>
                  <a:txBody>
                    <a:bodyPr/>
                    <a:lstStyle/>
                    <a:p>
                      <a:pPr algn="r" rtl="1"/>
                      <a:r>
                        <a:rPr lang="ar-SA" sz="2000">
                          <a:cs typeface="Nazanin" panose="00000400000000000000" pitchFamily="2" charset="-78"/>
                        </a:rPr>
                        <a:t>توضیح</a:t>
                      </a:r>
                    </a:p>
                  </a:txBody>
                  <a:tcPr anchor="ctr"/>
                </a:tc>
                <a:tc>
                  <a:txBody>
                    <a:bodyPr/>
                    <a:lstStyle/>
                    <a:p>
                      <a:pPr algn="r" rtl="1"/>
                      <a:r>
                        <a:rPr lang="ar-SA" sz="2000">
                          <a:cs typeface="Nazanin" panose="00000400000000000000" pitchFamily="2" charset="-78"/>
                        </a:rPr>
                        <a:t>قابلیت خاص</a:t>
                      </a:r>
                    </a:p>
                  </a:txBody>
                  <a:tcPr anchor="ctr"/>
                </a:tc>
                <a:extLst>
                  <a:ext uri="{0D108BD9-81ED-4DB2-BD59-A6C34878D82A}">
                    <a16:rowId xmlns:a16="http://schemas.microsoft.com/office/drawing/2014/main" val="696526387"/>
                  </a:ext>
                </a:extLst>
              </a:tr>
              <a:tr h="0">
                <a:tc>
                  <a:txBody>
                    <a:bodyPr/>
                    <a:lstStyle/>
                    <a:p>
                      <a:pPr algn="r" rtl="1"/>
                      <a:r>
                        <a:rPr lang="en-US" sz="2000" b="1">
                          <a:cs typeface="Nazanin" panose="00000400000000000000" pitchFamily="2" charset="-78"/>
                        </a:rPr>
                        <a:t>Krutrim AI</a:t>
                      </a:r>
                      <a:endParaRPr lang="en-US" sz="2000">
                        <a:cs typeface="Nazanin" panose="00000400000000000000" pitchFamily="2" charset="-78"/>
                      </a:endParaRPr>
                    </a:p>
                  </a:txBody>
                  <a:tcPr anchor="ctr"/>
                </a:tc>
                <a:tc>
                  <a:txBody>
                    <a:bodyPr/>
                    <a:lstStyle/>
                    <a:p>
                      <a:pPr algn="r" rtl="1"/>
                      <a:r>
                        <a:rPr lang="ar-SA" sz="2000">
                          <a:cs typeface="Nazanin" panose="00000400000000000000" pitchFamily="2" charset="-78"/>
                        </a:rPr>
                        <a:t>مدل زبانی ساخت شرکت </a:t>
                      </a:r>
                      <a:r>
                        <a:rPr lang="en-US" sz="2000">
                          <a:cs typeface="Nazanin" panose="00000400000000000000" pitchFamily="2" charset="-78"/>
                        </a:rPr>
                        <a:t>Ola</a:t>
                      </a:r>
                    </a:p>
                  </a:txBody>
                  <a:tcPr anchor="ctr"/>
                </a:tc>
                <a:tc>
                  <a:txBody>
                    <a:bodyPr/>
                    <a:lstStyle/>
                    <a:p>
                      <a:pPr algn="r" rtl="1"/>
                      <a:r>
                        <a:rPr lang="ar-SA" sz="2000">
                          <a:cs typeface="Nazanin" panose="00000400000000000000" pitchFamily="2" charset="-78"/>
                        </a:rPr>
                        <a:t>اولین مدل </a:t>
                      </a:r>
                      <a:r>
                        <a:rPr lang="en-US" sz="2000">
                          <a:cs typeface="Nazanin" panose="00000400000000000000" pitchFamily="2" charset="-78"/>
                        </a:rPr>
                        <a:t>LLM </a:t>
                      </a:r>
                      <a:r>
                        <a:rPr lang="ar-SA" sz="2000">
                          <a:cs typeface="Nazanin" panose="00000400000000000000" pitchFamily="2" charset="-78"/>
                        </a:rPr>
                        <a:t>کاملاً بومی هند</a:t>
                      </a:r>
                    </a:p>
                  </a:txBody>
                  <a:tcPr anchor="ctr"/>
                </a:tc>
                <a:extLst>
                  <a:ext uri="{0D108BD9-81ED-4DB2-BD59-A6C34878D82A}">
                    <a16:rowId xmlns:a16="http://schemas.microsoft.com/office/drawing/2014/main" val="150214298"/>
                  </a:ext>
                </a:extLst>
              </a:tr>
              <a:tr h="0">
                <a:tc>
                  <a:txBody>
                    <a:bodyPr/>
                    <a:lstStyle/>
                    <a:p>
                      <a:pPr algn="r" rtl="1"/>
                      <a:r>
                        <a:rPr lang="en-US" sz="2000" b="1">
                          <a:cs typeface="Nazanin" panose="00000400000000000000" pitchFamily="2" charset="-78"/>
                        </a:rPr>
                        <a:t>nCore AI</a:t>
                      </a:r>
                      <a:endParaRPr lang="en-US" sz="2000">
                        <a:cs typeface="Nazanin" panose="00000400000000000000" pitchFamily="2" charset="-78"/>
                      </a:endParaRPr>
                    </a:p>
                  </a:txBody>
                  <a:tcPr anchor="ctr"/>
                </a:tc>
                <a:tc>
                  <a:txBody>
                    <a:bodyPr/>
                    <a:lstStyle/>
                    <a:p>
                      <a:pPr algn="r" rtl="1"/>
                      <a:r>
                        <a:rPr lang="ar-SA" sz="2000">
                          <a:cs typeface="Nazanin" panose="00000400000000000000" pitchFamily="2" charset="-78"/>
                        </a:rPr>
                        <a:t>هوش مصنوعی برای بازی‌سازی موبایل</a:t>
                      </a:r>
                    </a:p>
                  </a:txBody>
                  <a:tcPr anchor="ctr"/>
                </a:tc>
                <a:tc>
                  <a:txBody>
                    <a:bodyPr/>
                    <a:lstStyle/>
                    <a:p>
                      <a:pPr algn="r" rtl="1"/>
                      <a:r>
                        <a:rPr lang="en-US" sz="2000">
                          <a:cs typeface="Nazanin" panose="00000400000000000000" pitchFamily="2" charset="-78"/>
                        </a:rPr>
                        <a:t>NLP </a:t>
                      </a:r>
                      <a:r>
                        <a:rPr lang="ar-SA" sz="2000">
                          <a:cs typeface="Nazanin" panose="00000400000000000000" pitchFamily="2" charset="-78"/>
                        </a:rPr>
                        <a:t>و گرافیک در بازی‌های هندی</a:t>
                      </a:r>
                    </a:p>
                  </a:txBody>
                  <a:tcPr anchor="ctr"/>
                </a:tc>
                <a:extLst>
                  <a:ext uri="{0D108BD9-81ED-4DB2-BD59-A6C34878D82A}">
                    <a16:rowId xmlns:a16="http://schemas.microsoft.com/office/drawing/2014/main" val="1274988633"/>
                  </a:ext>
                </a:extLst>
              </a:tr>
              <a:tr h="0">
                <a:tc>
                  <a:txBody>
                    <a:bodyPr/>
                    <a:lstStyle/>
                    <a:p>
                      <a:pPr algn="r" rtl="1"/>
                      <a:r>
                        <a:rPr lang="en-US" sz="2000" b="1">
                          <a:cs typeface="Nazanin" panose="00000400000000000000" pitchFamily="2" charset="-78"/>
                        </a:rPr>
                        <a:t>Samasource</a:t>
                      </a:r>
                      <a:r>
                        <a:rPr lang="en-US" sz="2000">
                          <a:cs typeface="Nazanin" panose="00000400000000000000" pitchFamily="2" charset="-78"/>
                        </a:rPr>
                        <a:t> (</a:t>
                      </a:r>
                      <a:r>
                        <a:rPr lang="ar-SA" sz="2000">
                          <a:cs typeface="Nazanin" panose="00000400000000000000" pitchFamily="2" charset="-78"/>
                        </a:rPr>
                        <a:t>شریک با </a:t>
                      </a:r>
                      <a:r>
                        <a:rPr lang="en-US" sz="2000">
                          <a:cs typeface="Nazanin" panose="00000400000000000000" pitchFamily="2" charset="-78"/>
                        </a:rPr>
                        <a:t>Meta)</a:t>
                      </a:r>
                    </a:p>
                  </a:txBody>
                  <a:tcPr anchor="ctr"/>
                </a:tc>
                <a:tc>
                  <a:txBody>
                    <a:bodyPr/>
                    <a:lstStyle/>
                    <a:p>
                      <a:pPr algn="r" rtl="1"/>
                      <a:r>
                        <a:rPr lang="ar-SA" sz="2000">
                          <a:cs typeface="Nazanin" panose="00000400000000000000" pitchFamily="2" charset="-78"/>
                        </a:rPr>
                        <a:t>تامین داده برای آموزش مدل‌ها</a:t>
                      </a:r>
                    </a:p>
                  </a:txBody>
                  <a:tcPr anchor="ctr"/>
                </a:tc>
                <a:tc>
                  <a:txBody>
                    <a:bodyPr/>
                    <a:lstStyle/>
                    <a:p>
                      <a:pPr algn="r" rtl="1"/>
                      <a:r>
                        <a:rPr lang="ar-SA" sz="2000">
                          <a:cs typeface="Nazanin" panose="00000400000000000000" pitchFamily="2" charset="-78"/>
                        </a:rPr>
                        <a:t>برون‌سپاری داده با اشتغال محلی</a:t>
                      </a:r>
                    </a:p>
                  </a:txBody>
                  <a:tcPr anchor="ctr"/>
                </a:tc>
                <a:extLst>
                  <a:ext uri="{0D108BD9-81ED-4DB2-BD59-A6C34878D82A}">
                    <a16:rowId xmlns:a16="http://schemas.microsoft.com/office/drawing/2014/main" val="1795795871"/>
                  </a:ext>
                </a:extLst>
              </a:tr>
              <a:tr h="0">
                <a:tc>
                  <a:txBody>
                    <a:bodyPr/>
                    <a:lstStyle/>
                    <a:p>
                      <a:pPr algn="r" rtl="1"/>
                      <a:r>
                        <a:rPr lang="en-US" sz="2000" b="1">
                          <a:cs typeface="Nazanin" panose="00000400000000000000" pitchFamily="2" charset="-78"/>
                        </a:rPr>
                        <a:t>Doubtnut</a:t>
                      </a:r>
                      <a:endParaRPr lang="en-US" sz="2000">
                        <a:cs typeface="Nazanin" panose="00000400000000000000" pitchFamily="2" charset="-78"/>
                      </a:endParaRPr>
                    </a:p>
                  </a:txBody>
                  <a:tcPr anchor="ctr"/>
                </a:tc>
                <a:tc>
                  <a:txBody>
                    <a:bodyPr/>
                    <a:lstStyle/>
                    <a:p>
                      <a:pPr algn="r" rtl="1"/>
                      <a:r>
                        <a:rPr lang="ar-SA" sz="2000">
                          <a:cs typeface="Nazanin" panose="00000400000000000000" pitchFamily="2" charset="-78"/>
                        </a:rPr>
                        <a:t>اپ حل تمرین ریاضی با عکس</a:t>
                      </a:r>
                    </a:p>
                  </a:txBody>
                  <a:tcPr anchor="ctr"/>
                </a:tc>
                <a:tc>
                  <a:txBody>
                    <a:bodyPr/>
                    <a:lstStyle/>
                    <a:p>
                      <a:pPr algn="r" rtl="1"/>
                      <a:r>
                        <a:rPr lang="ar-SA" sz="2000">
                          <a:cs typeface="Nazanin" panose="00000400000000000000" pitchFamily="2" charset="-78"/>
                        </a:rPr>
                        <a:t>مخصوص دانش‌آموزان مدارس هند</a:t>
                      </a:r>
                    </a:p>
                  </a:txBody>
                  <a:tcPr anchor="ctr"/>
                </a:tc>
                <a:extLst>
                  <a:ext uri="{0D108BD9-81ED-4DB2-BD59-A6C34878D82A}">
                    <a16:rowId xmlns:a16="http://schemas.microsoft.com/office/drawing/2014/main" val="165798476"/>
                  </a:ext>
                </a:extLst>
              </a:tr>
              <a:tr h="0">
                <a:tc>
                  <a:txBody>
                    <a:bodyPr/>
                    <a:lstStyle/>
                    <a:p>
                      <a:pPr algn="r" rtl="1"/>
                      <a:r>
                        <a:rPr lang="en-US" sz="2000" b="1">
                          <a:cs typeface="Nazanin" panose="00000400000000000000" pitchFamily="2" charset="-78"/>
                        </a:rPr>
                        <a:t>EkStep</a:t>
                      </a:r>
                      <a:endParaRPr lang="en-US" sz="2000">
                        <a:cs typeface="Nazanin" panose="00000400000000000000" pitchFamily="2" charset="-78"/>
                      </a:endParaRPr>
                    </a:p>
                  </a:txBody>
                  <a:tcPr anchor="ctr"/>
                </a:tc>
                <a:tc>
                  <a:txBody>
                    <a:bodyPr/>
                    <a:lstStyle/>
                    <a:p>
                      <a:pPr algn="r" rtl="1"/>
                      <a:r>
                        <a:rPr lang="ar-SA" sz="2000">
                          <a:cs typeface="Nazanin" panose="00000400000000000000" pitchFamily="2" charset="-78"/>
                        </a:rPr>
                        <a:t>پلتفرم یادگیری شخصی‌سازی‌شده</a:t>
                      </a:r>
                    </a:p>
                  </a:txBody>
                  <a:tcPr anchor="ctr"/>
                </a:tc>
                <a:tc>
                  <a:txBody>
                    <a:bodyPr/>
                    <a:lstStyle/>
                    <a:p>
                      <a:pPr algn="r" rtl="1"/>
                      <a:r>
                        <a:rPr lang="ar-SA" sz="2000">
                          <a:cs typeface="Nazanin" panose="00000400000000000000" pitchFamily="2" charset="-78"/>
                        </a:rPr>
                        <a:t>برای سوادآموزی مناطق محروم</a:t>
                      </a:r>
                    </a:p>
                  </a:txBody>
                  <a:tcPr anchor="ctr"/>
                </a:tc>
                <a:extLst>
                  <a:ext uri="{0D108BD9-81ED-4DB2-BD59-A6C34878D82A}">
                    <a16:rowId xmlns:a16="http://schemas.microsoft.com/office/drawing/2014/main" val="172138679"/>
                  </a:ext>
                </a:extLst>
              </a:tr>
            </a:tbl>
          </a:graphicData>
        </a:graphic>
      </p:graphicFrame>
      <p:sp>
        <p:nvSpPr>
          <p:cNvPr id="4" name="TextBox 3">
            <a:extLst>
              <a:ext uri="{FF2B5EF4-FFF2-40B4-BE49-F238E27FC236}">
                <a16:creationId xmlns:a16="http://schemas.microsoft.com/office/drawing/2014/main" id="{FAE17BFF-3645-95C7-1178-8EB7DBC8D134}"/>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33</a:t>
            </a:r>
            <a:endParaRPr lang="fa-IR" sz="1200"/>
          </a:p>
        </p:txBody>
      </p:sp>
    </p:spTree>
    <p:extLst>
      <p:ext uri="{BB962C8B-B14F-4D97-AF65-F5344CB8AC3E}">
        <p14:creationId xmlns:p14="http://schemas.microsoft.com/office/powerpoint/2010/main" val="30995464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95BC5AC-FF61-8FC0-E7BF-900B5B2273C2}"/>
              </a:ext>
            </a:extLst>
          </p:cNvPr>
          <p:cNvGraphicFramePr>
            <a:graphicFrameLocks noGrp="1"/>
          </p:cNvGraphicFramePr>
          <p:nvPr>
            <p:extLst>
              <p:ext uri="{D42A27DB-BD31-4B8C-83A1-F6EECF244321}">
                <p14:modId xmlns:p14="http://schemas.microsoft.com/office/powerpoint/2010/main" val="2665254782"/>
              </p:ext>
            </p:extLst>
          </p:nvPr>
        </p:nvGraphicFramePr>
        <p:xfrm>
          <a:off x="628650" y="539933"/>
          <a:ext cx="8108950" cy="3078480"/>
        </p:xfrm>
        <a:graphic>
          <a:graphicData uri="http://schemas.openxmlformats.org/drawingml/2006/table">
            <a:tbl>
              <a:tblPr>
                <a:tableStyleId>{5940675A-B579-460E-94D1-54222C63F5DA}</a:tableStyleId>
              </a:tblPr>
              <a:tblGrid>
                <a:gridCol w="3188607">
                  <a:extLst>
                    <a:ext uri="{9D8B030D-6E8A-4147-A177-3AD203B41FA5}">
                      <a16:colId xmlns:a16="http://schemas.microsoft.com/office/drawing/2014/main" val="2800003553"/>
                    </a:ext>
                  </a:extLst>
                </a:gridCol>
                <a:gridCol w="3686629">
                  <a:extLst>
                    <a:ext uri="{9D8B030D-6E8A-4147-A177-3AD203B41FA5}">
                      <a16:colId xmlns:a16="http://schemas.microsoft.com/office/drawing/2014/main" val="4043899464"/>
                    </a:ext>
                  </a:extLst>
                </a:gridCol>
                <a:gridCol w="1233714">
                  <a:extLst>
                    <a:ext uri="{9D8B030D-6E8A-4147-A177-3AD203B41FA5}">
                      <a16:colId xmlns:a16="http://schemas.microsoft.com/office/drawing/2014/main" val="3771654057"/>
                    </a:ext>
                  </a:extLst>
                </a:gridCol>
              </a:tblGrid>
              <a:tr h="0">
                <a:tc>
                  <a:txBody>
                    <a:bodyPr/>
                    <a:lstStyle/>
                    <a:p>
                      <a:pPr algn="r" rtl="1"/>
                      <a:r>
                        <a:rPr lang="ar-SA" sz="2000" b="1"/>
                        <a:t>ابتکار مهم</a:t>
                      </a:r>
                      <a:endParaRPr lang="ar-SA" sz="2000" b="1">
                        <a:cs typeface="Titr" panose="00000700000000000000" pitchFamily="2" charset="-78"/>
                      </a:endParaRPr>
                    </a:p>
                  </a:txBody>
                  <a:tcPr anchor="ctr"/>
                </a:tc>
                <a:tc>
                  <a:txBody>
                    <a:bodyPr/>
                    <a:lstStyle/>
                    <a:p>
                      <a:pPr algn="r" rtl="1"/>
                      <a:r>
                        <a:rPr lang="ar-SA" sz="2000" b="1"/>
                        <a:t>هدف اصلی</a:t>
                      </a:r>
                      <a:endParaRPr lang="ar-SA" sz="2000" b="1">
                        <a:cs typeface="Titr" panose="00000700000000000000" pitchFamily="2" charset="-78"/>
                      </a:endParaRPr>
                    </a:p>
                  </a:txBody>
                  <a:tcPr anchor="ctr"/>
                </a:tc>
                <a:tc>
                  <a:txBody>
                    <a:bodyPr/>
                    <a:lstStyle/>
                    <a:p>
                      <a:pPr algn="r" rtl="1"/>
                      <a:r>
                        <a:rPr lang="ar-SA" sz="2000" b="1"/>
                        <a:t>کشور</a:t>
                      </a:r>
                      <a:endParaRPr lang="ar-SA" sz="2000" b="1">
                        <a:cs typeface="Titr" panose="00000700000000000000" pitchFamily="2" charset="-78"/>
                      </a:endParaRPr>
                    </a:p>
                  </a:txBody>
                  <a:tcPr anchor="ctr"/>
                </a:tc>
                <a:extLst>
                  <a:ext uri="{0D108BD9-81ED-4DB2-BD59-A6C34878D82A}">
                    <a16:rowId xmlns:a16="http://schemas.microsoft.com/office/drawing/2014/main" val="3005928169"/>
                  </a:ext>
                </a:extLst>
              </a:tr>
              <a:tr h="0">
                <a:tc>
                  <a:txBody>
                    <a:bodyPr/>
                    <a:lstStyle/>
                    <a:p>
                      <a:pPr algn="r" rtl="1"/>
                      <a:r>
                        <a:rPr lang="en-US" sz="2000" b="1"/>
                        <a:t>SDAIA، NEOM</a:t>
                      </a:r>
                      <a:endParaRPr lang="en-US" sz="2000" b="1">
                        <a:cs typeface="Titr" panose="00000700000000000000" pitchFamily="2" charset="-78"/>
                      </a:endParaRPr>
                    </a:p>
                  </a:txBody>
                  <a:tcPr anchor="ctr"/>
                </a:tc>
                <a:tc>
                  <a:txBody>
                    <a:bodyPr/>
                    <a:lstStyle/>
                    <a:p>
                      <a:pPr algn="r" rtl="1"/>
                      <a:r>
                        <a:rPr lang="ar-SA" sz="2000" b="1"/>
                        <a:t>تبدیل به رهبر </a:t>
                      </a:r>
                      <a:r>
                        <a:rPr lang="en-US" sz="2000" b="1"/>
                        <a:t>AI </a:t>
                      </a:r>
                      <a:r>
                        <a:rPr lang="fa-IR" sz="2000" b="1"/>
                        <a:t> </a:t>
                      </a:r>
                      <a:r>
                        <a:rPr lang="ar-SA" sz="2000" b="1"/>
                        <a:t>در خاورمیانه</a:t>
                      </a:r>
                      <a:endParaRPr lang="ar-SA" sz="2000" b="1">
                        <a:cs typeface="Titr" panose="00000700000000000000" pitchFamily="2" charset="-78"/>
                      </a:endParaRPr>
                    </a:p>
                  </a:txBody>
                  <a:tcPr anchor="ctr"/>
                </a:tc>
                <a:tc>
                  <a:txBody>
                    <a:bodyPr/>
                    <a:lstStyle/>
                    <a:p>
                      <a:pPr algn="r" rtl="1"/>
                      <a:r>
                        <a:rPr lang="ar-SA" sz="2000" b="1"/>
                        <a:t>عربستان</a:t>
                      </a:r>
                      <a:endParaRPr lang="ar-SA" sz="2000" b="1">
                        <a:cs typeface="Titr" panose="00000700000000000000" pitchFamily="2" charset="-78"/>
                      </a:endParaRPr>
                    </a:p>
                  </a:txBody>
                  <a:tcPr anchor="ctr"/>
                </a:tc>
                <a:extLst>
                  <a:ext uri="{0D108BD9-81ED-4DB2-BD59-A6C34878D82A}">
                    <a16:rowId xmlns:a16="http://schemas.microsoft.com/office/drawing/2014/main" val="3742612490"/>
                  </a:ext>
                </a:extLst>
              </a:tr>
              <a:tr h="0">
                <a:tc>
                  <a:txBody>
                    <a:bodyPr/>
                    <a:lstStyle/>
                    <a:p>
                      <a:pPr algn="r" rtl="1"/>
                      <a:r>
                        <a:rPr lang="en-US" sz="2000" b="1"/>
                        <a:t>Falcon LLM، </a:t>
                      </a:r>
                      <a:r>
                        <a:rPr lang="ar-SA" sz="2000" b="1"/>
                        <a:t>وزارت </a:t>
                      </a:r>
                      <a:r>
                        <a:rPr lang="en-US" sz="2000" b="1"/>
                        <a:t>AI</a:t>
                      </a:r>
                      <a:endParaRPr lang="en-US" sz="2000" b="1">
                        <a:cs typeface="Titr" panose="00000700000000000000" pitchFamily="2" charset="-78"/>
                      </a:endParaRPr>
                    </a:p>
                  </a:txBody>
                  <a:tcPr anchor="ctr"/>
                </a:tc>
                <a:tc>
                  <a:txBody>
                    <a:bodyPr/>
                    <a:lstStyle/>
                    <a:p>
                      <a:pPr algn="r" rtl="1"/>
                      <a:r>
                        <a:rPr lang="ar-SA" sz="2000" b="1"/>
                        <a:t>منبع‌باز، آموزش، دیپلماسی </a:t>
                      </a:r>
                      <a:r>
                        <a:rPr lang="en-US" sz="2000" b="1"/>
                        <a:t>AI</a:t>
                      </a:r>
                      <a:endParaRPr lang="en-US" sz="2000" b="1">
                        <a:cs typeface="Titr" panose="00000700000000000000" pitchFamily="2" charset="-78"/>
                      </a:endParaRPr>
                    </a:p>
                  </a:txBody>
                  <a:tcPr anchor="ctr"/>
                </a:tc>
                <a:tc>
                  <a:txBody>
                    <a:bodyPr/>
                    <a:lstStyle/>
                    <a:p>
                      <a:pPr algn="r" rtl="1"/>
                      <a:r>
                        <a:rPr lang="ar-SA" sz="2000" b="1"/>
                        <a:t>امارات</a:t>
                      </a:r>
                      <a:endParaRPr lang="ar-SA" sz="2000" b="1">
                        <a:cs typeface="Titr" panose="00000700000000000000" pitchFamily="2" charset="-78"/>
                      </a:endParaRPr>
                    </a:p>
                  </a:txBody>
                  <a:tcPr anchor="ctr"/>
                </a:tc>
                <a:extLst>
                  <a:ext uri="{0D108BD9-81ED-4DB2-BD59-A6C34878D82A}">
                    <a16:rowId xmlns:a16="http://schemas.microsoft.com/office/drawing/2014/main" val="2932564853"/>
                  </a:ext>
                </a:extLst>
              </a:tr>
              <a:tr h="0">
                <a:tc>
                  <a:txBody>
                    <a:bodyPr/>
                    <a:lstStyle/>
                    <a:p>
                      <a:pPr algn="r" rtl="1"/>
                      <a:r>
                        <a:rPr lang="ar-SA" sz="2000" b="1"/>
                        <a:t>همکاری با </a:t>
                      </a:r>
                      <a:r>
                        <a:rPr lang="en-US" sz="2000" b="1"/>
                        <a:t>MIT</a:t>
                      </a:r>
                      <a:endParaRPr lang="en-US" sz="2000" b="1">
                        <a:cs typeface="Titr" panose="00000700000000000000" pitchFamily="2" charset="-78"/>
                      </a:endParaRPr>
                    </a:p>
                  </a:txBody>
                  <a:tcPr anchor="ctr"/>
                </a:tc>
                <a:tc>
                  <a:txBody>
                    <a:bodyPr/>
                    <a:lstStyle/>
                    <a:p>
                      <a:pPr algn="r" rtl="1"/>
                      <a:r>
                        <a:rPr lang="ar-SA" sz="2000" b="1"/>
                        <a:t>کاربرد سلامت و ورزش</a:t>
                      </a:r>
                      <a:endParaRPr lang="ar-SA" sz="2000" b="1">
                        <a:cs typeface="Titr" panose="00000700000000000000" pitchFamily="2" charset="-78"/>
                      </a:endParaRPr>
                    </a:p>
                  </a:txBody>
                  <a:tcPr anchor="ctr"/>
                </a:tc>
                <a:tc>
                  <a:txBody>
                    <a:bodyPr/>
                    <a:lstStyle/>
                    <a:p>
                      <a:pPr algn="r" rtl="1"/>
                      <a:r>
                        <a:rPr lang="ar-SA" sz="2000" b="1"/>
                        <a:t>قطر</a:t>
                      </a:r>
                      <a:endParaRPr lang="ar-SA" sz="2000" b="1">
                        <a:cs typeface="Titr" panose="00000700000000000000" pitchFamily="2" charset="-78"/>
                      </a:endParaRPr>
                    </a:p>
                  </a:txBody>
                  <a:tcPr anchor="ctr"/>
                </a:tc>
                <a:extLst>
                  <a:ext uri="{0D108BD9-81ED-4DB2-BD59-A6C34878D82A}">
                    <a16:rowId xmlns:a16="http://schemas.microsoft.com/office/drawing/2014/main" val="1713473063"/>
                  </a:ext>
                </a:extLst>
              </a:tr>
              <a:tr h="0">
                <a:tc>
                  <a:txBody>
                    <a:bodyPr/>
                    <a:lstStyle/>
                    <a:p>
                      <a:pPr algn="r" rtl="1"/>
                      <a:r>
                        <a:rPr lang="ar-SA" sz="2000" b="1"/>
                        <a:t>خدمات بانکی</a:t>
                      </a:r>
                      <a:r>
                        <a:rPr lang="fa-IR" sz="2000" b="1"/>
                        <a:t> و شهرداری</a:t>
                      </a:r>
                      <a:r>
                        <a:rPr lang="ar-SA" sz="2000" b="1"/>
                        <a:t> هوشمند</a:t>
                      </a:r>
                      <a:endParaRPr lang="ar-SA" sz="2000" b="1">
                        <a:cs typeface="Titr" panose="00000700000000000000" pitchFamily="2" charset="-78"/>
                      </a:endParaRPr>
                    </a:p>
                  </a:txBody>
                  <a:tcPr anchor="ctr"/>
                </a:tc>
                <a:tc>
                  <a:txBody>
                    <a:bodyPr/>
                    <a:lstStyle/>
                    <a:p>
                      <a:pPr algn="r" rtl="1"/>
                      <a:r>
                        <a:rPr lang="ar-SA" sz="2000" b="1"/>
                        <a:t>تحول دیجیتال</a:t>
                      </a:r>
                      <a:endParaRPr lang="ar-SA" sz="2000" b="1">
                        <a:cs typeface="Titr" panose="00000700000000000000" pitchFamily="2" charset="-78"/>
                      </a:endParaRPr>
                    </a:p>
                  </a:txBody>
                  <a:tcPr anchor="ctr"/>
                </a:tc>
                <a:tc>
                  <a:txBody>
                    <a:bodyPr/>
                    <a:lstStyle/>
                    <a:p>
                      <a:pPr algn="r" rtl="1"/>
                      <a:r>
                        <a:rPr lang="ar-SA" sz="2000" b="1"/>
                        <a:t>کویت</a:t>
                      </a:r>
                      <a:endParaRPr lang="ar-SA" sz="2000" b="1">
                        <a:cs typeface="Titr" panose="00000700000000000000" pitchFamily="2" charset="-78"/>
                      </a:endParaRPr>
                    </a:p>
                  </a:txBody>
                  <a:tcPr anchor="ctr"/>
                </a:tc>
                <a:extLst>
                  <a:ext uri="{0D108BD9-81ED-4DB2-BD59-A6C34878D82A}">
                    <a16:rowId xmlns:a16="http://schemas.microsoft.com/office/drawing/2014/main" val="3277464931"/>
                  </a:ext>
                </a:extLst>
              </a:tr>
              <a:tr h="0">
                <a:tc>
                  <a:txBody>
                    <a:bodyPr/>
                    <a:lstStyle/>
                    <a:p>
                      <a:pPr algn="r" rtl="1"/>
                      <a:r>
                        <a:rPr lang="ar-SA" sz="2000" b="1"/>
                        <a:t>فین‌تک</a:t>
                      </a:r>
                      <a:r>
                        <a:rPr lang="fa-IR" sz="2000" b="1"/>
                        <a:t> و سلامت</a:t>
                      </a:r>
                      <a:r>
                        <a:rPr lang="ar-SA" sz="2000" b="1"/>
                        <a:t> هوشمند</a:t>
                      </a:r>
                      <a:endParaRPr lang="ar-SA" sz="2000" b="1">
                        <a:cs typeface="Titr" panose="00000700000000000000" pitchFamily="2" charset="-78"/>
                      </a:endParaRPr>
                    </a:p>
                  </a:txBody>
                  <a:tcPr anchor="ctr"/>
                </a:tc>
                <a:tc>
                  <a:txBody>
                    <a:bodyPr/>
                    <a:lstStyle/>
                    <a:p>
                      <a:pPr algn="r" rtl="1"/>
                      <a:r>
                        <a:rPr lang="ar-SA" sz="2000" b="1"/>
                        <a:t>خدمات مالی</a:t>
                      </a:r>
                      <a:endParaRPr lang="ar-SA" sz="2000" b="1">
                        <a:cs typeface="Titr" panose="00000700000000000000" pitchFamily="2" charset="-78"/>
                      </a:endParaRPr>
                    </a:p>
                  </a:txBody>
                  <a:tcPr anchor="ctr"/>
                </a:tc>
                <a:tc>
                  <a:txBody>
                    <a:bodyPr/>
                    <a:lstStyle/>
                    <a:p>
                      <a:pPr algn="r" rtl="1"/>
                      <a:r>
                        <a:rPr lang="ar-SA" sz="2000" b="1"/>
                        <a:t>بحرین</a:t>
                      </a:r>
                      <a:endParaRPr lang="ar-SA" sz="2000" b="1">
                        <a:cs typeface="Titr" panose="00000700000000000000" pitchFamily="2" charset="-78"/>
                      </a:endParaRPr>
                    </a:p>
                  </a:txBody>
                  <a:tcPr anchor="ctr"/>
                </a:tc>
                <a:extLst>
                  <a:ext uri="{0D108BD9-81ED-4DB2-BD59-A6C34878D82A}">
                    <a16:rowId xmlns:a16="http://schemas.microsoft.com/office/drawing/2014/main" val="434229277"/>
                  </a:ext>
                </a:extLst>
              </a:tr>
              <a:tr h="0">
                <a:tc>
                  <a:txBody>
                    <a:bodyPr/>
                    <a:lstStyle/>
                    <a:p>
                      <a:pPr algn="r" rtl="1"/>
                      <a:r>
                        <a:rPr lang="ar-SA" sz="2000" b="1"/>
                        <a:t>آموزش و زیرساخت</a:t>
                      </a:r>
                      <a:r>
                        <a:rPr lang="fa-IR" sz="2000" b="1"/>
                        <a:t> و راه‌اندازی مراکز داده با حمایت چین</a:t>
                      </a:r>
                      <a:endParaRPr lang="ar-SA" sz="2000" b="1">
                        <a:cs typeface="Titr" panose="00000700000000000000" pitchFamily="2" charset="-78"/>
                      </a:endParaRPr>
                    </a:p>
                  </a:txBody>
                  <a:tcPr anchor="ctr"/>
                </a:tc>
                <a:tc>
                  <a:txBody>
                    <a:bodyPr/>
                    <a:lstStyle/>
                    <a:p>
                      <a:pPr algn="r" rtl="1"/>
                      <a:r>
                        <a:rPr lang="ar-SA" sz="2000" b="1"/>
                        <a:t>تربیت نیروی متخصص</a:t>
                      </a:r>
                      <a:endParaRPr lang="ar-SA" sz="2000" b="1">
                        <a:cs typeface="Titr" panose="00000700000000000000" pitchFamily="2" charset="-78"/>
                      </a:endParaRPr>
                    </a:p>
                  </a:txBody>
                  <a:tcPr anchor="ctr"/>
                </a:tc>
                <a:tc>
                  <a:txBody>
                    <a:bodyPr/>
                    <a:lstStyle/>
                    <a:p>
                      <a:pPr algn="r" rtl="1"/>
                      <a:r>
                        <a:rPr lang="ar-SA" sz="2000" b="1"/>
                        <a:t>عمان</a:t>
                      </a:r>
                      <a:endParaRPr lang="ar-SA" sz="2000" b="1">
                        <a:cs typeface="Titr" panose="00000700000000000000" pitchFamily="2" charset="-78"/>
                      </a:endParaRPr>
                    </a:p>
                  </a:txBody>
                  <a:tcPr anchor="ctr"/>
                </a:tc>
                <a:extLst>
                  <a:ext uri="{0D108BD9-81ED-4DB2-BD59-A6C34878D82A}">
                    <a16:rowId xmlns:a16="http://schemas.microsoft.com/office/drawing/2014/main" val="3592681409"/>
                  </a:ext>
                </a:extLst>
              </a:tr>
            </a:tbl>
          </a:graphicData>
        </a:graphic>
      </p:graphicFrame>
      <p:sp>
        <p:nvSpPr>
          <p:cNvPr id="2" name="TextBox 1">
            <a:extLst>
              <a:ext uri="{FF2B5EF4-FFF2-40B4-BE49-F238E27FC236}">
                <a16:creationId xmlns:a16="http://schemas.microsoft.com/office/drawing/2014/main" id="{0AA0B97E-DE20-82BB-68CA-3D7054CD733F}"/>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34</a:t>
            </a:r>
            <a:endParaRPr lang="fa-IR" sz="1200"/>
          </a:p>
        </p:txBody>
      </p:sp>
    </p:spTree>
    <p:extLst>
      <p:ext uri="{BB962C8B-B14F-4D97-AF65-F5344CB8AC3E}">
        <p14:creationId xmlns:p14="http://schemas.microsoft.com/office/powerpoint/2010/main" val="18101433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17804FB-2232-7525-824F-75CAFA1C731C}"/>
              </a:ext>
            </a:extLst>
          </p:cNvPr>
          <p:cNvGraphicFramePr>
            <a:graphicFrameLocks noGrp="1"/>
          </p:cNvGraphicFramePr>
          <p:nvPr>
            <p:extLst>
              <p:ext uri="{D42A27DB-BD31-4B8C-83A1-F6EECF244321}">
                <p14:modId xmlns:p14="http://schemas.microsoft.com/office/powerpoint/2010/main" val="3838311538"/>
              </p:ext>
            </p:extLst>
          </p:nvPr>
        </p:nvGraphicFramePr>
        <p:xfrm>
          <a:off x="239486" y="729463"/>
          <a:ext cx="8665028" cy="5069079"/>
        </p:xfrm>
        <a:graphic>
          <a:graphicData uri="http://schemas.openxmlformats.org/drawingml/2006/table">
            <a:tbl>
              <a:tblPr>
                <a:tableStyleId>{5940675A-B579-460E-94D1-54222C63F5DA}</a:tableStyleId>
              </a:tblPr>
              <a:tblGrid>
                <a:gridCol w="1510640">
                  <a:extLst>
                    <a:ext uri="{9D8B030D-6E8A-4147-A177-3AD203B41FA5}">
                      <a16:colId xmlns:a16="http://schemas.microsoft.com/office/drawing/2014/main" val="3691702880"/>
                    </a:ext>
                  </a:extLst>
                </a:gridCol>
                <a:gridCol w="1192398">
                  <a:extLst>
                    <a:ext uri="{9D8B030D-6E8A-4147-A177-3AD203B41FA5}">
                      <a16:colId xmlns:a16="http://schemas.microsoft.com/office/drawing/2014/main" val="473396216"/>
                    </a:ext>
                  </a:extLst>
                </a:gridCol>
                <a:gridCol w="1192398">
                  <a:extLst>
                    <a:ext uri="{9D8B030D-6E8A-4147-A177-3AD203B41FA5}">
                      <a16:colId xmlns:a16="http://schemas.microsoft.com/office/drawing/2014/main" val="1625543677"/>
                    </a:ext>
                  </a:extLst>
                </a:gridCol>
                <a:gridCol w="1192398">
                  <a:extLst>
                    <a:ext uri="{9D8B030D-6E8A-4147-A177-3AD203B41FA5}">
                      <a16:colId xmlns:a16="http://schemas.microsoft.com/office/drawing/2014/main" val="2782374430"/>
                    </a:ext>
                  </a:extLst>
                </a:gridCol>
                <a:gridCol w="1192398">
                  <a:extLst>
                    <a:ext uri="{9D8B030D-6E8A-4147-A177-3AD203B41FA5}">
                      <a16:colId xmlns:a16="http://schemas.microsoft.com/office/drawing/2014/main" val="2046339072"/>
                    </a:ext>
                  </a:extLst>
                </a:gridCol>
                <a:gridCol w="1571998">
                  <a:extLst>
                    <a:ext uri="{9D8B030D-6E8A-4147-A177-3AD203B41FA5}">
                      <a16:colId xmlns:a16="http://schemas.microsoft.com/office/drawing/2014/main" val="3854758293"/>
                    </a:ext>
                  </a:extLst>
                </a:gridCol>
                <a:gridCol w="812798">
                  <a:extLst>
                    <a:ext uri="{9D8B030D-6E8A-4147-A177-3AD203B41FA5}">
                      <a16:colId xmlns:a16="http://schemas.microsoft.com/office/drawing/2014/main" val="3486582312"/>
                    </a:ext>
                  </a:extLst>
                </a:gridCol>
              </a:tblGrid>
              <a:tr h="553144">
                <a:tc>
                  <a:txBody>
                    <a:bodyPr/>
                    <a:lstStyle/>
                    <a:p>
                      <a:pPr algn="r" rtl="1"/>
                      <a:r>
                        <a:rPr lang="ar-SA" sz="1600"/>
                        <a:t>مراکز کلیدی </a:t>
                      </a:r>
                      <a:r>
                        <a:rPr lang="en-US" sz="1600"/>
                        <a:t>AI</a:t>
                      </a:r>
                      <a:endParaRPr lang="en-US" sz="1600">
                        <a:cs typeface="Nazanin" panose="00000400000000000000" pitchFamily="2" charset="-78"/>
                      </a:endParaRPr>
                    </a:p>
                  </a:txBody>
                  <a:tcPr marL="48891" marR="48891" marT="24446" marB="24446" anchor="ctr"/>
                </a:tc>
                <a:tc>
                  <a:txBody>
                    <a:bodyPr/>
                    <a:lstStyle/>
                    <a:p>
                      <a:pPr algn="r" rtl="1"/>
                      <a:r>
                        <a:rPr lang="ar-SA" sz="1600"/>
                        <a:t>زبان‌های </a:t>
                      </a:r>
                      <a:r>
                        <a:rPr lang="en-US" sz="1600"/>
                        <a:t>NLP </a:t>
                      </a:r>
                      <a:r>
                        <a:rPr lang="ar-SA" sz="1600"/>
                        <a:t>پشتیبانی‌شده</a:t>
                      </a:r>
                      <a:endParaRPr lang="ar-SA" sz="1600">
                        <a:cs typeface="Nazanin" panose="00000400000000000000" pitchFamily="2" charset="-78"/>
                      </a:endParaRPr>
                    </a:p>
                  </a:txBody>
                  <a:tcPr marL="48891" marR="48891" marT="24446" marB="24446" anchor="ctr"/>
                </a:tc>
                <a:tc>
                  <a:txBody>
                    <a:bodyPr/>
                    <a:lstStyle/>
                    <a:p>
                      <a:pPr algn="r" rtl="1"/>
                      <a:r>
                        <a:rPr lang="ar-SA" sz="1600"/>
                        <a:t>حوزه‌های اصلی کاربرد</a:t>
                      </a:r>
                      <a:endParaRPr lang="ar-SA" sz="1600">
                        <a:cs typeface="Nazanin" panose="00000400000000000000" pitchFamily="2" charset="-78"/>
                      </a:endParaRPr>
                    </a:p>
                  </a:txBody>
                  <a:tcPr marL="48891" marR="48891" marT="24446" marB="24446" anchor="ctr"/>
                </a:tc>
                <a:tc>
                  <a:txBody>
                    <a:bodyPr/>
                    <a:lstStyle/>
                    <a:p>
                      <a:pPr algn="r" rtl="1"/>
                      <a:r>
                        <a:rPr lang="ar-SA" sz="1600"/>
                        <a:t>سطح توسعه مدل زبانی</a:t>
                      </a:r>
                      <a:endParaRPr lang="ar-SA" sz="1600">
                        <a:cs typeface="Nazanin" panose="00000400000000000000" pitchFamily="2" charset="-78"/>
                      </a:endParaRPr>
                    </a:p>
                  </a:txBody>
                  <a:tcPr marL="48891" marR="48891" marT="24446" marB="24446" anchor="ctr"/>
                </a:tc>
                <a:tc>
                  <a:txBody>
                    <a:bodyPr/>
                    <a:lstStyle/>
                    <a:p>
                      <a:pPr algn="r" rtl="1"/>
                      <a:r>
                        <a:rPr lang="ar-SA" sz="1600"/>
                        <a:t>همکاری‌های بین‌المللی</a:t>
                      </a:r>
                      <a:endParaRPr lang="ar-SA" sz="1600">
                        <a:cs typeface="Nazanin" panose="00000400000000000000" pitchFamily="2" charset="-78"/>
                      </a:endParaRPr>
                    </a:p>
                  </a:txBody>
                  <a:tcPr marL="48891" marR="48891" marT="24446" marB="24446" anchor="ctr"/>
                </a:tc>
                <a:tc>
                  <a:txBody>
                    <a:bodyPr/>
                    <a:lstStyle/>
                    <a:p>
                      <a:pPr algn="r" rtl="1"/>
                      <a:r>
                        <a:rPr lang="ar-SA" sz="1600"/>
                        <a:t>بودجه/سیاست دولت</a:t>
                      </a:r>
                      <a:endParaRPr lang="ar-SA" sz="1600">
                        <a:cs typeface="Nazanin" panose="00000400000000000000" pitchFamily="2" charset="-78"/>
                      </a:endParaRPr>
                    </a:p>
                  </a:txBody>
                  <a:tcPr marL="48891" marR="48891" marT="24446" marB="24446" anchor="ctr"/>
                </a:tc>
                <a:tc>
                  <a:txBody>
                    <a:bodyPr/>
                    <a:lstStyle/>
                    <a:p>
                      <a:pPr algn="r" rtl="1"/>
                      <a:r>
                        <a:rPr lang="ar-SA" sz="1600"/>
                        <a:t>کشور</a:t>
                      </a:r>
                      <a:endParaRPr lang="ar-SA" sz="1600">
                        <a:cs typeface="Nazanin" panose="00000400000000000000" pitchFamily="2" charset="-78"/>
                      </a:endParaRPr>
                    </a:p>
                  </a:txBody>
                  <a:tcPr marL="48891" marR="48891" marT="24446" marB="24446" anchor="ctr"/>
                </a:tc>
                <a:extLst>
                  <a:ext uri="{0D108BD9-81ED-4DB2-BD59-A6C34878D82A}">
                    <a16:rowId xmlns:a16="http://schemas.microsoft.com/office/drawing/2014/main" val="3409607840"/>
                  </a:ext>
                </a:extLst>
              </a:tr>
              <a:tr h="1385986">
                <a:tc>
                  <a:txBody>
                    <a:bodyPr/>
                    <a:lstStyle/>
                    <a:p>
                      <a:pPr algn="l" rtl="0"/>
                      <a:r>
                        <a:rPr lang="en-US" sz="1600"/>
                        <a:t>TÜBİTAK، HAVELSAN، </a:t>
                      </a:r>
                      <a:r>
                        <a:rPr lang="ar-SA" sz="1600"/>
                        <a:t>دانشگاه‌های </a:t>
                      </a:r>
                      <a:r>
                        <a:rPr lang="en-US" sz="1600"/>
                        <a:t>ITU </a:t>
                      </a:r>
                      <a:r>
                        <a:rPr lang="ar-SA" sz="1600"/>
                        <a:t>و </a:t>
                      </a:r>
                      <a:r>
                        <a:rPr lang="en-US" sz="1600"/>
                        <a:t>Boğaziçi</a:t>
                      </a:r>
                      <a:endParaRPr lang="en-US" sz="1600">
                        <a:cs typeface="Nazanin" panose="00000400000000000000" pitchFamily="2" charset="-78"/>
                      </a:endParaRPr>
                    </a:p>
                  </a:txBody>
                  <a:tcPr marL="48891" marR="48891" marT="24446" marB="24446" anchor="ctr"/>
                </a:tc>
                <a:tc>
                  <a:txBody>
                    <a:bodyPr/>
                    <a:lstStyle/>
                    <a:p>
                      <a:pPr algn="r" rtl="1"/>
                      <a:r>
                        <a:rPr lang="ar-SA" sz="1600"/>
                        <a:t>ترکی </a:t>
                      </a:r>
                      <a:r>
                        <a:rPr lang="fa-IR" sz="1600"/>
                        <a:t>و </a:t>
                      </a:r>
                      <a:r>
                        <a:rPr lang="ar-SA" sz="1600"/>
                        <a:t>انگلیسی</a:t>
                      </a:r>
                      <a:endParaRPr lang="ar-SA" sz="1600">
                        <a:cs typeface="Nazanin" panose="00000400000000000000" pitchFamily="2" charset="-78"/>
                      </a:endParaRPr>
                    </a:p>
                  </a:txBody>
                  <a:tcPr marL="48891" marR="48891" marT="24446" marB="24446" anchor="ctr"/>
                </a:tc>
                <a:tc>
                  <a:txBody>
                    <a:bodyPr/>
                    <a:lstStyle/>
                    <a:p>
                      <a:pPr algn="r" rtl="1"/>
                      <a:r>
                        <a:rPr lang="ar-SA" sz="1600"/>
                        <a:t>دفاع، </a:t>
                      </a:r>
                      <a:r>
                        <a:rPr lang="en-US" sz="1600"/>
                        <a:t>NLP، </a:t>
                      </a:r>
                      <a:r>
                        <a:rPr lang="ar-SA" sz="1600"/>
                        <a:t>حمل‌ونقل هوشمند، سلامت</a:t>
                      </a:r>
                      <a:endParaRPr lang="ar-SA" sz="1600">
                        <a:cs typeface="Nazanin" panose="00000400000000000000" pitchFamily="2" charset="-78"/>
                      </a:endParaRPr>
                    </a:p>
                  </a:txBody>
                  <a:tcPr marL="48891" marR="48891" marT="24446" marB="24446" anchor="ctr"/>
                </a:tc>
                <a:tc>
                  <a:txBody>
                    <a:bodyPr/>
                    <a:lstStyle/>
                    <a:p>
                      <a:pPr algn="r" rtl="1"/>
                      <a:r>
                        <a:rPr lang="ar-SA" sz="1600"/>
                        <a:t>متوسط (مدل‌های </a:t>
                      </a:r>
                      <a:r>
                        <a:rPr lang="en-US" sz="1600"/>
                        <a:t>GPT </a:t>
                      </a:r>
                      <a:r>
                        <a:rPr lang="ar-SA" sz="1600"/>
                        <a:t>کوچک ترکی توسعه یافته‌اند)</a:t>
                      </a:r>
                      <a:endParaRPr lang="ar-SA" sz="1600">
                        <a:cs typeface="Nazanin" panose="00000400000000000000" pitchFamily="2" charset="-78"/>
                      </a:endParaRPr>
                    </a:p>
                  </a:txBody>
                  <a:tcPr marL="48891" marR="48891" marT="24446" marB="24446" anchor="ctr"/>
                </a:tc>
                <a:tc>
                  <a:txBody>
                    <a:bodyPr/>
                    <a:lstStyle/>
                    <a:p>
                      <a:pPr algn="l" rtl="0"/>
                      <a:r>
                        <a:rPr lang="en-US" sz="1600"/>
                        <a:t>Huawei، Google، EU، NATO</a:t>
                      </a:r>
                      <a:endParaRPr lang="en-US" sz="1600">
                        <a:cs typeface="Nazanin" panose="00000400000000000000" pitchFamily="2" charset="-78"/>
                      </a:endParaRPr>
                    </a:p>
                  </a:txBody>
                  <a:tcPr marL="48891" marR="48891" marT="24446" marB="24446" anchor="ctr"/>
                </a:tc>
                <a:tc>
                  <a:txBody>
                    <a:bodyPr/>
                    <a:lstStyle/>
                    <a:p>
                      <a:pPr algn="r" rtl="1"/>
                      <a:r>
                        <a:rPr lang="ar-SA" sz="1600"/>
                        <a:t>برنامه ملی </a:t>
                      </a:r>
                      <a:r>
                        <a:rPr lang="en-US" sz="1600"/>
                        <a:t>AI (2021–2025)، </a:t>
                      </a:r>
                      <a:r>
                        <a:rPr lang="ar-SA" sz="1600"/>
                        <a:t>بودجه مشخص نشده ولی استراتژیک است</a:t>
                      </a:r>
                      <a:endParaRPr lang="ar-SA" sz="1600">
                        <a:cs typeface="Nazanin" panose="00000400000000000000" pitchFamily="2" charset="-78"/>
                      </a:endParaRPr>
                    </a:p>
                  </a:txBody>
                  <a:tcPr marL="48891" marR="48891" marT="24446" marB="24446" anchor="ctr"/>
                </a:tc>
                <a:tc>
                  <a:txBody>
                    <a:bodyPr/>
                    <a:lstStyle/>
                    <a:p>
                      <a:pPr algn="r" rtl="1"/>
                      <a:r>
                        <a:rPr lang="ar-SA" sz="1600"/>
                        <a:t>ترکیه</a:t>
                      </a:r>
                      <a:endParaRPr lang="ar-SA" sz="1600">
                        <a:cs typeface="Nazanin" panose="00000400000000000000" pitchFamily="2" charset="-78"/>
                      </a:endParaRPr>
                    </a:p>
                  </a:txBody>
                  <a:tcPr marL="48891" marR="48891" marT="24446" marB="24446" anchor="ctr"/>
                </a:tc>
                <a:extLst>
                  <a:ext uri="{0D108BD9-81ED-4DB2-BD59-A6C34878D82A}">
                    <a16:rowId xmlns:a16="http://schemas.microsoft.com/office/drawing/2014/main" val="3368305501"/>
                  </a:ext>
                </a:extLst>
              </a:tr>
              <a:tr h="886280">
                <a:tc>
                  <a:txBody>
                    <a:bodyPr/>
                    <a:lstStyle/>
                    <a:p>
                      <a:pPr algn="r" rtl="1"/>
                      <a:r>
                        <a:rPr lang="ar-SA" sz="1600"/>
                        <a:t>وزارت تحول دیجیتال، دانشگاه باکو</a:t>
                      </a:r>
                      <a:endParaRPr lang="ar-SA" sz="1600">
                        <a:cs typeface="Nazanin" panose="00000400000000000000" pitchFamily="2" charset="-78"/>
                      </a:endParaRPr>
                    </a:p>
                  </a:txBody>
                  <a:tcPr marL="48891" marR="48891" marT="24446" marB="24446" anchor="ctr"/>
                </a:tc>
                <a:tc>
                  <a:txBody>
                    <a:bodyPr/>
                    <a:lstStyle/>
                    <a:p>
                      <a:pPr algn="r" rtl="1"/>
                      <a:r>
                        <a:rPr lang="ar-SA" sz="1600"/>
                        <a:t>ترکی آذری، انگلیسی</a:t>
                      </a:r>
                      <a:endParaRPr lang="ar-SA" sz="1600">
                        <a:cs typeface="Nazanin" panose="00000400000000000000" pitchFamily="2" charset="-78"/>
                      </a:endParaRPr>
                    </a:p>
                  </a:txBody>
                  <a:tcPr marL="48891" marR="48891" marT="24446" marB="24446" anchor="ctr"/>
                </a:tc>
                <a:tc>
                  <a:txBody>
                    <a:bodyPr/>
                    <a:lstStyle/>
                    <a:p>
                      <a:pPr algn="r" rtl="1"/>
                      <a:r>
                        <a:rPr lang="ar-SA" sz="1600"/>
                        <a:t>خدمات دولت، چت‌بات‌ها، </a:t>
                      </a:r>
                      <a:r>
                        <a:rPr lang="en-US" sz="1600"/>
                        <a:t>OCR</a:t>
                      </a:r>
                      <a:endParaRPr lang="en-US" sz="1600">
                        <a:cs typeface="Nazanin" panose="00000400000000000000" pitchFamily="2" charset="-78"/>
                      </a:endParaRPr>
                    </a:p>
                  </a:txBody>
                  <a:tcPr marL="48891" marR="48891" marT="24446" marB="24446" anchor="ctr"/>
                </a:tc>
                <a:tc>
                  <a:txBody>
                    <a:bodyPr/>
                    <a:lstStyle/>
                    <a:p>
                      <a:pPr algn="r" rtl="1"/>
                      <a:r>
                        <a:rPr lang="ar-SA" sz="1600"/>
                        <a:t>ضعیف (هیچ مدل بومی مهمی تولید نشده)</a:t>
                      </a:r>
                      <a:endParaRPr lang="ar-SA" sz="1600">
                        <a:cs typeface="Nazanin" panose="00000400000000000000" pitchFamily="2" charset="-78"/>
                      </a:endParaRPr>
                    </a:p>
                  </a:txBody>
                  <a:tcPr marL="48891" marR="48891" marT="24446" marB="24446" anchor="ctr"/>
                </a:tc>
                <a:tc>
                  <a:txBody>
                    <a:bodyPr/>
                    <a:lstStyle/>
                    <a:p>
                      <a:pPr algn="r" rtl="1"/>
                      <a:r>
                        <a:rPr lang="ar-SA" sz="1600"/>
                        <a:t>ترکیه، چین</a:t>
                      </a:r>
                      <a:endParaRPr lang="ar-SA" sz="1600">
                        <a:cs typeface="Nazanin" panose="00000400000000000000" pitchFamily="2" charset="-78"/>
                      </a:endParaRPr>
                    </a:p>
                  </a:txBody>
                  <a:tcPr marL="48891" marR="48891" marT="24446" marB="24446" anchor="ctr"/>
                </a:tc>
                <a:tc>
                  <a:txBody>
                    <a:bodyPr/>
                    <a:lstStyle/>
                    <a:p>
                      <a:pPr algn="r" rtl="1"/>
                      <a:r>
                        <a:rPr lang="ar-SA" sz="1600"/>
                        <a:t>حمایت جزئی در چارچوب دیجیتالی‌سازی</a:t>
                      </a:r>
                      <a:endParaRPr lang="ar-SA" sz="1600">
                        <a:cs typeface="Nazanin" panose="00000400000000000000" pitchFamily="2" charset="-78"/>
                      </a:endParaRPr>
                    </a:p>
                  </a:txBody>
                  <a:tcPr marL="48891" marR="48891" marT="24446" marB="24446" anchor="ctr"/>
                </a:tc>
                <a:tc>
                  <a:txBody>
                    <a:bodyPr/>
                    <a:lstStyle/>
                    <a:p>
                      <a:pPr algn="r" rtl="1"/>
                      <a:r>
                        <a:rPr lang="ar-SA" sz="1600"/>
                        <a:t>آذربایجان</a:t>
                      </a:r>
                      <a:endParaRPr lang="ar-SA" sz="1600">
                        <a:cs typeface="Nazanin" panose="00000400000000000000" pitchFamily="2" charset="-78"/>
                      </a:endParaRPr>
                    </a:p>
                  </a:txBody>
                  <a:tcPr marL="48891" marR="48891" marT="24446" marB="24446" anchor="ctr"/>
                </a:tc>
                <a:extLst>
                  <a:ext uri="{0D108BD9-81ED-4DB2-BD59-A6C34878D82A}">
                    <a16:rowId xmlns:a16="http://schemas.microsoft.com/office/drawing/2014/main" val="1081712953"/>
                  </a:ext>
                </a:extLst>
              </a:tr>
              <a:tr h="886280">
                <a:tc>
                  <a:txBody>
                    <a:bodyPr/>
                    <a:lstStyle/>
                    <a:p>
                      <a:pPr algn="r" rtl="1"/>
                      <a:r>
                        <a:rPr lang="en-US" sz="1600"/>
                        <a:t>TUMO، </a:t>
                      </a:r>
                      <a:r>
                        <a:rPr lang="ar-SA" sz="1600"/>
                        <a:t>دانشگاه آمریکایی ایروان</a:t>
                      </a:r>
                      <a:endParaRPr lang="ar-SA" sz="1600">
                        <a:cs typeface="Nazanin" panose="00000400000000000000" pitchFamily="2" charset="-78"/>
                      </a:endParaRPr>
                    </a:p>
                  </a:txBody>
                  <a:tcPr marL="48891" marR="48891" marT="24446" marB="24446" anchor="ctr"/>
                </a:tc>
                <a:tc>
                  <a:txBody>
                    <a:bodyPr/>
                    <a:lstStyle/>
                    <a:p>
                      <a:pPr algn="r" rtl="1"/>
                      <a:r>
                        <a:rPr lang="ar-SA" sz="1600"/>
                        <a:t>ارمنی، انگلیسی</a:t>
                      </a:r>
                      <a:endParaRPr lang="ar-SA" sz="1600">
                        <a:cs typeface="Nazanin" panose="00000400000000000000" pitchFamily="2" charset="-78"/>
                      </a:endParaRPr>
                    </a:p>
                  </a:txBody>
                  <a:tcPr marL="48891" marR="48891" marT="24446" marB="24446" anchor="ctr"/>
                </a:tc>
                <a:tc>
                  <a:txBody>
                    <a:bodyPr/>
                    <a:lstStyle/>
                    <a:p>
                      <a:pPr algn="r" rtl="1"/>
                      <a:r>
                        <a:rPr lang="ar-SA" sz="1600"/>
                        <a:t>آموزش، ترجمه ماشینی، امنیت سایبری</a:t>
                      </a:r>
                      <a:endParaRPr lang="ar-SA" sz="1600">
                        <a:cs typeface="Nazanin" panose="00000400000000000000" pitchFamily="2" charset="-78"/>
                      </a:endParaRPr>
                    </a:p>
                  </a:txBody>
                  <a:tcPr marL="48891" marR="48891" marT="24446" marB="24446" anchor="ctr"/>
                </a:tc>
                <a:tc>
                  <a:txBody>
                    <a:bodyPr/>
                    <a:lstStyle/>
                    <a:p>
                      <a:pPr algn="r" rtl="1"/>
                      <a:r>
                        <a:rPr lang="ar-SA" sz="1600"/>
                        <a:t>ضعیف-متوسط (پروژه‌های دانشجویی و آزمایشی)</a:t>
                      </a:r>
                      <a:endParaRPr lang="ar-SA" sz="1600">
                        <a:cs typeface="Nazanin" panose="00000400000000000000" pitchFamily="2" charset="-78"/>
                      </a:endParaRPr>
                    </a:p>
                  </a:txBody>
                  <a:tcPr marL="48891" marR="48891" marT="24446" marB="24446" anchor="ctr"/>
                </a:tc>
                <a:tc>
                  <a:txBody>
                    <a:bodyPr/>
                    <a:lstStyle/>
                    <a:p>
                      <a:pPr algn="r" rtl="1"/>
                      <a:r>
                        <a:rPr lang="ar-SA" sz="1600"/>
                        <a:t>فرانسه، </a:t>
                      </a:r>
                      <a:r>
                        <a:rPr lang="en-US" sz="1600"/>
                        <a:t>EU</a:t>
                      </a:r>
                      <a:endParaRPr lang="en-US" sz="1600">
                        <a:cs typeface="Nazanin" panose="00000400000000000000" pitchFamily="2" charset="-78"/>
                      </a:endParaRPr>
                    </a:p>
                  </a:txBody>
                  <a:tcPr marL="48891" marR="48891" marT="24446" marB="24446" anchor="ctr"/>
                </a:tc>
                <a:tc>
                  <a:txBody>
                    <a:bodyPr/>
                    <a:lstStyle/>
                    <a:p>
                      <a:pPr algn="r" rtl="1"/>
                      <a:r>
                        <a:rPr lang="ar-SA" sz="1600"/>
                        <a:t>سرمایه‌گذاری استارتاپی، دولت نقشی محدود دارد</a:t>
                      </a:r>
                      <a:endParaRPr lang="ar-SA" sz="1600">
                        <a:cs typeface="Nazanin" panose="00000400000000000000" pitchFamily="2" charset="-78"/>
                      </a:endParaRPr>
                    </a:p>
                  </a:txBody>
                  <a:tcPr marL="48891" marR="48891" marT="24446" marB="24446" anchor="ctr"/>
                </a:tc>
                <a:tc>
                  <a:txBody>
                    <a:bodyPr/>
                    <a:lstStyle/>
                    <a:p>
                      <a:pPr algn="r" rtl="1"/>
                      <a:r>
                        <a:rPr lang="ar-SA" sz="1600"/>
                        <a:t>ارمنستان</a:t>
                      </a:r>
                      <a:endParaRPr lang="ar-SA" sz="1600">
                        <a:cs typeface="Nazanin" panose="00000400000000000000" pitchFamily="2" charset="-78"/>
                      </a:endParaRPr>
                    </a:p>
                  </a:txBody>
                  <a:tcPr marL="48891" marR="48891" marT="24446" marB="24446" anchor="ctr"/>
                </a:tc>
                <a:extLst>
                  <a:ext uri="{0D108BD9-81ED-4DB2-BD59-A6C34878D82A}">
                    <a16:rowId xmlns:a16="http://schemas.microsoft.com/office/drawing/2014/main" val="3287088329"/>
                  </a:ext>
                </a:extLst>
              </a:tr>
              <a:tr h="1219417">
                <a:tc>
                  <a:txBody>
                    <a:bodyPr/>
                    <a:lstStyle/>
                    <a:p>
                      <a:pPr algn="l" rtl="0"/>
                      <a:r>
                        <a:rPr lang="en-US" sz="1600"/>
                        <a:t>NCAI، NUST، FAST، COMSATS</a:t>
                      </a:r>
                      <a:endParaRPr lang="en-US" sz="1600">
                        <a:cs typeface="Nazanin" panose="00000400000000000000" pitchFamily="2" charset="-78"/>
                      </a:endParaRPr>
                    </a:p>
                  </a:txBody>
                  <a:tcPr marL="48891" marR="48891" marT="24446" marB="24446" anchor="ctr"/>
                </a:tc>
                <a:tc>
                  <a:txBody>
                    <a:bodyPr/>
                    <a:lstStyle/>
                    <a:p>
                      <a:pPr algn="r" rtl="1"/>
                      <a:r>
                        <a:rPr lang="ar-SA" sz="1600"/>
                        <a:t>اردو، انگلیسی</a:t>
                      </a:r>
                      <a:endParaRPr lang="ar-SA" sz="1600">
                        <a:cs typeface="Nazanin" panose="00000400000000000000" pitchFamily="2" charset="-78"/>
                      </a:endParaRPr>
                    </a:p>
                  </a:txBody>
                  <a:tcPr marL="48891" marR="48891" marT="24446" marB="24446" anchor="ctr"/>
                </a:tc>
                <a:tc>
                  <a:txBody>
                    <a:bodyPr/>
                    <a:lstStyle/>
                    <a:p>
                      <a:pPr algn="r" rtl="1"/>
                      <a:r>
                        <a:rPr lang="ar-SA" sz="1600"/>
                        <a:t>کشاورزی، تشخیص صدا، آموزش، فین‌تک</a:t>
                      </a:r>
                      <a:endParaRPr lang="ar-SA" sz="1600">
                        <a:cs typeface="Nazanin" panose="00000400000000000000" pitchFamily="2" charset="-78"/>
                      </a:endParaRPr>
                    </a:p>
                  </a:txBody>
                  <a:tcPr marL="48891" marR="48891" marT="24446" marB="24446" anchor="ctr"/>
                </a:tc>
                <a:tc>
                  <a:txBody>
                    <a:bodyPr/>
                    <a:lstStyle/>
                    <a:p>
                      <a:pPr algn="r" rtl="1"/>
                      <a:r>
                        <a:rPr lang="ar-SA" sz="1600"/>
                        <a:t>متوسط (</a:t>
                      </a:r>
                      <a:r>
                        <a:rPr lang="en-US" sz="1600"/>
                        <a:t>OCR </a:t>
                      </a:r>
                      <a:r>
                        <a:rPr lang="ar-SA" sz="1600"/>
                        <a:t>و </a:t>
                      </a:r>
                      <a:r>
                        <a:rPr lang="en-US" sz="1600"/>
                        <a:t>ASR </a:t>
                      </a:r>
                      <a:r>
                        <a:rPr lang="ar-SA" sz="1600"/>
                        <a:t>اردو توسعه یافته)</a:t>
                      </a:r>
                      <a:endParaRPr lang="ar-SA" sz="1600">
                        <a:cs typeface="Nazanin" panose="00000400000000000000" pitchFamily="2" charset="-78"/>
                      </a:endParaRPr>
                    </a:p>
                  </a:txBody>
                  <a:tcPr marL="48891" marR="48891" marT="24446" marB="24446" anchor="ctr"/>
                </a:tc>
                <a:tc>
                  <a:txBody>
                    <a:bodyPr/>
                    <a:lstStyle/>
                    <a:p>
                      <a:pPr algn="r" rtl="1"/>
                      <a:r>
                        <a:rPr lang="ar-SA" sz="1600"/>
                        <a:t>چین (</a:t>
                      </a:r>
                      <a:r>
                        <a:rPr lang="en-US" sz="1600"/>
                        <a:t>CPEC</a:t>
                      </a:r>
                      <a:r>
                        <a:rPr lang="fa-IR" sz="1600"/>
                        <a:t>)</a:t>
                      </a:r>
                      <a:r>
                        <a:rPr lang="en-US" sz="1600"/>
                        <a:t>، </a:t>
                      </a:r>
                      <a:r>
                        <a:rPr lang="ar-SA" sz="1600"/>
                        <a:t>عربستان</a:t>
                      </a:r>
                      <a:endParaRPr lang="ar-SA" sz="1600">
                        <a:cs typeface="Nazanin" panose="00000400000000000000" pitchFamily="2" charset="-78"/>
                      </a:endParaRPr>
                    </a:p>
                  </a:txBody>
                  <a:tcPr marL="48891" marR="48891" marT="24446" marB="24446" anchor="ctr"/>
                </a:tc>
                <a:tc>
                  <a:txBody>
                    <a:bodyPr/>
                    <a:lstStyle/>
                    <a:p>
                      <a:pPr algn="r" rtl="1"/>
                      <a:r>
                        <a:rPr lang="ar-SA" sz="1600"/>
                        <a:t>طرح ملی </a:t>
                      </a:r>
                      <a:r>
                        <a:rPr lang="en-US" sz="1600"/>
                        <a:t>AI، </a:t>
                      </a:r>
                      <a:r>
                        <a:rPr lang="ar-SA" sz="1600"/>
                        <a:t>حمایت مستقیم دولت، بودجه محدود اما پایدار</a:t>
                      </a:r>
                      <a:endParaRPr lang="ar-SA" sz="1600">
                        <a:cs typeface="Nazanin" panose="00000400000000000000" pitchFamily="2" charset="-78"/>
                      </a:endParaRPr>
                    </a:p>
                  </a:txBody>
                  <a:tcPr marL="48891" marR="48891" marT="24446" marB="24446" anchor="ctr"/>
                </a:tc>
                <a:tc>
                  <a:txBody>
                    <a:bodyPr/>
                    <a:lstStyle/>
                    <a:p>
                      <a:pPr algn="r" rtl="1"/>
                      <a:r>
                        <a:rPr lang="ar-SA" sz="1600"/>
                        <a:t>پاکستان</a:t>
                      </a:r>
                      <a:endParaRPr lang="ar-SA" sz="1600">
                        <a:cs typeface="Nazanin" panose="00000400000000000000" pitchFamily="2" charset="-78"/>
                      </a:endParaRPr>
                    </a:p>
                  </a:txBody>
                  <a:tcPr marL="48891" marR="48891" marT="24446" marB="24446" anchor="ctr"/>
                </a:tc>
                <a:extLst>
                  <a:ext uri="{0D108BD9-81ED-4DB2-BD59-A6C34878D82A}">
                    <a16:rowId xmlns:a16="http://schemas.microsoft.com/office/drawing/2014/main" val="1599141924"/>
                  </a:ext>
                </a:extLst>
              </a:tr>
            </a:tbl>
          </a:graphicData>
        </a:graphic>
      </p:graphicFrame>
      <p:sp>
        <p:nvSpPr>
          <p:cNvPr id="2" name="TextBox 1">
            <a:extLst>
              <a:ext uri="{FF2B5EF4-FFF2-40B4-BE49-F238E27FC236}">
                <a16:creationId xmlns:a16="http://schemas.microsoft.com/office/drawing/2014/main" id="{608B3436-5A5A-2C67-901E-E699298CFA65}"/>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35</a:t>
            </a:r>
            <a:endParaRPr lang="fa-IR" sz="1200"/>
          </a:p>
        </p:txBody>
      </p:sp>
    </p:spTree>
    <p:extLst>
      <p:ext uri="{BB962C8B-B14F-4D97-AF65-F5344CB8AC3E}">
        <p14:creationId xmlns:p14="http://schemas.microsoft.com/office/powerpoint/2010/main" val="24122287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1D8C8-5E89-6871-F58D-4177E4334AB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37AF5CE-7107-A7D6-F682-96741EDD542A}"/>
              </a:ext>
            </a:extLst>
          </p:cNvPr>
          <p:cNvPicPr>
            <a:picLocks noChangeAspect="1"/>
          </p:cNvPicPr>
          <p:nvPr/>
        </p:nvPicPr>
        <p:blipFill>
          <a:blip r:embed="rId2"/>
          <a:stretch>
            <a:fillRect/>
          </a:stretch>
        </p:blipFill>
        <p:spPr>
          <a:xfrm>
            <a:off x="163566" y="347374"/>
            <a:ext cx="2075137" cy="2943307"/>
          </a:xfrm>
          <a:prstGeom prst="rect">
            <a:avLst/>
          </a:prstGeom>
        </p:spPr>
      </p:pic>
      <p:sp>
        <p:nvSpPr>
          <p:cNvPr id="6" name="Rectangle 1">
            <a:extLst>
              <a:ext uri="{FF2B5EF4-FFF2-40B4-BE49-F238E27FC236}">
                <a16:creationId xmlns:a16="http://schemas.microsoft.com/office/drawing/2014/main" id="{703BA779-39C9-A28E-7E88-C2405B738433}"/>
              </a:ext>
            </a:extLst>
          </p:cNvPr>
          <p:cNvSpPr>
            <a:spLocks noChangeArrowheads="1"/>
          </p:cNvSpPr>
          <p:nvPr/>
        </p:nvSpPr>
        <p:spPr bwMode="auto">
          <a:xfrm>
            <a:off x="270969" y="3355677"/>
            <a:ext cx="8602062"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Char char="•"/>
              <a:tabLst/>
            </a:pPr>
            <a:r>
              <a:rPr kumimoji="0" lang="ar-SA" altLang="en-US" sz="2000" b="1" i="0" u="none" strike="noStrike" cap="none" normalizeH="0" baseline="0">
                <a:ln>
                  <a:noFill/>
                </a:ln>
                <a:solidFill>
                  <a:schemeClr val="tx1"/>
                </a:solidFill>
                <a:effectLst/>
                <a:latin typeface="Arial" panose="020B0604020202020204" pitchFamily="34" charset="0"/>
                <a:cs typeface="Nazanin" panose="00000400000000000000" pitchFamily="2" charset="-78"/>
              </a:rPr>
              <a:t>ارتقا به پلن</a:t>
            </a:r>
            <a:r>
              <a:rPr kumimoji="0" lang="en-US" altLang="en-US" sz="2000" b="1" i="0" u="none" strike="noStrike" cap="none" normalizeH="0" baseline="0">
                <a:ln>
                  <a:noFill/>
                </a:ln>
                <a:solidFill>
                  <a:schemeClr val="tx1"/>
                </a:solidFill>
                <a:effectLst/>
                <a:latin typeface="Arial" panose="020B0604020202020204" pitchFamily="34" charset="0"/>
                <a:cs typeface="Nazanin" panose="00000400000000000000" pitchFamily="2" charset="-78"/>
              </a:rPr>
              <a:t> (Upgrade Plan)</a:t>
            </a:r>
            <a:r>
              <a:rPr kumimoji="0" lang="fa-IR"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t>-</a:t>
            </a:r>
            <a:r>
              <a:rPr kumimoji="0" lang="en-US"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t> </a:t>
            </a:r>
            <a:r>
              <a:rPr kumimoji="0" lang="ar-SA"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t>امکان ارتقا به پلن پولی برای دسترسی به قابلیت‌های پیشرفته‌تر</a:t>
            </a:r>
            <a:r>
              <a:rPr kumimoji="0" lang="en-US"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t>. </a:t>
            </a:r>
          </a:p>
          <a:p>
            <a:pPr marL="0" marR="0" lvl="0" indent="0" algn="r" defTabSz="914400" rtl="1" eaLnBrk="0" fontAlgn="base" latinLnBrk="0" hangingPunct="0">
              <a:lnSpc>
                <a:spcPct val="100000"/>
              </a:lnSpc>
              <a:spcBef>
                <a:spcPct val="0"/>
              </a:spcBef>
              <a:spcAft>
                <a:spcPct val="0"/>
              </a:spcAft>
              <a:buClrTx/>
              <a:buSzTx/>
              <a:buFontTx/>
              <a:buChar char="•"/>
              <a:tabLst/>
            </a:pPr>
            <a:r>
              <a:rPr kumimoji="0" lang="ar-SA" altLang="en-US" sz="2000" b="1" i="0" u="none" strike="noStrike" cap="none" normalizeH="0" baseline="0">
                <a:ln>
                  <a:noFill/>
                </a:ln>
                <a:solidFill>
                  <a:schemeClr val="tx1"/>
                </a:solidFill>
                <a:effectLst/>
                <a:latin typeface="Arial" panose="020B0604020202020204" pitchFamily="34" charset="0"/>
                <a:cs typeface="Nazanin" panose="00000400000000000000" pitchFamily="2" charset="-78"/>
              </a:rPr>
              <a:t>سفارشی‌سازی چت‌جی‌پی‌تی</a:t>
            </a:r>
            <a:r>
              <a:rPr kumimoji="0" lang="en-US" altLang="en-US" sz="2000" b="1" i="0" u="none" strike="noStrike" cap="none" normalizeH="0" baseline="0">
                <a:ln>
                  <a:noFill/>
                </a:ln>
                <a:solidFill>
                  <a:schemeClr val="tx1"/>
                </a:solidFill>
                <a:effectLst/>
                <a:latin typeface="Arial" panose="020B0604020202020204" pitchFamily="34" charset="0"/>
                <a:cs typeface="Nazanin" panose="00000400000000000000" pitchFamily="2" charset="-78"/>
              </a:rPr>
              <a:t> (Customize ChatGPT)</a:t>
            </a:r>
            <a:r>
              <a:rPr kumimoji="0" lang="fa-IR"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t>-</a:t>
            </a:r>
            <a:r>
              <a:rPr kumimoji="0" lang="en-US"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t> </a:t>
            </a:r>
            <a:r>
              <a:rPr kumimoji="0" lang="ar-SA"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t>شخصی‌سازی تجربه کاربری با چت‌جی‌پی‌تی</a:t>
            </a:r>
            <a:r>
              <a:rPr kumimoji="0" lang="en-US"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t>. </a:t>
            </a:r>
          </a:p>
          <a:p>
            <a:pPr marL="0" marR="0" lvl="0" indent="0" algn="r" defTabSz="914400" rtl="1" eaLnBrk="0" fontAlgn="base" latinLnBrk="0" hangingPunct="0">
              <a:lnSpc>
                <a:spcPct val="100000"/>
              </a:lnSpc>
              <a:spcBef>
                <a:spcPct val="0"/>
              </a:spcBef>
              <a:spcAft>
                <a:spcPct val="0"/>
              </a:spcAft>
              <a:buClrTx/>
              <a:buSzTx/>
              <a:buFontTx/>
              <a:buChar char="•"/>
              <a:tabLst/>
            </a:pPr>
            <a:r>
              <a:rPr kumimoji="0" lang="ar-SA" altLang="en-US" sz="2000" b="1" i="0" u="none" strike="noStrike" cap="none" normalizeH="0" baseline="0">
                <a:ln>
                  <a:noFill/>
                </a:ln>
                <a:solidFill>
                  <a:schemeClr val="tx1"/>
                </a:solidFill>
                <a:effectLst/>
                <a:latin typeface="Arial" panose="020B0604020202020204" pitchFamily="34" charset="0"/>
                <a:cs typeface="Nazanin" panose="00000400000000000000" pitchFamily="2" charset="-78"/>
              </a:rPr>
              <a:t>تنظیمات</a:t>
            </a:r>
            <a:r>
              <a:rPr kumimoji="0" lang="en-US" altLang="en-US" sz="2000" b="1" i="0" u="none" strike="noStrike" cap="none" normalizeH="0" baseline="0">
                <a:ln>
                  <a:noFill/>
                </a:ln>
                <a:solidFill>
                  <a:schemeClr val="tx1"/>
                </a:solidFill>
                <a:effectLst/>
                <a:latin typeface="Arial" panose="020B0604020202020204" pitchFamily="34" charset="0"/>
                <a:cs typeface="Nazanin" panose="00000400000000000000" pitchFamily="2" charset="-78"/>
              </a:rPr>
              <a:t> (Settings)</a:t>
            </a:r>
            <a:r>
              <a:rPr kumimoji="0" lang="fa-IR"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t>-</a:t>
            </a:r>
            <a:r>
              <a:rPr kumimoji="0" lang="en-US"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t> </a:t>
            </a:r>
            <a:r>
              <a:rPr kumimoji="0" lang="ar-SA"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t>دسترسی به تنظیمات حساب و اولویت‌ها</a:t>
            </a:r>
            <a:r>
              <a:rPr kumimoji="0" lang="en-US"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t>. </a:t>
            </a:r>
          </a:p>
          <a:p>
            <a:pPr marL="285750" marR="0" lvl="0" indent="-285750" algn="r" defTabSz="914400" rtl="1" eaLnBrk="0" fontAlgn="base" latinLnBrk="0" hangingPunct="0">
              <a:lnSpc>
                <a:spcPct val="100000"/>
              </a:lnSpc>
              <a:spcBef>
                <a:spcPct val="0"/>
              </a:spcBef>
              <a:spcAft>
                <a:spcPct val="0"/>
              </a:spcAft>
              <a:buClrTx/>
              <a:buSzTx/>
              <a:buFont typeface="Arial" panose="020B0604020202020204" pitchFamily="34" charset="0"/>
              <a:buChar char="•"/>
              <a:tabLst/>
            </a:pPr>
            <a:r>
              <a:rPr kumimoji="0" lang="ar-SA" altLang="en-US" sz="2000" b="1" i="0" u="none" strike="noStrike" cap="none" normalizeH="0" baseline="0">
                <a:ln>
                  <a:noFill/>
                </a:ln>
                <a:solidFill>
                  <a:schemeClr val="tx1"/>
                </a:solidFill>
                <a:effectLst/>
                <a:latin typeface="Arial" panose="020B0604020202020204" pitchFamily="34" charset="0"/>
                <a:cs typeface="Nazanin" panose="00000400000000000000" pitchFamily="2" charset="-78"/>
              </a:rPr>
              <a:t>میانبرهای صفحه‌کلید</a:t>
            </a:r>
            <a:r>
              <a:rPr kumimoji="0" lang="en-US" altLang="en-US" sz="2000" b="1" i="0" u="none" strike="noStrike" cap="none" normalizeH="0" baseline="0">
                <a:ln>
                  <a:noFill/>
                </a:ln>
                <a:solidFill>
                  <a:schemeClr val="tx1"/>
                </a:solidFill>
                <a:effectLst/>
                <a:latin typeface="Arial" panose="020B0604020202020204" pitchFamily="34" charset="0"/>
                <a:cs typeface="Nazanin" panose="00000400000000000000" pitchFamily="2" charset="-78"/>
              </a:rPr>
              <a:t> (Keyboard shortcuts)</a:t>
            </a:r>
            <a:r>
              <a:rPr kumimoji="0" lang="fa-IR"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t>-</a:t>
            </a:r>
            <a:r>
              <a:rPr kumimoji="0" lang="en-US"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t> </a:t>
            </a:r>
            <a:r>
              <a:rPr kumimoji="0" lang="ar-SA"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t>نمایش میانبرهای صفحه‌کلید برای استفاده آسان‌تر</a:t>
            </a:r>
            <a:r>
              <a:rPr kumimoji="0" lang="en-US"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t>. </a:t>
            </a:r>
          </a:p>
          <a:p>
            <a:pPr marL="0" marR="0" lvl="0" indent="0" algn="r" defTabSz="914400" rtl="1" eaLnBrk="0" fontAlgn="base" latinLnBrk="0" hangingPunct="0">
              <a:lnSpc>
                <a:spcPct val="100000"/>
              </a:lnSpc>
              <a:spcBef>
                <a:spcPct val="0"/>
              </a:spcBef>
              <a:spcAft>
                <a:spcPct val="0"/>
              </a:spcAft>
              <a:buClrTx/>
              <a:buSzTx/>
              <a:buFontTx/>
              <a:buChar char="•"/>
              <a:tabLst/>
            </a:pPr>
            <a:r>
              <a:rPr kumimoji="0" lang="ar-SA" altLang="en-US" sz="2000" b="1" i="0" u="none" strike="noStrike" cap="none" normalizeH="0" baseline="0">
                <a:ln>
                  <a:noFill/>
                </a:ln>
                <a:solidFill>
                  <a:schemeClr val="tx1"/>
                </a:solidFill>
                <a:effectLst/>
                <a:latin typeface="Arial" panose="020B0604020202020204" pitchFamily="34" charset="0"/>
                <a:cs typeface="Nazanin" panose="00000400000000000000" pitchFamily="2" charset="-78"/>
              </a:rPr>
              <a:t>راهنما و سؤالات متداول</a:t>
            </a:r>
            <a:r>
              <a:rPr kumimoji="0" lang="en-US" altLang="en-US" sz="2000" b="1" i="0" u="none" strike="noStrike" cap="none" normalizeH="0" baseline="0">
                <a:ln>
                  <a:noFill/>
                </a:ln>
                <a:solidFill>
                  <a:schemeClr val="tx1"/>
                </a:solidFill>
                <a:effectLst/>
                <a:latin typeface="Arial" panose="020B0604020202020204" pitchFamily="34" charset="0"/>
                <a:cs typeface="Nazanin" panose="00000400000000000000" pitchFamily="2" charset="-78"/>
              </a:rPr>
              <a:t> (Help &amp; FAQ)</a:t>
            </a:r>
            <a:r>
              <a:rPr kumimoji="0" lang="fa-IR"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t>-</a:t>
            </a:r>
            <a:r>
              <a:rPr kumimoji="0" lang="en-US"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t> </a:t>
            </a:r>
            <a:r>
              <a:rPr kumimoji="0" lang="ar-SA"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t>ارائه کمک و پاسخ به سؤالات رایج</a:t>
            </a:r>
            <a:r>
              <a:rPr kumimoji="0" lang="en-US"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t>. </a:t>
            </a:r>
          </a:p>
          <a:p>
            <a:pPr marL="0" marR="0" lvl="0" indent="0" algn="r" defTabSz="914400" rtl="1" eaLnBrk="0" fontAlgn="base" latinLnBrk="0" hangingPunct="0">
              <a:lnSpc>
                <a:spcPct val="100000"/>
              </a:lnSpc>
              <a:spcBef>
                <a:spcPct val="0"/>
              </a:spcBef>
              <a:spcAft>
                <a:spcPct val="0"/>
              </a:spcAft>
              <a:buClrTx/>
              <a:buSzTx/>
              <a:buFontTx/>
              <a:buChar char="•"/>
              <a:tabLst/>
            </a:pPr>
            <a:r>
              <a:rPr kumimoji="0" lang="ar-SA" altLang="en-US" sz="2000" b="1" i="0" u="none" strike="noStrike" cap="none" normalizeH="0" baseline="0">
                <a:ln>
                  <a:noFill/>
                </a:ln>
                <a:solidFill>
                  <a:schemeClr val="tx1"/>
                </a:solidFill>
                <a:effectLst/>
                <a:latin typeface="Arial" panose="020B0604020202020204" pitchFamily="34" charset="0"/>
                <a:cs typeface="Nazanin" panose="00000400000000000000" pitchFamily="2" charset="-78"/>
              </a:rPr>
              <a:t>یادداشت‌های انتشار</a:t>
            </a:r>
            <a:r>
              <a:rPr kumimoji="0" lang="en-US" altLang="en-US" sz="2000" b="1" i="0" u="none" strike="noStrike" cap="none" normalizeH="0" baseline="0">
                <a:ln>
                  <a:noFill/>
                </a:ln>
                <a:solidFill>
                  <a:schemeClr val="tx1"/>
                </a:solidFill>
                <a:effectLst/>
                <a:latin typeface="Arial" panose="020B0604020202020204" pitchFamily="34" charset="0"/>
                <a:cs typeface="Nazanin" panose="00000400000000000000" pitchFamily="2" charset="-78"/>
              </a:rPr>
              <a:t> (Release notes)</a:t>
            </a:r>
            <a:r>
              <a:rPr kumimoji="0" lang="fa-IR"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t>-</a:t>
            </a:r>
            <a:r>
              <a:rPr kumimoji="0" lang="en-US"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t> </a:t>
            </a:r>
            <a:r>
              <a:rPr kumimoji="0" lang="ar-SA"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t>نمایش به‌روزرسانی‌ها و تغییرات نسخه‌های جدید</a:t>
            </a:r>
            <a:r>
              <a:rPr kumimoji="0" lang="en-US"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t>. </a:t>
            </a:r>
          </a:p>
          <a:p>
            <a:pPr marL="0" marR="0" lvl="0" indent="0" algn="r" defTabSz="914400" rtl="1" eaLnBrk="0" fontAlgn="base" latinLnBrk="0" hangingPunct="0">
              <a:lnSpc>
                <a:spcPct val="100000"/>
              </a:lnSpc>
              <a:spcBef>
                <a:spcPct val="0"/>
              </a:spcBef>
              <a:spcAft>
                <a:spcPct val="0"/>
              </a:spcAft>
              <a:buClrTx/>
              <a:buSzTx/>
              <a:buFontTx/>
              <a:buChar char="•"/>
              <a:tabLst/>
            </a:pPr>
            <a:r>
              <a:rPr kumimoji="0" lang="ar-SA" altLang="en-US" sz="2000" b="1" i="0" u="none" strike="noStrike" cap="none" normalizeH="0" baseline="0">
                <a:ln>
                  <a:noFill/>
                </a:ln>
                <a:solidFill>
                  <a:schemeClr val="tx1"/>
                </a:solidFill>
                <a:effectLst/>
                <a:latin typeface="Arial" panose="020B0604020202020204" pitchFamily="34" charset="0"/>
                <a:cs typeface="Nazanin" panose="00000400000000000000" pitchFamily="2" charset="-78"/>
              </a:rPr>
              <a:t>شرایط و قوانین</a:t>
            </a:r>
            <a:r>
              <a:rPr kumimoji="0" lang="en-US" altLang="en-US" sz="2000" b="1" i="0" u="none" strike="noStrike" cap="none" normalizeH="0" baseline="0">
                <a:ln>
                  <a:noFill/>
                </a:ln>
                <a:solidFill>
                  <a:schemeClr val="tx1"/>
                </a:solidFill>
                <a:effectLst/>
                <a:latin typeface="Arial" panose="020B0604020202020204" pitchFamily="34" charset="0"/>
                <a:cs typeface="Nazanin" panose="00000400000000000000" pitchFamily="2" charset="-78"/>
              </a:rPr>
              <a:t> (Terms &amp; policies)</a:t>
            </a:r>
            <a:r>
              <a:rPr kumimoji="0" lang="fa-IR"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t>-</a:t>
            </a:r>
            <a:r>
              <a:rPr kumimoji="0" lang="en-US"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t> </a:t>
            </a:r>
            <a:r>
              <a:rPr kumimoji="0" lang="ar-SA"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t>لینک به شرایط استفاده و سیاست‌های حریم خصوصی</a:t>
            </a:r>
            <a:r>
              <a:rPr kumimoji="0" lang="en-US"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t>. </a:t>
            </a:r>
          </a:p>
          <a:p>
            <a:pPr marL="0" marR="0" lvl="0" indent="0" algn="r" defTabSz="914400" rtl="1" eaLnBrk="0" fontAlgn="base" latinLnBrk="0" hangingPunct="0">
              <a:lnSpc>
                <a:spcPct val="100000"/>
              </a:lnSpc>
              <a:spcBef>
                <a:spcPct val="0"/>
              </a:spcBef>
              <a:spcAft>
                <a:spcPct val="0"/>
              </a:spcAft>
              <a:buClrTx/>
              <a:buSzTx/>
              <a:buFontTx/>
              <a:buChar char="•"/>
              <a:tabLst/>
            </a:pPr>
            <a:r>
              <a:rPr kumimoji="0" lang="ar-SA" altLang="en-US" sz="2000" b="1" i="0" u="none" strike="noStrike" cap="none" normalizeH="0" baseline="0">
                <a:ln>
                  <a:noFill/>
                </a:ln>
                <a:solidFill>
                  <a:schemeClr val="tx1"/>
                </a:solidFill>
                <a:effectLst/>
                <a:latin typeface="Arial" panose="020B0604020202020204" pitchFamily="34" charset="0"/>
                <a:cs typeface="Nazanin" panose="00000400000000000000" pitchFamily="2" charset="-78"/>
              </a:rPr>
              <a:t>خروج</a:t>
            </a:r>
            <a:r>
              <a:rPr kumimoji="0" lang="en-US" altLang="en-US" sz="2000" b="1" i="0" u="none" strike="noStrike" cap="none" normalizeH="0" baseline="0">
                <a:ln>
                  <a:noFill/>
                </a:ln>
                <a:solidFill>
                  <a:schemeClr val="tx1"/>
                </a:solidFill>
                <a:effectLst/>
                <a:latin typeface="Arial" panose="020B0604020202020204" pitchFamily="34" charset="0"/>
                <a:cs typeface="Nazanin" panose="00000400000000000000" pitchFamily="2" charset="-78"/>
              </a:rPr>
              <a:t> (Log out)</a:t>
            </a:r>
            <a:r>
              <a:rPr kumimoji="0" lang="fa-IR"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t>-</a:t>
            </a:r>
            <a:r>
              <a:rPr kumimoji="0" lang="en-US"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t> </a:t>
            </a:r>
            <a:r>
              <a:rPr kumimoji="0" lang="ar-SA"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t>گزینه خروج از حساب کاربری</a:t>
            </a:r>
            <a:r>
              <a:rPr kumimoji="0" lang="en-US" altLang="en-US" sz="2000" b="0" i="0" u="none" strike="noStrike" cap="none" normalizeH="0" baseline="0">
                <a:ln>
                  <a:noFill/>
                </a:ln>
                <a:solidFill>
                  <a:schemeClr val="tx1"/>
                </a:solidFill>
                <a:effectLst/>
                <a:latin typeface="Arial" panose="020B0604020202020204" pitchFamily="34" charset="0"/>
                <a:cs typeface="Nazanin" panose="00000400000000000000" pitchFamily="2" charset="-78"/>
              </a:rPr>
              <a:t>. </a:t>
            </a:r>
          </a:p>
        </p:txBody>
      </p:sp>
      <p:sp>
        <p:nvSpPr>
          <p:cNvPr id="2" name="TextBox 1">
            <a:extLst>
              <a:ext uri="{FF2B5EF4-FFF2-40B4-BE49-F238E27FC236}">
                <a16:creationId xmlns:a16="http://schemas.microsoft.com/office/drawing/2014/main" id="{2A8F19EC-14E0-3BA8-B5CA-2CFB53B31EB7}"/>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36</a:t>
            </a:r>
            <a:endParaRPr lang="fa-IR" sz="1200"/>
          </a:p>
        </p:txBody>
      </p:sp>
    </p:spTree>
    <p:extLst>
      <p:ext uri="{BB962C8B-B14F-4D97-AF65-F5344CB8AC3E}">
        <p14:creationId xmlns:p14="http://schemas.microsoft.com/office/powerpoint/2010/main" val="18996669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BB2E2-669D-96E7-6C03-B6345EC156D9}"/>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8BCAC9B-8CE7-C2C3-7FAC-F67D62B5D25B}"/>
              </a:ext>
            </a:extLst>
          </p:cNvPr>
          <p:cNvPicPr>
            <a:picLocks noChangeAspect="1"/>
          </p:cNvPicPr>
          <p:nvPr/>
        </p:nvPicPr>
        <p:blipFill>
          <a:blip r:embed="rId2"/>
          <a:srcRect r="72874"/>
          <a:stretch>
            <a:fillRect/>
          </a:stretch>
        </p:blipFill>
        <p:spPr>
          <a:xfrm>
            <a:off x="210536" y="118771"/>
            <a:ext cx="1381818" cy="3586126"/>
          </a:xfrm>
          <a:prstGeom prst="rect">
            <a:avLst/>
          </a:prstGeom>
        </p:spPr>
      </p:pic>
      <p:sp>
        <p:nvSpPr>
          <p:cNvPr id="6" name="TextBox 5">
            <a:extLst>
              <a:ext uri="{FF2B5EF4-FFF2-40B4-BE49-F238E27FC236}">
                <a16:creationId xmlns:a16="http://schemas.microsoft.com/office/drawing/2014/main" id="{6868EB7D-DA5C-5306-2F5B-E4B45DC7778B}"/>
              </a:ext>
            </a:extLst>
          </p:cNvPr>
          <p:cNvSpPr txBox="1"/>
          <p:nvPr/>
        </p:nvSpPr>
        <p:spPr>
          <a:xfrm>
            <a:off x="421072" y="2214914"/>
            <a:ext cx="8722928" cy="4524315"/>
          </a:xfrm>
          <a:prstGeom prst="rect">
            <a:avLst/>
          </a:prstGeom>
          <a:noFill/>
        </p:spPr>
        <p:txBody>
          <a:bodyPr wrap="square">
            <a:spAutoFit/>
          </a:bodyPr>
          <a:lstStyle/>
          <a:p>
            <a:pPr algn="r" rtl="1">
              <a:buFont typeface="Arial" panose="020B0604020202020204" pitchFamily="34" charset="0"/>
              <a:buChar char="•"/>
            </a:pPr>
            <a:r>
              <a:rPr lang="ar-SA" sz="2400" b="1">
                <a:cs typeface="Nazanin" panose="00000400000000000000" pitchFamily="2" charset="-78"/>
              </a:rPr>
              <a:t>عمومی </a:t>
            </a:r>
            <a:r>
              <a:rPr lang="en-US" sz="2400" b="1">
                <a:cs typeface="Nazanin" panose="00000400000000000000" pitchFamily="2" charset="-78"/>
              </a:rPr>
              <a:t>(General)</a:t>
            </a:r>
            <a:r>
              <a:rPr lang="fa-IR" sz="2400">
                <a:cs typeface="Nazanin" panose="00000400000000000000" pitchFamily="2" charset="-78"/>
              </a:rPr>
              <a:t>-</a:t>
            </a:r>
            <a:r>
              <a:rPr lang="ar-SA" sz="2400">
                <a:cs typeface="Nazanin" panose="00000400000000000000" pitchFamily="2" charset="-78"/>
              </a:rPr>
              <a:t>تنظیمات پایه مانند زبان و ظاهر رابط کاربری.</a:t>
            </a:r>
          </a:p>
          <a:p>
            <a:pPr algn="r" rtl="1">
              <a:buFont typeface="Arial" panose="020B0604020202020204" pitchFamily="34" charset="0"/>
              <a:buChar char="•"/>
            </a:pPr>
            <a:r>
              <a:rPr lang="ar-SA" sz="2400" b="1">
                <a:cs typeface="Nazanin" panose="00000400000000000000" pitchFamily="2" charset="-78"/>
              </a:rPr>
              <a:t>اعلان‌ها </a:t>
            </a:r>
            <a:r>
              <a:rPr lang="en-US" sz="2400" b="1">
                <a:cs typeface="Nazanin" panose="00000400000000000000" pitchFamily="2" charset="-78"/>
              </a:rPr>
              <a:t>(Notifications)</a:t>
            </a:r>
            <a:r>
              <a:rPr lang="fa-IR" sz="2400">
                <a:cs typeface="Nazanin" panose="00000400000000000000" pitchFamily="2" charset="-78"/>
              </a:rPr>
              <a:t>-</a:t>
            </a:r>
            <a:r>
              <a:rPr lang="en-US" sz="2400">
                <a:cs typeface="Nazanin" panose="00000400000000000000" pitchFamily="2" charset="-78"/>
              </a:rPr>
              <a:t> </a:t>
            </a:r>
            <a:r>
              <a:rPr lang="ar-SA" sz="2400">
                <a:cs typeface="Nazanin" panose="00000400000000000000" pitchFamily="2" charset="-78"/>
              </a:rPr>
              <a:t>مدیریت اعلان‌های دریافتی از چت‌جی‌پی‌تی.</a:t>
            </a:r>
          </a:p>
          <a:p>
            <a:pPr algn="r" rtl="1">
              <a:buFont typeface="Arial" panose="020B0604020202020204" pitchFamily="34" charset="0"/>
              <a:buChar char="•"/>
            </a:pPr>
            <a:r>
              <a:rPr lang="ar-SA" sz="2400" b="1">
                <a:cs typeface="Nazanin" panose="00000400000000000000" pitchFamily="2" charset="-78"/>
              </a:rPr>
              <a:t>شخصی‌سازی </a:t>
            </a:r>
            <a:r>
              <a:rPr lang="en-US" sz="2400" b="1">
                <a:cs typeface="Nazanin" panose="00000400000000000000" pitchFamily="2" charset="-78"/>
              </a:rPr>
              <a:t>(Personalization)</a:t>
            </a:r>
            <a:r>
              <a:rPr lang="fa-IR" sz="2400">
                <a:cs typeface="Nazanin" panose="00000400000000000000" pitchFamily="2" charset="-78"/>
              </a:rPr>
              <a:t>-</a:t>
            </a:r>
            <a:r>
              <a:rPr lang="en-US" sz="2400">
                <a:cs typeface="Nazanin" panose="00000400000000000000" pitchFamily="2" charset="-78"/>
              </a:rPr>
              <a:t> </a:t>
            </a:r>
            <a:r>
              <a:rPr lang="ar-SA" sz="2400">
                <a:cs typeface="Nazanin" panose="00000400000000000000" pitchFamily="2" charset="-78"/>
              </a:rPr>
              <a:t>سفارشی‌سازی پاسخ‌ها و تجربه کاربری.</a:t>
            </a:r>
          </a:p>
          <a:p>
            <a:pPr algn="r" rtl="1">
              <a:buFont typeface="Arial" panose="020B0604020202020204" pitchFamily="34" charset="0"/>
              <a:buChar char="•"/>
            </a:pPr>
            <a:r>
              <a:rPr lang="ar-SA" sz="2400" b="1">
                <a:cs typeface="Nazanin" panose="00000400000000000000" pitchFamily="2" charset="-78"/>
              </a:rPr>
              <a:t>گفتار </a:t>
            </a:r>
            <a:r>
              <a:rPr lang="en-US" sz="2400" b="1">
                <a:cs typeface="Nazanin" panose="00000400000000000000" pitchFamily="2" charset="-78"/>
              </a:rPr>
              <a:t>(Speech)</a:t>
            </a:r>
            <a:r>
              <a:rPr lang="fa-IR" sz="2400">
                <a:cs typeface="Nazanin" panose="00000400000000000000" pitchFamily="2" charset="-78"/>
              </a:rPr>
              <a:t>-</a:t>
            </a:r>
            <a:r>
              <a:rPr lang="en-US" sz="2400">
                <a:cs typeface="Nazanin" panose="00000400000000000000" pitchFamily="2" charset="-78"/>
              </a:rPr>
              <a:t> </a:t>
            </a:r>
            <a:r>
              <a:rPr lang="ar-SA" sz="2400">
                <a:cs typeface="Nazanin" panose="00000400000000000000" pitchFamily="2" charset="-78"/>
              </a:rPr>
              <a:t>تنظیمات مربوط به قابلیت تبدیل متن به گفتار یا برعکس.</a:t>
            </a:r>
          </a:p>
          <a:p>
            <a:pPr algn="r" rtl="1">
              <a:buFont typeface="Arial" panose="020B0604020202020204" pitchFamily="34" charset="0"/>
              <a:buChar char="•"/>
            </a:pPr>
            <a:r>
              <a:rPr lang="ar-SA" sz="2400" b="1">
                <a:cs typeface="Nazanin" panose="00000400000000000000" pitchFamily="2" charset="-78"/>
              </a:rPr>
              <a:t>کنترل داده‌ها </a:t>
            </a:r>
            <a:r>
              <a:rPr lang="en-US" sz="2400" b="1">
                <a:cs typeface="Nazanin" panose="00000400000000000000" pitchFamily="2" charset="-78"/>
              </a:rPr>
              <a:t>(Data controls)</a:t>
            </a:r>
            <a:r>
              <a:rPr lang="fa-IR" sz="2400">
                <a:cs typeface="Nazanin" panose="00000400000000000000" pitchFamily="2" charset="-78"/>
              </a:rPr>
              <a:t>-</a:t>
            </a:r>
            <a:r>
              <a:rPr lang="ar-SA" sz="2400">
                <a:cs typeface="Nazanin" panose="00000400000000000000" pitchFamily="2" charset="-78"/>
              </a:rPr>
              <a:t>مدیریت داده‌های کاربر، حذف یا </a:t>
            </a:r>
            <a:r>
              <a:rPr lang="en-US" sz="2400">
                <a:cs typeface="Nazanin" panose="00000400000000000000" pitchFamily="2" charset="-78"/>
              </a:rPr>
              <a:t>export </a:t>
            </a:r>
            <a:r>
              <a:rPr lang="ar-SA" sz="2400">
                <a:cs typeface="Nazanin" panose="00000400000000000000" pitchFamily="2" charset="-78"/>
              </a:rPr>
              <a:t>اطلاعات.</a:t>
            </a:r>
          </a:p>
          <a:p>
            <a:pPr algn="r" rtl="1">
              <a:buFont typeface="Arial" panose="020B0604020202020204" pitchFamily="34" charset="0"/>
              <a:buChar char="•"/>
            </a:pPr>
            <a:r>
              <a:rPr lang="ar-SA" sz="2400" b="1">
                <a:cs typeface="Nazanin" panose="00000400000000000000" pitchFamily="2" charset="-78"/>
              </a:rPr>
              <a:t>پروفایل سازنده </a:t>
            </a:r>
            <a:r>
              <a:rPr lang="en-US" sz="2400" b="1">
                <a:cs typeface="Nazanin" panose="00000400000000000000" pitchFamily="2" charset="-78"/>
              </a:rPr>
              <a:t>(Builder profile)</a:t>
            </a:r>
            <a:r>
              <a:rPr lang="fa-IR" sz="2400">
                <a:cs typeface="Nazanin" panose="00000400000000000000" pitchFamily="2" charset="-78"/>
              </a:rPr>
              <a:t>-</a:t>
            </a:r>
            <a:r>
              <a:rPr lang="en-US" sz="2400">
                <a:cs typeface="Nazanin" panose="00000400000000000000" pitchFamily="2" charset="-78"/>
              </a:rPr>
              <a:t> </a:t>
            </a:r>
            <a:r>
              <a:rPr lang="ar-SA" sz="2400">
                <a:cs typeface="Nazanin" panose="00000400000000000000" pitchFamily="2" charset="-78"/>
              </a:rPr>
              <a:t>تنظیم پروفایل برای کاربرانی که </a:t>
            </a:r>
            <a:r>
              <a:rPr lang="en-US" sz="2400">
                <a:cs typeface="Nazanin" panose="00000400000000000000" pitchFamily="2" charset="-78"/>
              </a:rPr>
              <a:t>GPT</a:t>
            </a:r>
            <a:r>
              <a:rPr lang="ar-SA" sz="2400">
                <a:cs typeface="Nazanin" panose="00000400000000000000" pitchFamily="2" charset="-78"/>
              </a:rPr>
              <a:t>های سفارشی می‌سازند.</a:t>
            </a:r>
          </a:p>
          <a:p>
            <a:pPr algn="r" rtl="1">
              <a:buFont typeface="Arial" panose="020B0604020202020204" pitchFamily="34" charset="0"/>
              <a:buChar char="•"/>
            </a:pPr>
            <a:r>
              <a:rPr lang="ar-SA" sz="2400" b="1">
                <a:cs typeface="Nazanin" panose="00000400000000000000" pitchFamily="2" charset="-78"/>
              </a:rPr>
              <a:t>برنامه‌های متصل </a:t>
            </a:r>
            <a:r>
              <a:rPr lang="en-US" sz="2400" b="1">
                <a:cs typeface="Nazanin" panose="00000400000000000000" pitchFamily="2" charset="-78"/>
              </a:rPr>
              <a:t>(Connected apps)</a:t>
            </a:r>
            <a:r>
              <a:rPr lang="fa-IR" sz="2400">
                <a:cs typeface="Nazanin" panose="00000400000000000000" pitchFamily="2" charset="-78"/>
              </a:rPr>
              <a:t>-</a:t>
            </a:r>
            <a:r>
              <a:rPr lang="en-US" sz="2400">
                <a:cs typeface="Nazanin" panose="00000400000000000000" pitchFamily="2" charset="-78"/>
              </a:rPr>
              <a:t> </a:t>
            </a:r>
            <a:r>
              <a:rPr lang="ar-SA" sz="2400">
                <a:cs typeface="Nazanin" panose="00000400000000000000" pitchFamily="2" charset="-78"/>
              </a:rPr>
              <a:t>مدیریت اپلیکیشن‌های متصل به حساب.</a:t>
            </a:r>
          </a:p>
          <a:p>
            <a:pPr algn="r" rtl="1">
              <a:buFont typeface="Arial" panose="020B0604020202020204" pitchFamily="34" charset="0"/>
              <a:buChar char="•"/>
            </a:pPr>
            <a:r>
              <a:rPr lang="ar-SA" sz="2400" b="1">
                <a:cs typeface="Nazanin" panose="00000400000000000000" pitchFamily="2" charset="-78"/>
              </a:rPr>
              <a:t>ورود امن </a:t>
            </a:r>
            <a:r>
              <a:rPr lang="en-US" sz="2400" b="1">
                <a:cs typeface="Nazanin" panose="00000400000000000000" pitchFamily="2" charset="-78"/>
              </a:rPr>
              <a:t>(Secure sign in)</a:t>
            </a:r>
            <a:r>
              <a:rPr lang="fa-IR" sz="2400">
                <a:cs typeface="Nazanin" panose="00000400000000000000" pitchFamily="2" charset="-78"/>
              </a:rPr>
              <a:t>-</a:t>
            </a:r>
            <a:r>
              <a:rPr lang="en-US" sz="2400">
                <a:cs typeface="Nazanin" panose="00000400000000000000" pitchFamily="2" charset="-78"/>
              </a:rPr>
              <a:t> </a:t>
            </a:r>
            <a:r>
              <a:rPr lang="ar-SA" sz="2400">
                <a:cs typeface="Nazanin" panose="00000400000000000000" pitchFamily="2" charset="-78"/>
              </a:rPr>
              <a:t>تنظیمات ورود، مانند احراز هویت دو مرحله‌ای.</a:t>
            </a:r>
          </a:p>
          <a:p>
            <a:pPr algn="r" rtl="1">
              <a:buFont typeface="Arial" panose="020B0604020202020204" pitchFamily="34" charset="0"/>
              <a:buChar char="•"/>
            </a:pPr>
            <a:r>
              <a:rPr lang="ar-SA" sz="2400" b="1">
                <a:cs typeface="Nazanin" panose="00000400000000000000" pitchFamily="2" charset="-78"/>
              </a:rPr>
              <a:t>امنیت </a:t>
            </a:r>
            <a:r>
              <a:rPr lang="en-US" sz="2400" b="1">
                <a:cs typeface="Nazanin" panose="00000400000000000000" pitchFamily="2" charset="-78"/>
              </a:rPr>
              <a:t>(Security)</a:t>
            </a:r>
            <a:r>
              <a:rPr lang="fa-IR" sz="2400">
                <a:cs typeface="Nazanin" panose="00000400000000000000" pitchFamily="2" charset="-78"/>
              </a:rPr>
              <a:t>-</a:t>
            </a:r>
            <a:r>
              <a:rPr lang="ar-SA" sz="2400">
                <a:cs typeface="Nazanin" panose="00000400000000000000" pitchFamily="2" charset="-78"/>
              </a:rPr>
              <a:t>گزینه‌های امنیتی مانند رمزگذاری و حریم خصوصی.</a:t>
            </a:r>
          </a:p>
          <a:p>
            <a:pPr algn="r" rtl="1">
              <a:buNone/>
            </a:pPr>
            <a:r>
              <a:rPr lang="ar-SA" sz="2400" b="1">
                <a:effectLst/>
                <a:cs typeface="Nazanin" panose="00000400000000000000" pitchFamily="2" charset="-78"/>
              </a:rPr>
              <a:t>نکته</a:t>
            </a:r>
            <a:r>
              <a:rPr lang="ar-SA" sz="2400">
                <a:effectLst/>
                <a:cs typeface="Nazanin" panose="00000400000000000000" pitchFamily="2" charset="-78"/>
              </a:rPr>
              <a:t>: برخی قابلیت‌ها ممکن است در ایران به </a:t>
            </a:r>
            <a:r>
              <a:rPr lang="en-US" sz="2400">
                <a:effectLst/>
                <a:cs typeface="Nazanin" panose="00000400000000000000" pitchFamily="2" charset="-78"/>
              </a:rPr>
              <a:t>VPN </a:t>
            </a:r>
            <a:r>
              <a:rPr lang="ar-SA" sz="2400">
                <a:effectLst/>
                <a:cs typeface="Nazanin" panose="00000400000000000000" pitchFamily="2" charset="-78"/>
              </a:rPr>
              <a:t>نیاز داشته باشند.</a:t>
            </a:r>
          </a:p>
          <a:p>
            <a:pPr algn="r" rtl="1"/>
            <a:r>
              <a:rPr lang="ar-SA" sz="2400" b="1">
                <a:effectLst/>
                <a:cs typeface="Nazanin" panose="00000400000000000000" pitchFamily="2" charset="-78"/>
              </a:rPr>
              <a:t>تصویر پیشنهادی</a:t>
            </a:r>
            <a:r>
              <a:rPr lang="ar-SA" sz="2400">
                <a:effectLst/>
                <a:cs typeface="Nazanin" panose="00000400000000000000" pitchFamily="2" charset="-78"/>
              </a:rPr>
              <a:t>: آیکون تنظیمات یا اسکرین‌شات منوی تنظیمات.</a:t>
            </a:r>
          </a:p>
        </p:txBody>
      </p:sp>
      <p:sp>
        <p:nvSpPr>
          <p:cNvPr id="3" name="TextBox 2">
            <a:extLst>
              <a:ext uri="{FF2B5EF4-FFF2-40B4-BE49-F238E27FC236}">
                <a16:creationId xmlns:a16="http://schemas.microsoft.com/office/drawing/2014/main" id="{DFCA25DB-C7CC-EE23-BDA8-F83611FF2B6B}"/>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37</a:t>
            </a:r>
            <a:endParaRPr lang="fa-IR" sz="1200"/>
          </a:p>
        </p:txBody>
      </p:sp>
    </p:spTree>
    <p:extLst>
      <p:ext uri="{BB962C8B-B14F-4D97-AF65-F5344CB8AC3E}">
        <p14:creationId xmlns:p14="http://schemas.microsoft.com/office/powerpoint/2010/main" val="6436482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1A746-73B0-C4AF-83FB-51DCD520F90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5E9DC4C-066D-EF46-9349-6E4E5528DF3B}"/>
              </a:ext>
            </a:extLst>
          </p:cNvPr>
          <p:cNvPicPr>
            <a:picLocks noChangeAspect="1"/>
          </p:cNvPicPr>
          <p:nvPr/>
        </p:nvPicPr>
        <p:blipFill>
          <a:blip r:embed="rId2"/>
          <a:stretch>
            <a:fillRect/>
          </a:stretch>
        </p:blipFill>
        <p:spPr>
          <a:xfrm>
            <a:off x="290287" y="476122"/>
            <a:ext cx="8432642" cy="5936476"/>
          </a:xfrm>
          <a:prstGeom prst="rect">
            <a:avLst/>
          </a:prstGeom>
        </p:spPr>
      </p:pic>
      <p:cxnSp>
        <p:nvCxnSpPr>
          <p:cNvPr id="4" name="Straight Arrow Connector 3">
            <a:extLst>
              <a:ext uri="{FF2B5EF4-FFF2-40B4-BE49-F238E27FC236}">
                <a16:creationId xmlns:a16="http://schemas.microsoft.com/office/drawing/2014/main" id="{432249BB-7080-7D26-6557-81420A7CC52B}"/>
              </a:ext>
            </a:extLst>
          </p:cNvPr>
          <p:cNvCxnSpPr/>
          <p:nvPr/>
        </p:nvCxnSpPr>
        <p:spPr>
          <a:xfrm>
            <a:off x="2293257" y="2946400"/>
            <a:ext cx="4644572" cy="65314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 name="TextBox 1">
            <a:extLst>
              <a:ext uri="{FF2B5EF4-FFF2-40B4-BE49-F238E27FC236}">
                <a16:creationId xmlns:a16="http://schemas.microsoft.com/office/drawing/2014/main" id="{1AD43356-E893-2E0F-3C36-3DF155255F7C}"/>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38</a:t>
            </a:r>
            <a:endParaRPr lang="fa-IR" sz="1200"/>
          </a:p>
        </p:txBody>
      </p:sp>
    </p:spTree>
    <p:extLst>
      <p:ext uri="{BB962C8B-B14F-4D97-AF65-F5344CB8AC3E}">
        <p14:creationId xmlns:p14="http://schemas.microsoft.com/office/powerpoint/2010/main" val="15654767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528626E-5FC0-E951-BB21-0B7B1B884CF0}"/>
              </a:ext>
            </a:extLst>
          </p:cNvPr>
          <p:cNvPicPr>
            <a:picLocks noChangeAspect="1"/>
          </p:cNvPicPr>
          <p:nvPr/>
        </p:nvPicPr>
        <p:blipFill>
          <a:blip r:embed="rId2"/>
          <a:stretch>
            <a:fillRect/>
          </a:stretch>
        </p:blipFill>
        <p:spPr>
          <a:xfrm>
            <a:off x="384778" y="825554"/>
            <a:ext cx="8648700" cy="5648325"/>
          </a:xfrm>
          <a:prstGeom prst="rect">
            <a:avLst/>
          </a:prstGeom>
        </p:spPr>
      </p:pic>
      <p:pic>
        <p:nvPicPr>
          <p:cNvPr id="5" name="Picture 4">
            <a:extLst>
              <a:ext uri="{FF2B5EF4-FFF2-40B4-BE49-F238E27FC236}">
                <a16:creationId xmlns:a16="http://schemas.microsoft.com/office/drawing/2014/main" id="{100F203E-8CD3-8B66-7F58-7B89F5D6CAE6}"/>
              </a:ext>
            </a:extLst>
          </p:cNvPr>
          <p:cNvPicPr>
            <a:picLocks noChangeAspect="1"/>
          </p:cNvPicPr>
          <p:nvPr/>
        </p:nvPicPr>
        <p:blipFill>
          <a:blip r:embed="rId3"/>
          <a:stretch>
            <a:fillRect/>
          </a:stretch>
        </p:blipFill>
        <p:spPr>
          <a:xfrm>
            <a:off x="110522" y="1874454"/>
            <a:ext cx="1628775" cy="2457450"/>
          </a:xfrm>
          <a:prstGeom prst="rect">
            <a:avLst/>
          </a:prstGeom>
        </p:spPr>
      </p:pic>
      <p:sp>
        <p:nvSpPr>
          <p:cNvPr id="2" name="TextBox 1">
            <a:extLst>
              <a:ext uri="{FF2B5EF4-FFF2-40B4-BE49-F238E27FC236}">
                <a16:creationId xmlns:a16="http://schemas.microsoft.com/office/drawing/2014/main" id="{1F8F190B-0E31-0972-CCA0-0FCC423F56E9}"/>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39</a:t>
            </a:r>
            <a:endParaRPr lang="fa-IR" sz="1200"/>
          </a:p>
        </p:txBody>
      </p:sp>
    </p:spTree>
    <p:extLst>
      <p:ext uri="{BB962C8B-B14F-4D97-AF65-F5344CB8AC3E}">
        <p14:creationId xmlns:p14="http://schemas.microsoft.com/office/powerpoint/2010/main" val="16495923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4774" y="34051"/>
            <a:ext cx="7886700" cy="1085302"/>
          </a:xfrm>
        </p:spPr>
        <p:txBody>
          <a:bodyPr>
            <a:normAutofit/>
          </a:bodyPr>
          <a:lstStyle/>
          <a:p>
            <a:pPr algn="r" rtl="1"/>
            <a:r>
              <a:rPr sz="3200">
                <a:cs typeface="2  Titr" panose="00000700000000000000" pitchFamily="2" charset="-78"/>
              </a:rPr>
              <a:t>مهندسی درخواست </a:t>
            </a:r>
            <a:r>
              <a:rPr sz="3200" b="1">
                <a:solidFill>
                  <a:schemeClr val="tx1">
                    <a:lumMod val="95000"/>
                  </a:schemeClr>
                </a:solidFill>
                <a:cs typeface="2  Titr" panose="00000700000000000000" pitchFamily="2" charset="-78"/>
              </a:rPr>
              <a:t>(Prompt Engineering)</a:t>
            </a:r>
          </a:p>
        </p:txBody>
      </p:sp>
      <p:sp>
        <p:nvSpPr>
          <p:cNvPr id="3" name="Content Placeholder 2"/>
          <p:cNvSpPr>
            <a:spLocks noGrp="1"/>
          </p:cNvSpPr>
          <p:nvPr>
            <p:ph idx="1"/>
          </p:nvPr>
        </p:nvSpPr>
        <p:spPr>
          <a:xfrm>
            <a:off x="394137" y="1253330"/>
            <a:ext cx="8513379" cy="4627207"/>
          </a:xfrm>
        </p:spPr>
        <p:txBody>
          <a:bodyPr>
            <a:normAutofit fontScale="92500" lnSpcReduction="20000"/>
          </a:bodyPr>
          <a:lstStyle/>
          <a:p>
            <a:pPr marL="0" indent="0" algn="r" rtl="1">
              <a:buNone/>
            </a:pPr>
            <a:r>
              <a:rPr sz="2400">
                <a:cs typeface="2  Nazanin" panose="00000400000000000000" pitchFamily="2" charset="-78"/>
              </a:rPr>
              <a:t>✍️ تعریف ساده:</a:t>
            </a:r>
          </a:p>
          <a:p>
            <a:pPr marL="0" indent="0" algn="r" rtl="1">
              <a:buNone/>
            </a:pPr>
            <a:r>
              <a:rPr sz="2400">
                <a:cs typeface="2  Nazanin" panose="00000400000000000000" pitchFamily="2" charset="-78"/>
              </a:rPr>
              <a:t>هنر و مهارت طراحی سؤال یا درخواست دقیق برای گرفتن بهترین پاسخ از مدل‌های هوش مصنوعی.</a:t>
            </a:r>
          </a:p>
          <a:p>
            <a:pPr marL="0" indent="0" algn="r" rtl="1">
              <a:buNone/>
            </a:pPr>
            <a:endParaRPr sz="2400">
              <a:cs typeface="2  Nazanin" panose="00000400000000000000" pitchFamily="2" charset="-78"/>
            </a:endParaRPr>
          </a:p>
          <a:p>
            <a:pPr marL="0" indent="0" algn="r" rtl="1">
              <a:buNone/>
            </a:pPr>
            <a:r>
              <a:rPr sz="2400">
                <a:cs typeface="2  Nazanin" panose="00000400000000000000" pitchFamily="2" charset="-78"/>
              </a:rPr>
              <a:t>🛠️ اصول طلایی:</a:t>
            </a:r>
          </a:p>
          <a:p>
            <a:pPr marL="0" indent="0" algn="r" rtl="1">
              <a:buNone/>
            </a:pPr>
            <a:r>
              <a:rPr lang="fa-IR" sz="2400">
                <a:cs typeface="2  Nazanin" panose="00000400000000000000" pitchFamily="2" charset="-78"/>
              </a:rPr>
              <a:t>۱-</a:t>
            </a:r>
            <a:r>
              <a:rPr sz="2400">
                <a:cs typeface="2  Nazanin" panose="00000400000000000000" pitchFamily="2" charset="-78"/>
              </a:rPr>
              <a:t> </a:t>
            </a:r>
            <a:r>
              <a:rPr lang="fa-IR" sz="2400">
                <a:cs typeface="2  Nazanin" panose="00000400000000000000" pitchFamily="2" charset="-78"/>
              </a:rPr>
              <a:t> </a:t>
            </a:r>
            <a:r>
              <a:rPr sz="2400">
                <a:cs typeface="2  Nazanin" panose="00000400000000000000" pitchFamily="2" charset="-78"/>
              </a:rPr>
              <a:t>دقیق بنویسید: درخواست واضح و بدون ابهام باشد.</a:t>
            </a:r>
          </a:p>
          <a:p>
            <a:pPr marL="0" indent="0" algn="r" rtl="1">
              <a:buNone/>
            </a:pPr>
            <a:r>
              <a:rPr lang="fa-IR" sz="2400">
                <a:cs typeface="2  Nazanin" panose="00000400000000000000" pitchFamily="2" charset="-78"/>
              </a:rPr>
              <a:t>۲-</a:t>
            </a:r>
            <a:r>
              <a:rPr sz="2400">
                <a:cs typeface="2  Nazanin" panose="00000400000000000000" pitchFamily="2" charset="-78"/>
              </a:rPr>
              <a:t> </a:t>
            </a:r>
            <a:r>
              <a:rPr lang="fa-IR" sz="2400">
                <a:cs typeface="2  Nazanin" panose="00000400000000000000" pitchFamily="2" charset="-78"/>
              </a:rPr>
              <a:t> </a:t>
            </a:r>
            <a:r>
              <a:rPr sz="2400">
                <a:cs typeface="2  Nazanin" panose="00000400000000000000" pitchFamily="2" charset="-78"/>
              </a:rPr>
              <a:t>شفاف‌سازی نقش: مثلاً </a:t>
            </a:r>
            <a:r>
              <a:rPr lang="fa-IR" sz="2400">
                <a:cs typeface="2  Nazanin" panose="00000400000000000000" pitchFamily="2" charset="-78"/>
              </a:rPr>
              <a:t>«</a:t>
            </a:r>
            <a:r>
              <a:rPr sz="2400">
                <a:cs typeface="2  Nazanin" panose="00000400000000000000" pitchFamily="2" charset="-78"/>
              </a:rPr>
              <a:t>فرض کن یک معلم ریاضی هستی...</a:t>
            </a:r>
            <a:r>
              <a:rPr lang="fa-IR" sz="2400">
                <a:cs typeface="2  Nazanin" panose="00000400000000000000" pitchFamily="2" charset="-78"/>
              </a:rPr>
              <a:t>»</a:t>
            </a:r>
            <a:endParaRPr sz="2400">
              <a:cs typeface="2  Nazanin" panose="00000400000000000000" pitchFamily="2" charset="-78"/>
            </a:endParaRPr>
          </a:p>
          <a:p>
            <a:pPr marL="0" indent="0" algn="r" rtl="1">
              <a:buNone/>
            </a:pPr>
            <a:r>
              <a:rPr lang="fa-IR" sz="2400">
                <a:cs typeface="2  Nazanin" panose="00000400000000000000" pitchFamily="2" charset="-78"/>
              </a:rPr>
              <a:t>۳- </a:t>
            </a:r>
            <a:r>
              <a:rPr sz="2400">
                <a:cs typeface="2  Nazanin" panose="00000400000000000000" pitchFamily="2" charset="-78"/>
              </a:rPr>
              <a:t> نمونه بدهید: یک مثال خوب، خروجی را دقیق‌تر می‌کند.</a:t>
            </a:r>
          </a:p>
          <a:p>
            <a:pPr marL="0" indent="0" algn="r" rtl="1">
              <a:buNone/>
            </a:pPr>
            <a:r>
              <a:rPr lang="fa-IR" sz="2400">
                <a:cs typeface="2  Nazanin" panose="00000400000000000000" pitchFamily="2" charset="-78"/>
              </a:rPr>
              <a:t>۴- </a:t>
            </a:r>
            <a:r>
              <a:rPr sz="2400">
                <a:cs typeface="2  Nazanin" panose="00000400000000000000" pitchFamily="2" charset="-78"/>
              </a:rPr>
              <a:t> مرحله‌بندی کن: پیچیده‌ها را به چند مرحله ساده تقسیم کن.</a:t>
            </a:r>
          </a:p>
          <a:p>
            <a:pPr marL="0" indent="0" algn="r" rtl="1">
              <a:buNone/>
            </a:pPr>
            <a:r>
              <a:rPr lang="fa-IR" sz="2400">
                <a:cs typeface="2  Nazanin" panose="00000400000000000000" pitchFamily="2" charset="-78"/>
              </a:rPr>
              <a:t>۵- </a:t>
            </a:r>
            <a:r>
              <a:rPr sz="2400">
                <a:cs typeface="2  Nazanin" panose="00000400000000000000" pitchFamily="2" charset="-78"/>
              </a:rPr>
              <a:t> بازخورد بگیر و تکرار کن: خروجی را بررسی و درخواست را بهبود بده.</a:t>
            </a:r>
          </a:p>
          <a:p>
            <a:pPr marL="0" indent="0" algn="r" rtl="1">
              <a:buNone/>
            </a:pPr>
            <a:endParaRPr sz="2400">
              <a:cs typeface="2  Nazanin" panose="00000400000000000000" pitchFamily="2" charset="-78"/>
            </a:endParaRPr>
          </a:p>
          <a:p>
            <a:pPr marL="0" indent="0" algn="r" rtl="1">
              <a:buNone/>
            </a:pPr>
            <a:r>
              <a:rPr sz="2400">
                <a:cs typeface="2  Nazanin" panose="00000400000000000000" pitchFamily="2" charset="-78"/>
              </a:rPr>
              <a:t>🎯 هدف نهایی:</a:t>
            </a:r>
          </a:p>
          <a:p>
            <a:pPr marL="0" indent="0" algn="r" rtl="1">
              <a:buNone/>
            </a:pPr>
            <a:r>
              <a:rPr sz="2400">
                <a:cs typeface="2  Nazanin" panose="00000400000000000000" pitchFamily="2" charset="-78"/>
              </a:rPr>
              <a:t>تبدیل هوش مصنوعی به یک همکار خلاق، دقیق و مفید با کمک زبان!</a:t>
            </a:r>
          </a:p>
        </p:txBody>
      </p:sp>
      <p:sp>
        <p:nvSpPr>
          <p:cNvPr id="4" name="TextBox 3">
            <a:extLst>
              <a:ext uri="{FF2B5EF4-FFF2-40B4-BE49-F238E27FC236}">
                <a16:creationId xmlns:a16="http://schemas.microsoft.com/office/drawing/2014/main" id="{CB8D7D3F-CC1F-5205-BC41-325D34637C36}"/>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40</a:t>
            </a:r>
            <a:endParaRPr lang="fa-IR" sz="12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703CD-D32B-9759-3106-053709F616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F7EF45-F1FE-395C-2E86-072BF3DB0EB2}"/>
              </a:ext>
            </a:extLst>
          </p:cNvPr>
          <p:cNvSpPr>
            <a:spLocks noGrp="1"/>
          </p:cNvSpPr>
          <p:nvPr>
            <p:ph type="title"/>
          </p:nvPr>
        </p:nvSpPr>
        <p:spPr>
          <a:xfrm>
            <a:off x="754774" y="34051"/>
            <a:ext cx="7886700" cy="1085302"/>
          </a:xfrm>
        </p:spPr>
        <p:txBody>
          <a:bodyPr>
            <a:normAutofit/>
          </a:bodyPr>
          <a:lstStyle/>
          <a:p>
            <a:pPr algn="r" rtl="1"/>
            <a:r>
              <a:rPr sz="3200">
                <a:cs typeface="2  Titr" panose="00000700000000000000" pitchFamily="2" charset="-78"/>
              </a:rPr>
              <a:t>مهندسی درخواست </a:t>
            </a:r>
            <a:r>
              <a:rPr sz="3200" b="1">
                <a:solidFill>
                  <a:schemeClr val="tx1">
                    <a:lumMod val="95000"/>
                  </a:schemeClr>
                </a:solidFill>
                <a:cs typeface="2  Titr" panose="00000700000000000000" pitchFamily="2" charset="-78"/>
              </a:rPr>
              <a:t>(Prompt Engineering)</a:t>
            </a:r>
          </a:p>
        </p:txBody>
      </p:sp>
      <p:sp>
        <p:nvSpPr>
          <p:cNvPr id="7" name="TextBox 6">
            <a:extLst>
              <a:ext uri="{FF2B5EF4-FFF2-40B4-BE49-F238E27FC236}">
                <a16:creationId xmlns:a16="http://schemas.microsoft.com/office/drawing/2014/main" id="{63212EC8-917C-C776-DA05-072D04757C16}"/>
              </a:ext>
            </a:extLst>
          </p:cNvPr>
          <p:cNvSpPr txBox="1"/>
          <p:nvPr/>
        </p:nvSpPr>
        <p:spPr>
          <a:xfrm>
            <a:off x="944945" y="1148597"/>
            <a:ext cx="7506357" cy="1015663"/>
          </a:xfrm>
          <a:prstGeom prst="rect">
            <a:avLst/>
          </a:prstGeom>
          <a:noFill/>
        </p:spPr>
        <p:txBody>
          <a:bodyPr wrap="square">
            <a:spAutoFit/>
          </a:bodyPr>
          <a:lstStyle/>
          <a:p>
            <a:pPr algn="r" rtl="1">
              <a:buNone/>
            </a:pPr>
            <a:r>
              <a:rPr lang="en-US" sz="2000" b="1">
                <a:cs typeface="2  Nazanin" panose="00000400000000000000" pitchFamily="2" charset="-78"/>
              </a:rPr>
              <a:t>🛠️ </a:t>
            </a:r>
            <a:r>
              <a:rPr lang="ar-SA" sz="2000" b="1">
                <a:cs typeface="2  Nazanin" panose="00000400000000000000" pitchFamily="2" charset="-78"/>
              </a:rPr>
              <a:t>۱. دقیق و واضح بنویسید</a:t>
            </a:r>
          </a:p>
          <a:p>
            <a:pPr algn="r" rtl="1"/>
            <a:r>
              <a:rPr lang="en-US" sz="2000" b="1">
                <a:cs typeface="2  Nazanin" panose="00000400000000000000" pitchFamily="2" charset="-78"/>
              </a:rPr>
              <a:t>❌ </a:t>
            </a:r>
            <a:r>
              <a:rPr lang="ar-SA" sz="2000" b="1">
                <a:cs typeface="2  Nazanin" panose="00000400000000000000" pitchFamily="2" charset="-78"/>
              </a:rPr>
              <a:t>بد:</a:t>
            </a:r>
            <a:r>
              <a:rPr lang="ar-SA" sz="2000">
                <a:cs typeface="2  Nazanin" panose="00000400000000000000" pitchFamily="2" charset="-78"/>
              </a:rPr>
              <a:t> یک مقاله درباره انرژی بنویس.</a:t>
            </a:r>
            <a:br>
              <a:rPr lang="ar-SA" sz="2000">
                <a:cs typeface="2  Nazanin" panose="00000400000000000000" pitchFamily="2" charset="-78"/>
              </a:rPr>
            </a:br>
            <a:r>
              <a:rPr lang="en-US" sz="2000" b="1">
                <a:cs typeface="2  Nazanin" panose="00000400000000000000" pitchFamily="2" charset="-78"/>
              </a:rPr>
              <a:t>✅ </a:t>
            </a:r>
            <a:r>
              <a:rPr lang="ar-SA" sz="2000" b="1">
                <a:cs typeface="2  Nazanin" panose="00000400000000000000" pitchFamily="2" charset="-78"/>
              </a:rPr>
              <a:t>خوب:</a:t>
            </a:r>
            <a:r>
              <a:rPr lang="ar-SA" sz="2000">
                <a:cs typeface="2  Nazanin" panose="00000400000000000000" pitchFamily="2" charset="-78"/>
              </a:rPr>
              <a:t> یک مقاله ۳ پاراگرافی درباره مزایا و معایب انرژی خورشیدی برای نوجوانان بنویس.</a:t>
            </a:r>
          </a:p>
        </p:txBody>
      </p:sp>
      <p:sp>
        <p:nvSpPr>
          <p:cNvPr id="9" name="TextBox 8">
            <a:extLst>
              <a:ext uri="{FF2B5EF4-FFF2-40B4-BE49-F238E27FC236}">
                <a16:creationId xmlns:a16="http://schemas.microsoft.com/office/drawing/2014/main" id="{DD668D0C-3755-076F-A485-867C6055519D}"/>
              </a:ext>
            </a:extLst>
          </p:cNvPr>
          <p:cNvSpPr txBox="1"/>
          <p:nvPr/>
        </p:nvSpPr>
        <p:spPr>
          <a:xfrm>
            <a:off x="1135118" y="2466604"/>
            <a:ext cx="7316185" cy="1323439"/>
          </a:xfrm>
          <a:prstGeom prst="rect">
            <a:avLst/>
          </a:prstGeom>
          <a:noFill/>
        </p:spPr>
        <p:txBody>
          <a:bodyPr wrap="square">
            <a:spAutoFit/>
          </a:bodyPr>
          <a:lstStyle/>
          <a:p>
            <a:pPr algn="r" rtl="1">
              <a:buNone/>
            </a:pPr>
            <a:r>
              <a:rPr lang="en-US" sz="2000" b="1">
                <a:cs typeface="2  Nazanin" panose="00000400000000000000" pitchFamily="2" charset="-78"/>
              </a:rPr>
              <a:t>🛠️ </a:t>
            </a:r>
            <a:r>
              <a:rPr lang="ar-SA" sz="2000" b="1">
                <a:cs typeface="2  Nazanin" panose="00000400000000000000" pitchFamily="2" charset="-78"/>
              </a:rPr>
              <a:t>۲. نقش‌دهی (</a:t>
            </a:r>
            <a:r>
              <a:rPr lang="en-US" sz="2000" b="1">
                <a:cs typeface="2  Nazanin" panose="00000400000000000000" pitchFamily="2" charset="-78"/>
              </a:rPr>
              <a:t>Role Assignment</a:t>
            </a:r>
            <a:r>
              <a:rPr lang="fa-IR" sz="2000" b="1">
                <a:cs typeface="2  Nazanin" panose="00000400000000000000" pitchFamily="2" charset="-78"/>
              </a:rPr>
              <a:t>)</a:t>
            </a:r>
            <a:endParaRPr lang="en-US" sz="2000" b="1">
              <a:cs typeface="2  Nazanin" panose="00000400000000000000" pitchFamily="2" charset="-78"/>
            </a:endParaRPr>
          </a:p>
          <a:p>
            <a:pPr algn="r" rtl="1"/>
            <a:r>
              <a:rPr lang="en-US" sz="2000" b="1">
                <a:cs typeface="2  Nazanin" panose="00000400000000000000" pitchFamily="2" charset="-78"/>
              </a:rPr>
              <a:t>❌ </a:t>
            </a:r>
            <a:r>
              <a:rPr lang="ar-SA" sz="2000" b="1">
                <a:cs typeface="2  Nazanin" panose="00000400000000000000" pitchFamily="2" charset="-78"/>
              </a:rPr>
              <a:t>بد:</a:t>
            </a:r>
            <a:r>
              <a:rPr lang="ar-SA" sz="2000">
                <a:cs typeface="2  Nazanin" panose="00000400000000000000" pitchFamily="2" charset="-78"/>
              </a:rPr>
              <a:t> فواید ورزش چیه؟</a:t>
            </a:r>
            <a:br>
              <a:rPr lang="ar-SA" sz="2000">
                <a:cs typeface="2  Nazanin" panose="00000400000000000000" pitchFamily="2" charset="-78"/>
              </a:rPr>
            </a:br>
            <a:r>
              <a:rPr lang="en-US" sz="2000" b="1">
                <a:cs typeface="2  Nazanin" panose="00000400000000000000" pitchFamily="2" charset="-78"/>
              </a:rPr>
              <a:t>✅ </a:t>
            </a:r>
            <a:r>
              <a:rPr lang="ar-SA" sz="2000" b="1">
                <a:cs typeface="2  Nazanin" panose="00000400000000000000" pitchFamily="2" charset="-78"/>
              </a:rPr>
              <a:t>خوب:</a:t>
            </a:r>
            <a:r>
              <a:rPr lang="ar-SA" sz="2000">
                <a:cs typeface="2  Nazanin" panose="00000400000000000000" pitchFamily="2" charset="-78"/>
              </a:rPr>
              <a:t> فرض کن یک پزشک متخصص هستی. فواید علمی ورزش روزانه را برای افراد بالای ۴۰ سال توضیح بده.</a:t>
            </a:r>
          </a:p>
        </p:txBody>
      </p:sp>
      <p:sp>
        <p:nvSpPr>
          <p:cNvPr id="11" name="TextBox 10">
            <a:extLst>
              <a:ext uri="{FF2B5EF4-FFF2-40B4-BE49-F238E27FC236}">
                <a16:creationId xmlns:a16="http://schemas.microsoft.com/office/drawing/2014/main" id="{BDFB5146-AC32-0010-4556-9D87605F8067}"/>
              </a:ext>
            </a:extLst>
          </p:cNvPr>
          <p:cNvSpPr txBox="1"/>
          <p:nvPr/>
        </p:nvSpPr>
        <p:spPr>
          <a:xfrm>
            <a:off x="1135119" y="4056225"/>
            <a:ext cx="7316184" cy="1323439"/>
          </a:xfrm>
          <a:prstGeom prst="rect">
            <a:avLst/>
          </a:prstGeom>
          <a:noFill/>
        </p:spPr>
        <p:txBody>
          <a:bodyPr wrap="square">
            <a:spAutoFit/>
          </a:bodyPr>
          <a:lstStyle/>
          <a:p>
            <a:pPr algn="r" rtl="1">
              <a:buNone/>
            </a:pPr>
            <a:r>
              <a:rPr lang="en-US" sz="2000" b="1">
                <a:cs typeface="2  Nazanin" panose="00000400000000000000" pitchFamily="2" charset="-78"/>
              </a:rPr>
              <a:t>🛠️ </a:t>
            </a:r>
            <a:r>
              <a:rPr lang="ar-SA" sz="2000" b="1">
                <a:cs typeface="2  Nazanin" panose="00000400000000000000" pitchFamily="2" charset="-78"/>
              </a:rPr>
              <a:t>۳. زمینه‌دهی (</a:t>
            </a:r>
            <a:r>
              <a:rPr lang="en-US" sz="2000" b="1">
                <a:cs typeface="2  Nazanin" panose="00000400000000000000" pitchFamily="2" charset="-78"/>
              </a:rPr>
              <a:t>Context</a:t>
            </a:r>
            <a:r>
              <a:rPr lang="fa-IR" sz="2000" b="1">
                <a:cs typeface="2  Nazanin" panose="00000400000000000000" pitchFamily="2" charset="-78"/>
              </a:rPr>
              <a:t>)</a:t>
            </a:r>
            <a:endParaRPr lang="en-US" sz="2000" b="1">
              <a:cs typeface="2  Nazanin" panose="00000400000000000000" pitchFamily="2" charset="-78"/>
            </a:endParaRPr>
          </a:p>
          <a:p>
            <a:pPr algn="r" rtl="1"/>
            <a:r>
              <a:rPr lang="en-US" sz="2000" b="1">
                <a:cs typeface="2  Nazanin" panose="00000400000000000000" pitchFamily="2" charset="-78"/>
              </a:rPr>
              <a:t>❌ </a:t>
            </a:r>
            <a:r>
              <a:rPr lang="ar-SA" sz="2000" b="1">
                <a:cs typeface="2  Nazanin" panose="00000400000000000000" pitchFamily="2" charset="-78"/>
              </a:rPr>
              <a:t>بد:</a:t>
            </a:r>
            <a:r>
              <a:rPr lang="ar-SA" sz="2000">
                <a:cs typeface="2  Nazanin" panose="00000400000000000000" pitchFamily="2" charset="-78"/>
              </a:rPr>
              <a:t> «شبکه عصبی را توضیح بده.»</a:t>
            </a:r>
            <a:br>
              <a:rPr lang="ar-SA" sz="2000">
                <a:cs typeface="2  Nazanin" panose="00000400000000000000" pitchFamily="2" charset="-78"/>
              </a:rPr>
            </a:br>
            <a:r>
              <a:rPr lang="en-US" sz="2000" b="1">
                <a:cs typeface="2  Nazanin" panose="00000400000000000000" pitchFamily="2" charset="-78"/>
              </a:rPr>
              <a:t>✅ </a:t>
            </a:r>
            <a:r>
              <a:rPr lang="ar-SA" sz="2000" b="1">
                <a:cs typeface="2  Nazanin" panose="00000400000000000000" pitchFamily="2" charset="-78"/>
              </a:rPr>
              <a:t>خوب:</a:t>
            </a:r>
            <a:r>
              <a:rPr lang="ar-SA" sz="2000">
                <a:cs typeface="2  Nazanin" panose="00000400000000000000" pitchFamily="2" charset="-78"/>
              </a:rPr>
              <a:t> «برای یک دانش‌آموز کلاس هفتم که تازه با مفاهیم </a:t>
            </a:r>
            <a:r>
              <a:rPr lang="fa-IR" sz="2000">
                <a:cs typeface="2  Nazanin" panose="00000400000000000000" pitchFamily="2" charset="-78"/>
              </a:rPr>
              <a:t>کامپیوتر</a:t>
            </a:r>
            <a:r>
              <a:rPr lang="ar-SA" sz="2000">
                <a:cs typeface="2  Nazanin" panose="00000400000000000000" pitchFamily="2" charset="-78"/>
              </a:rPr>
              <a:t> آشنا شده، شبکه عصبی را با استفاده از مثال ساده و مقایسه با مغز انسان توضیح بده.»</a:t>
            </a:r>
          </a:p>
        </p:txBody>
      </p:sp>
      <p:sp>
        <p:nvSpPr>
          <p:cNvPr id="3" name="TextBox 2">
            <a:extLst>
              <a:ext uri="{FF2B5EF4-FFF2-40B4-BE49-F238E27FC236}">
                <a16:creationId xmlns:a16="http://schemas.microsoft.com/office/drawing/2014/main" id="{B3923409-E0C0-2F04-BD9A-F1214B8A98BE}"/>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41</a:t>
            </a:r>
            <a:endParaRPr lang="fa-IR" sz="1200"/>
          </a:p>
        </p:txBody>
      </p:sp>
    </p:spTree>
    <p:extLst>
      <p:ext uri="{BB962C8B-B14F-4D97-AF65-F5344CB8AC3E}">
        <p14:creationId xmlns:p14="http://schemas.microsoft.com/office/powerpoint/2010/main" val="24445295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8361F-815B-10F4-0FD6-4284758C15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011517-D442-9A77-95D9-F458C5680EAD}"/>
              </a:ext>
            </a:extLst>
          </p:cNvPr>
          <p:cNvSpPr>
            <a:spLocks noGrp="1"/>
          </p:cNvSpPr>
          <p:nvPr>
            <p:ph type="title"/>
          </p:nvPr>
        </p:nvSpPr>
        <p:spPr>
          <a:xfrm>
            <a:off x="754774" y="34051"/>
            <a:ext cx="7886700" cy="1085302"/>
          </a:xfrm>
        </p:spPr>
        <p:txBody>
          <a:bodyPr>
            <a:normAutofit/>
          </a:bodyPr>
          <a:lstStyle/>
          <a:p>
            <a:pPr algn="r" rtl="1"/>
            <a:r>
              <a:rPr sz="3200">
                <a:cs typeface="2  Titr" panose="00000700000000000000" pitchFamily="2" charset="-78"/>
              </a:rPr>
              <a:t>مهندسی درخواست </a:t>
            </a:r>
            <a:r>
              <a:rPr sz="3200" b="1">
                <a:solidFill>
                  <a:schemeClr val="tx1">
                    <a:lumMod val="95000"/>
                  </a:schemeClr>
                </a:solidFill>
                <a:cs typeface="2  Titr" panose="00000700000000000000" pitchFamily="2" charset="-78"/>
              </a:rPr>
              <a:t>(Prompt Engineering)</a:t>
            </a:r>
          </a:p>
        </p:txBody>
      </p:sp>
      <p:sp>
        <p:nvSpPr>
          <p:cNvPr id="4" name="TextBox 3">
            <a:extLst>
              <a:ext uri="{FF2B5EF4-FFF2-40B4-BE49-F238E27FC236}">
                <a16:creationId xmlns:a16="http://schemas.microsoft.com/office/drawing/2014/main" id="{3EB182BB-590B-8F30-5D8D-866B5CFF1AD5}"/>
              </a:ext>
            </a:extLst>
          </p:cNvPr>
          <p:cNvSpPr txBox="1"/>
          <p:nvPr/>
        </p:nvSpPr>
        <p:spPr>
          <a:xfrm>
            <a:off x="754774" y="1223206"/>
            <a:ext cx="7886700" cy="1323439"/>
          </a:xfrm>
          <a:prstGeom prst="rect">
            <a:avLst/>
          </a:prstGeom>
          <a:noFill/>
        </p:spPr>
        <p:txBody>
          <a:bodyPr wrap="square">
            <a:spAutoFit/>
          </a:bodyPr>
          <a:lstStyle/>
          <a:p>
            <a:pPr algn="r" rtl="1">
              <a:buNone/>
            </a:pPr>
            <a:r>
              <a:rPr lang="en-US" sz="2000" b="1">
                <a:cs typeface="2  Nazanin" panose="00000400000000000000" pitchFamily="2" charset="-78"/>
              </a:rPr>
              <a:t>🛠️ </a:t>
            </a:r>
            <a:r>
              <a:rPr lang="ar-SA" sz="2000" b="1">
                <a:cs typeface="2  Nazanin" panose="00000400000000000000" pitchFamily="2" charset="-78"/>
              </a:rPr>
              <a:t>۴. مرحله‌بندی یا سلسله‌مراتب (</a:t>
            </a:r>
            <a:r>
              <a:rPr lang="en-US" sz="2000" b="1">
                <a:cs typeface="2  Nazanin" panose="00000400000000000000" pitchFamily="2" charset="-78"/>
              </a:rPr>
              <a:t>Step-by-step</a:t>
            </a:r>
            <a:r>
              <a:rPr lang="fa-IR" sz="2000" b="1">
                <a:cs typeface="2  Nazanin" panose="00000400000000000000" pitchFamily="2" charset="-78"/>
              </a:rPr>
              <a:t>)</a:t>
            </a:r>
            <a:endParaRPr lang="en-US" sz="2000" b="1">
              <a:cs typeface="2  Nazanin" panose="00000400000000000000" pitchFamily="2" charset="-78"/>
            </a:endParaRPr>
          </a:p>
          <a:p>
            <a:pPr algn="r" rtl="1"/>
            <a:r>
              <a:rPr lang="en-US" sz="2000" b="1">
                <a:cs typeface="2  Nazanin" panose="00000400000000000000" pitchFamily="2" charset="-78"/>
              </a:rPr>
              <a:t>❌ </a:t>
            </a:r>
            <a:r>
              <a:rPr lang="ar-SA" sz="2000" b="1">
                <a:cs typeface="2  Nazanin" panose="00000400000000000000" pitchFamily="2" charset="-78"/>
              </a:rPr>
              <a:t>بد:</a:t>
            </a:r>
            <a:r>
              <a:rPr lang="ar-SA" sz="2000">
                <a:cs typeface="2  Nazanin" panose="00000400000000000000" pitchFamily="2" charset="-78"/>
              </a:rPr>
              <a:t> برنامه بنویس.</a:t>
            </a:r>
            <a:br>
              <a:rPr lang="ar-SA" sz="2000">
                <a:cs typeface="2  Nazanin" panose="00000400000000000000" pitchFamily="2" charset="-78"/>
              </a:rPr>
            </a:br>
            <a:r>
              <a:rPr lang="en-US" sz="2000" b="1">
                <a:cs typeface="2  Nazanin" panose="00000400000000000000" pitchFamily="2" charset="-78"/>
              </a:rPr>
              <a:t>✅ </a:t>
            </a:r>
            <a:r>
              <a:rPr lang="ar-SA" sz="2000" b="1">
                <a:cs typeface="2  Nazanin" panose="00000400000000000000" pitchFamily="2" charset="-78"/>
              </a:rPr>
              <a:t>خوب:</a:t>
            </a:r>
            <a:r>
              <a:rPr lang="ar-SA" sz="2000">
                <a:cs typeface="2  Nazanin" panose="00000400000000000000" pitchFamily="2" charset="-78"/>
              </a:rPr>
              <a:t> مرحله به مرحله یک برنامه پایتون بنویس که اعداد اول بین ۱ تا ۱۰۰ را چاپ کند، با توضیح خط به خط.</a:t>
            </a:r>
          </a:p>
        </p:txBody>
      </p:sp>
      <p:sp>
        <p:nvSpPr>
          <p:cNvPr id="6" name="TextBox 5">
            <a:extLst>
              <a:ext uri="{FF2B5EF4-FFF2-40B4-BE49-F238E27FC236}">
                <a16:creationId xmlns:a16="http://schemas.microsoft.com/office/drawing/2014/main" id="{9BF8584B-AEED-09FE-B090-67C86CF4FC0B}"/>
              </a:ext>
            </a:extLst>
          </p:cNvPr>
          <p:cNvSpPr txBox="1"/>
          <p:nvPr/>
        </p:nvSpPr>
        <p:spPr>
          <a:xfrm>
            <a:off x="754774" y="3964726"/>
            <a:ext cx="7886700" cy="1323439"/>
          </a:xfrm>
          <a:prstGeom prst="rect">
            <a:avLst/>
          </a:prstGeom>
          <a:noFill/>
        </p:spPr>
        <p:txBody>
          <a:bodyPr wrap="square">
            <a:spAutoFit/>
          </a:bodyPr>
          <a:lstStyle/>
          <a:p>
            <a:pPr algn="r" rtl="1">
              <a:buNone/>
            </a:pPr>
            <a:r>
              <a:rPr lang="en-US" sz="2000" b="1">
                <a:cs typeface="2  Nazanin" panose="00000400000000000000" pitchFamily="2" charset="-78"/>
              </a:rPr>
              <a:t>🛠️ </a:t>
            </a:r>
            <a:r>
              <a:rPr lang="ar-SA" sz="2000" b="1">
                <a:cs typeface="2  Nazanin" panose="00000400000000000000" pitchFamily="2" charset="-78"/>
              </a:rPr>
              <a:t>۵. استفاده از مثال‌ها</a:t>
            </a:r>
          </a:p>
          <a:p>
            <a:pPr algn="r" rtl="1"/>
            <a:r>
              <a:rPr lang="en-US" sz="2000" b="1">
                <a:cs typeface="2  Nazanin" panose="00000400000000000000" pitchFamily="2" charset="-78"/>
              </a:rPr>
              <a:t>❌ </a:t>
            </a:r>
            <a:r>
              <a:rPr lang="ar-SA" sz="2000" b="1">
                <a:cs typeface="2  Nazanin" panose="00000400000000000000" pitchFamily="2" charset="-78"/>
              </a:rPr>
              <a:t>بد:</a:t>
            </a:r>
            <a:r>
              <a:rPr lang="ar-SA" sz="2000">
                <a:cs typeface="2  Nazanin" panose="00000400000000000000" pitchFamily="2" charset="-78"/>
              </a:rPr>
              <a:t> جدول درست کن.</a:t>
            </a:r>
            <a:br>
              <a:rPr lang="ar-SA" sz="2000">
                <a:cs typeface="2  Nazanin" panose="00000400000000000000" pitchFamily="2" charset="-78"/>
              </a:rPr>
            </a:br>
            <a:r>
              <a:rPr lang="en-US" sz="2000" b="1">
                <a:cs typeface="2  Nazanin" panose="00000400000000000000" pitchFamily="2" charset="-78"/>
              </a:rPr>
              <a:t>✅ </a:t>
            </a:r>
            <a:r>
              <a:rPr lang="ar-SA" sz="2000" b="1">
                <a:cs typeface="2  Nazanin" panose="00000400000000000000" pitchFamily="2" charset="-78"/>
              </a:rPr>
              <a:t>خوب:</a:t>
            </a:r>
            <a:r>
              <a:rPr lang="ar-SA" sz="2000">
                <a:cs typeface="2  Nazanin" panose="00000400000000000000" pitchFamily="2" charset="-78"/>
              </a:rPr>
              <a:t> یک جدول مقایسه‌ای بین </a:t>
            </a:r>
            <a:r>
              <a:rPr lang="en-US" sz="2000">
                <a:cs typeface="2  Nazanin" panose="00000400000000000000" pitchFamily="2" charset="-78"/>
              </a:rPr>
              <a:t>GPT-3.5 </a:t>
            </a:r>
            <a:r>
              <a:rPr lang="ar-SA" sz="2000">
                <a:cs typeface="2  Nazanin" panose="00000400000000000000" pitchFamily="2" charset="-78"/>
              </a:rPr>
              <a:t>و </a:t>
            </a:r>
            <a:r>
              <a:rPr lang="en-US" sz="2000">
                <a:cs typeface="2  Nazanin" panose="00000400000000000000" pitchFamily="2" charset="-78"/>
              </a:rPr>
              <a:t>GPT-4 </a:t>
            </a:r>
            <a:r>
              <a:rPr lang="fa-IR" sz="2000">
                <a:cs typeface="2  Nazanin" panose="00000400000000000000" pitchFamily="2" charset="-78"/>
              </a:rPr>
              <a:t> </a:t>
            </a:r>
            <a:r>
              <a:rPr lang="ar-SA" sz="2000">
                <a:cs typeface="2  Nazanin" panose="00000400000000000000" pitchFamily="2" charset="-78"/>
              </a:rPr>
              <a:t>با مثال کاربردی (مثلاً خلاصه‌سازی متن ۵۰۰ کلمه‌ای) ارائه بده.</a:t>
            </a:r>
          </a:p>
        </p:txBody>
      </p:sp>
      <p:sp>
        <p:nvSpPr>
          <p:cNvPr id="10" name="TextBox 9">
            <a:extLst>
              <a:ext uri="{FF2B5EF4-FFF2-40B4-BE49-F238E27FC236}">
                <a16:creationId xmlns:a16="http://schemas.microsoft.com/office/drawing/2014/main" id="{E73BCF2D-AFB2-713C-FEFE-80B67E25F6DB}"/>
              </a:ext>
            </a:extLst>
          </p:cNvPr>
          <p:cNvSpPr txBox="1"/>
          <p:nvPr/>
        </p:nvSpPr>
        <p:spPr>
          <a:xfrm>
            <a:off x="754774" y="2593966"/>
            <a:ext cx="7886700" cy="1323439"/>
          </a:xfrm>
          <a:prstGeom prst="rect">
            <a:avLst/>
          </a:prstGeom>
          <a:noFill/>
        </p:spPr>
        <p:txBody>
          <a:bodyPr wrap="square">
            <a:spAutoFit/>
          </a:bodyPr>
          <a:lstStyle/>
          <a:p>
            <a:pPr algn="r" rtl="1">
              <a:buNone/>
            </a:pPr>
            <a:r>
              <a:rPr lang="en-US" sz="2000" b="1">
                <a:cs typeface="2  Nazanin" panose="00000400000000000000" pitchFamily="2" charset="-78"/>
              </a:rPr>
              <a:t>🛠️ </a:t>
            </a:r>
            <a:r>
              <a:rPr lang="ar-SA" sz="2000" b="1">
                <a:cs typeface="2  Nazanin" panose="00000400000000000000" pitchFamily="2" charset="-78"/>
              </a:rPr>
              <a:t>۶. محدودسازی و کنترل خروجی (</a:t>
            </a:r>
            <a:r>
              <a:rPr lang="en-US" sz="2000" b="1">
                <a:cs typeface="2  Nazanin" panose="00000400000000000000" pitchFamily="2" charset="-78"/>
              </a:rPr>
              <a:t>Constraints</a:t>
            </a:r>
            <a:r>
              <a:rPr lang="fa-IR" sz="2000" b="1">
                <a:cs typeface="2  Nazanin" panose="00000400000000000000" pitchFamily="2" charset="-78"/>
              </a:rPr>
              <a:t>)</a:t>
            </a:r>
            <a:endParaRPr lang="en-US" sz="2000" b="1">
              <a:cs typeface="2  Nazanin" panose="00000400000000000000" pitchFamily="2" charset="-78"/>
            </a:endParaRPr>
          </a:p>
          <a:p>
            <a:pPr algn="r" rtl="1"/>
            <a:r>
              <a:rPr lang="en-US" sz="2000" b="1">
                <a:cs typeface="2  Nazanin" panose="00000400000000000000" pitchFamily="2" charset="-78"/>
              </a:rPr>
              <a:t>❌ </a:t>
            </a:r>
            <a:r>
              <a:rPr lang="ar-SA" sz="2000" b="1">
                <a:cs typeface="2  Nazanin" panose="00000400000000000000" pitchFamily="2" charset="-78"/>
              </a:rPr>
              <a:t>بد:</a:t>
            </a:r>
            <a:r>
              <a:rPr lang="ar-SA" sz="2000">
                <a:cs typeface="2  Nazanin" panose="00000400000000000000" pitchFamily="2" charset="-78"/>
              </a:rPr>
              <a:t> داستان بگو.</a:t>
            </a:r>
            <a:br>
              <a:rPr lang="ar-SA" sz="2000">
                <a:cs typeface="2  Nazanin" panose="00000400000000000000" pitchFamily="2" charset="-78"/>
              </a:rPr>
            </a:br>
            <a:r>
              <a:rPr lang="en-US" sz="2000" b="1">
                <a:cs typeface="2  Nazanin" panose="00000400000000000000" pitchFamily="2" charset="-78"/>
              </a:rPr>
              <a:t>✅ </a:t>
            </a:r>
            <a:r>
              <a:rPr lang="ar-SA" sz="2000" b="1">
                <a:cs typeface="2  Nazanin" panose="00000400000000000000" pitchFamily="2" charset="-78"/>
              </a:rPr>
              <a:t>خوب:</a:t>
            </a:r>
            <a:r>
              <a:rPr lang="ar-SA" sz="2000">
                <a:cs typeface="2  Nazanin" panose="00000400000000000000" pitchFamily="2" charset="-78"/>
              </a:rPr>
              <a:t> داستانی کوتاه در حداکثر ۱۰۰ کلمه بنویس که در آن رباتی تصمیم می‌گیرد احساسات را تجربه کند.</a:t>
            </a:r>
          </a:p>
        </p:txBody>
      </p:sp>
      <p:sp>
        <p:nvSpPr>
          <p:cNvPr id="13" name="TextBox 12">
            <a:extLst>
              <a:ext uri="{FF2B5EF4-FFF2-40B4-BE49-F238E27FC236}">
                <a16:creationId xmlns:a16="http://schemas.microsoft.com/office/drawing/2014/main" id="{DC547B86-E4D6-7CE6-B878-82459B24A68B}"/>
              </a:ext>
            </a:extLst>
          </p:cNvPr>
          <p:cNvSpPr txBox="1"/>
          <p:nvPr/>
        </p:nvSpPr>
        <p:spPr>
          <a:xfrm>
            <a:off x="754774" y="5335486"/>
            <a:ext cx="7886700" cy="1323439"/>
          </a:xfrm>
          <a:prstGeom prst="rect">
            <a:avLst/>
          </a:prstGeom>
          <a:noFill/>
        </p:spPr>
        <p:txBody>
          <a:bodyPr wrap="square">
            <a:spAutoFit/>
          </a:bodyPr>
          <a:lstStyle/>
          <a:p>
            <a:pPr algn="r" rtl="1">
              <a:buNone/>
            </a:pPr>
            <a:r>
              <a:rPr lang="en-US" sz="2000" b="1">
                <a:cs typeface="2  Nazanin" panose="00000400000000000000" pitchFamily="2" charset="-78"/>
              </a:rPr>
              <a:t>🛠️ </a:t>
            </a:r>
            <a:r>
              <a:rPr lang="ar-SA" sz="2000" b="1">
                <a:cs typeface="2  Nazanin" panose="00000400000000000000" pitchFamily="2" charset="-78"/>
              </a:rPr>
              <a:t>۷. بازخورد و اصلاح</a:t>
            </a:r>
          </a:p>
          <a:p>
            <a:pPr algn="r" rtl="1"/>
            <a:r>
              <a:rPr lang="ar-SA" sz="2000" b="1">
                <a:cs typeface="2  Nazanin" panose="00000400000000000000" pitchFamily="2" charset="-78"/>
              </a:rPr>
              <a:t>مرحله اول:</a:t>
            </a:r>
            <a:r>
              <a:rPr lang="ar-SA" sz="2000">
                <a:cs typeface="2  Nazanin" panose="00000400000000000000" pitchFamily="2" charset="-78"/>
              </a:rPr>
              <a:t> یک خلاصه از این متن بنویس.</a:t>
            </a:r>
            <a:br>
              <a:rPr lang="ar-SA" sz="2000">
                <a:cs typeface="2  Nazanin" panose="00000400000000000000" pitchFamily="2" charset="-78"/>
              </a:rPr>
            </a:br>
            <a:r>
              <a:rPr lang="ar-SA" sz="2000" b="1">
                <a:cs typeface="2  Nazanin" panose="00000400000000000000" pitchFamily="2" charset="-78"/>
              </a:rPr>
              <a:t>مرحله دوم:</a:t>
            </a:r>
            <a:r>
              <a:rPr lang="ar-SA" sz="2000">
                <a:cs typeface="2  Nazanin" panose="00000400000000000000" pitchFamily="2" charset="-78"/>
              </a:rPr>
              <a:t> حالا با لحن دوستانه‌تر و برای مخاطب نوجوان بازنویسی کن.</a:t>
            </a:r>
            <a:br>
              <a:rPr lang="ar-SA" sz="2000">
                <a:cs typeface="2  Nazanin" panose="00000400000000000000" pitchFamily="2" charset="-78"/>
              </a:rPr>
            </a:br>
            <a:r>
              <a:rPr lang="ar-SA" sz="2000">
                <a:cs typeface="2  Nazanin" panose="00000400000000000000" pitchFamily="2" charset="-78"/>
              </a:rPr>
              <a:t>→ این روند باعث </a:t>
            </a:r>
            <a:r>
              <a:rPr lang="ar-SA" sz="2000" b="1">
                <a:cs typeface="2  Nazanin" panose="00000400000000000000" pitchFamily="2" charset="-78"/>
              </a:rPr>
              <a:t>تکرار بهینه و اصلاح خروجی</a:t>
            </a:r>
            <a:r>
              <a:rPr lang="ar-SA" sz="2000">
                <a:cs typeface="2  Nazanin" panose="00000400000000000000" pitchFamily="2" charset="-78"/>
              </a:rPr>
              <a:t> می‌شود.</a:t>
            </a:r>
          </a:p>
        </p:txBody>
      </p:sp>
      <p:sp>
        <p:nvSpPr>
          <p:cNvPr id="3" name="TextBox 2">
            <a:extLst>
              <a:ext uri="{FF2B5EF4-FFF2-40B4-BE49-F238E27FC236}">
                <a16:creationId xmlns:a16="http://schemas.microsoft.com/office/drawing/2014/main" id="{F76E286A-52AD-B0D8-D1F6-F71C12936335}"/>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42</a:t>
            </a:r>
            <a:endParaRPr lang="fa-IR" sz="1200"/>
          </a:p>
        </p:txBody>
      </p:sp>
    </p:spTree>
    <p:extLst>
      <p:ext uri="{BB962C8B-B14F-4D97-AF65-F5344CB8AC3E}">
        <p14:creationId xmlns:p14="http://schemas.microsoft.com/office/powerpoint/2010/main" val="19866780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lumMod val="95000"/>
            <a:lumOff val="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5A918-7E0D-4DBE-97BC-99DBE8FD3F98}"/>
              </a:ext>
            </a:extLst>
          </p:cNvPr>
          <p:cNvSpPr>
            <a:spLocks noGrp="1"/>
          </p:cNvSpPr>
          <p:nvPr>
            <p:ph type="title"/>
          </p:nvPr>
        </p:nvSpPr>
        <p:spPr>
          <a:xfrm>
            <a:off x="962025" y="201881"/>
            <a:ext cx="7803400" cy="670799"/>
          </a:xfrm>
        </p:spPr>
        <p:txBody>
          <a:bodyPr>
            <a:normAutofit/>
          </a:bodyPr>
          <a:lstStyle/>
          <a:p>
            <a:pPr algn="r" rtl="1"/>
            <a:r>
              <a:rPr lang="fa-IR" sz="3200" b="0" i="0" dirty="0">
                <a:effectLst/>
                <a:latin typeface="Google Sans"/>
                <a:cs typeface="2  Titr" panose="00000700000000000000" pitchFamily="2" charset="-78"/>
              </a:rPr>
              <a:t>مهندسی درخواست</a:t>
            </a:r>
          </a:p>
        </p:txBody>
      </p:sp>
      <p:sp>
        <p:nvSpPr>
          <p:cNvPr id="3" name="Content Placeholder 2">
            <a:extLst>
              <a:ext uri="{FF2B5EF4-FFF2-40B4-BE49-F238E27FC236}">
                <a16:creationId xmlns:a16="http://schemas.microsoft.com/office/drawing/2014/main" id="{6C05B219-1A1D-4365-8C19-0BD698E1872D}"/>
              </a:ext>
            </a:extLst>
          </p:cNvPr>
          <p:cNvSpPr>
            <a:spLocks noGrp="1"/>
          </p:cNvSpPr>
          <p:nvPr>
            <p:ph idx="1"/>
          </p:nvPr>
        </p:nvSpPr>
        <p:spPr>
          <a:xfrm>
            <a:off x="3574472" y="1834095"/>
            <a:ext cx="4945033" cy="619667"/>
          </a:xfrm>
        </p:spPr>
        <p:style>
          <a:lnRef idx="2">
            <a:schemeClr val="accent2">
              <a:shade val="50000"/>
            </a:schemeClr>
          </a:lnRef>
          <a:fillRef idx="1">
            <a:schemeClr val="accent2"/>
          </a:fillRef>
          <a:effectRef idx="0">
            <a:schemeClr val="accent2"/>
          </a:effectRef>
          <a:fontRef idx="minor">
            <a:schemeClr val="lt1"/>
          </a:fontRef>
        </p:style>
        <p:txBody>
          <a:bodyPr>
            <a:normAutofit fontScale="77500" lnSpcReduction="20000"/>
          </a:bodyPr>
          <a:lstStyle/>
          <a:p>
            <a:pPr marL="0" indent="0" algn="r" rtl="1">
              <a:buNone/>
            </a:pPr>
            <a:r>
              <a:rPr lang="fa-IR" b="1" dirty="0">
                <a:solidFill>
                  <a:schemeClr val="bg1"/>
                </a:solidFill>
                <a:cs typeface="2  Nazanin" panose="00000400000000000000" pitchFamily="2" charset="-78"/>
              </a:rPr>
              <a:t>«هوش مصنوعی مولد» را </a:t>
            </a:r>
            <a:r>
              <a:rPr lang="fa-IR" b="1" u="sng" dirty="0">
                <a:solidFill>
                  <a:schemeClr val="bg1"/>
                </a:solidFill>
                <a:cs typeface="2  Nazanin" panose="00000400000000000000" pitchFamily="2" charset="-78"/>
              </a:rPr>
              <a:t>برای دانش‌آموز اول دبستان </a:t>
            </a:r>
            <a:r>
              <a:rPr lang="fa-IR" b="1" dirty="0">
                <a:solidFill>
                  <a:schemeClr val="bg1"/>
                </a:solidFill>
                <a:cs typeface="2  Nazanin" panose="00000400000000000000" pitchFamily="2" charset="-78"/>
              </a:rPr>
              <a:t>در </a:t>
            </a:r>
            <a:r>
              <a:rPr lang="fa-IR" b="1" u="sng" dirty="0">
                <a:solidFill>
                  <a:schemeClr val="bg1"/>
                </a:solidFill>
                <a:cs typeface="2  Nazanin" panose="00000400000000000000" pitchFamily="2" charset="-78"/>
              </a:rPr>
              <a:t>۱۵۰ کاراکتر </a:t>
            </a:r>
            <a:r>
              <a:rPr lang="fa-IR" b="1" dirty="0">
                <a:solidFill>
                  <a:schemeClr val="bg1"/>
                </a:solidFill>
                <a:cs typeface="2  Nazanin" panose="00000400000000000000" pitchFamily="2" charset="-78"/>
              </a:rPr>
              <a:t>توضیح دهید.</a:t>
            </a:r>
            <a:endParaRPr lang="en-US" b="1" dirty="0">
              <a:solidFill>
                <a:schemeClr val="bg1"/>
              </a:solidFill>
              <a:cs typeface="2  Nazanin" panose="00000400000000000000" pitchFamily="2" charset="-78"/>
            </a:endParaRPr>
          </a:p>
        </p:txBody>
      </p:sp>
      <p:sp>
        <p:nvSpPr>
          <p:cNvPr id="5" name="TextBox 4">
            <a:extLst>
              <a:ext uri="{FF2B5EF4-FFF2-40B4-BE49-F238E27FC236}">
                <a16:creationId xmlns:a16="http://schemas.microsoft.com/office/drawing/2014/main" id="{A87B3A15-5029-44CB-97D5-EEE0B2EB79C6}"/>
              </a:ext>
            </a:extLst>
          </p:cNvPr>
          <p:cNvSpPr txBox="1"/>
          <p:nvPr/>
        </p:nvSpPr>
        <p:spPr>
          <a:xfrm>
            <a:off x="331076" y="920812"/>
            <a:ext cx="8434349" cy="707886"/>
          </a:xfrm>
          <a:prstGeom prst="rect">
            <a:avLst/>
          </a:prstGeom>
          <a:noFill/>
        </p:spPr>
        <p:txBody>
          <a:bodyPr wrap="square">
            <a:spAutoFit/>
          </a:bodyPr>
          <a:lstStyle/>
          <a:p>
            <a:pPr algn="r" rtl="1"/>
            <a:r>
              <a:rPr lang="fa-IR" sz="2000" dirty="0">
                <a:cs typeface="2  Titr" panose="00000700000000000000" pitchFamily="2" charset="-78"/>
              </a:rPr>
              <a:t>درخواست از هوش مصنوعی مولد به عنوان </a:t>
            </a:r>
            <a:r>
              <a:rPr lang="en-US" sz="2000" dirty="0">
                <a:cs typeface="2  Titr" panose="00000700000000000000" pitchFamily="2" charset="-78"/>
              </a:rPr>
              <a:t>AI Prompt Writing </a:t>
            </a:r>
            <a:r>
              <a:rPr lang="fa-IR" sz="2000" dirty="0">
                <a:cs typeface="2  Titr" panose="00000700000000000000" pitchFamily="2" charset="-78"/>
              </a:rPr>
              <a:t> یا </a:t>
            </a:r>
            <a:r>
              <a:rPr lang="en-US" sz="2000" dirty="0">
                <a:cs typeface="2  Titr" panose="00000700000000000000" pitchFamily="2" charset="-78"/>
              </a:rPr>
              <a:t>AI Prompt Engineering </a:t>
            </a:r>
            <a:r>
              <a:rPr lang="fa-IR" sz="2000" dirty="0">
                <a:cs typeface="2  Titr" panose="00000700000000000000" pitchFamily="2" charset="-78"/>
              </a:rPr>
              <a:t> شناخته می‌شود.</a:t>
            </a:r>
            <a:endParaRPr lang="en-US" sz="2000" dirty="0">
              <a:cs typeface="2  Titr" panose="00000700000000000000" pitchFamily="2" charset="-78"/>
            </a:endParaRPr>
          </a:p>
        </p:txBody>
      </p:sp>
      <p:sp>
        <p:nvSpPr>
          <p:cNvPr id="9" name="TextBox 8">
            <a:extLst>
              <a:ext uri="{FF2B5EF4-FFF2-40B4-BE49-F238E27FC236}">
                <a16:creationId xmlns:a16="http://schemas.microsoft.com/office/drawing/2014/main" id="{6E7B4C1E-D19F-4FC3-BDF8-F5D0B5BDC4EA}"/>
              </a:ext>
            </a:extLst>
          </p:cNvPr>
          <p:cNvSpPr txBox="1"/>
          <p:nvPr/>
        </p:nvSpPr>
        <p:spPr>
          <a:xfrm>
            <a:off x="4186151" y="2659159"/>
            <a:ext cx="4579274" cy="923330"/>
          </a:xfrm>
          <a:prstGeom prst="rect">
            <a:avLst/>
          </a:prstGeom>
        </p:spPr>
        <p:style>
          <a:lnRef idx="1">
            <a:schemeClr val="accent1"/>
          </a:lnRef>
          <a:fillRef idx="3">
            <a:schemeClr val="accent1"/>
          </a:fillRef>
          <a:effectRef idx="2">
            <a:schemeClr val="accent1"/>
          </a:effectRef>
          <a:fontRef idx="minor">
            <a:schemeClr val="lt1"/>
          </a:fontRef>
        </p:style>
        <p:txBody>
          <a:bodyPr wrap="square">
            <a:spAutoFit/>
          </a:bodyPr>
          <a:lstStyle/>
          <a:p>
            <a:pPr algn="r"/>
            <a:r>
              <a:rPr lang="fa-IR" sz="1350" dirty="0">
                <a:solidFill>
                  <a:schemeClr val="bg1"/>
                </a:solidFill>
                <a:cs typeface="2  Titr" panose="00000700000000000000" pitchFamily="2" charset="-78"/>
              </a:rPr>
              <a:t>فهرستی از </a:t>
            </a:r>
            <a:r>
              <a:rPr lang="fa-IR" sz="1350" u="sng" dirty="0">
                <a:solidFill>
                  <a:schemeClr val="bg1"/>
                </a:solidFill>
                <a:cs typeface="2  Titr" panose="00000700000000000000" pitchFamily="2" charset="-78"/>
              </a:rPr>
              <a:t>10</a:t>
            </a:r>
            <a:r>
              <a:rPr lang="fa-IR" sz="1350" dirty="0">
                <a:solidFill>
                  <a:schemeClr val="bg1"/>
                </a:solidFill>
                <a:cs typeface="2  Titr" panose="00000700000000000000" pitchFamily="2" charset="-78"/>
              </a:rPr>
              <a:t> هدیه به دانشجویان </a:t>
            </a:r>
            <a:r>
              <a:rPr lang="fa-IR" sz="1350" u="sng" dirty="0">
                <a:solidFill>
                  <a:schemeClr val="bg1"/>
                </a:solidFill>
                <a:cs typeface="2  Titr" panose="00000700000000000000" pitchFamily="2" charset="-78"/>
              </a:rPr>
              <a:t>بر اساس </a:t>
            </a:r>
            <a:r>
              <a:rPr lang="fa-IR" sz="1350" dirty="0">
                <a:solidFill>
                  <a:schemeClr val="bg1"/>
                </a:solidFill>
                <a:cs typeface="2  Titr" panose="00000700000000000000" pitchFamily="2" charset="-78"/>
              </a:rPr>
              <a:t>معیارهای زیر </a:t>
            </a:r>
            <a:r>
              <a:rPr lang="fa-IR" sz="1350" u="sng" dirty="0">
                <a:solidFill>
                  <a:schemeClr val="bg1"/>
                </a:solidFill>
                <a:cs typeface="2  Titr" panose="00000700000000000000" pitchFamily="2" charset="-78"/>
              </a:rPr>
              <a:t>ایجاد کنید</a:t>
            </a:r>
            <a:r>
              <a:rPr lang="fa-IR" sz="1350" dirty="0">
                <a:solidFill>
                  <a:schemeClr val="bg1"/>
                </a:solidFill>
                <a:cs typeface="2  Titr" panose="00000700000000000000" pitchFamily="2" charset="-78"/>
              </a:rPr>
              <a:t>:</a:t>
            </a:r>
          </a:p>
          <a:p>
            <a:pPr algn="r"/>
            <a:r>
              <a:rPr lang="fa-IR" sz="1350" dirty="0">
                <a:solidFill>
                  <a:schemeClr val="bg1"/>
                </a:solidFill>
                <a:cs typeface="2  Titr" panose="00000700000000000000" pitchFamily="2" charset="-78"/>
              </a:rPr>
              <a:t>- </a:t>
            </a:r>
            <a:r>
              <a:rPr lang="fa-IR" sz="1350" u="sng" dirty="0">
                <a:solidFill>
                  <a:schemeClr val="bg1"/>
                </a:solidFill>
                <a:cs typeface="2  Titr" panose="00000700000000000000" pitchFamily="2" charset="-78"/>
              </a:rPr>
              <a:t>باید</a:t>
            </a:r>
            <a:r>
              <a:rPr lang="fa-IR" sz="1350" dirty="0">
                <a:solidFill>
                  <a:schemeClr val="bg1"/>
                </a:solidFill>
                <a:cs typeface="2  Titr" panose="00000700000000000000" pitchFamily="2" charset="-78"/>
              </a:rPr>
              <a:t> مفید باشد</a:t>
            </a:r>
          </a:p>
          <a:p>
            <a:pPr algn="r"/>
            <a:r>
              <a:rPr lang="fa-IR" sz="1350" dirty="0">
                <a:solidFill>
                  <a:schemeClr val="bg1"/>
                </a:solidFill>
                <a:cs typeface="2  Titr" panose="00000700000000000000" pitchFamily="2" charset="-78"/>
              </a:rPr>
              <a:t>- </a:t>
            </a:r>
            <a:r>
              <a:rPr lang="fa-IR" sz="1350" u="sng" dirty="0">
                <a:solidFill>
                  <a:schemeClr val="bg1"/>
                </a:solidFill>
                <a:cs typeface="2  Titr" panose="00000700000000000000" pitchFamily="2" charset="-78"/>
              </a:rPr>
              <a:t>باید</a:t>
            </a:r>
            <a:r>
              <a:rPr lang="fa-IR" sz="1350" dirty="0">
                <a:solidFill>
                  <a:schemeClr val="bg1"/>
                </a:solidFill>
                <a:cs typeface="2  Titr" panose="00000700000000000000" pitchFamily="2" charset="-78"/>
              </a:rPr>
              <a:t> جالب باشد</a:t>
            </a:r>
          </a:p>
          <a:p>
            <a:pPr algn="r"/>
            <a:r>
              <a:rPr lang="fa-IR" sz="1350" dirty="0">
                <a:solidFill>
                  <a:schemeClr val="bg1"/>
                </a:solidFill>
                <a:cs typeface="2  Titr" panose="00000700000000000000" pitchFamily="2" charset="-78"/>
              </a:rPr>
              <a:t>- </a:t>
            </a:r>
            <a:r>
              <a:rPr lang="fa-IR" sz="1350" u="sng" dirty="0">
                <a:solidFill>
                  <a:schemeClr val="bg1"/>
                </a:solidFill>
                <a:cs typeface="2  Titr" panose="00000700000000000000" pitchFamily="2" charset="-78"/>
              </a:rPr>
              <a:t>باید</a:t>
            </a:r>
            <a:r>
              <a:rPr lang="fa-IR" sz="1350" dirty="0">
                <a:solidFill>
                  <a:schemeClr val="bg1"/>
                </a:solidFill>
                <a:cs typeface="2  Titr" panose="00000700000000000000" pitchFamily="2" charset="-78"/>
              </a:rPr>
              <a:t> خلاقیت را برانگیزد</a:t>
            </a:r>
            <a:endParaRPr lang="en-US" sz="1350" dirty="0">
              <a:solidFill>
                <a:schemeClr val="bg1"/>
              </a:solidFill>
              <a:cs typeface="2  Titr" panose="00000700000000000000" pitchFamily="2" charset="-78"/>
            </a:endParaRPr>
          </a:p>
        </p:txBody>
      </p:sp>
      <p:pic>
        <p:nvPicPr>
          <p:cNvPr id="11" name="Picture 10">
            <a:extLst>
              <a:ext uri="{FF2B5EF4-FFF2-40B4-BE49-F238E27FC236}">
                <a16:creationId xmlns:a16="http://schemas.microsoft.com/office/drawing/2014/main" id="{979F16B3-89A6-451C-B121-8948D2B7B4C1}"/>
              </a:ext>
            </a:extLst>
          </p:cNvPr>
          <p:cNvPicPr>
            <a:picLocks noChangeAspect="1"/>
          </p:cNvPicPr>
          <p:nvPr/>
        </p:nvPicPr>
        <p:blipFill>
          <a:blip r:embed="rId2"/>
          <a:stretch>
            <a:fillRect/>
          </a:stretch>
        </p:blipFill>
        <p:spPr>
          <a:xfrm>
            <a:off x="2053244" y="4825765"/>
            <a:ext cx="5037513" cy="1069484"/>
          </a:xfrm>
          <a:prstGeom prst="rect">
            <a:avLst/>
          </a:prstGeom>
        </p:spPr>
      </p:pic>
      <p:sp>
        <p:nvSpPr>
          <p:cNvPr id="15" name="TextBox 14">
            <a:extLst>
              <a:ext uri="{FF2B5EF4-FFF2-40B4-BE49-F238E27FC236}">
                <a16:creationId xmlns:a16="http://schemas.microsoft.com/office/drawing/2014/main" id="{AB3B5A5A-1D7F-41C0-B23D-B1D24D2FA08B}"/>
              </a:ext>
            </a:extLst>
          </p:cNvPr>
          <p:cNvSpPr txBox="1"/>
          <p:nvPr/>
        </p:nvSpPr>
        <p:spPr>
          <a:xfrm>
            <a:off x="3254375" y="4193604"/>
            <a:ext cx="5137149" cy="300082"/>
          </a:xfrm>
          <a:prstGeom prst="rect">
            <a:avLst/>
          </a:prstGeom>
          <a:noFill/>
        </p:spPr>
        <p:txBody>
          <a:bodyPr wrap="square">
            <a:spAutoFit/>
          </a:bodyPr>
          <a:lstStyle/>
          <a:p>
            <a:pPr algn="r" rtl="1"/>
            <a:r>
              <a:rPr lang="fa-IR" sz="1350" strike="sngStrike" dirty="0">
                <a:cs typeface="2  Titr" panose="00000700000000000000" pitchFamily="2" charset="-78"/>
              </a:rPr>
              <a:t>در مورد استراتژی های بازاریابی صحبت کنید»</a:t>
            </a:r>
            <a:endParaRPr lang="en-US" sz="1350" strike="sngStrike" dirty="0">
              <a:cs typeface="2  Titr" panose="00000700000000000000" pitchFamily="2" charset="-78"/>
            </a:endParaRPr>
          </a:p>
        </p:txBody>
      </p:sp>
      <p:sp>
        <p:nvSpPr>
          <p:cNvPr id="17" name="TextBox 16">
            <a:extLst>
              <a:ext uri="{FF2B5EF4-FFF2-40B4-BE49-F238E27FC236}">
                <a16:creationId xmlns:a16="http://schemas.microsoft.com/office/drawing/2014/main" id="{155B701C-AD5A-43B3-91AB-C94C370038E2}"/>
              </a:ext>
            </a:extLst>
          </p:cNvPr>
          <p:cNvSpPr txBox="1"/>
          <p:nvPr/>
        </p:nvSpPr>
        <p:spPr>
          <a:xfrm>
            <a:off x="3703550" y="4468437"/>
            <a:ext cx="5137149" cy="300082"/>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a:spAutoFit/>
          </a:bodyPr>
          <a:lstStyle/>
          <a:p>
            <a:r>
              <a:rPr lang="fa-IR" sz="1350" u="sng" dirty="0">
                <a:cs typeface="2  Titr" panose="00000700000000000000" pitchFamily="2" charset="-78"/>
              </a:rPr>
              <a:t>سه</a:t>
            </a:r>
            <a:r>
              <a:rPr lang="fa-IR" sz="1350" dirty="0">
                <a:cs typeface="2  Titr" panose="00000700000000000000" pitchFamily="2" charset="-78"/>
              </a:rPr>
              <a:t> استراتژی بازاریابی دیجیتال موثر </a:t>
            </a:r>
            <a:r>
              <a:rPr lang="fa-IR" sz="1350" u="sng" dirty="0">
                <a:cs typeface="2  Titr" panose="00000700000000000000" pitchFamily="2" charset="-78"/>
              </a:rPr>
              <a:t>برای کسب و کارهای کوچک </a:t>
            </a:r>
            <a:r>
              <a:rPr lang="fa-IR" sz="1350" dirty="0">
                <a:cs typeface="2  Titr" panose="00000700000000000000" pitchFamily="2" charset="-78"/>
              </a:rPr>
              <a:t>را توضیح دهید</a:t>
            </a:r>
            <a:endParaRPr lang="en-US" sz="1350" dirty="0">
              <a:cs typeface="2  Titr" panose="00000700000000000000" pitchFamily="2" charset="-78"/>
            </a:endParaRPr>
          </a:p>
        </p:txBody>
      </p:sp>
      <p:sp>
        <p:nvSpPr>
          <p:cNvPr id="25" name="TextBox 24">
            <a:extLst>
              <a:ext uri="{FF2B5EF4-FFF2-40B4-BE49-F238E27FC236}">
                <a16:creationId xmlns:a16="http://schemas.microsoft.com/office/drawing/2014/main" id="{FE9684A6-FDBD-4029-BEED-9EF9A26B82EA}"/>
              </a:ext>
            </a:extLst>
          </p:cNvPr>
          <p:cNvSpPr txBox="1"/>
          <p:nvPr/>
        </p:nvSpPr>
        <p:spPr>
          <a:xfrm>
            <a:off x="1340486" y="3805735"/>
            <a:ext cx="5137149" cy="300082"/>
          </a:xfrm>
          <a:prstGeom prst="rect">
            <a:avLst/>
          </a:prstGeom>
        </p:spPr>
        <p:style>
          <a:lnRef idx="3">
            <a:schemeClr val="lt1"/>
          </a:lnRef>
          <a:fillRef idx="1">
            <a:schemeClr val="accent3"/>
          </a:fillRef>
          <a:effectRef idx="1">
            <a:schemeClr val="accent3"/>
          </a:effectRef>
          <a:fontRef idx="minor">
            <a:schemeClr val="lt1"/>
          </a:fontRef>
        </p:style>
        <p:txBody>
          <a:bodyPr wrap="square">
            <a:spAutoFit/>
          </a:bodyPr>
          <a:lstStyle/>
          <a:p>
            <a:pPr algn="r" rtl="1"/>
            <a:r>
              <a:rPr lang="fa-IR" sz="1350" dirty="0">
                <a:solidFill>
                  <a:srgbClr val="FF0000"/>
                </a:solidFill>
                <a:cs typeface="2  Titr" panose="00000700000000000000" pitchFamily="2" charset="-78"/>
              </a:rPr>
              <a:t>مهره‌ها و صفحه شطرنج را با بازیکنان و زمین فوتبال </a:t>
            </a:r>
            <a:r>
              <a:rPr lang="fa-IR" sz="1350" u="sng" dirty="0">
                <a:solidFill>
                  <a:srgbClr val="FF0000"/>
                </a:solidFill>
                <a:cs typeface="2  Titr" panose="00000700000000000000" pitchFamily="2" charset="-78"/>
              </a:rPr>
              <a:t>مقایسه</a:t>
            </a:r>
            <a:r>
              <a:rPr lang="fa-IR" sz="1350" dirty="0">
                <a:solidFill>
                  <a:srgbClr val="FF0000"/>
                </a:solidFill>
                <a:cs typeface="2  Titr" panose="00000700000000000000" pitchFamily="2" charset="-78"/>
              </a:rPr>
              <a:t> کنید</a:t>
            </a:r>
          </a:p>
        </p:txBody>
      </p:sp>
      <p:sp>
        <p:nvSpPr>
          <p:cNvPr id="4" name="TextBox 3">
            <a:extLst>
              <a:ext uri="{FF2B5EF4-FFF2-40B4-BE49-F238E27FC236}">
                <a16:creationId xmlns:a16="http://schemas.microsoft.com/office/drawing/2014/main" id="{3A97A6F4-5794-42FD-18D4-B5B9087A2F10}"/>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43</a:t>
            </a:r>
            <a:endParaRPr lang="fa-IR" sz="1200"/>
          </a:p>
        </p:txBody>
      </p:sp>
    </p:spTree>
    <p:extLst>
      <p:ext uri="{BB962C8B-B14F-4D97-AF65-F5344CB8AC3E}">
        <p14:creationId xmlns:p14="http://schemas.microsoft.com/office/powerpoint/2010/main" val="6951772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lumMod val="95000"/>
            <a:lumOff val="5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6CF145D-4822-4721-B39B-A4D000779AB2}"/>
              </a:ext>
            </a:extLst>
          </p:cNvPr>
          <p:cNvPicPr>
            <a:picLocks noChangeAspect="1"/>
          </p:cNvPicPr>
          <p:nvPr/>
        </p:nvPicPr>
        <p:blipFill>
          <a:blip r:embed="rId2"/>
          <a:stretch>
            <a:fillRect/>
          </a:stretch>
        </p:blipFill>
        <p:spPr>
          <a:xfrm>
            <a:off x="2612534" y="1562801"/>
            <a:ext cx="1959466" cy="4354368"/>
          </a:xfrm>
          <a:prstGeom prst="rect">
            <a:avLst/>
          </a:prstGeom>
        </p:spPr>
      </p:pic>
      <p:pic>
        <p:nvPicPr>
          <p:cNvPr id="13" name="Picture 12">
            <a:extLst>
              <a:ext uri="{FF2B5EF4-FFF2-40B4-BE49-F238E27FC236}">
                <a16:creationId xmlns:a16="http://schemas.microsoft.com/office/drawing/2014/main" id="{B6A19C99-9321-4D84-8876-1F5F9FFAA34C}"/>
              </a:ext>
            </a:extLst>
          </p:cNvPr>
          <p:cNvPicPr>
            <a:picLocks noChangeAspect="1"/>
          </p:cNvPicPr>
          <p:nvPr/>
        </p:nvPicPr>
        <p:blipFill>
          <a:blip r:embed="rId3"/>
          <a:stretch>
            <a:fillRect/>
          </a:stretch>
        </p:blipFill>
        <p:spPr>
          <a:xfrm>
            <a:off x="37455" y="1114779"/>
            <a:ext cx="2075243" cy="4611652"/>
          </a:xfrm>
          <a:prstGeom prst="rect">
            <a:avLst/>
          </a:prstGeom>
        </p:spPr>
      </p:pic>
      <p:pic>
        <p:nvPicPr>
          <p:cNvPr id="19" name="Picture 18">
            <a:extLst>
              <a:ext uri="{FF2B5EF4-FFF2-40B4-BE49-F238E27FC236}">
                <a16:creationId xmlns:a16="http://schemas.microsoft.com/office/drawing/2014/main" id="{BA7025D5-E191-4F7D-A2A6-719B43A84C69}"/>
              </a:ext>
            </a:extLst>
          </p:cNvPr>
          <p:cNvPicPr>
            <a:picLocks noChangeAspect="1"/>
          </p:cNvPicPr>
          <p:nvPr/>
        </p:nvPicPr>
        <p:blipFill>
          <a:blip r:embed="rId4"/>
          <a:stretch>
            <a:fillRect/>
          </a:stretch>
        </p:blipFill>
        <p:spPr>
          <a:xfrm>
            <a:off x="5286975" y="1805642"/>
            <a:ext cx="2182715" cy="4850477"/>
          </a:xfrm>
          <a:prstGeom prst="rect">
            <a:avLst/>
          </a:prstGeom>
        </p:spPr>
      </p:pic>
      <p:sp>
        <p:nvSpPr>
          <p:cNvPr id="5" name="Title 1">
            <a:extLst>
              <a:ext uri="{FF2B5EF4-FFF2-40B4-BE49-F238E27FC236}">
                <a16:creationId xmlns:a16="http://schemas.microsoft.com/office/drawing/2014/main" id="{D3E150E8-36BC-8E6F-3120-EF9003D3A621}"/>
              </a:ext>
            </a:extLst>
          </p:cNvPr>
          <p:cNvSpPr>
            <a:spLocks noGrp="1"/>
          </p:cNvSpPr>
          <p:nvPr>
            <p:ph type="title"/>
          </p:nvPr>
        </p:nvSpPr>
        <p:spPr>
          <a:xfrm>
            <a:off x="962025" y="201881"/>
            <a:ext cx="7803400" cy="670799"/>
          </a:xfrm>
        </p:spPr>
        <p:txBody>
          <a:bodyPr>
            <a:normAutofit/>
          </a:bodyPr>
          <a:lstStyle/>
          <a:p>
            <a:pPr algn="r" rtl="1"/>
            <a:r>
              <a:rPr lang="fa-IR" sz="3200" b="0" i="0" dirty="0">
                <a:effectLst/>
                <a:latin typeface="Google Sans"/>
                <a:cs typeface="2  Titr" panose="00000700000000000000" pitchFamily="2" charset="-78"/>
              </a:rPr>
              <a:t>مهندسی درخواست</a:t>
            </a:r>
          </a:p>
        </p:txBody>
      </p:sp>
      <p:sp>
        <p:nvSpPr>
          <p:cNvPr id="2" name="TextBox 1">
            <a:extLst>
              <a:ext uri="{FF2B5EF4-FFF2-40B4-BE49-F238E27FC236}">
                <a16:creationId xmlns:a16="http://schemas.microsoft.com/office/drawing/2014/main" id="{39D3E879-0559-A81C-E3F9-7680AEF4D891}"/>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44</a:t>
            </a:r>
            <a:endParaRPr lang="fa-IR" sz="1200"/>
          </a:p>
        </p:txBody>
      </p:sp>
    </p:spTree>
    <p:extLst>
      <p:ext uri="{BB962C8B-B14F-4D97-AF65-F5344CB8AC3E}">
        <p14:creationId xmlns:p14="http://schemas.microsoft.com/office/powerpoint/2010/main" val="16710784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lumMod val="95000"/>
            <a:lumOff val="5000"/>
          </a:schemeClr>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2AF6504-3572-4801-8907-6461E3C64778}"/>
              </a:ext>
            </a:extLst>
          </p:cNvPr>
          <p:cNvPicPr>
            <a:picLocks noChangeAspect="1"/>
          </p:cNvPicPr>
          <p:nvPr/>
        </p:nvPicPr>
        <p:blipFill>
          <a:blip r:embed="rId2"/>
          <a:stretch>
            <a:fillRect/>
          </a:stretch>
        </p:blipFill>
        <p:spPr>
          <a:xfrm>
            <a:off x="4241872" y="1537109"/>
            <a:ext cx="2003159" cy="4451465"/>
          </a:xfrm>
          <a:prstGeom prst="rect">
            <a:avLst/>
          </a:prstGeom>
        </p:spPr>
      </p:pic>
      <p:pic>
        <p:nvPicPr>
          <p:cNvPr id="11" name="Picture 10">
            <a:extLst>
              <a:ext uri="{FF2B5EF4-FFF2-40B4-BE49-F238E27FC236}">
                <a16:creationId xmlns:a16="http://schemas.microsoft.com/office/drawing/2014/main" id="{72381F39-4744-46BA-82C5-84E7B135171D}"/>
              </a:ext>
            </a:extLst>
          </p:cNvPr>
          <p:cNvPicPr>
            <a:picLocks noChangeAspect="1"/>
          </p:cNvPicPr>
          <p:nvPr/>
        </p:nvPicPr>
        <p:blipFill>
          <a:blip r:embed="rId3"/>
          <a:stretch>
            <a:fillRect/>
          </a:stretch>
        </p:blipFill>
        <p:spPr>
          <a:xfrm>
            <a:off x="6275716" y="1611630"/>
            <a:ext cx="1910576" cy="4245725"/>
          </a:xfrm>
          <a:prstGeom prst="rect">
            <a:avLst/>
          </a:prstGeom>
        </p:spPr>
      </p:pic>
      <p:pic>
        <p:nvPicPr>
          <p:cNvPr id="15" name="Picture 14">
            <a:extLst>
              <a:ext uri="{FF2B5EF4-FFF2-40B4-BE49-F238E27FC236}">
                <a16:creationId xmlns:a16="http://schemas.microsoft.com/office/drawing/2014/main" id="{A2F41223-AB90-494D-B663-121BC8406A99}"/>
              </a:ext>
            </a:extLst>
          </p:cNvPr>
          <p:cNvPicPr>
            <a:picLocks noChangeAspect="1"/>
          </p:cNvPicPr>
          <p:nvPr/>
        </p:nvPicPr>
        <p:blipFill>
          <a:blip r:embed="rId4"/>
          <a:stretch>
            <a:fillRect/>
          </a:stretch>
        </p:blipFill>
        <p:spPr>
          <a:xfrm>
            <a:off x="95021" y="1080934"/>
            <a:ext cx="2174903" cy="4833119"/>
          </a:xfrm>
          <a:prstGeom prst="rect">
            <a:avLst/>
          </a:prstGeom>
        </p:spPr>
      </p:pic>
      <p:pic>
        <p:nvPicPr>
          <p:cNvPr id="17" name="Picture 16">
            <a:extLst>
              <a:ext uri="{FF2B5EF4-FFF2-40B4-BE49-F238E27FC236}">
                <a16:creationId xmlns:a16="http://schemas.microsoft.com/office/drawing/2014/main" id="{9F29FAD7-029C-49F9-B814-765661763178}"/>
              </a:ext>
            </a:extLst>
          </p:cNvPr>
          <p:cNvPicPr>
            <a:picLocks noChangeAspect="1"/>
          </p:cNvPicPr>
          <p:nvPr/>
        </p:nvPicPr>
        <p:blipFill>
          <a:blip r:embed="rId5">
            <a:duotone>
              <a:prstClr val="black"/>
              <a:schemeClr val="accent5">
                <a:tint val="45000"/>
                <a:satMod val="400000"/>
              </a:schemeClr>
            </a:duotone>
          </a:blip>
          <a:stretch>
            <a:fillRect/>
          </a:stretch>
        </p:blipFill>
        <p:spPr>
          <a:xfrm>
            <a:off x="2340472" y="1774653"/>
            <a:ext cx="1823605" cy="4052455"/>
          </a:xfrm>
          <a:prstGeom prst="rect">
            <a:avLst/>
          </a:prstGeom>
        </p:spPr>
      </p:pic>
      <p:sp>
        <p:nvSpPr>
          <p:cNvPr id="5" name="Title 1">
            <a:extLst>
              <a:ext uri="{FF2B5EF4-FFF2-40B4-BE49-F238E27FC236}">
                <a16:creationId xmlns:a16="http://schemas.microsoft.com/office/drawing/2014/main" id="{9C3FE444-D27C-0E44-FF47-BE7828E9B4B0}"/>
              </a:ext>
            </a:extLst>
          </p:cNvPr>
          <p:cNvSpPr>
            <a:spLocks noGrp="1"/>
          </p:cNvSpPr>
          <p:nvPr>
            <p:ph type="title"/>
          </p:nvPr>
        </p:nvSpPr>
        <p:spPr>
          <a:xfrm>
            <a:off x="962025" y="201881"/>
            <a:ext cx="7803400" cy="670799"/>
          </a:xfrm>
        </p:spPr>
        <p:txBody>
          <a:bodyPr>
            <a:normAutofit/>
          </a:bodyPr>
          <a:lstStyle/>
          <a:p>
            <a:pPr algn="r" rtl="1"/>
            <a:r>
              <a:rPr lang="fa-IR" sz="3200" b="0" i="0" dirty="0">
                <a:effectLst/>
                <a:latin typeface="Google Sans"/>
                <a:cs typeface="2  Titr" panose="00000700000000000000" pitchFamily="2" charset="-78"/>
              </a:rPr>
              <a:t>مهندسی درخواست</a:t>
            </a:r>
          </a:p>
        </p:txBody>
      </p:sp>
      <p:sp>
        <p:nvSpPr>
          <p:cNvPr id="2" name="TextBox 1">
            <a:extLst>
              <a:ext uri="{FF2B5EF4-FFF2-40B4-BE49-F238E27FC236}">
                <a16:creationId xmlns:a16="http://schemas.microsoft.com/office/drawing/2014/main" id="{5D45CA11-E6D2-A767-C208-8E38FEBAA605}"/>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45</a:t>
            </a:r>
            <a:endParaRPr lang="fa-IR" sz="1200"/>
          </a:p>
        </p:txBody>
      </p:sp>
    </p:spTree>
    <p:extLst>
      <p:ext uri="{BB962C8B-B14F-4D97-AF65-F5344CB8AC3E}">
        <p14:creationId xmlns:p14="http://schemas.microsoft.com/office/powerpoint/2010/main" val="7606294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lumMod val="95000"/>
            <a:lumOff val="5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824FE6C-2531-4342-9A3B-1BE667DDD136}"/>
              </a:ext>
            </a:extLst>
          </p:cNvPr>
          <p:cNvPicPr>
            <a:picLocks noChangeAspect="1"/>
          </p:cNvPicPr>
          <p:nvPr/>
        </p:nvPicPr>
        <p:blipFill>
          <a:blip r:embed="rId2">
            <a:duotone>
              <a:prstClr val="black"/>
              <a:schemeClr val="accent6">
                <a:tint val="45000"/>
                <a:satMod val="400000"/>
              </a:schemeClr>
            </a:duotone>
          </a:blip>
          <a:stretch>
            <a:fillRect/>
          </a:stretch>
        </p:blipFill>
        <p:spPr>
          <a:xfrm>
            <a:off x="97454" y="1074652"/>
            <a:ext cx="2094158" cy="4659272"/>
          </a:xfrm>
          <a:prstGeom prst="rect">
            <a:avLst/>
          </a:prstGeom>
        </p:spPr>
      </p:pic>
      <p:pic>
        <p:nvPicPr>
          <p:cNvPr id="7" name="Picture 6">
            <a:extLst>
              <a:ext uri="{FF2B5EF4-FFF2-40B4-BE49-F238E27FC236}">
                <a16:creationId xmlns:a16="http://schemas.microsoft.com/office/drawing/2014/main" id="{3A977CB6-C5F6-4BD7-B565-2BB979091573}"/>
              </a:ext>
            </a:extLst>
          </p:cNvPr>
          <p:cNvPicPr>
            <a:picLocks noChangeAspect="1"/>
          </p:cNvPicPr>
          <p:nvPr/>
        </p:nvPicPr>
        <p:blipFill>
          <a:blip r:embed="rId3"/>
          <a:stretch>
            <a:fillRect/>
          </a:stretch>
        </p:blipFill>
        <p:spPr>
          <a:xfrm>
            <a:off x="6825009" y="1031816"/>
            <a:ext cx="2112576" cy="4694613"/>
          </a:xfrm>
          <a:prstGeom prst="rect">
            <a:avLst/>
          </a:prstGeom>
        </p:spPr>
      </p:pic>
      <p:pic>
        <p:nvPicPr>
          <p:cNvPr id="9" name="Picture 8">
            <a:extLst>
              <a:ext uri="{FF2B5EF4-FFF2-40B4-BE49-F238E27FC236}">
                <a16:creationId xmlns:a16="http://schemas.microsoft.com/office/drawing/2014/main" id="{71AD2502-3C4D-4C2D-93DD-339F4237005C}"/>
              </a:ext>
            </a:extLst>
          </p:cNvPr>
          <p:cNvPicPr>
            <a:picLocks noChangeAspect="1"/>
          </p:cNvPicPr>
          <p:nvPr/>
        </p:nvPicPr>
        <p:blipFill>
          <a:blip r:embed="rId4">
            <a:duotone>
              <a:prstClr val="black"/>
              <a:schemeClr val="accent5">
                <a:tint val="45000"/>
                <a:satMod val="400000"/>
              </a:schemeClr>
            </a:duotone>
          </a:blip>
          <a:stretch>
            <a:fillRect/>
          </a:stretch>
        </p:blipFill>
        <p:spPr>
          <a:xfrm>
            <a:off x="4800685" y="1250026"/>
            <a:ext cx="2014382" cy="4476404"/>
          </a:xfrm>
          <a:prstGeom prst="rect">
            <a:avLst/>
          </a:prstGeom>
        </p:spPr>
      </p:pic>
      <p:pic>
        <p:nvPicPr>
          <p:cNvPr id="13" name="Picture 12">
            <a:extLst>
              <a:ext uri="{FF2B5EF4-FFF2-40B4-BE49-F238E27FC236}">
                <a16:creationId xmlns:a16="http://schemas.microsoft.com/office/drawing/2014/main" id="{B1ACEBEF-D76C-48EB-A766-DB0CAAA42D23}"/>
              </a:ext>
            </a:extLst>
          </p:cNvPr>
          <p:cNvPicPr>
            <a:picLocks noChangeAspect="1"/>
          </p:cNvPicPr>
          <p:nvPr/>
        </p:nvPicPr>
        <p:blipFill>
          <a:blip r:embed="rId5">
            <a:duotone>
              <a:prstClr val="black"/>
              <a:schemeClr val="accent2">
                <a:tint val="45000"/>
                <a:satMod val="400000"/>
              </a:schemeClr>
            </a:duotone>
          </a:blip>
          <a:stretch>
            <a:fillRect/>
          </a:stretch>
        </p:blipFill>
        <p:spPr>
          <a:xfrm>
            <a:off x="4343316" y="3100128"/>
            <a:ext cx="2038229" cy="4529398"/>
          </a:xfrm>
          <a:prstGeom prst="rect">
            <a:avLst/>
          </a:prstGeom>
        </p:spPr>
      </p:pic>
      <p:pic>
        <p:nvPicPr>
          <p:cNvPr id="14" name="Picture 13">
            <a:extLst>
              <a:ext uri="{FF2B5EF4-FFF2-40B4-BE49-F238E27FC236}">
                <a16:creationId xmlns:a16="http://schemas.microsoft.com/office/drawing/2014/main" id="{8F504ECA-7CC0-48F4-A4CF-8BBC14410C1B}"/>
              </a:ext>
            </a:extLst>
          </p:cNvPr>
          <p:cNvPicPr>
            <a:picLocks noChangeAspect="1"/>
          </p:cNvPicPr>
          <p:nvPr/>
        </p:nvPicPr>
        <p:blipFill>
          <a:blip r:embed="rId6">
            <a:duotone>
              <a:prstClr val="black"/>
              <a:schemeClr val="accent3">
                <a:tint val="45000"/>
                <a:satMod val="400000"/>
              </a:schemeClr>
            </a:duotone>
          </a:blip>
          <a:stretch>
            <a:fillRect/>
          </a:stretch>
        </p:blipFill>
        <p:spPr>
          <a:xfrm>
            <a:off x="2240014" y="1154791"/>
            <a:ext cx="2103302" cy="4668416"/>
          </a:xfrm>
          <a:prstGeom prst="rect">
            <a:avLst/>
          </a:prstGeom>
        </p:spPr>
      </p:pic>
      <p:sp>
        <p:nvSpPr>
          <p:cNvPr id="5" name="Title 1">
            <a:extLst>
              <a:ext uri="{FF2B5EF4-FFF2-40B4-BE49-F238E27FC236}">
                <a16:creationId xmlns:a16="http://schemas.microsoft.com/office/drawing/2014/main" id="{70AB9495-1516-0DE8-2495-9F9133ED91B7}"/>
              </a:ext>
            </a:extLst>
          </p:cNvPr>
          <p:cNvSpPr>
            <a:spLocks noGrp="1"/>
          </p:cNvSpPr>
          <p:nvPr>
            <p:ph type="title"/>
          </p:nvPr>
        </p:nvSpPr>
        <p:spPr>
          <a:xfrm>
            <a:off x="962025" y="201881"/>
            <a:ext cx="7803400" cy="670799"/>
          </a:xfrm>
        </p:spPr>
        <p:txBody>
          <a:bodyPr>
            <a:normAutofit/>
          </a:bodyPr>
          <a:lstStyle/>
          <a:p>
            <a:pPr algn="r" rtl="1"/>
            <a:r>
              <a:rPr lang="fa-IR" sz="3200" b="0" i="0" dirty="0">
                <a:effectLst/>
                <a:latin typeface="Google Sans"/>
                <a:cs typeface="2  Titr" panose="00000700000000000000" pitchFamily="2" charset="-78"/>
              </a:rPr>
              <a:t>مهندسی درخواست</a:t>
            </a:r>
          </a:p>
        </p:txBody>
      </p:sp>
      <p:sp>
        <p:nvSpPr>
          <p:cNvPr id="3" name="TextBox 2">
            <a:extLst>
              <a:ext uri="{FF2B5EF4-FFF2-40B4-BE49-F238E27FC236}">
                <a16:creationId xmlns:a16="http://schemas.microsoft.com/office/drawing/2014/main" id="{47950846-09EF-66CB-B4A3-91524172B6C2}"/>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46</a:t>
            </a:r>
            <a:endParaRPr lang="fa-IR" sz="1200"/>
          </a:p>
        </p:txBody>
      </p:sp>
    </p:spTree>
    <p:extLst>
      <p:ext uri="{BB962C8B-B14F-4D97-AF65-F5344CB8AC3E}">
        <p14:creationId xmlns:p14="http://schemas.microsoft.com/office/powerpoint/2010/main" val="7420494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lumMod val="95000"/>
            <a:lumOff val="5000"/>
          </a:scheme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EF13DBC-04BB-4262-B882-C0E3E3FC5A05}"/>
              </a:ext>
            </a:extLst>
          </p:cNvPr>
          <p:cNvPicPr>
            <a:picLocks noChangeAspect="1"/>
          </p:cNvPicPr>
          <p:nvPr/>
        </p:nvPicPr>
        <p:blipFill rotWithShape="1">
          <a:blip r:embed="rId2"/>
          <a:srcRect l="35933" b="37798"/>
          <a:stretch/>
        </p:blipFill>
        <p:spPr>
          <a:xfrm>
            <a:off x="5735384" y="1135953"/>
            <a:ext cx="3202234" cy="619397"/>
          </a:xfrm>
          <a:prstGeom prst="rect">
            <a:avLst/>
          </a:prstGeom>
        </p:spPr>
      </p:pic>
      <p:pic>
        <p:nvPicPr>
          <p:cNvPr id="9" name="Picture 8">
            <a:extLst>
              <a:ext uri="{FF2B5EF4-FFF2-40B4-BE49-F238E27FC236}">
                <a16:creationId xmlns:a16="http://schemas.microsoft.com/office/drawing/2014/main" id="{483505EA-FC9F-427B-9DAB-1032854B782F}"/>
              </a:ext>
            </a:extLst>
          </p:cNvPr>
          <p:cNvPicPr>
            <a:picLocks noChangeAspect="1"/>
          </p:cNvPicPr>
          <p:nvPr/>
        </p:nvPicPr>
        <p:blipFill>
          <a:blip r:embed="rId3"/>
          <a:stretch>
            <a:fillRect/>
          </a:stretch>
        </p:blipFill>
        <p:spPr>
          <a:xfrm>
            <a:off x="2444828" y="1806751"/>
            <a:ext cx="6115050" cy="571500"/>
          </a:xfrm>
          <a:prstGeom prst="rect">
            <a:avLst/>
          </a:prstGeom>
        </p:spPr>
      </p:pic>
      <p:pic>
        <p:nvPicPr>
          <p:cNvPr id="11" name="Picture 10">
            <a:extLst>
              <a:ext uri="{FF2B5EF4-FFF2-40B4-BE49-F238E27FC236}">
                <a16:creationId xmlns:a16="http://schemas.microsoft.com/office/drawing/2014/main" id="{5BF82922-D685-48DC-AF61-6914D9C9ECBF}"/>
              </a:ext>
            </a:extLst>
          </p:cNvPr>
          <p:cNvPicPr>
            <a:picLocks noChangeAspect="1"/>
          </p:cNvPicPr>
          <p:nvPr/>
        </p:nvPicPr>
        <p:blipFill>
          <a:blip r:embed="rId4"/>
          <a:stretch>
            <a:fillRect/>
          </a:stretch>
        </p:blipFill>
        <p:spPr>
          <a:xfrm>
            <a:off x="2444828" y="2401373"/>
            <a:ext cx="6115050" cy="2464594"/>
          </a:xfrm>
          <a:prstGeom prst="rect">
            <a:avLst/>
          </a:prstGeom>
        </p:spPr>
      </p:pic>
      <p:pic>
        <p:nvPicPr>
          <p:cNvPr id="17" name="Picture 16">
            <a:extLst>
              <a:ext uri="{FF2B5EF4-FFF2-40B4-BE49-F238E27FC236}">
                <a16:creationId xmlns:a16="http://schemas.microsoft.com/office/drawing/2014/main" id="{6C84BFF5-D89B-4577-B9FA-C206C8E51EA3}"/>
              </a:ext>
            </a:extLst>
          </p:cNvPr>
          <p:cNvPicPr>
            <a:picLocks noChangeAspect="1"/>
          </p:cNvPicPr>
          <p:nvPr/>
        </p:nvPicPr>
        <p:blipFill>
          <a:blip r:embed="rId5">
            <a:duotone>
              <a:prstClr val="black"/>
              <a:schemeClr val="accent1">
                <a:tint val="45000"/>
                <a:satMod val="400000"/>
              </a:schemeClr>
            </a:duotone>
          </a:blip>
          <a:stretch>
            <a:fillRect/>
          </a:stretch>
        </p:blipFill>
        <p:spPr>
          <a:xfrm>
            <a:off x="343090" y="3633669"/>
            <a:ext cx="6993410" cy="1830490"/>
          </a:xfrm>
          <a:prstGeom prst="rect">
            <a:avLst/>
          </a:prstGeom>
        </p:spPr>
      </p:pic>
      <p:pic>
        <p:nvPicPr>
          <p:cNvPr id="13" name="Picture 12">
            <a:extLst>
              <a:ext uri="{FF2B5EF4-FFF2-40B4-BE49-F238E27FC236}">
                <a16:creationId xmlns:a16="http://schemas.microsoft.com/office/drawing/2014/main" id="{F0D9D1E5-7FEB-4608-9C3D-B934BA2805D1}"/>
              </a:ext>
            </a:extLst>
          </p:cNvPr>
          <p:cNvPicPr>
            <a:picLocks noChangeAspect="1"/>
          </p:cNvPicPr>
          <p:nvPr/>
        </p:nvPicPr>
        <p:blipFill>
          <a:blip r:embed="rId6">
            <a:duotone>
              <a:prstClr val="black"/>
              <a:schemeClr val="accent5">
                <a:tint val="45000"/>
                <a:satMod val="400000"/>
              </a:schemeClr>
            </a:duotone>
          </a:blip>
          <a:stretch>
            <a:fillRect/>
          </a:stretch>
        </p:blipFill>
        <p:spPr>
          <a:xfrm>
            <a:off x="253857" y="4975708"/>
            <a:ext cx="8636286" cy="1214797"/>
          </a:xfrm>
          <a:prstGeom prst="rect">
            <a:avLst/>
          </a:prstGeom>
        </p:spPr>
      </p:pic>
      <p:sp>
        <p:nvSpPr>
          <p:cNvPr id="12" name="TextBox 11">
            <a:extLst>
              <a:ext uri="{FF2B5EF4-FFF2-40B4-BE49-F238E27FC236}">
                <a16:creationId xmlns:a16="http://schemas.microsoft.com/office/drawing/2014/main" id="{B03C10B9-9002-49E7-B1C8-868597B135F2}"/>
              </a:ext>
            </a:extLst>
          </p:cNvPr>
          <p:cNvSpPr txBox="1"/>
          <p:nvPr/>
        </p:nvSpPr>
        <p:spPr>
          <a:xfrm>
            <a:off x="2593571" y="1496251"/>
            <a:ext cx="2830363" cy="300082"/>
          </a:xfrm>
          <a:prstGeom prst="rect">
            <a:avLst/>
          </a:prstGeom>
          <a:noFill/>
        </p:spPr>
        <p:txBody>
          <a:bodyPr wrap="square">
            <a:spAutoFit/>
          </a:bodyPr>
          <a:lstStyle/>
          <a:p>
            <a:pPr algn="r" rtl="1"/>
            <a:r>
              <a:rPr lang="fa-IR" sz="1350" dirty="0">
                <a:cs typeface="2  Nazanin" panose="00000400000000000000" pitchFamily="2" charset="-78"/>
              </a:rPr>
              <a:t>داستان: کارمند، دانش‌آموز، خرید، امتحان، پول</a:t>
            </a:r>
          </a:p>
        </p:txBody>
      </p:sp>
      <p:sp>
        <p:nvSpPr>
          <p:cNvPr id="14" name="TextBox 13">
            <a:extLst>
              <a:ext uri="{FF2B5EF4-FFF2-40B4-BE49-F238E27FC236}">
                <a16:creationId xmlns:a16="http://schemas.microsoft.com/office/drawing/2014/main" id="{F2BBF9CE-950D-4DCF-91C1-D248273257AD}"/>
              </a:ext>
            </a:extLst>
          </p:cNvPr>
          <p:cNvSpPr txBox="1"/>
          <p:nvPr/>
        </p:nvSpPr>
        <p:spPr>
          <a:xfrm>
            <a:off x="-329425" y="3290208"/>
            <a:ext cx="2830363" cy="300082"/>
          </a:xfrm>
          <a:prstGeom prst="rect">
            <a:avLst/>
          </a:prstGeom>
          <a:noFill/>
        </p:spPr>
        <p:txBody>
          <a:bodyPr wrap="square">
            <a:spAutoFit/>
          </a:bodyPr>
          <a:lstStyle/>
          <a:p>
            <a:pPr algn="r" rtl="1"/>
            <a:r>
              <a:rPr lang="fa-IR" sz="1350" dirty="0">
                <a:cs typeface="2  Nazanin" panose="00000400000000000000" pitchFamily="2" charset="-78"/>
              </a:rPr>
              <a:t>یک پراید و دوچرخه به داستان اضافه کنید</a:t>
            </a:r>
          </a:p>
        </p:txBody>
      </p:sp>
      <p:sp>
        <p:nvSpPr>
          <p:cNvPr id="6" name="Title 1">
            <a:extLst>
              <a:ext uri="{FF2B5EF4-FFF2-40B4-BE49-F238E27FC236}">
                <a16:creationId xmlns:a16="http://schemas.microsoft.com/office/drawing/2014/main" id="{08C204D4-9AFE-EAD5-281E-6698C363963B}"/>
              </a:ext>
            </a:extLst>
          </p:cNvPr>
          <p:cNvSpPr>
            <a:spLocks noGrp="1"/>
          </p:cNvSpPr>
          <p:nvPr>
            <p:ph type="title"/>
          </p:nvPr>
        </p:nvSpPr>
        <p:spPr>
          <a:xfrm>
            <a:off x="962025" y="201881"/>
            <a:ext cx="7803400" cy="670799"/>
          </a:xfrm>
        </p:spPr>
        <p:txBody>
          <a:bodyPr>
            <a:normAutofit/>
          </a:bodyPr>
          <a:lstStyle/>
          <a:p>
            <a:pPr algn="r" rtl="1"/>
            <a:r>
              <a:rPr lang="fa-IR" sz="3200" b="0" i="0" dirty="0">
                <a:effectLst/>
                <a:latin typeface="Google Sans"/>
                <a:cs typeface="2  Titr" panose="00000700000000000000" pitchFamily="2" charset="-78"/>
              </a:rPr>
              <a:t>مهندسی درخواست</a:t>
            </a:r>
          </a:p>
        </p:txBody>
      </p:sp>
      <p:sp>
        <p:nvSpPr>
          <p:cNvPr id="2" name="TextBox 1">
            <a:extLst>
              <a:ext uri="{FF2B5EF4-FFF2-40B4-BE49-F238E27FC236}">
                <a16:creationId xmlns:a16="http://schemas.microsoft.com/office/drawing/2014/main" id="{DDD12844-C837-596F-2E29-D9148B960185}"/>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47</a:t>
            </a:r>
            <a:endParaRPr lang="fa-IR" sz="1200"/>
          </a:p>
        </p:txBody>
      </p:sp>
    </p:spTree>
    <p:extLst>
      <p:ext uri="{BB962C8B-B14F-4D97-AF65-F5344CB8AC3E}">
        <p14:creationId xmlns:p14="http://schemas.microsoft.com/office/powerpoint/2010/main" val="36765885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lumMod val="95000"/>
            <a:lumOff val="5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AF8951C-7D57-470D-97D5-C0CB08711477}"/>
              </a:ext>
            </a:extLst>
          </p:cNvPr>
          <p:cNvPicPr>
            <a:picLocks noChangeAspect="1"/>
          </p:cNvPicPr>
          <p:nvPr/>
        </p:nvPicPr>
        <p:blipFill>
          <a:blip r:embed="rId2"/>
          <a:stretch>
            <a:fillRect/>
          </a:stretch>
        </p:blipFill>
        <p:spPr>
          <a:xfrm>
            <a:off x="3331955" y="1842307"/>
            <a:ext cx="5720453" cy="557877"/>
          </a:xfrm>
          <a:prstGeom prst="rect">
            <a:avLst/>
          </a:prstGeom>
        </p:spPr>
      </p:pic>
      <p:sp>
        <p:nvSpPr>
          <p:cNvPr id="9" name="TextBox 8">
            <a:extLst>
              <a:ext uri="{FF2B5EF4-FFF2-40B4-BE49-F238E27FC236}">
                <a16:creationId xmlns:a16="http://schemas.microsoft.com/office/drawing/2014/main" id="{53533041-7644-4CE1-B0AD-2F97AE6F7A9F}"/>
              </a:ext>
            </a:extLst>
          </p:cNvPr>
          <p:cNvSpPr txBox="1"/>
          <p:nvPr/>
        </p:nvSpPr>
        <p:spPr>
          <a:xfrm>
            <a:off x="563036" y="7112447"/>
            <a:ext cx="6619529" cy="13596030"/>
          </a:xfrm>
          <a:prstGeom prst="rect">
            <a:avLst/>
          </a:prstGeom>
          <a:noFill/>
        </p:spPr>
        <p:txBody>
          <a:bodyPr wrap="square">
            <a:spAutoFit/>
          </a:bodyPr>
          <a:lstStyle/>
          <a:p>
            <a:pPr algn="r" rtl="1"/>
            <a:r>
              <a:rPr lang="fa-IR" sz="1350" dirty="0">
                <a:solidFill>
                  <a:srgbClr val="1F1F1F"/>
                </a:solidFill>
                <a:latin typeface="Google Sans"/>
                <a:cs typeface="2  Nazanin" panose="00000400000000000000" pitchFamily="2" charset="-78"/>
              </a:rPr>
              <a:t>پرده اول</a:t>
            </a:r>
          </a:p>
          <a:p>
            <a:pPr algn="r" rtl="1"/>
            <a:r>
              <a:rPr lang="fa-IR" sz="1350" dirty="0">
                <a:solidFill>
                  <a:srgbClr val="1F1F1F"/>
                </a:solidFill>
                <a:latin typeface="Google Sans"/>
                <a:cs typeface="2  Nazanin" panose="00000400000000000000" pitchFamily="2" charset="-78"/>
              </a:rPr>
              <a:t>مکان: دانشگاه شهید چمران اهواز</a:t>
            </a:r>
          </a:p>
          <a:p>
            <a:pPr algn="r" rtl="1"/>
            <a:r>
              <a:rPr lang="fa-IR" sz="1350" dirty="0">
                <a:solidFill>
                  <a:srgbClr val="1F1F1F"/>
                </a:solidFill>
                <a:latin typeface="Google Sans"/>
                <a:cs typeface="2  Nazanin" panose="00000400000000000000" pitchFamily="2" charset="-78"/>
              </a:rPr>
              <a:t>شخصیت‌ها:</a:t>
            </a:r>
          </a:p>
          <a:p>
            <a:pPr algn="r" rtl="1">
              <a:buFont typeface="Arial" panose="020B0604020202020204" pitchFamily="34" charset="0"/>
              <a:buChar char="•"/>
            </a:pPr>
            <a:r>
              <a:rPr lang="fa-IR" sz="1350" dirty="0">
                <a:solidFill>
                  <a:srgbClr val="1F1F1F"/>
                </a:solidFill>
                <a:latin typeface="Google Sans"/>
                <a:cs typeface="2  Nazanin" panose="00000400000000000000" pitchFamily="2" charset="-78"/>
              </a:rPr>
              <a:t>دانشجو: جوانی با موهای بلند و سبیل</a:t>
            </a:r>
          </a:p>
          <a:p>
            <a:pPr algn="r" rtl="1">
              <a:buFont typeface="Arial" panose="020B0604020202020204" pitchFamily="34" charset="0"/>
              <a:buChar char="•"/>
            </a:pPr>
            <a:r>
              <a:rPr lang="fa-IR" sz="1350" dirty="0">
                <a:solidFill>
                  <a:srgbClr val="1F1F1F"/>
                </a:solidFill>
                <a:latin typeface="Google Sans"/>
                <a:cs typeface="2  Nazanin" panose="00000400000000000000" pitchFamily="2" charset="-78"/>
              </a:rPr>
              <a:t>معلم: مردی میانسال با عینک و کت و شلوار</a:t>
            </a:r>
          </a:p>
          <a:p>
            <a:pPr algn="r" rtl="1"/>
            <a:r>
              <a:rPr lang="fa-IR" sz="1350" dirty="0">
                <a:solidFill>
                  <a:srgbClr val="1F1F1F"/>
                </a:solidFill>
                <a:latin typeface="Google Sans"/>
                <a:cs typeface="2  Nazanin" panose="00000400000000000000" pitchFamily="2" charset="-78"/>
              </a:rPr>
              <a:t>صحنه:</a:t>
            </a:r>
          </a:p>
          <a:p>
            <a:pPr algn="r" rtl="1"/>
            <a:r>
              <a:rPr lang="fa-IR" sz="1350" dirty="0">
                <a:solidFill>
                  <a:srgbClr val="1F1F1F"/>
                </a:solidFill>
                <a:latin typeface="Google Sans"/>
                <a:cs typeface="2  Nazanin" panose="00000400000000000000" pitchFamily="2" charset="-78"/>
              </a:rPr>
              <a:t>دانشجو در حال قدم زدن در دانشگاه است. او خسته و کلافه به نظر می‌رسد.</a:t>
            </a:r>
          </a:p>
          <a:p>
            <a:pPr algn="r" rtl="1"/>
            <a:r>
              <a:rPr lang="fa-IR" sz="1350" dirty="0">
                <a:solidFill>
                  <a:srgbClr val="1F1F1F"/>
                </a:solidFill>
                <a:latin typeface="Google Sans"/>
                <a:cs typeface="2  Nazanin" panose="00000400000000000000" pitchFamily="2" charset="-78"/>
              </a:rPr>
              <a:t>دانشجو: (با خودش) آخیش، بالاخره کلاس‌ها تموم شد. حالا می‌تونم برم خونه و استراحت کنم.</a:t>
            </a:r>
          </a:p>
          <a:p>
            <a:pPr algn="r" rtl="1"/>
            <a:r>
              <a:rPr lang="fa-IR" sz="1350" dirty="0">
                <a:solidFill>
                  <a:srgbClr val="1F1F1F"/>
                </a:solidFill>
                <a:latin typeface="Google Sans"/>
                <a:cs typeface="2  Nazanin" panose="00000400000000000000" pitchFamily="2" charset="-78"/>
              </a:rPr>
              <a:t>معلم (از دور) سلام آقا!</a:t>
            </a:r>
          </a:p>
          <a:p>
            <a:pPr algn="r" rtl="1"/>
            <a:r>
              <a:rPr lang="fa-IR" sz="1350" dirty="0">
                <a:solidFill>
                  <a:srgbClr val="1F1F1F"/>
                </a:solidFill>
                <a:latin typeface="Google Sans"/>
                <a:cs typeface="2  Nazanin" panose="00000400000000000000" pitchFamily="2" charset="-78"/>
              </a:rPr>
              <a:t>دانشجو (با تعجب) سلام آقا!</a:t>
            </a:r>
          </a:p>
          <a:p>
            <a:pPr algn="r" rtl="1"/>
            <a:r>
              <a:rPr lang="fa-IR" sz="1350" dirty="0">
                <a:solidFill>
                  <a:srgbClr val="1F1F1F"/>
                </a:solidFill>
                <a:latin typeface="Google Sans"/>
                <a:cs typeface="2  Nazanin" panose="00000400000000000000" pitchFamily="2" charset="-78"/>
              </a:rPr>
              <a:t>معلم شما دانشجوی مهندسی جوشکاری هستید؟</a:t>
            </a:r>
          </a:p>
          <a:p>
            <a:pPr algn="r" rtl="1"/>
            <a:r>
              <a:rPr lang="fa-IR" sz="1350" dirty="0">
                <a:solidFill>
                  <a:srgbClr val="1F1F1F"/>
                </a:solidFill>
                <a:latin typeface="Google Sans"/>
                <a:cs typeface="2  Nazanin" panose="00000400000000000000" pitchFamily="2" charset="-78"/>
              </a:rPr>
              <a:t>دانشجو بله، درسته.</a:t>
            </a:r>
          </a:p>
          <a:p>
            <a:pPr algn="r" rtl="1"/>
            <a:r>
              <a:rPr lang="fa-IR" sz="1350" dirty="0">
                <a:solidFill>
                  <a:srgbClr val="1F1F1F"/>
                </a:solidFill>
                <a:latin typeface="Google Sans"/>
                <a:cs typeface="2  Nazanin" panose="00000400000000000000" pitchFamily="2" charset="-78"/>
              </a:rPr>
              <a:t>معلم منم استاد این رشته هستم.</a:t>
            </a:r>
          </a:p>
          <a:p>
            <a:pPr algn="r" rtl="1"/>
            <a:r>
              <a:rPr lang="fa-IR" sz="1350" dirty="0">
                <a:solidFill>
                  <a:srgbClr val="1F1F1F"/>
                </a:solidFill>
                <a:latin typeface="Google Sans"/>
                <a:cs typeface="2  Nazanin" panose="00000400000000000000" pitchFamily="2" charset="-78"/>
              </a:rPr>
              <a:t>دانشجو واقعا؟ افتخار می‌کنم.</a:t>
            </a:r>
          </a:p>
          <a:p>
            <a:pPr algn="r" rtl="1"/>
            <a:r>
              <a:rPr lang="fa-IR" sz="1350" dirty="0">
                <a:solidFill>
                  <a:srgbClr val="1F1F1F"/>
                </a:solidFill>
                <a:latin typeface="Google Sans"/>
                <a:cs typeface="2  Nazanin" panose="00000400000000000000" pitchFamily="2" charset="-78"/>
              </a:rPr>
              <a:t>معلم شما کارآموزی رو انجام دادید؟</a:t>
            </a:r>
          </a:p>
          <a:p>
            <a:pPr algn="r" rtl="1"/>
            <a:r>
              <a:rPr lang="fa-IR" sz="1350" dirty="0">
                <a:solidFill>
                  <a:srgbClr val="1F1F1F"/>
                </a:solidFill>
                <a:latin typeface="Google Sans"/>
                <a:cs typeface="2  Nazanin" panose="00000400000000000000" pitchFamily="2" charset="-78"/>
              </a:rPr>
              <a:t>دانشجو نه، هنوز نه.</a:t>
            </a:r>
          </a:p>
          <a:p>
            <a:pPr algn="r" rtl="1"/>
            <a:r>
              <a:rPr lang="fa-IR" sz="1350" dirty="0">
                <a:solidFill>
                  <a:srgbClr val="1F1F1F"/>
                </a:solidFill>
                <a:latin typeface="Google Sans"/>
                <a:cs typeface="2  Nazanin" panose="00000400000000000000" pitchFamily="2" charset="-78"/>
              </a:rPr>
              <a:t>معلم اگر خواستید، می‌تونید از کارگاه جوشکاری من استفاده کنید.</a:t>
            </a:r>
          </a:p>
          <a:p>
            <a:pPr algn="r" rtl="1"/>
            <a:r>
              <a:rPr lang="fa-IR" sz="1350" dirty="0">
                <a:solidFill>
                  <a:srgbClr val="1F1F1F"/>
                </a:solidFill>
                <a:latin typeface="Google Sans"/>
                <a:cs typeface="2  Nazanin" panose="00000400000000000000" pitchFamily="2" charset="-78"/>
              </a:rPr>
              <a:t>دانشجو واقعا؟ ممنونم آقا.</a:t>
            </a:r>
          </a:p>
          <a:p>
            <a:pPr algn="r" rtl="1"/>
            <a:r>
              <a:rPr lang="fa-IR" sz="1350" dirty="0">
                <a:solidFill>
                  <a:srgbClr val="1F1F1F"/>
                </a:solidFill>
                <a:latin typeface="Google Sans"/>
                <a:cs typeface="2  Nazanin" panose="00000400000000000000" pitchFamily="2" charset="-78"/>
              </a:rPr>
              <a:t>معلم خواهش می‌کنم.</a:t>
            </a:r>
          </a:p>
          <a:p>
            <a:pPr algn="r" rtl="1"/>
            <a:r>
              <a:rPr lang="fa-IR" sz="1350" dirty="0">
                <a:solidFill>
                  <a:srgbClr val="1F1F1F"/>
                </a:solidFill>
                <a:latin typeface="Google Sans"/>
                <a:cs typeface="2  Nazanin" panose="00000400000000000000" pitchFamily="2" charset="-78"/>
              </a:rPr>
              <a:t>دانشجو (با خودش) این خیلی خوبه. بالاخره می‌تونم کارآموزی رو شروع کنم.</a:t>
            </a:r>
          </a:p>
          <a:p>
            <a:pPr algn="r" rtl="1"/>
            <a:r>
              <a:rPr lang="fa-IR" sz="1350" dirty="0">
                <a:solidFill>
                  <a:srgbClr val="1F1F1F"/>
                </a:solidFill>
                <a:latin typeface="Google Sans"/>
                <a:cs typeface="2  Nazanin" panose="00000400000000000000" pitchFamily="2" charset="-78"/>
              </a:rPr>
              <a:t>دانشجو خیلی ممنونم آقا.</a:t>
            </a:r>
          </a:p>
          <a:p>
            <a:pPr algn="r" rtl="1"/>
            <a:r>
              <a:rPr lang="fa-IR" sz="1350" dirty="0">
                <a:solidFill>
                  <a:srgbClr val="1F1F1F"/>
                </a:solidFill>
                <a:latin typeface="Google Sans"/>
                <a:cs typeface="2  Nazanin" panose="00000400000000000000" pitchFamily="2" charset="-78"/>
              </a:rPr>
              <a:t>معلم خواهش می‌کنم.</a:t>
            </a:r>
          </a:p>
          <a:p>
            <a:pPr algn="r" rtl="1"/>
            <a:r>
              <a:rPr lang="fa-IR" sz="1350" dirty="0">
                <a:solidFill>
                  <a:srgbClr val="1F1F1F"/>
                </a:solidFill>
                <a:latin typeface="Google Sans"/>
                <a:cs typeface="2  Nazanin" panose="00000400000000000000" pitchFamily="2" charset="-78"/>
              </a:rPr>
              <a:t>دانشجو (با خودش) حالا باید به کارگاه جوشکاری آقا بروم و وسایلم رو بیارم.</a:t>
            </a:r>
          </a:p>
          <a:p>
            <a:pPr algn="r" rtl="1"/>
            <a:r>
              <a:rPr lang="fa-IR" sz="1350" dirty="0">
                <a:solidFill>
                  <a:srgbClr val="1F1F1F"/>
                </a:solidFill>
                <a:latin typeface="Google Sans"/>
                <a:cs typeface="2  Nazanin" panose="00000400000000000000" pitchFamily="2" charset="-78"/>
              </a:rPr>
              <a:t>پرده دوم</a:t>
            </a:r>
          </a:p>
          <a:p>
            <a:pPr algn="r" rtl="1"/>
            <a:r>
              <a:rPr lang="fa-IR" sz="1350" dirty="0">
                <a:solidFill>
                  <a:srgbClr val="1F1F1F"/>
                </a:solidFill>
                <a:latin typeface="Google Sans"/>
                <a:cs typeface="2  Nazanin" panose="00000400000000000000" pitchFamily="2" charset="-78"/>
              </a:rPr>
              <a:t>مکان: کارگاه جوشکاری</a:t>
            </a:r>
          </a:p>
          <a:p>
            <a:pPr algn="r" rtl="1"/>
            <a:r>
              <a:rPr lang="fa-IR" sz="1350" dirty="0">
                <a:solidFill>
                  <a:srgbClr val="1F1F1F"/>
                </a:solidFill>
                <a:latin typeface="Google Sans"/>
                <a:cs typeface="2  Nazanin" panose="00000400000000000000" pitchFamily="2" charset="-78"/>
              </a:rPr>
              <a:t>شخصیت‌ها:</a:t>
            </a:r>
          </a:p>
          <a:p>
            <a:pPr algn="r" rtl="1">
              <a:buFont typeface="Arial" panose="020B0604020202020204" pitchFamily="34" charset="0"/>
              <a:buChar char="•"/>
            </a:pPr>
            <a:r>
              <a:rPr lang="fa-IR" sz="1350" dirty="0">
                <a:solidFill>
                  <a:srgbClr val="1F1F1F"/>
                </a:solidFill>
                <a:latin typeface="Google Sans"/>
                <a:cs typeface="2  Nazanin" panose="00000400000000000000" pitchFamily="2" charset="-78"/>
              </a:rPr>
              <a:t>دانشجو</a:t>
            </a:r>
          </a:p>
          <a:p>
            <a:pPr algn="r" rtl="1">
              <a:buFont typeface="Arial" panose="020B0604020202020204" pitchFamily="34" charset="0"/>
              <a:buChar char="•"/>
            </a:pPr>
            <a:r>
              <a:rPr lang="fa-IR" sz="1350" dirty="0">
                <a:solidFill>
                  <a:srgbClr val="1F1F1F"/>
                </a:solidFill>
                <a:latin typeface="Google Sans"/>
                <a:cs typeface="2  Nazanin" panose="00000400000000000000" pitchFamily="2" charset="-78"/>
              </a:rPr>
              <a:t>دختربچه</a:t>
            </a:r>
          </a:p>
          <a:p>
            <a:pPr algn="r" rtl="1"/>
            <a:r>
              <a:rPr lang="fa-IR" sz="1350" dirty="0">
                <a:solidFill>
                  <a:srgbClr val="1F1F1F"/>
                </a:solidFill>
                <a:latin typeface="Google Sans"/>
                <a:cs typeface="2  Nazanin" panose="00000400000000000000" pitchFamily="2" charset="-78"/>
              </a:rPr>
              <a:t>صحنه:</a:t>
            </a:r>
          </a:p>
          <a:p>
            <a:pPr algn="r" rtl="1"/>
            <a:r>
              <a:rPr lang="fa-IR" sz="1350" dirty="0">
                <a:solidFill>
                  <a:srgbClr val="1F1F1F"/>
                </a:solidFill>
                <a:latin typeface="Google Sans"/>
                <a:cs typeface="2  Nazanin" panose="00000400000000000000" pitchFamily="2" charset="-78"/>
              </a:rPr>
              <a:t>دانشجو در کارگاه جوشکاری است. او وسایلش را روی میز گذاشته و مشغول آماده کردن آنها است.</a:t>
            </a:r>
          </a:p>
          <a:p>
            <a:pPr algn="r" rtl="1"/>
            <a:r>
              <a:rPr lang="fa-IR" sz="1350" dirty="0">
                <a:solidFill>
                  <a:srgbClr val="1F1F1F"/>
                </a:solidFill>
                <a:latin typeface="Google Sans"/>
                <a:cs typeface="2  Nazanin" panose="00000400000000000000" pitchFamily="2" charset="-78"/>
              </a:rPr>
              <a:t>دانشجو (با خودش) حالا باید شروع کنم.</a:t>
            </a:r>
          </a:p>
          <a:p>
            <a:pPr algn="r" rtl="1"/>
            <a:r>
              <a:rPr lang="fa-IR" sz="1350" dirty="0">
                <a:solidFill>
                  <a:srgbClr val="1F1F1F"/>
                </a:solidFill>
                <a:latin typeface="Google Sans"/>
                <a:cs typeface="2  Nazanin" panose="00000400000000000000" pitchFamily="2" charset="-78"/>
              </a:rPr>
              <a:t>در این لحظه، دختربچه‌ای وارد کارگاه می‌شود. او عروسکی در دست دارد.</a:t>
            </a:r>
          </a:p>
          <a:p>
            <a:pPr algn="r" rtl="1"/>
            <a:r>
              <a:rPr lang="fa-IR" sz="1350" dirty="0">
                <a:solidFill>
                  <a:srgbClr val="1F1F1F"/>
                </a:solidFill>
                <a:latin typeface="Google Sans"/>
                <a:cs typeface="2  Nazanin" panose="00000400000000000000" pitchFamily="2" charset="-78"/>
              </a:rPr>
              <a:t>دختر بچه: آقا، عروسکم خراب شده. می‌تونید درستش کنید؟</a:t>
            </a:r>
          </a:p>
          <a:p>
            <a:pPr algn="r" rtl="1"/>
            <a:r>
              <a:rPr lang="fa-IR" sz="1350" dirty="0">
                <a:solidFill>
                  <a:srgbClr val="1F1F1F"/>
                </a:solidFill>
                <a:latin typeface="Google Sans"/>
                <a:cs typeface="2  Nazanin" panose="00000400000000000000" pitchFamily="2" charset="-78"/>
              </a:rPr>
              <a:t>دانشجو (با لبخند) البته که می‌تونم.</a:t>
            </a:r>
          </a:p>
          <a:p>
            <a:pPr algn="r" rtl="1"/>
            <a:r>
              <a:rPr lang="fa-IR" sz="1350" dirty="0">
                <a:solidFill>
                  <a:srgbClr val="1F1F1F"/>
                </a:solidFill>
                <a:latin typeface="Google Sans"/>
                <a:cs typeface="2  Nazanin" panose="00000400000000000000" pitchFamily="2" charset="-78"/>
              </a:rPr>
              <a:t>دانشجو عروسک را از دست دختربچه می‌گیرد و آن را بررسی می‌کند.</a:t>
            </a:r>
          </a:p>
          <a:p>
            <a:pPr algn="r" rtl="1"/>
            <a:r>
              <a:rPr lang="fa-IR" sz="1350" dirty="0">
                <a:solidFill>
                  <a:srgbClr val="1F1F1F"/>
                </a:solidFill>
                <a:latin typeface="Google Sans"/>
                <a:cs typeface="2  Nazanin" panose="00000400000000000000" pitchFamily="2" charset="-78"/>
              </a:rPr>
              <a:t>دانشجو عروسکت مشکل خاصی نداره. فقط باید چند تا جوش بزنم.</a:t>
            </a:r>
          </a:p>
          <a:p>
            <a:pPr algn="r" rtl="1"/>
            <a:r>
              <a:rPr lang="fa-IR" sz="1350" dirty="0">
                <a:solidFill>
                  <a:srgbClr val="1F1F1F"/>
                </a:solidFill>
                <a:latin typeface="Google Sans"/>
                <a:cs typeface="2  Nazanin" panose="00000400000000000000" pitchFamily="2" charset="-78"/>
              </a:rPr>
              <a:t>دانشجو عروسک را روی میز می‌گذارد و مشغول جوشکاری می‌شود.</a:t>
            </a:r>
          </a:p>
          <a:p>
            <a:pPr algn="r" rtl="1"/>
            <a:r>
              <a:rPr lang="fa-IR" sz="1350" dirty="0">
                <a:solidFill>
                  <a:srgbClr val="1F1F1F"/>
                </a:solidFill>
                <a:latin typeface="Google Sans"/>
                <a:cs typeface="2  Nazanin" panose="00000400000000000000" pitchFamily="2" charset="-78"/>
              </a:rPr>
              <a:t>دختر بچه (با لبخند) ممنونم آقا.</a:t>
            </a:r>
          </a:p>
          <a:p>
            <a:pPr algn="r" rtl="1"/>
            <a:r>
              <a:rPr lang="fa-IR" sz="1350" dirty="0">
                <a:solidFill>
                  <a:srgbClr val="1F1F1F"/>
                </a:solidFill>
                <a:latin typeface="Google Sans"/>
                <a:cs typeface="2  Nazanin" panose="00000400000000000000" pitchFamily="2" charset="-78"/>
              </a:rPr>
              <a:t>دانشجو خواهش می‌کنم.</a:t>
            </a:r>
          </a:p>
          <a:p>
            <a:pPr algn="r" rtl="1"/>
            <a:r>
              <a:rPr lang="fa-IR" sz="1350" dirty="0">
                <a:solidFill>
                  <a:srgbClr val="1F1F1F"/>
                </a:solidFill>
                <a:latin typeface="Google Sans"/>
                <a:cs typeface="2  Nazanin" panose="00000400000000000000" pitchFamily="2" charset="-78"/>
              </a:rPr>
              <a:t>پس از چند دقیقه، جوشکاری تمام می‌شود.</a:t>
            </a:r>
          </a:p>
          <a:p>
            <a:pPr algn="r" rtl="1"/>
            <a:r>
              <a:rPr lang="fa-IR" sz="1350" dirty="0">
                <a:solidFill>
                  <a:srgbClr val="1F1F1F"/>
                </a:solidFill>
                <a:latin typeface="Google Sans"/>
                <a:cs typeface="2  Nazanin" panose="00000400000000000000" pitchFamily="2" charset="-78"/>
              </a:rPr>
              <a:t>دانشجو عروسکت آماده است.</a:t>
            </a:r>
          </a:p>
          <a:p>
            <a:pPr algn="r" rtl="1"/>
            <a:r>
              <a:rPr lang="fa-IR" sz="1350" dirty="0">
                <a:solidFill>
                  <a:srgbClr val="1F1F1F"/>
                </a:solidFill>
                <a:latin typeface="Google Sans"/>
                <a:cs typeface="2  Nazanin" panose="00000400000000000000" pitchFamily="2" charset="-78"/>
              </a:rPr>
              <a:t>دانشجو عروسک را به دختربچه می‌دهد.</a:t>
            </a:r>
          </a:p>
          <a:p>
            <a:pPr algn="r" rtl="1"/>
            <a:r>
              <a:rPr lang="fa-IR" sz="1350" dirty="0">
                <a:solidFill>
                  <a:srgbClr val="1F1F1F"/>
                </a:solidFill>
                <a:latin typeface="Google Sans"/>
                <a:cs typeface="2  Nazanin" panose="00000400000000000000" pitchFamily="2" charset="-78"/>
              </a:rPr>
              <a:t>دختر بچه (با خوشحالی) وای، چه قشنگ شد!</a:t>
            </a:r>
          </a:p>
          <a:p>
            <a:pPr algn="r" rtl="1"/>
            <a:r>
              <a:rPr lang="fa-IR" sz="1350" dirty="0">
                <a:solidFill>
                  <a:srgbClr val="1F1F1F"/>
                </a:solidFill>
                <a:latin typeface="Google Sans"/>
                <a:cs typeface="2  Nazanin" panose="00000400000000000000" pitchFamily="2" charset="-78"/>
              </a:rPr>
              <a:t>دختر بچه عروسک را بغل می‌کند و از کارگاه خارج می‌شود.</a:t>
            </a:r>
          </a:p>
          <a:p>
            <a:pPr algn="r" rtl="1"/>
            <a:r>
              <a:rPr lang="fa-IR" sz="1350" dirty="0">
                <a:solidFill>
                  <a:srgbClr val="1F1F1F"/>
                </a:solidFill>
                <a:latin typeface="Google Sans"/>
                <a:cs typeface="2  Nazanin" panose="00000400000000000000" pitchFamily="2" charset="-78"/>
              </a:rPr>
              <a:t>دانشجو (با خودش) خوشحالم که تونستم کمکش کنم.</a:t>
            </a:r>
          </a:p>
          <a:p>
            <a:pPr algn="r" rtl="1"/>
            <a:r>
              <a:rPr lang="fa-IR" sz="1350" dirty="0">
                <a:solidFill>
                  <a:srgbClr val="1F1F1F"/>
                </a:solidFill>
                <a:latin typeface="Google Sans"/>
                <a:cs typeface="2  Nazanin" panose="00000400000000000000" pitchFamily="2" charset="-78"/>
              </a:rPr>
              <a:t>دانشجو به کارش ادامه می‌دهد.</a:t>
            </a:r>
          </a:p>
          <a:p>
            <a:pPr algn="r" rtl="1"/>
            <a:r>
              <a:rPr lang="fa-IR" sz="1350" dirty="0">
                <a:solidFill>
                  <a:srgbClr val="1F1F1F"/>
                </a:solidFill>
                <a:latin typeface="Google Sans"/>
                <a:cs typeface="2  Nazanin" panose="00000400000000000000" pitchFamily="2" charset="-78"/>
              </a:rPr>
              <a:t>پرده سوم</a:t>
            </a:r>
          </a:p>
          <a:p>
            <a:pPr algn="r" rtl="1"/>
            <a:r>
              <a:rPr lang="fa-IR" sz="1350" dirty="0">
                <a:solidFill>
                  <a:srgbClr val="1F1F1F"/>
                </a:solidFill>
                <a:latin typeface="Google Sans"/>
                <a:cs typeface="2  Nazanin" panose="00000400000000000000" pitchFamily="2" charset="-78"/>
              </a:rPr>
              <a:t>مکان: کارگاه جوشکاری</a:t>
            </a:r>
          </a:p>
          <a:p>
            <a:pPr algn="r" rtl="1"/>
            <a:r>
              <a:rPr lang="fa-IR" sz="1350" dirty="0">
                <a:solidFill>
                  <a:srgbClr val="1F1F1F"/>
                </a:solidFill>
                <a:latin typeface="Google Sans"/>
                <a:cs typeface="2  Nazanin" panose="00000400000000000000" pitchFamily="2" charset="-78"/>
              </a:rPr>
              <a:t>شخصیت‌ها:</a:t>
            </a:r>
          </a:p>
          <a:p>
            <a:pPr algn="r" rtl="1">
              <a:buFont typeface="Arial" panose="020B0604020202020204" pitchFamily="34" charset="0"/>
              <a:buChar char="•"/>
            </a:pPr>
            <a:r>
              <a:rPr lang="fa-IR" sz="1350" dirty="0">
                <a:solidFill>
                  <a:srgbClr val="1F1F1F"/>
                </a:solidFill>
                <a:latin typeface="Google Sans"/>
                <a:cs typeface="2  Nazanin" panose="00000400000000000000" pitchFamily="2" charset="-78"/>
              </a:rPr>
              <a:t>دانشجو</a:t>
            </a:r>
          </a:p>
          <a:p>
            <a:pPr algn="r" rtl="1">
              <a:buFont typeface="Arial" panose="020B0604020202020204" pitchFamily="34" charset="0"/>
              <a:buChar char="•"/>
            </a:pPr>
            <a:r>
              <a:rPr lang="fa-IR" sz="1350" dirty="0">
                <a:solidFill>
                  <a:srgbClr val="1F1F1F"/>
                </a:solidFill>
                <a:latin typeface="Google Sans"/>
                <a:cs typeface="2  Nazanin" panose="00000400000000000000" pitchFamily="2" charset="-78"/>
              </a:rPr>
              <a:t>معلم</a:t>
            </a:r>
          </a:p>
          <a:p>
            <a:pPr algn="r" rtl="1"/>
            <a:r>
              <a:rPr lang="fa-IR" sz="1350" dirty="0">
                <a:solidFill>
                  <a:srgbClr val="1F1F1F"/>
                </a:solidFill>
                <a:latin typeface="Google Sans"/>
                <a:cs typeface="2  Nazanin" panose="00000400000000000000" pitchFamily="2" charset="-78"/>
              </a:rPr>
              <a:t>صحنه:</a:t>
            </a:r>
          </a:p>
          <a:p>
            <a:pPr algn="r" rtl="1"/>
            <a:r>
              <a:rPr lang="fa-IR" sz="1350" dirty="0">
                <a:solidFill>
                  <a:srgbClr val="1F1F1F"/>
                </a:solidFill>
                <a:latin typeface="Google Sans"/>
                <a:cs typeface="2  Nazanin" panose="00000400000000000000" pitchFamily="2" charset="-78"/>
              </a:rPr>
              <a:t>دانشجو در حال کار در کارگاه جوشکاری است. معلم وارد می‌شود.</a:t>
            </a:r>
          </a:p>
          <a:p>
            <a:pPr algn="r" rtl="1"/>
            <a:r>
              <a:rPr lang="fa-IR" sz="1350" dirty="0">
                <a:solidFill>
                  <a:srgbClr val="1F1F1F"/>
                </a:solidFill>
                <a:latin typeface="Google Sans"/>
                <a:cs typeface="2  Nazanin" panose="00000400000000000000" pitchFamily="2" charset="-78"/>
              </a:rPr>
              <a:t>معلم سلام آقا!</a:t>
            </a:r>
          </a:p>
          <a:p>
            <a:pPr algn="r" rtl="1"/>
            <a:r>
              <a:rPr lang="fa-IR" sz="1350" dirty="0">
                <a:solidFill>
                  <a:srgbClr val="1F1F1F"/>
                </a:solidFill>
                <a:latin typeface="Google Sans"/>
                <a:cs typeface="2  Nazanin" panose="00000400000000000000" pitchFamily="2" charset="-78"/>
              </a:rPr>
              <a:t>دانشجو سلام آقا!</a:t>
            </a:r>
          </a:p>
          <a:p>
            <a:pPr algn="r" rtl="1"/>
            <a:r>
              <a:rPr lang="fa-IR" sz="1350" dirty="0">
                <a:solidFill>
                  <a:srgbClr val="1F1F1F"/>
                </a:solidFill>
                <a:latin typeface="Google Sans"/>
                <a:cs typeface="2  Nazanin" panose="00000400000000000000" pitchFamily="2" charset="-78"/>
              </a:rPr>
              <a:t>معلم کارآموزی رو شروع کردی؟</a:t>
            </a:r>
          </a:p>
          <a:p>
            <a:pPr algn="r" rtl="1"/>
            <a:r>
              <a:rPr lang="fa-IR" sz="1350" dirty="0">
                <a:solidFill>
                  <a:srgbClr val="1F1F1F"/>
                </a:solidFill>
                <a:latin typeface="Google Sans"/>
                <a:cs typeface="2  Nazanin" panose="00000400000000000000" pitchFamily="2" charset="-78"/>
              </a:rPr>
              <a:t>دانشجو بله، آقا.</a:t>
            </a:r>
          </a:p>
          <a:p>
            <a:pPr algn="r" rtl="1"/>
            <a:r>
              <a:rPr lang="fa-IR" sz="1350" dirty="0">
                <a:solidFill>
                  <a:srgbClr val="1F1F1F"/>
                </a:solidFill>
                <a:latin typeface="Google Sans"/>
                <a:cs typeface="2  Nazanin" panose="00000400000000000000" pitchFamily="2" charset="-78"/>
              </a:rPr>
              <a:t>معلم چطوره؟</a:t>
            </a:r>
          </a:p>
          <a:p>
            <a:pPr algn="r" rtl="1"/>
            <a:r>
              <a:rPr lang="fa-IR" sz="1350" dirty="0">
                <a:solidFill>
                  <a:srgbClr val="1F1F1F"/>
                </a:solidFill>
                <a:latin typeface="Google Sans"/>
                <a:cs typeface="2  Nazanin" panose="00000400000000000000" pitchFamily="2" charset="-78"/>
              </a:rPr>
              <a:t>دانشجو خیلی خوبه، آقا. خیلی از شما ممنونم.</a:t>
            </a:r>
          </a:p>
          <a:p>
            <a:pPr algn="r" rtl="1"/>
            <a:r>
              <a:rPr lang="fa-IR" sz="1350" dirty="0">
                <a:solidFill>
                  <a:srgbClr val="1F1F1F"/>
                </a:solidFill>
                <a:latin typeface="Google Sans"/>
                <a:cs typeface="2  Nazanin" panose="00000400000000000000" pitchFamily="2" charset="-78"/>
              </a:rPr>
              <a:t>معلم خواهش می‌کنم.</a:t>
            </a:r>
          </a:p>
          <a:p>
            <a:pPr algn="r" rtl="1"/>
            <a:r>
              <a:rPr lang="fa-IR" sz="1350" dirty="0">
                <a:solidFill>
                  <a:srgbClr val="1F1F1F"/>
                </a:solidFill>
                <a:latin typeface="Google Sans"/>
                <a:cs typeface="2  Nazanin" panose="00000400000000000000" pitchFamily="2" charset="-78"/>
              </a:rPr>
              <a:t>معلم (با لبخند) امیدوارم موفق بشی.</a:t>
            </a:r>
          </a:p>
          <a:p>
            <a:pPr algn="r" rtl="1"/>
            <a:r>
              <a:rPr lang="fa-IR" sz="1350" dirty="0">
                <a:solidFill>
                  <a:srgbClr val="1F1F1F"/>
                </a:solidFill>
                <a:latin typeface="Google Sans"/>
                <a:cs typeface="2  Nazanin" panose="00000400000000000000" pitchFamily="2" charset="-78"/>
              </a:rPr>
              <a:t>دانشجو با دعای شما، حتما موفق می‌شم.</a:t>
            </a:r>
          </a:p>
          <a:p>
            <a:pPr algn="r" rtl="1"/>
            <a:r>
              <a:rPr lang="fa-IR" sz="1350" dirty="0">
                <a:solidFill>
                  <a:srgbClr val="1F1F1F"/>
                </a:solidFill>
                <a:latin typeface="Google Sans"/>
                <a:cs typeface="2  Nazanin" panose="00000400000000000000" pitchFamily="2" charset="-78"/>
              </a:rPr>
              <a:t>معلم به امید موفقیت.</a:t>
            </a:r>
          </a:p>
          <a:p>
            <a:pPr algn="r" rtl="1"/>
            <a:r>
              <a:rPr lang="fa-IR" sz="1350" dirty="0">
                <a:solidFill>
                  <a:srgbClr val="1F1F1F"/>
                </a:solidFill>
                <a:latin typeface="Google Sans"/>
                <a:cs typeface="2  Nazanin" panose="00000400000000000000" pitchFamily="2" charset="-78"/>
              </a:rPr>
              <a:t>معلم کارگاه را ترک می‌کند. دانشجو به کارش ادامه می‌دهد.</a:t>
            </a:r>
          </a:p>
          <a:p>
            <a:pPr algn="r" rtl="1"/>
            <a:r>
              <a:rPr lang="fa-IR" sz="1350" dirty="0">
                <a:solidFill>
                  <a:srgbClr val="1F1F1F"/>
                </a:solidFill>
                <a:latin typeface="Google Sans"/>
                <a:cs typeface="2  Nazanin" panose="00000400000000000000" pitchFamily="2" charset="-78"/>
              </a:rPr>
              <a:t>(پایان نمایشنامه)</a:t>
            </a:r>
          </a:p>
        </p:txBody>
      </p:sp>
      <p:pic>
        <p:nvPicPr>
          <p:cNvPr id="11" name="Picture 10">
            <a:extLst>
              <a:ext uri="{FF2B5EF4-FFF2-40B4-BE49-F238E27FC236}">
                <a16:creationId xmlns:a16="http://schemas.microsoft.com/office/drawing/2014/main" id="{35603A57-C207-4BA9-9F4A-FE6308A5DDF5}"/>
              </a:ext>
            </a:extLst>
          </p:cNvPr>
          <p:cNvPicPr>
            <a:picLocks noChangeAspect="1"/>
          </p:cNvPicPr>
          <p:nvPr/>
        </p:nvPicPr>
        <p:blipFill>
          <a:blip r:embed="rId3">
            <a:duotone>
              <a:prstClr val="black"/>
              <a:schemeClr val="accent2">
                <a:tint val="45000"/>
                <a:satMod val="400000"/>
              </a:schemeClr>
            </a:duotone>
          </a:blip>
          <a:stretch>
            <a:fillRect/>
          </a:stretch>
        </p:blipFill>
        <p:spPr>
          <a:xfrm>
            <a:off x="1289771" y="2591544"/>
            <a:ext cx="2274422" cy="557877"/>
          </a:xfrm>
          <a:prstGeom prst="rect">
            <a:avLst/>
          </a:prstGeom>
        </p:spPr>
      </p:pic>
      <p:pic>
        <p:nvPicPr>
          <p:cNvPr id="13" name="Picture 12">
            <a:extLst>
              <a:ext uri="{FF2B5EF4-FFF2-40B4-BE49-F238E27FC236}">
                <a16:creationId xmlns:a16="http://schemas.microsoft.com/office/drawing/2014/main" id="{8FE9E3AC-4200-42EE-AD16-17E2EEF46ACF}"/>
              </a:ext>
            </a:extLst>
          </p:cNvPr>
          <p:cNvPicPr>
            <a:picLocks noChangeAspect="1"/>
          </p:cNvPicPr>
          <p:nvPr/>
        </p:nvPicPr>
        <p:blipFill>
          <a:blip r:embed="rId4">
            <a:duotone>
              <a:prstClr val="black"/>
              <a:schemeClr val="accent5">
                <a:tint val="45000"/>
                <a:satMod val="400000"/>
              </a:schemeClr>
            </a:duotone>
          </a:blip>
          <a:stretch>
            <a:fillRect/>
          </a:stretch>
        </p:blipFill>
        <p:spPr>
          <a:xfrm>
            <a:off x="363342" y="3340783"/>
            <a:ext cx="2968613" cy="2576387"/>
          </a:xfrm>
          <a:prstGeom prst="rect">
            <a:avLst/>
          </a:prstGeom>
        </p:spPr>
      </p:pic>
      <p:pic>
        <p:nvPicPr>
          <p:cNvPr id="15" name="Picture 14">
            <a:extLst>
              <a:ext uri="{FF2B5EF4-FFF2-40B4-BE49-F238E27FC236}">
                <a16:creationId xmlns:a16="http://schemas.microsoft.com/office/drawing/2014/main" id="{36388B93-F552-4663-A1AC-8F3D1B37547A}"/>
              </a:ext>
            </a:extLst>
          </p:cNvPr>
          <p:cNvPicPr>
            <a:picLocks noChangeAspect="1"/>
          </p:cNvPicPr>
          <p:nvPr/>
        </p:nvPicPr>
        <p:blipFill>
          <a:blip r:embed="rId5"/>
          <a:stretch>
            <a:fillRect/>
          </a:stretch>
        </p:blipFill>
        <p:spPr>
          <a:xfrm>
            <a:off x="4975167" y="2653083"/>
            <a:ext cx="3495449" cy="4125530"/>
          </a:xfrm>
          <a:prstGeom prst="rect">
            <a:avLst/>
          </a:prstGeom>
        </p:spPr>
      </p:pic>
      <p:sp>
        <p:nvSpPr>
          <p:cNvPr id="5" name="Title 1">
            <a:extLst>
              <a:ext uri="{FF2B5EF4-FFF2-40B4-BE49-F238E27FC236}">
                <a16:creationId xmlns:a16="http://schemas.microsoft.com/office/drawing/2014/main" id="{4292F26E-7933-C57D-6E8C-38DED0046BD9}"/>
              </a:ext>
            </a:extLst>
          </p:cNvPr>
          <p:cNvSpPr>
            <a:spLocks noGrp="1"/>
          </p:cNvSpPr>
          <p:nvPr>
            <p:ph type="title"/>
          </p:nvPr>
        </p:nvSpPr>
        <p:spPr>
          <a:xfrm>
            <a:off x="962025" y="201881"/>
            <a:ext cx="7803400" cy="670799"/>
          </a:xfrm>
        </p:spPr>
        <p:txBody>
          <a:bodyPr>
            <a:normAutofit/>
          </a:bodyPr>
          <a:lstStyle/>
          <a:p>
            <a:pPr algn="r" rtl="1"/>
            <a:r>
              <a:rPr lang="fa-IR" sz="3200" b="0" i="0" dirty="0">
                <a:effectLst/>
                <a:latin typeface="Google Sans"/>
                <a:cs typeface="2  Titr" panose="00000700000000000000" pitchFamily="2" charset="-78"/>
              </a:rPr>
              <a:t>مهندسی درخواست</a:t>
            </a:r>
          </a:p>
        </p:txBody>
      </p:sp>
      <p:sp>
        <p:nvSpPr>
          <p:cNvPr id="2" name="TextBox 1">
            <a:extLst>
              <a:ext uri="{FF2B5EF4-FFF2-40B4-BE49-F238E27FC236}">
                <a16:creationId xmlns:a16="http://schemas.microsoft.com/office/drawing/2014/main" id="{54297B3C-593F-4049-7CE1-20C000A4437A}"/>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48</a:t>
            </a:r>
            <a:endParaRPr lang="fa-IR" sz="1200"/>
          </a:p>
        </p:txBody>
      </p:sp>
    </p:spTree>
    <p:extLst>
      <p:ext uri="{BB962C8B-B14F-4D97-AF65-F5344CB8AC3E}">
        <p14:creationId xmlns:p14="http://schemas.microsoft.com/office/powerpoint/2010/main" val="18538199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lumMod val="95000"/>
            <a:lumOff val="5000"/>
          </a:schemeClr>
        </a:solid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3012F4FB-E960-4F39-A667-779B49B5013B}"/>
              </a:ext>
            </a:extLst>
          </p:cNvPr>
          <p:cNvPicPr>
            <a:picLocks noChangeAspect="1"/>
          </p:cNvPicPr>
          <p:nvPr/>
        </p:nvPicPr>
        <p:blipFill>
          <a:blip r:embed="rId2"/>
          <a:stretch>
            <a:fillRect/>
          </a:stretch>
        </p:blipFill>
        <p:spPr>
          <a:xfrm>
            <a:off x="4890079" y="1007268"/>
            <a:ext cx="4164806" cy="4843463"/>
          </a:xfrm>
          <a:prstGeom prst="rect">
            <a:avLst/>
          </a:prstGeom>
        </p:spPr>
      </p:pic>
      <p:sp>
        <p:nvSpPr>
          <p:cNvPr id="9" name="TextBox 8">
            <a:extLst>
              <a:ext uri="{FF2B5EF4-FFF2-40B4-BE49-F238E27FC236}">
                <a16:creationId xmlns:a16="http://schemas.microsoft.com/office/drawing/2014/main" id="{53533041-7644-4CE1-B0AD-2F97AE6F7A9F}"/>
              </a:ext>
            </a:extLst>
          </p:cNvPr>
          <p:cNvSpPr txBox="1"/>
          <p:nvPr/>
        </p:nvSpPr>
        <p:spPr>
          <a:xfrm>
            <a:off x="563036" y="7112447"/>
            <a:ext cx="6619529" cy="13596030"/>
          </a:xfrm>
          <a:prstGeom prst="rect">
            <a:avLst/>
          </a:prstGeom>
          <a:noFill/>
        </p:spPr>
        <p:txBody>
          <a:bodyPr wrap="square">
            <a:spAutoFit/>
          </a:bodyPr>
          <a:lstStyle/>
          <a:p>
            <a:pPr algn="r" rtl="1"/>
            <a:r>
              <a:rPr lang="fa-IR" sz="1350" dirty="0">
                <a:solidFill>
                  <a:srgbClr val="1F1F1F"/>
                </a:solidFill>
                <a:latin typeface="Google Sans"/>
                <a:cs typeface="2  Nazanin" panose="00000400000000000000" pitchFamily="2" charset="-78"/>
              </a:rPr>
              <a:t>پرده اول</a:t>
            </a:r>
          </a:p>
          <a:p>
            <a:pPr algn="r" rtl="1"/>
            <a:r>
              <a:rPr lang="fa-IR" sz="1350" dirty="0">
                <a:solidFill>
                  <a:srgbClr val="1F1F1F"/>
                </a:solidFill>
                <a:latin typeface="Google Sans"/>
                <a:cs typeface="2  Nazanin" panose="00000400000000000000" pitchFamily="2" charset="-78"/>
              </a:rPr>
              <a:t>مکان: دانشگاه شهید چمران اهواز</a:t>
            </a:r>
          </a:p>
          <a:p>
            <a:pPr algn="r" rtl="1"/>
            <a:r>
              <a:rPr lang="fa-IR" sz="1350" dirty="0">
                <a:solidFill>
                  <a:srgbClr val="1F1F1F"/>
                </a:solidFill>
                <a:latin typeface="Google Sans"/>
                <a:cs typeface="2  Nazanin" panose="00000400000000000000" pitchFamily="2" charset="-78"/>
              </a:rPr>
              <a:t>شخصیت‌ها:</a:t>
            </a:r>
          </a:p>
          <a:p>
            <a:pPr algn="r" rtl="1">
              <a:buFont typeface="Arial" panose="020B0604020202020204" pitchFamily="34" charset="0"/>
              <a:buChar char="•"/>
            </a:pPr>
            <a:r>
              <a:rPr lang="fa-IR" sz="1350" dirty="0">
                <a:solidFill>
                  <a:srgbClr val="1F1F1F"/>
                </a:solidFill>
                <a:latin typeface="Google Sans"/>
                <a:cs typeface="2  Nazanin" panose="00000400000000000000" pitchFamily="2" charset="-78"/>
              </a:rPr>
              <a:t>دانشجو: جوانی با موهای بلند و سبیل</a:t>
            </a:r>
          </a:p>
          <a:p>
            <a:pPr algn="r" rtl="1">
              <a:buFont typeface="Arial" panose="020B0604020202020204" pitchFamily="34" charset="0"/>
              <a:buChar char="•"/>
            </a:pPr>
            <a:r>
              <a:rPr lang="fa-IR" sz="1350" dirty="0">
                <a:solidFill>
                  <a:srgbClr val="1F1F1F"/>
                </a:solidFill>
                <a:latin typeface="Google Sans"/>
                <a:cs typeface="2  Nazanin" panose="00000400000000000000" pitchFamily="2" charset="-78"/>
              </a:rPr>
              <a:t>معلم: مردی میانسال با عینک و کت و شلوار</a:t>
            </a:r>
          </a:p>
          <a:p>
            <a:pPr algn="r" rtl="1"/>
            <a:r>
              <a:rPr lang="fa-IR" sz="1350" dirty="0">
                <a:solidFill>
                  <a:srgbClr val="1F1F1F"/>
                </a:solidFill>
                <a:latin typeface="Google Sans"/>
                <a:cs typeface="2  Nazanin" panose="00000400000000000000" pitchFamily="2" charset="-78"/>
              </a:rPr>
              <a:t>صحنه:</a:t>
            </a:r>
          </a:p>
          <a:p>
            <a:pPr algn="r" rtl="1"/>
            <a:r>
              <a:rPr lang="fa-IR" sz="1350" dirty="0">
                <a:solidFill>
                  <a:srgbClr val="1F1F1F"/>
                </a:solidFill>
                <a:latin typeface="Google Sans"/>
                <a:cs typeface="2  Nazanin" panose="00000400000000000000" pitchFamily="2" charset="-78"/>
              </a:rPr>
              <a:t>دانشجو در حال قدم زدن در دانشگاه است. او خسته و کلافه به نظر می‌رسد.</a:t>
            </a:r>
          </a:p>
          <a:p>
            <a:pPr algn="r" rtl="1"/>
            <a:r>
              <a:rPr lang="fa-IR" sz="1350" dirty="0">
                <a:solidFill>
                  <a:srgbClr val="1F1F1F"/>
                </a:solidFill>
                <a:latin typeface="Google Sans"/>
                <a:cs typeface="2  Nazanin" panose="00000400000000000000" pitchFamily="2" charset="-78"/>
              </a:rPr>
              <a:t>دانشجو: (با خودش) آخیش، بالاخره کلاس‌ها تموم شد. حالا می‌تونم برم خونه و استراحت کنم.</a:t>
            </a:r>
          </a:p>
          <a:p>
            <a:pPr algn="r" rtl="1"/>
            <a:r>
              <a:rPr lang="fa-IR" sz="1350" dirty="0">
                <a:solidFill>
                  <a:srgbClr val="1F1F1F"/>
                </a:solidFill>
                <a:latin typeface="Google Sans"/>
                <a:cs typeface="2  Nazanin" panose="00000400000000000000" pitchFamily="2" charset="-78"/>
              </a:rPr>
              <a:t>معلم (از دور) سلام آقا!</a:t>
            </a:r>
          </a:p>
          <a:p>
            <a:pPr algn="r" rtl="1"/>
            <a:r>
              <a:rPr lang="fa-IR" sz="1350" dirty="0">
                <a:solidFill>
                  <a:srgbClr val="1F1F1F"/>
                </a:solidFill>
                <a:latin typeface="Google Sans"/>
                <a:cs typeface="2  Nazanin" panose="00000400000000000000" pitchFamily="2" charset="-78"/>
              </a:rPr>
              <a:t>دانشجو (با تعجب) سلام آقا!</a:t>
            </a:r>
          </a:p>
          <a:p>
            <a:pPr algn="r" rtl="1"/>
            <a:r>
              <a:rPr lang="fa-IR" sz="1350" dirty="0">
                <a:solidFill>
                  <a:srgbClr val="1F1F1F"/>
                </a:solidFill>
                <a:latin typeface="Google Sans"/>
                <a:cs typeface="2  Nazanin" panose="00000400000000000000" pitchFamily="2" charset="-78"/>
              </a:rPr>
              <a:t>معلم شما دانشجوی مهندسی جوشکاری هستید؟</a:t>
            </a:r>
          </a:p>
          <a:p>
            <a:pPr algn="r" rtl="1"/>
            <a:r>
              <a:rPr lang="fa-IR" sz="1350" dirty="0">
                <a:solidFill>
                  <a:srgbClr val="1F1F1F"/>
                </a:solidFill>
                <a:latin typeface="Google Sans"/>
                <a:cs typeface="2  Nazanin" panose="00000400000000000000" pitchFamily="2" charset="-78"/>
              </a:rPr>
              <a:t>دانشجو بله، درسته.</a:t>
            </a:r>
          </a:p>
          <a:p>
            <a:pPr algn="r" rtl="1"/>
            <a:r>
              <a:rPr lang="fa-IR" sz="1350" dirty="0">
                <a:solidFill>
                  <a:srgbClr val="1F1F1F"/>
                </a:solidFill>
                <a:latin typeface="Google Sans"/>
                <a:cs typeface="2  Nazanin" panose="00000400000000000000" pitchFamily="2" charset="-78"/>
              </a:rPr>
              <a:t>معلم منم استاد این رشته هستم.</a:t>
            </a:r>
          </a:p>
          <a:p>
            <a:pPr algn="r" rtl="1"/>
            <a:r>
              <a:rPr lang="fa-IR" sz="1350" dirty="0">
                <a:solidFill>
                  <a:srgbClr val="1F1F1F"/>
                </a:solidFill>
                <a:latin typeface="Google Sans"/>
                <a:cs typeface="2  Nazanin" panose="00000400000000000000" pitchFamily="2" charset="-78"/>
              </a:rPr>
              <a:t>دانشجو واقعا؟ افتخار می‌کنم.</a:t>
            </a:r>
          </a:p>
          <a:p>
            <a:pPr algn="r" rtl="1"/>
            <a:r>
              <a:rPr lang="fa-IR" sz="1350" dirty="0">
                <a:solidFill>
                  <a:srgbClr val="1F1F1F"/>
                </a:solidFill>
                <a:latin typeface="Google Sans"/>
                <a:cs typeface="2  Nazanin" panose="00000400000000000000" pitchFamily="2" charset="-78"/>
              </a:rPr>
              <a:t>معلم شما کارآموزی رو انجام دادید؟</a:t>
            </a:r>
          </a:p>
          <a:p>
            <a:pPr algn="r" rtl="1"/>
            <a:r>
              <a:rPr lang="fa-IR" sz="1350" dirty="0">
                <a:solidFill>
                  <a:srgbClr val="1F1F1F"/>
                </a:solidFill>
                <a:latin typeface="Google Sans"/>
                <a:cs typeface="2  Nazanin" panose="00000400000000000000" pitchFamily="2" charset="-78"/>
              </a:rPr>
              <a:t>دانشجو نه، هنوز نه.</a:t>
            </a:r>
          </a:p>
          <a:p>
            <a:pPr algn="r" rtl="1"/>
            <a:r>
              <a:rPr lang="fa-IR" sz="1350" dirty="0">
                <a:solidFill>
                  <a:srgbClr val="1F1F1F"/>
                </a:solidFill>
                <a:latin typeface="Google Sans"/>
                <a:cs typeface="2  Nazanin" panose="00000400000000000000" pitchFamily="2" charset="-78"/>
              </a:rPr>
              <a:t>معلم اگر خواستید، می‌تونید از کارگاه جوشکاری من استفاده کنید.</a:t>
            </a:r>
          </a:p>
          <a:p>
            <a:pPr algn="r" rtl="1"/>
            <a:r>
              <a:rPr lang="fa-IR" sz="1350" dirty="0">
                <a:solidFill>
                  <a:srgbClr val="1F1F1F"/>
                </a:solidFill>
                <a:latin typeface="Google Sans"/>
                <a:cs typeface="2  Nazanin" panose="00000400000000000000" pitchFamily="2" charset="-78"/>
              </a:rPr>
              <a:t>دانشجو واقعا؟ ممنونم آقا.</a:t>
            </a:r>
          </a:p>
          <a:p>
            <a:pPr algn="r" rtl="1"/>
            <a:r>
              <a:rPr lang="fa-IR" sz="1350" dirty="0">
                <a:solidFill>
                  <a:srgbClr val="1F1F1F"/>
                </a:solidFill>
                <a:latin typeface="Google Sans"/>
                <a:cs typeface="2  Nazanin" panose="00000400000000000000" pitchFamily="2" charset="-78"/>
              </a:rPr>
              <a:t>معلم خواهش می‌کنم.</a:t>
            </a:r>
          </a:p>
          <a:p>
            <a:pPr algn="r" rtl="1"/>
            <a:r>
              <a:rPr lang="fa-IR" sz="1350" dirty="0">
                <a:solidFill>
                  <a:srgbClr val="1F1F1F"/>
                </a:solidFill>
                <a:latin typeface="Google Sans"/>
                <a:cs typeface="2  Nazanin" panose="00000400000000000000" pitchFamily="2" charset="-78"/>
              </a:rPr>
              <a:t>دانشجو (با خودش) این خیلی خوبه. بالاخره می‌تونم کارآموزی رو شروع کنم.</a:t>
            </a:r>
          </a:p>
          <a:p>
            <a:pPr algn="r" rtl="1"/>
            <a:r>
              <a:rPr lang="fa-IR" sz="1350" dirty="0">
                <a:solidFill>
                  <a:srgbClr val="1F1F1F"/>
                </a:solidFill>
                <a:latin typeface="Google Sans"/>
                <a:cs typeface="2  Nazanin" panose="00000400000000000000" pitchFamily="2" charset="-78"/>
              </a:rPr>
              <a:t>دانشجو خیلی ممنونم آقا.</a:t>
            </a:r>
          </a:p>
          <a:p>
            <a:pPr algn="r" rtl="1"/>
            <a:r>
              <a:rPr lang="fa-IR" sz="1350" dirty="0">
                <a:solidFill>
                  <a:srgbClr val="1F1F1F"/>
                </a:solidFill>
                <a:latin typeface="Google Sans"/>
                <a:cs typeface="2  Nazanin" panose="00000400000000000000" pitchFamily="2" charset="-78"/>
              </a:rPr>
              <a:t>معلم خواهش می‌کنم.</a:t>
            </a:r>
          </a:p>
          <a:p>
            <a:pPr algn="r" rtl="1"/>
            <a:r>
              <a:rPr lang="fa-IR" sz="1350" dirty="0">
                <a:solidFill>
                  <a:srgbClr val="1F1F1F"/>
                </a:solidFill>
                <a:latin typeface="Google Sans"/>
                <a:cs typeface="2  Nazanin" panose="00000400000000000000" pitchFamily="2" charset="-78"/>
              </a:rPr>
              <a:t>دانشجو (با خودش) حالا باید به کارگاه جوشکاری آقا بروم و وسایلم رو بیارم.</a:t>
            </a:r>
          </a:p>
          <a:p>
            <a:pPr algn="r" rtl="1"/>
            <a:r>
              <a:rPr lang="fa-IR" sz="1350" dirty="0">
                <a:solidFill>
                  <a:srgbClr val="1F1F1F"/>
                </a:solidFill>
                <a:latin typeface="Google Sans"/>
                <a:cs typeface="2  Nazanin" panose="00000400000000000000" pitchFamily="2" charset="-78"/>
              </a:rPr>
              <a:t>پرده دوم</a:t>
            </a:r>
          </a:p>
          <a:p>
            <a:pPr algn="r" rtl="1"/>
            <a:r>
              <a:rPr lang="fa-IR" sz="1350" dirty="0">
                <a:solidFill>
                  <a:srgbClr val="1F1F1F"/>
                </a:solidFill>
                <a:latin typeface="Google Sans"/>
                <a:cs typeface="2  Nazanin" panose="00000400000000000000" pitchFamily="2" charset="-78"/>
              </a:rPr>
              <a:t>مکان: کارگاه جوشکاری</a:t>
            </a:r>
          </a:p>
          <a:p>
            <a:pPr algn="r" rtl="1"/>
            <a:r>
              <a:rPr lang="fa-IR" sz="1350" dirty="0">
                <a:solidFill>
                  <a:srgbClr val="1F1F1F"/>
                </a:solidFill>
                <a:latin typeface="Google Sans"/>
                <a:cs typeface="2  Nazanin" panose="00000400000000000000" pitchFamily="2" charset="-78"/>
              </a:rPr>
              <a:t>شخصیت‌ها:</a:t>
            </a:r>
          </a:p>
          <a:p>
            <a:pPr algn="r" rtl="1">
              <a:buFont typeface="Arial" panose="020B0604020202020204" pitchFamily="34" charset="0"/>
              <a:buChar char="•"/>
            </a:pPr>
            <a:r>
              <a:rPr lang="fa-IR" sz="1350" dirty="0">
                <a:solidFill>
                  <a:srgbClr val="1F1F1F"/>
                </a:solidFill>
                <a:latin typeface="Google Sans"/>
                <a:cs typeface="2  Nazanin" panose="00000400000000000000" pitchFamily="2" charset="-78"/>
              </a:rPr>
              <a:t>دانشجو</a:t>
            </a:r>
          </a:p>
          <a:p>
            <a:pPr algn="r" rtl="1">
              <a:buFont typeface="Arial" panose="020B0604020202020204" pitchFamily="34" charset="0"/>
              <a:buChar char="•"/>
            </a:pPr>
            <a:r>
              <a:rPr lang="fa-IR" sz="1350" dirty="0">
                <a:solidFill>
                  <a:srgbClr val="1F1F1F"/>
                </a:solidFill>
                <a:latin typeface="Google Sans"/>
                <a:cs typeface="2  Nazanin" panose="00000400000000000000" pitchFamily="2" charset="-78"/>
              </a:rPr>
              <a:t>دختربچه</a:t>
            </a:r>
          </a:p>
          <a:p>
            <a:pPr algn="r" rtl="1"/>
            <a:r>
              <a:rPr lang="fa-IR" sz="1350" dirty="0">
                <a:solidFill>
                  <a:srgbClr val="1F1F1F"/>
                </a:solidFill>
                <a:latin typeface="Google Sans"/>
                <a:cs typeface="2  Nazanin" panose="00000400000000000000" pitchFamily="2" charset="-78"/>
              </a:rPr>
              <a:t>صحنه:</a:t>
            </a:r>
          </a:p>
          <a:p>
            <a:pPr algn="r" rtl="1"/>
            <a:r>
              <a:rPr lang="fa-IR" sz="1350" dirty="0">
                <a:solidFill>
                  <a:srgbClr val="1F1F1F"/>
                </a:solidFill>
                <a:latin typeface="Google Sans"/>
                <a:cs typeface="2  Nazanin" panose="00000400000000000000" pitchFamily="2" charset="-78"/>
              </a:rPr>
              <a:t>دانشجو در کارگاه جوشکاری است. او وسایلش را روی میز گذاشته و مشغول آماده کردن آنها است.</a:t>
            </a:r>
          </a:p>
          <a:p>
            <a:pPr algn="r" rtl="1"/>
            <a:r>
              <a:rPr lang="fa-IR" sz="1350" dirty="0">
                <a:solidFill>
                  <a:srgbClr val="1F1F1F"/>
                </a:solidFill>
                <a:latin typeface="Google Sans"/>
                <a:cs typeface="2  Nazanin" panose="00000400000000000000" pitchFamily="2" charset="-78"/>
              </a:rPr>
              <a:t>دانشجو (با خودش) حالا باید شروع کنم.</a:t>
            </a:r>
          </a:p>
          <a:p>
            <a:pPr algn="r" rtl="1"/>
            <a:r>
              <a:rPr lang="fa-IR" sz="1350" dirty="0">
                <a:solidFill>
                  <a:srgbClr val="1F1F1F"/>
                </a:solidFill>
                <a:latin typeface="Google Sans"/>
                <a:cs typeface="2  Nazanin" panose="00000400000000000000" pitchFamily="2" charset="-78"/>
              </a:rPr>
              <a:t>در این لحظه، دختربچه‌ای وارد کارگاه می‌شود. او عروسکی در دست دارد.</a:t>
            </a:r>
          </a:p>
          <a:p>
            <a:pPr algn="r" rtl="1"/>
            <a:r>
              <a:rPr lang="fa-IR" sz="1350" dirty="0">
                <a:solidFill>
                  <a:srgbClr val="1F1F1F"/>
                </a:solidFill>
                <a:latin typeface="Google Sans"/>
                <a:cs typeface="2  Nazanin" panose="00000400000000000000" pitchFamily="2" charset="-78"/>
              </a:rPr>
              <a:t>دختر بچه: آقا، عروسکم خراب شده. می‌تونید درستش کنید؟</a:t>
            </a:r>
          </a:p>
          <a:p>
            <a:pPr algn="r" rtl="1"/>
            <a:r>
              <a:rPr lang="fa-IR" sz="1350" dirty="0">
                <a:solidFill>
                  <a:srgbClr val="1F1F1F"/>
                </a:solidFill>
                <a:latin typeface="Google Sans"/>
                <a:cs typeface="2  Nazanin" panose="00000400000000000000" pitchFamily="2" charset="-78"/>
              </a:rPr>
              <a:t>دانشجو (با لبخند) البته که می‌تونم.</a:t>
            </a:r>
          </a:p>
          <a:p>
            <a:pPr algn="r" rtl="1"/>
            <a:r>
              <a:rPr lang="fa-IR" sz="1350" dirty="0">
                <a:solidFill>
                  <a:srgbClr val="1F1F1F"/>
                </a:solidFill>
                <a:latin typeface="Google Sans"/>
                <a:cs typeface="2  Nazanin" panose="00000400000000000000" pitchFamily="2" charset="-78"/>
              </a:rPr>
              <a:t>دانشجو عروسک را از دست دختربچه می‌گیرد و آن را بررسی می‌کند.</a:t>
            </a:r>
          </a:p>
          <a:p>
            <a:pPr algn="r" rtl="1"/>
            <a:r>
              <a:rPr lang="fa-IR" sz="1350" dirty="0">
                <a:solidFill>
                  <a:srgbClr val="1F1F1F"/>
                </a:solidFill>
                <a:latin typeface="Google Sans"/>
                <a:cs typeface="2  Nazanin" panose="00000400000000000000" pitchFamily="2" charset="-78"/>
              </a:rPr>
              <a:t>دانشجو عروسکت مشکل خاصی نداره. فقط باید چند تا جوش بزنم.</a:t>
            </a:r>
          </a:p>
          <a:p>
            <a:pPr algn="r" rtl="1"/>
            <a:r>
              <a:rPr lang="fa-IR" sz="1350" dirty="0">
                <a:solidFill>
                  <a:srgbClr val="1F1F1F"/>
                </a:solidFill>
                <a:latin typeface="Google Sans"/>
                <a:cs typeface="2  Nazanin" panose="00000400000000000000" pitchFamily="2" charset="-78"/>
              </a:rPr>
              <a:t>دانشجو عروسک را روی میز می‌گذارد و مشغول جوشکاری می‌شود.</a:t>
            </a:r>
          </a:p>
          <a:p>
            <a:pPr algn="r" rtl="1"/>
            <a:r>
              <a:rPr lang="fa-IR" sz="1350" dirty="0">
                <a:solidFill>
                  <a:srgbClr val="1F1F1F"/>
                </a:solidFill>
                <a:latin typeface="Google Sans"/>
                <a:cs typeface="2  Nazanin" panose="00000400000000000000" pitchFamily="2" charset="-78"/>
              </a:rPr>
              <a:t>دختر بچه (با لبخند) ممنونم آقا.</a:t>
            </a:r>
          </a:p>
          <a:p>
            <a:pPr algn="r" rtl="1"/>
            <a:r>
              <a:rPr lang="fa-IR" sz="1350" dirty="0">
                <a:solidFill>
                  <a:srgbClr val="1F1F1F"/>
                </a:solidFill>
                <a:latin typeface="Google Sans"/>
                <a:cs typeface="2  Nazanin" panose="00000400000000000000" pitchFamily="2" charset="-78"/>
              </a:rPr>
              <a:t>دانشجو خواهش می‌کنم.</a:t>
            </a:r>
          </a:p>
          <a:p>
            <a:pPr algn="r" rtl="1"/>
            <a:r>
              <a:rPr lang="fa-IR" sz="1350" dirty="0">
                <a:solidFill>
                  <a:srgbClr val="1F1F1F"/>
                </a:solidFill>
                <a:latin typeface="Google Sans"/>
                <a:cs typeface="2  Nazanin" panose="00000400000000000000" pitchFamily="2" charset="-78"/>
              </a:rPr>
              <a:t>پس از چند دقیقه، جوشکاری تمام می‌شود.</a:t>
            </a:r>
          </a:p>
          <a:p>
            <a:pPr algn="r" rtl="1"/>
            <a:r>
              <a:rPr lang="fa-IR" sz="1350" dirty="0">
                <a:solidFill>
                  <a:srgbClr val="1F1F1F"/>
                </a:solidFill>
                <a:latin typeface="Google Sans"/>
                <a:cs typeface="2  Nazanin" panose="00000400000000000000" pitchFamily="2" charset="-78"/>
              </a:rPr>
              <a:t>دانشجو عروسکت آماده است.</a:t>
            </a:r>
          </a:p>
          <a:p>
            <a:pPr algn="r" rtl="1"/>
            <a:r>
              <a:rPr lang="fa-IR" sz="1350" dirty="0">
                <a:solidFill>
                  <a:srgbClr val="1F1F1F"/>
                </a:solidFill>
                <a:latin typeface="Google Sans"/>
                <a:cs typeface="2  Nazanin" panose="00000400000000000000" pitchFamily="2" charset="-78"/>
              </a:rPr>
              <a:t>دانشجو عروسک را به دختربچه می‌دهد.</a:t>
            </a:r>
          </a:p>
          <a:p>
            <a:pPr algn="r" rtl="1"/>
            <a:r>
              <a:rPr lang="fa-IR" sz="1350" dirty="0">
                <a:solidFill>
                  <a:srgbClr val="1F1F1F"/>
                </a:solidFill>
                <a:latin typeface="Google Sans"/>
                <a:cs typeface="2  Nazanin" panose="00000400000000000000" pitchFamily="2" charset="-78"/>
              </a:rPr>
              <a:t>دختر بچه (با خوشحالی) وای، چه قشنگ شد!</a:t>
            </a:r>
          </a:p>
          <a:p>
            <a:pPr algn="r" rtl="1"/>
            <a:r>
              <a:rPr lang="fa-IR" sz="1350" dirty="0">
                <a:solidFill>
                  <a:srgbClr val="1F1F1F"/>
                </a:solidFill>
                <a:latin typeface="Google Sans"/>
                <a:cs typeface="2  Nazanin" panose="00000400000000000000" pitchFamily="2" charset="-78"/>
              </a:rPr>
              <a:t>دختر بچه عروسک را بغل می‌کند و از کارگاه خارج می‌شود.</a:t>
            </a:r>
          </a:p>
          <a:p>
            <a:pPr algn="r" rtl="1"/>
            <a:r>
              <a:rPr lang="fa-IR" sz="1350" dirty="0">
                <a:solidFill>
                  <a:srgbClr val="1F1F1F"/>
                </a:solidFill>
                <a:latin typeface="Google Sans"/>
                <a:cs typeface="2  Nazanin" panose="00000400000000000000" pitchFamily="2" charset="-78"/>
              </a:rPr>
              <a:t>دانشجو (با خودش) خوشحالم که تونستم کمکش کنم.</a:t>
            </a:r>
          </a:p>
          <a:p>
            <a:pPr algn="r" rtl="1"/>
            <a:r>
              <a:rPr lang="fa-IR" sz="1350" dirty="0">
                <a:solidFill>
                  <a:srgbClr val="1F1F1F"/>
                </a:solidFill>
                <a:latin typeface="Google Sans"/>
                <a:cs typeface="2  Nazanin" panose="00000400000000000000" pitchFamily="2" charset="-78"/>
              </a:rPr>
              <a:t>دانشجو به کارش ادامه می‌دهد.</a:t>
            </a:r>
          </a:p>
          <a:p>
            <a:pPr algn="r" rtl="1"/>
            <a:r>
              <a:rPr lang="fa-IR" sz="1350" dirty="0">
                <a:solidFill>
                  <a:srgbClr val="1F1F1F"/>
                </a:solidFill>
                <a:latin typeface="Google Sans"/>
                <a:cs typeface="2  Nazanin" panose="00000400000000000000" pitchFamily="2" charset="-78"/>
              </a:rPr>
              <a:t>پرده سوم</a:t>
            </a:r>
          </a:p>
          <a:p>
            <a:pPr algn="r" rtl="1"/>
            <a:r>
              <a:rPr lang="fa-IR" sz="1350" dirty="0">
                <a:solidFill>
                  <a:srgbClr val="1F1F1F"/>
                </a:solidFill>
                <a:latin typeface="Google Sans"/>
                <a:cs typeface="2  Nazanin" panose="00000400000000000000" pitchFamily="2" charset="-78"/>
              </a:rPr>
              <a:t>مکان: کارگاه جوشکاری</a:t>
            </a:r>
          </a:p>
          <a:p>
            <a:pPr algn="r" rtl="1"/>
            <a:r>
              <a:rPr lang="fa-IR" sz="1350" dirty="0">
                <a:solidFill>
                  <a:srgbClr val="1F1F1F"/>
                </a:solidFill>
                <a:latin typeface="Google Sans"/>
                <a:cs typeface="2  Nazanin" panose="00000400000000000000" pitchFamily="2" charset="-78"/>
              </a:rPr>
              <a:t>شخصیت‌ها:</a:t>
            </a:r>
          </a:p>
          <a:p>
            <a:pPr algn="r" rtl="1">
              <a:buFont typeface="Arial" panose="020B0604020202020204" pitchFamily="34" charset="0"/>
              <a:buChar char="•"/>
            </a:pPr>
            <a:r>
              <a:rPr lang="fa-IR" sz="1350" dirty="0">
                <a:solidFill>
                  <a:srgbClr val="1F1F1F"/>
                </a:solidFill>
                <a:latin typeface="Google Sans"/>
                <a:cs typeface="2  Nazanin" panose="00000400000000000000" pitchFamily="2" charset="-78"/>
              </a:rPr>
              <a:t>دانشجو</a:t>
            </a:r>
          </a:p>
          <a:p>
            <a:pPr algn="r" rtl="1">
              <a:buFont typeface="Arial" panose="020B0604020202020204" pitchFamily="34" charset="0"/>
              <a:buChar char="•"/>
            </a:pPr>
            <a:r>
              <a:rPr lang="fa-IR" sz="1350" dirty="0">
                <a:solidFill>
                  <a:srgbClr val="1F1F1F"/>
                </a:solidFill>
                <a:latin typeface="Google Sans"/>
                <a:cs typeface="2  Nazanin" panose="00000400000000000000" pitchFamily="2" charset="-78"/>
              </a:rPr>
              <a:t>معلم</a:t>
            </a:r>
          </a:p>
          <a:p>
            <a:pPr algn="r" rtl="1"/>
            <a:r>
              <a:rPr lang="fa-IR" sz="1350" dirty="0">
                <a:solidFill>
                  <a:srgbClr val="1F1F1F"/>
                </a:solidFill>
                <a:latin typeface="Google Sans"/>
                <a:cs typeface="2  Nazanin" panose="00000400000000000000" pitchFamily="2" charset="-78"/>
              </a:rPr>
              <a:t>صحنه:</a:t>
            </a:r>
          </a:p>
          <a:p>
            <a:pPr algn="r" rtl="1"/>
            <a:r>
              <a:rPr lang="fa-IR" sz="1350" dirty="0">
                <a:solidFill>
                  <a:srgbClr val="1F1F1F"/>
                </a:solidFill>
                <a:latin typeface="Google Sans"/>
                <a:cs typeface="2  Nazanin" panose="00000400000000000000" pitchFamily="2" charset="-78"/>
              </a:rPr>
              <a:t>دانشجو در حال کار در کارگاه جوشکاری است. معلم وارد می‌شود.</a:t>
            </a:r>
          </a:p>
          <a:p>
            <a:pPr algn="r" rtl="1"/>
            <a:r>
              <a:rPr lang="fa-IR" sz="1350" dirty="0">
                <a:solidFill>
                  <a:srgbClr val="1F1F1F"/>
                </a:solidFill>
                <a:latin typeface="Google Sans"/>
                <a:cs typeface="2  Nazanin" panose="00000400000000000000" pitchFamily="2" charset="-78"/>
              </a:rPr>
              <a:t>معلم سلام آقا!</a:t>
            </a:r>
          </a:p>
          <a:p>
            <a:pPr algn="r" rtl="1"/>
            <a:r>
              <a:rPr lang="fa-IR" sz="1350" dirty="0">
                <a:solidFill>
                  <a:srgbClr val="1F1F1F"/>
                </a:solidFill>
                <a:latin typeface="Google Sans"/>
                <a:cs typeface="2  Nazanin" panose="00000400000000000000" pitchFamily="2" charset="-78"/>
              </a:rPr>
              <a:t>دانشجو سلام آقا!</a:t>
            </a:r>
          </a:p>
          <a:p>
            <a:pPr algn="r" rtl="1"/>
            <a:r>
              <a:rPr lang="fa-IR" sz="1350" dirty="0">
                <a:solidFill>
                  <a:srgbClr val="1F1F1F"/>
                </a:solidFill>
                <a:latin typeface="Google Sans"/>
                <a:cs typeface="2  Nazanin" panose="00000400000000000000" pitchFamily="2" charset="-78"/>
              </a:rPr>
              <a:t>معلم کارآموزی رو شروع کردی؟</a:t>
            </a:r>
          </a:p>
          <a:p>
            <a:pPr algn="r" rtl="1"/>
            <a:r>
              <a:rPr lang="fa-IR" sz="1350" dirty="0">
                <a:solidFill>
                  <a:srgbClr val="1F1F1F"/>
                </a:solidFill>
                <a:latin typeface="Google Sans"/>
                <a:cs typeface="2  Nazanin" panose="00000400000000000000" pitchFamily="2" charset="-78"/>
              </a:rPr>
              <a:t>دانشجو بله، آقا.</a:t>
            </a:r>
          </a:p>
          <a:p>
            <a:pPr algn="r" rtl="1"/>
            <a:r>
              <a:rPr lang="fa-IR" sz="1350" dirty="0">
                <a:solidFill>
                  <a:srgbClr val="1F1F1F"/>
                </a:solidFill>
                <a:latin typeface="Google Sans"/>
                <a:cs typeface="2  Nazanin" panose="00000400000000000000" pitchFamily="2" charset="-78"/>
              </a:rPr>
              <a:t>معلم چطوره؟</a:t>
            </a:r>
          </a:p>
          <a:p>
            <a:pPr algn="r" rtl="1"/>
            <a:r>
              <a:rPr lang="fa-IR" sz="1350" dirty="0">
                <a:solidFill>
                  <a:srgbClr val="1F1F1F"/>
                </a:solidFill>
                <a:latin typeface="Google Sans"/>
                <a:cs typeface="2  Nazanin" panose="00000400000000000000" pitchFamily="2" charset="-78"/>
              </a:rPr>
              <a:t>دانشجو خیلی خوبه، آقا. خیلی از شما ممنونم.</a:t>
            </a:r>
          </a:p>
          <a:p>
            <a:pPr algn="r" rtl="1"/>
            <a:r>
              <a:rPr lang="fa-IR" sz="1350" dirty="0">
                <a:solidFill>
                  <a:srgbClr val="1F1F1F"/>
                </a:solidFill>
                <a:latin typeface="Google Sans"/>
                <a:cs typeface="2  Nazanin" panose="00000400000000000000" pitchFamily="2" charset="-78"/>
              </a:rPr>
              <a:t>معلم خواهش می‌کنم.</a:t>
            </a:r>
          </a:p>
          <a:p>
            <a:pPr algn="r" rtl="1"/>
            <a:r>
              <a:rPr lang="fa-IR" sz="1350" dirty="0">
                <a:solidFill>
                  <a:srgbClr val="1F1F1F"/>
                </a:solidFill>
                <a:latin typeface="Google Sans"/>
                <a:cs typeface="2  Nazanin" panose="00000400000000000000" pitchFamily="2" charset="-78"/>
              </a:rPr>
              <a:t>معلم (با لبخند) امیدوارم موفق بشی.</a:t>
            </a:r>
          </a:p>
          <a:p>
            <a:pPr algn="r" rtl="1"/>
            <a:r>
              <a:rPr lang="fa-IR" sz="1350" dirty="0">
                <a:solidFill>
                  <a:srgbClr val="1F1F1F"/>
                </a:solidFill>
                <a:latin typeface="Google Sans"/>
                <a:cs typeface="2  Nazanin" panose="00000400000000000000" pitchFamily="2" charset="-78"/>
              </a:rPr>
              <a:t>دانشجو با دعای شما، حتما موفق می‌شم.</a:t>
            </a:r>
          </a:p>
          <a:p>
            <a:pPr algn="r" rtl="1"/>
            <a:r>
              <a:rPr lang="fa-IR" sz="1350" dirty="0">
                <a:solidFill>
                  <a:srgbClr val="1F1F1F"/>
                </a:solidFill>
                <a:latin typeface="Google Sans"/>
                <a:cs typeface="2  Nazanin" panose="00000400000000000000" pitchFamily="2" charset="-78"/>
              </a:rPr>
              <a:t>معلم به امید موفقیت.</a:t>
            </a:r>
          </a:p>
          <a:p>
            <a:pPr algn="r" rtl="1"/>
            <a:r>
              <a:rPr lang="fa-IR" sz="1350" dirty="0">
                <a:solidFill>
                  <a:srgbClr val="1F1F1F"/>
                </a:solidFill>
                <a:latin typeface="Google Sans"/>
                <a:cs typeface="2  Nazanin" panose="00000400000000000000" pitchFamily="2" charset="-78"/>
              </a:rPr>
              <a:t>معلم کارگاه را ترک می‌کند. دانشجو به کارش ادامه می‌دهد.</a:t>
            </a:r>
          </a:p>
          <a:p>
            <a:pPr algn="r" rtl="1"/>
            <a:r>
              <a:rPr lang="fa-IR" sz="1350" dirty="0">
                <a:solidFill>
                  <a:srgbClr val="1F1F1F"/>
                </a:solidFill>
                <a:latin typeface="Google Sans"/>
                <a:cs typeface="2  Nazanin" panose="00000400000000000000" pitchFamily="2" charset="-78"/>
              </a:rPr>
              <a:t>(پایان نمایشنامه)</a:t>
            </a:r>
          </a:p>
        </p:txBody>
      </p:sp>
      <p:pic>
        <p:nvPicPr>
          <p:cNvPr id="19" name="Picture 18">
            <a:extLst>
              <a:ext uri="{FF2B5EF4-FFF2-40B4-BE49-F238E27FC236}">
                <a16:creationId xmlns:a16="http://schemas.microsoft.com/office/drawing/2014/main" id="{A03155DA-2AEA-433B-B42B-F534D93466C9}"/>
              </a:ext>
            </a:extLst>
          </p:cNvPr>
          <p:cNvPicPr>
            <a:picLocks noChangeAspect="1"/>
          </p:cNvPicPr>
          <p:nvPr/>
        </p:nvPicPr>
        <p:blipFill>
          <a:blip r:embed="rId3">
            <a:duotone>
              <a:prstClr val="black"/>
              <a:schemeClr val="accent2">
                <a:tint val="45000"/>
                <a:satMod val="400000"/>
              </a:schemeClr>
            </a:duotone>
          </a:blip>
          <a:stretch>
            <a:fillRect/>
          </a:stretch>
        </p:blipFill>
        <p:spPr>
          <a:xfrm>
            <a:off x="89116" y="1539875"/>
            <a:ext cx="6483134" cy="3778250"/>
          </a:xfrm>
          <a:prstGeom prst="rect">
            <a:avLst/>
          </a:prstGeom>
        </p:spPr>
      </p:pic>
      <p:pic>
        <p:nvPicPr>
          <p:cNvPr id="21" name="Picture 20">
            <a:extLst>
              <a:ext uri="{FF2B5EF4-FFF2-40B4-BE49-F238E27FC236}">
                <a16:creationId xmlns:a16="http://schemas.microsoft.com/office/drawing/2014/main" id="{8ADD922B-492F-4704-84D2-30DADE6821AF}"/>
              </a:ext>
            </a:extLst>
          </p:cNvPr>
          <p:cNvPicPr>
            <a:picLocks noChangeAspect="1"/>
          </p:cNvPicPr>
          <p:nvPr/>
        </p:nvPicPr>
        <p:blipFill>
          <a:blip r:embed="rId4">
            <a:duotone>
              <a:prstClr val="black"/>
              <a:schemeClr val="accent4">
                <a:tint val="45000"/>
                <a:satMod val="400000"/>
              </a:schemeClr>
            </a:duotone>
          </a:blip>
          <a:stretch>
            <a:fillRect/>
          </a:stretch>
        </p:blipFill>
        <p:spPr>
          <a:xfrm>
            <a:off x="89116" y="4723314"/>
            <a:ext cx="2000250" cy="5093494"/>
          </a:xfrm>
          <a:prstGeom prst="rect">
            <a:avLst/>
          </a:prstGeom>
        </p:spPr>
      </p:pic>
      <p:sp>
        <p:nvSpPr>
          <p:cNvPr id="5" name="Title 1">
            <a:extLst>
              <a:ext uri="{FF2B5EF4-FFF2-40B4-BE49-F238E27FC236}">
                <a16:creationId xmlns:a16="http://schemas.microsoft.com/office/drawing/2014/main" id="{E28C1A63-69C2-29C0-7DEA-9E9897D9519F}"/>
              </a:ext>
            </a:extLst>
          </p:cNvPr>
          <p:cNvSpPr>
            <a:spLocks noGrp="1"/>
          </p:cNvSpPr>
          <p:nvPr>
            <p:ph type="title"/>
          </p:nvPr>
        </p:nvSpPr>
        <p:spPr>
          <a:xfrm>
            <a:off x="962025" y="201881"/>
            <a:ext cx="7803400" cy="670799"/>
          </a:xfrm>
        </p:spPr>
        <p:txBody>
          <a:bodyPr>
            <a:normAutofit/>
          </a:bodyPr>
          <a:lstStyle/>
          <a:p>
            <a:pPr algn="r" rtl="1"/>
            <a:r>
              <a:rPr lang="fa-IR" sz="3200" b="0" i="0" dirty="0">
                <a:effectLst/>
                <a:latin typeface="Google Sans"/>
                <a:cs typeface="2  Titr" panose="00000700000000000000" pitchFamily="2" charset="-78"/>
              </a:rPr>
              <a:t>مهندسی درخواست</a:t>
            </a:r>
          </a:p>
        </p:txBody>
      </p:sp>
      <p:sp>
        <p:nvSpPr>
          <p:cNvPr id="2" name="TextBox 1">
            <a:extLst>
              <a:ext uri="{FF2B5EF4-FFF2-40B4-BE49-F238E27FC236}">
                <a16:creationId xmlns:a16="http://schemas.microsoft.com/office/drawing/2014/main" id="{083FA2E3-070D-87EF-6336-8B96896C0CD6}"/>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49</a:t>
            </a:r>
            <a:endParaRPr lang="fa-IR" sz="1200"/>
          </a:p>
        </p:txBody>
      </p:sp>
    </p:spTree>
    <p:extLst>
      <p:ext uri="{BB962C8B-B14F-4D97-AF65-F5344CB8AC3E}">
        <p14:creationId xmlns:p14="http://schemas.microsoft.com/office/powerpoint/2010/main" val="26758493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lumMod val="95000"/>
            <a:lumOff val="5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64CB95D-1834-416B-8B9C-01C9E49DCA21}"/>
              </a:ext>
            </a:extLst>
          </p:cNvPr>
          <p:cNvPicPr>
            <a:picLocks noChangeAspect="1"/>
          </p:cNvPicPr>
          <p:nvPr/>
        </p:nvPicPr>
        <p:blipFill>
          <a:blip r:embed="rId2"/>
          <a:stretch>
            <a:fillRect/>
          </a:stretch>
        </p:blipFill>
        <p:spPr>
          <a:xfrm>
            <a:off x="441206" y="1682366"/>
            <a:ext cx="8261588" cy="2668282"/>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9" name="Picture 8">
            <a:extLst>
              <a:ext uri="{FF2B5EF4-FFF2-40B4-BE49-F238E27FC236}">
                <a16:creationId xmlns:a16="http://schemas.microsoft.com/office/drawing/2014/main" id="{71051B00-41C0-463A-A8D3-5DCA8B475241}"/>
              </a:ext>
            </a:extLst>
          </p:cNvPr>
          <p:cNvPicPr>
            <a:picLocks noChangeAspect="1"/>
          </p:cNvPicPr>
          <p:nvPr/>
        </p:nvPicPr>
        <p:blipFill>
          <a:blip r:embed="rId3"/>
          <a:stretch>
            <a:fillRect/>
          </a:stretch>
        </p:blipFill>
        <p:spPr>
          <a:xfrm>
            <a:off x="1282303" y="4450556"/>
            <a:ext cx="6579394" cy="2407444"/>
          </a:xfrm>
          <a:prstGeom prst="rect">
            <a:avLst/>
          </a:prstGeom>
        </p:spPr>
      </p:pic>
      <p:sp>
        <p:nvSpPr>
          <p:cNvPr id="4" name="Title 1">
            <a:extLst>
              <a:ext uri="{FF2B5EF4-FFF2-40B4-BE49-F238E27FC236}">
                <a16:creationId xmlns:a16="http://schemas.microsoft.com/office/drawing/2014/main" id="{5D7586BA-3515-9601-2CB4-93EFD56C6E37}"/>
              </a:ext>
            </a:extLst>
          </p:cNvPr>
          <p:cNvSpPr>
            <a:spLocks noGrp="1"/>
          </p:cNvSpPr>
          <p:nvPr>
            <p:ph type="title"/>
          </p:nvPr>
        </p:nvSpPr>
        <p:spPr>
          <a:xfrm>
            <a:off x="962025" y="201881"/>
            <a:ext cx="7803400" cy="670799"/>
          </a:xfrm>
        </p:spPr>
        <p:txBody>
          <a:bodyPr>
            <a:normAutofit/>
          </a:bodyPr>
          <a:lstStyle/>
          <a:p>
            <a:pPr algn="r" rtl="1"/>
            <a:r>
              <a:rPr lang="fa-IR" sz="3200" b="0" i="0" dirty="0">
                <a:effectLst/>
                <a:latin typeface="Google Sans"/>
                <a:cs typeface="2  Titr" panose="00000700000000000000" pitchFamily="2" charset="-78"/>
              </a:rPr>
              <a:t>مهندسی درخواست</a:t>
            </a:r>
          </a:p>
        </p:txBody>
      </p:sp>
      <p:sp>
        <p:nvSpPr>
          <p:cNvPr id="2" name="TextBox 1">
            <a:extLst>
              <a:ext uri="{FF2B5EF4-FFF2-40B4-BE49-F238E27FC236}">
                <a16:creationId xmlns:a16="http://schemas.microsoft.com/office/drawing/2014/main" id="{7F7A6728-1CF2-2A57-87DD-49F0DCF789AB}"/>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50</a:t>
            </a:r>
            <a:endParaRPr lang="fa-IR" sz="1200"/>
          </a:p>
        </p:txBody>
      </p:sp>
    </p:spTree>
    <p:extLst>
      <p:ext uri="{BB962C8B-B14F-4D97-AF65-F5344CB8AC3E}">
        <p14:creationId xmlns:p14="http://schemas.microsoft.com/office/powerpoint/2010/main" val="38605391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lumMod val="95000"/>
            <a:lumOff val="5000"/>
          </a:scheme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CF09272-2787-4AF5-9959-4EC404DCB127}"/>
              </a:ext>
            </a:extLst>
          </p:cNvPr>
          <p:cNvPicPr>
            <a:picLocks noChangeAspect="1"/>
          </p:cNvPicPr>
          <p:nvPr/>
        </p:nvPicPr>
        <p:blipFill>
          <a:blip r:embed="rId2"/>
          <a:stretch>
            <a:fillRect/>
          </a:stretch>
        </p:blipFill>
        <p:spPr>
          <a:xfrm>
            <a:off x="160476" y="1515808"/>
            <a:ext cx="8336756" cy="1014413"/>
          </a:xfrm>
          <a:prstGeom prst="rect">
            <a:avLst/>
          </a:prstGeom>
        </p:spPr>
      </p:pic>
      <p:pic>
        <p:nvPicPr>
          <p:cNvPr id="8" name="Picture 7">
            <a:extLst>
              <a:ext uri="{FF2B5EF4-FFF2-40B4-BE49-F238E27FC236}">
                <a16:creationId xmlns:a16="http://schemas.microsoft.com/office/drawing/2014/main" id="{EA70A3C0-6A10-42B6-B045-93E16B99528D}"/>
              </a:ext>
            </a:extLst>
          </p:cNvPr>
          <p:cNvPicPr>
            <a:picLocks noChangeAspect="1"/>
          </p:cNvPicPr>
          <p:nvPr/>
        </p:nvPicPr>
        <p:blipFill>
          <a:blip r:embed="rId3"/>
          <a:stretch>
            <a:fillRect/>
          </a:stretch>
        </p:blipFill>
        <p:spPr>
          <a:xfrm>
            <a:off x="3129874" y="3209168"/>
            <a:ext cx="2049672" cy="2049672"/>
          </a:xfrm>
          <a:prstGeom prst="rect">
            <a:avLst/>
          </a:prstGeom>
        </p:spPr>
      </p:pic>
      <p:pic>
        <p:nvPicPr>
          <p:cNvPr id="9" name="Picture 8">
            <a:extLst>
              <a:ext uri="{FF2B5EF4-FFF2-40B4-BE49-F238E27FC236}">
                <a16:creationId xmlns:a16="http://schemas.microsoft.com/office/drawing/2014/main" id="{25855715-FF46-4E23-95F5-8E948953512F}"/>
              </a:ext>
            </a:extLst>
          </p:cNvPr>
          <p:cNvPicPr>
            <a:picLocks noChangeAspect="1"/>
          </p:cNvPicPr>
          <p:nvPr/>
        </p:nvPicPr>
        <p:blipFill>
          <a:blip r:embed="rId4"/>
          <a:stretch>
            <a:fillRect/>
          </a:stretch>
        </p:blipFill>
        <p:spPr>
          <a:xfrm>
            <a:off x="0" y="2597533"/>
            <a:ext cx="3129873" cy="3129873"/>
          </a:xfrm>
          <a:prstGeom prst="rect">
            <a:avLst/>
          </a:prstGeom>
        </p:spPr>
      </p:pic>
      <p:pic>
        <p:nvPicPr>
          <p:cNvPr id="10" name="Picture 9">
            <a:extLst>
              <a:ext uri="{FF2B5EF4-FFF2-40B4-BE49-F238E27FC236}">
                <a16:creationId xmlns:a16="http://schemas.microsoft.com/office/drawing/2014/main" id="{C51D75C0-8555-4D57-BD30-6F3297D371A6}"/>
              </a:ext>
            </a:extLst>
          </p:cNvPr>
          <p:cNvPicPr>
            <a:picLocks noChangeAspect="1"/>
          </p:cNvPicPr>
          <p:nvPr/>
        </p:nvPicPr>
        <p:blipFill>
          <a:blip r:embed="rId5"/>
          <a:stretch>
            <a:fillRect/>
          </a:stretch>
        </p:blipFill>
        <p:spPr>
          <a:xfrm>
            <a:off x="5202398" y="2765022"/>
            <a:ext cx="2340941" cy="2340941"/>
          </a:xfrm>
          <a:prstGeom prst="rect">
            <a:avLst/>
          </a:prstGeom>
        </p:spPr>
      </p:pic>
      <p:pic>
        <p:nvPicPr>
          <p:cNvPr id="11" name="Picture 10">
            <a:extLst>
              <a:ext uri="{FF2B5EF4-FFF2-40B4-BE49-F238E27FC236}">
                <a16:creationId xmlns:a16="http://schemas.microsoft.com/office/drawing/2014/main" id="{EE6A201E-DF64-4FAC-882A-065BCACB473E}"/>
              </a:ext>
            </a:extLst>
          </p:cNvPr>
          <p:cNvPicPr>
            <a:picLocks noChangeAspect="1"/>
          </p:cNvPicPr>
          <p:nvPr/>
        </p:nvPicPr>
        <p:blipFill>
          <a:blip r:embed="rId6"/>
          <a:stretch>
            <a:fillRect/>
          </a:stretch>
        </p:blipFill>
        <p:spPr>
          <a:xfrm>
            <a:off x="7252071" y="4122916"/>
            <a:ext cx="1794254" cy="1794254"/>
          </a:xfrm>
          <a:prstGeom prst="rect">
            <a:avLst/>
          </a:prstGeom>
        </p:spPr>
      </p:pic>
      <p:sp>
        <p:nvSpPr>
          <p:cNvPr id="12" name="TextBox 11">
            <a:extLst>
              <a:ext uri="{FF2B5EF4-FFF2-40B4-BE49-F238E27FC236}">
                <a16:creationId xmlns:a16="http://schemas.microsoft.com/office/drawing/2014/main" id="{E07CD214-EDF1-49DE-82FD-DFBA735CACEC}"/>
              </a:ext>
            </a:extLst>
          </p:cNvPr>
          <p:cNvSpPr txBox="1"/>
          <p:nvPr/>
        </p:nvSpPr>
        <p:spPr>
          <a:xfrm>
            <a:off x="1641423" y="5478059"/>
            <a:ext cx="5665009" cy="415498"/>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r>
              <a:rPr lang="en-US" sz="2100" dirty="0"/>
              <a:t>https://www.bing.com/images/create</a:t>
            </a:r>
          </a:p>
        </p:txBody>
      </p:sp>
      <p:sp>
        <p:nvSpPr>
          <p:cNvPr id="4" name="Title 1">
            <a:extLst>
              <a:ext uri="{FF2B5EF4-FFF2-40B4-BE49-F238E27FC236}">
                <a16:creationId xmlns:a16="http://schemas.microsoft.com/office/drawing/2014/main" id="{76B4811C-0FBE-FC81-0099-B7E60114141C}"/>
              </a:ext>
            </a:extLst>
          </p:cNvPr>
          <p:cNvSpPr>
            <a:spLocks noGrp="1"/>
          </p:cNvSpPr>
          <p:nvPr>
            <p:ph type="title"/>
          </p:nvPr>
        </p:nvSpPr>
        <p:spPr>
          <a:xfrm>
            <a:off x="962025" y="201881"/>
            <a:ext cx="7803400" cy="670799"/>
          </a:xfrm>
        </p:spPr>
        <p:txBody>
          <a:bodyPr>
            <a:normAutofit/>
          </a:bodyPr>
          <a:lstStyle/>
          <a:p>
            <a:pPr algn="r" rtl="1"/>
            <a:r>
              <a:rPr lang="fa-IR" sz="3200" b="0" i="0" dirty="0">
                <a:effectLst/>
                <a:latin typeface="Google Sans"/>
                <a:cs typeface="2  Titr" panose="00000700000000000000" pitchFamily="2" charset="-78"/>
              </a:rPr>
              <a:t>مهندسی درخواست</a:t>
            </a:r>
          </a:p>
        </p:txBody>
      </p:sp>
      <p:sp>
        <p:nvSpPr>
          <p:cNvPr id="2" name="TextBox 1">
            <a:extLst>
              <a:ext uri="{FF2B5EF4-FFF2-40B4-BE49-F238E27FC236}">
                <a16:creationId xmlns:a16="http://schemas.microsoft.com/office/drawing/2014/main" id="{16E1563A-D515-7CBA-A16D-8D5A652ECA4A}"/>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51</a:t>
            </a:r>
            <a:endParaRPr lang="fa-IR" sz="1200"/>
          </a:p>
        </p:txBody>
      </p:sp>
    </p:spTree>
    <p:extLst>
      <p:ext uri="{BB962C8B-B14F-4D97-AF65-F5344CB8AC3E}">
        <p14:creationId xmlns:p14="http://schemas.microsoft.com/office/powerpoint/2010/main" val="125649920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lumMod val="95000"/>
            <a:lumOff val="5000"/>
          </a:scheme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A87B8A1-98D5-411A-9053-10F34BF37C36}"/>
              </a:ext>
            </a:extLst>
          </p:cNvPr>
          <p:cNvPicPr>
            <a:picLocks noChangeAspect="1"/>
          </p:cNvPicPr>
          <p:nvPr/>
        </p:nvPicPr>
        <p:blipFill rotWithShape="1">
          <a:blip r:embed="rId2"/>
          <a:srcRect t="7115" b="12932"/>
          <a:stretch/>
        </p:blipFill>
        <p:spPr>
          <a:xfrm>
            <a:off x="516558" y="1543051"/>
            <a:ext cx="7786688" cy="2655917"/>
          </a:xfrm>
          <a:prstGeom prst="rect">
            <a:avLst/>
          </a:prstGeom>
        </p:spPr>
      </p:pic>
      <p:sp>
        <p:nvSpPr>
          <p:cNvPr id="7" name="TextBox 6">
            <a:extLst>
              <a:ext uri="{FF2B5EF4-FFF2-40B4-BE49-F238E27FC236}">
                <a16:creationId xmlns:a16="http://schemas.microsoft.com/office/drawing/2014/main" id="{6ED867FD-3688-4F75-9FC4-7EF969EF1F72}"/>
              </a:ext>
            </a:extLst>
          </p:cNvPr>
          <p:cNvSpPr txBox="1"/>
          <p:nvPr/>
        </p:nvSpPr>
        <p:spPr>
          <a:xfrm>
            <a:off x="1421477" y="4312747"/>
            <a:ext cx="6837737" cy="1246495"/>
          </a:xfrm>
          <a:prstGeom prst="rect">
            <a:avLst/>
          </a:prstGeom>
          <a:noFill/>
        </p:spPr>
        <p:txBody>
          <a:bodyPr wrap="square">
            <a:spAutoFit/>
          </a:bodyPr>
          <a:lstStyle/>
          <a:p>
            <a:pPr algn="r" rtl="1"/>
            <a:r>
              <a:rPr lang="fa-IR" sz="1500" u="sng" dirty="0">
                <a:uFill>
                  <a:solidFill>
                    <a:srgbClr val="FF0000"/>
                  </a:solidFill>
                </a:uFill>
                <a:cs typeface="2  Titr" panose="00000700000000000000" pitchFamily="2" charset="-78"/>
              </a:rPr>
              <a:t>نقش: شما معلم فناوری آموزشی، با تمرکز بر یادگیری مشارکتی هستید.</a:t>
            </a:r>
          </a:p>
          <a:p>
            <a:pPr algn="r" rtl="1"/>
            <a:r>
              <a:rPr lang="fa-IR" sz="1500" u="sng" dirty="0">
                <a:uFill>
                  <a:solidFill>
                    <a:srgbClr val="FFFF00"/>
                  </a:solidFill>
                </a:uFill>
                <a:cs typeface="2  Titr" panose="00000700000000000000" pitchFamily="2" charset="-78"/>
              </a:rPr>
              <a:t>مخاطب: من در حال تدریس </a:t>
            </a:r>
            <a:r>
              <a:rPr lang="en-US" sz="1500" b="1" u="sng" dirty="0">
                <a:uFill>
                  <a:solidFill>
                    <a:srgbClr val="FFFF00"/>
                  </a:solidFill>
                </a:uFill>
                <a:cs typeface="2  Titr" panose="00000700000000000000" pitchFamily="2" charset="-78"/>
              </a:rPr>
              <a:t>ICT</a:t>
            </a:r>
            <a:r>
              <a:rPr lang="en-US" sz="1500" u="sng" dirty="0">
                <a:uFill>
                  <a:solidFill>
                    <a:srgbClr val="FFFF00"/>
                  </a:solidFill>
                </a:uFill>
                <a:cs typeface="2  Titr" panose="00000700000000000000" pitchFamily="2" charset="-78"/>
              </a:rPr>
              <a:t> </a:t>
            </a:r>
            <a:r>
              <a:rPr lang="fa-IR" sz="1500" u="sng" dirty="0">
                <a:uFill>
                  <a:solidFill>
                    <a:srgbClr val="FFFF00"/>
                  </a:solidFill>
                </a:uFill>
                <a:cs typeface="2  Titr" panose="00000700000000000000" pitchFamily="2" charset="-78"/>
              </a:rPr>
              <a:t> به دانش‌آموزان بزرگسال هستم. </a:t>
            </a:r>
          </a:p>
          <a:p>
            <a:pPr algn="r" rtl="1"/>
            <a:r>
              <a:rPr lang="fa-IR" sz="1500" u="sng" dirty="0">
                <a:uFill>
                  <a:solidFill>
                    <a:schemeClr val="accent5"/>
                  </a:solidFill>
                </a:uFill>
                <a:cs typeface="2  Titr" panose="00000700000000000000" pitchFamily="2" charset="-78"/>
              </a:rPr>
              <a:t>تکلیف (وظیفه): سیستم عامل را توضیح دهید.</a:t>
            </a:r>
          </a:p>
          <a:p>
            <a:pPr algn="r" rtl="1"/>
            <a:r>
              <a:rPr lang="fa-IR" sz="1500" dirty="0">
                <a:cs typeface="2  Titr" panose="00000700000000000000" pitchFamily="2" charset="-78"/>
              </a:rPr>
              <a:t>رویکرد کار: از چارچوب حل مسئله مشکل‌محور استفاده کنید.</a:t>
            </a:r>
          </a:p>
          <a:p>
            <a:pPr algn="r" rtl="1"/>
            <a:r>
              <a:rPr lang="fa-IR" sz="1500" dirty="0">
                <a:cs typeface="2  Titr" panose="00000700000000000000" pitchFamily="2" charset="-78"/>
              </a:rPr>
              <a:t>لحن و سبک: </a:t>
            </a:r>
            <a:r>
              <a:rPr lang="fa-IR" sz="1500" u="sng" dirty="0">
                <a:uFill>
                  <a:solidFill>
                    <a:srgbClr val="7030A0"/>
                  </a:solidFill>
                </a:uFill>
                <a:cs typeface="2  Titr" panose="00000700000000000000" pitchFamily="2" charset="-78"/>
              </a:rPr>
              <a:t>پاسخ در سطح پنجم دبستان باشد</a:t>
            </a:r>
            <a:r>
              <a:rPr lang="fa-IR" sz="1500" dirty="0">
                <a:cs typeface="2  Titr" panose="00000700000000000000" pitchFamily="2" charset="-78"/>
              </a:rPr>
              <a:t>. </a:t>
            </a:r>
            <a:r>
              <a:rPr lang="fa-IR" sz="1500" u="sng" dirty="0">
                <a:uFill>
                  <a:solidFill>
                    <a:srgbClr val="B0593E"/>
                  </a:solidFill>
                </a:uFill>
                <a:cs typeface="2  Titr" panose="00000700000000000000" pitchFamily="2" charset="-78"/>
              </a:rPr>
              <a:t>از اصطلاحات تخصصی و اختصارات اجتناب کنید</a:t>
            </a:r>
            <a:r>
              <a:rPr lang="fa-IR" sz="1500" dirty="0">
                <a:cs typeface="2  Titr" panose="00000700000000000000" pitchFamily="2" charset="-78"/>
              </a:rPr>
              <a:t>.</a:t>
            </a:r>
            <a:endParaRPr lang="en-US" sz="1500" dirty="0">
              <a:cs typeface="2  Titr" panose="00000700000000000000" pitchFamily="2" charset="-78"/>
            </a:endParaRPr>
          </a:p>
        </p:txBody>
      </p:sp>
      <p:sp>
        <p:nvSpPr>
          <p:cNvPr id="4" name="Title 1">
            <a:extLst>
              <a:ext uri="{FF2B5EF4-FFF2-40B4-BE49-F238E27FC236}">
                <a16:creationId xmlns:a16="http://schemas.microsoft.com/office/drawing/2014/main" id="{5250FF62-4750-1AA7-7C3B-EDAC171E6B6F}"/>
              </a:ext>
            </a:extLst>
          </p:cNvPr>
          <p:cNvSpPr>
            <a:spLocks noGrp="1"/>
          </p:cNvSpPr>
          <p:nvPr>
            <p:ph type="title"/>
          </p:nvPr>
        </p:nvSpPr>
        <p:spPr>
          <a:xfrm>
            <a:off x="962025" y="201881"/>
            <a:ext cx="7803400" cy="670799"/>
          </a:xfrm>
        </p:spPr>
        <p:txBody>
          <a:bodyPr>
            <a:normAutofit/>
          </a:bodyPr>
          <a:lstStyle/>
          <a:p>
            <a:pPr algn="r" rtl="1"/>
            <a:r>
              <a:rPr lang="fa-IR" sz="3200" b="0" i="0" dirty="0">
                <a:effectLst/>
                <a:latin typeface="Google Sans"/>
                <a:cs typeface="2  Titr" panose="00000700000000000000" pitchFamily="2" charset="-78"/>
              </a:rPr>
              <a:t>مهندسی درخواست</a:t>
            </a:r>
          </a:p>
        </p:txBody>
      </p:sp>
      <p:sp>
        <p:nvSpPr>
          <p:cNvPr id="2" name="TextBox 1">
            <a:extLst>
              <a:ext uri="{FF2B5EF4-FFF2-40B4-BE49-F238E27FC236}">
                <a16:creationId xmlns:a16="http://schemas.microsoft.com/office/drawing/2014/main" id="{5CC91BA1-965B-106A-3973-B2C2FDB4492B}"/>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52</a:t>
            </a:r>
            <a:endParaRPr lang="fa-IR" sz="1200"/>
          </a:p>
        </p:txBody>
      </p:sp>
    </p:spTree>
    <p:extLst>
      <p:ext uri="{BB962C8B-B14F-4D97-AF65-F5344CB8AC3E}">
        <p14:creationId xmlns:p14="http://schemas.microsoft.com/office/powerpoint/2010/main" val="17951661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lumMod val="95000"/>
            <a:lumOff val="5000"/>
          </a:schemeClr>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F379968-6376-4F42-80AB-8D3A7D59E082}"/>
              </a:ext>
            </a:extLst>
          </p:cNvPr>
          <p:cNvPicPr>
            <a:picLocks noChangeAspect="1"/>
          </p:cNvPicPr>
          <p:nvPr/>
        </p:nvPicPr>
        <p:blipFill>
          <a:blip r:embed="rId2"/>
          <a:stretch>
            <a:fillRect/>
          </a:stretch>
        </p:blipFill>
        <p:spPr>
          <a:xfrm>
            <a:off x="1322009" y="1998171"/>
            <a:ext cx="5526459" cy="1620983"/>
          </a:xfrm>
          <a:prstGeom prst="rect">
            <a:avLst/>
          </a:prstGeom>
        </p:spPr>
      </p:pic>
      <p:sp>
        <p:nvSpPr>
          <p:cNvPr id="11" name="TextBox 10">
            <a:extLst>
              <a:ext uri="{FF2B5EF4-FFF2-40B4-BE49-F238E27FC236}">
                <a16:creationId xmlns:a16="http://schemas.microsoft.com/office/drawing/2014/main" id="{CBAC0521-DB9A-490E-9EFC-4511758FDE64}"/>
              </a:ext>
            </a:extLst>
          </p:cNvPr>
          <p:cNvSpPr txBox="1"/>
          <p:nvPr/>
        </p:nvSpPr>
        <p:spPr>
          <a:xfrm>
            <a:off x="164176" y="3746961"/>
            <a:ext cx="8751224" cy="114262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indent="270034" algn="just" rtl="1"/>
            <a:r>
              <a:rPr lang="fa-IR" sz="1500" b="1" dirty="0">
                <a:solidFill>
                  <a:srgbClr val="000000"/>
                </a:solidFill>
                <a:highlight>
                  <a:srgbClr val="C0C0C0"/>
                </a:highlight>
                <a:latin typeface="Times New Roman" panose="02020603050405020304" pitchFamily="18" charset="0"/>
                <a:ea typeface="Times New Roman" panose="02020603050405020304" pitchFamily="18" charset="0"/>
                <a:cs typeface="2  Nazanin" panose="00000400000000000000" pitchFamily="2" charset="-78"/>
              </a:rPr>
              <a:t>نقش: شما یک متخصص تغذیه هستید که رژیم‌های غذایی سالمی برای ورزشکاران با عملکرد بالا طراحی می‌کنید. شما نیازهای تغذیه‌ای مورد نیاز برای بهبودی خوب را در نظر می‌گیرید.</a:t>
            </a:r>
          </a:p>
          <a:p>
            <a:pPr indent="270034" algn="just" rtl="1"/>
            <a:endParaRPr lang="en-US" sz="525" b="1" dirty="0">
              <a:highlight>
                <a:srgbClr val="C0C0C0"/>
              </a:highlight>
              <a:latin typeface="Times New Roman" panose="02020603050405020304" pitchFamily="18" charset="0"/>
              <a:ea typeface="Times New Roman" panose="02020603050405020304" pitchFamily="18" charset="0"/>
              <a:cs typeface="2  Nazanin" panose="00000400000000000000" pitchFamily="2" charset="-78"/>
            </a:endParaRPr>
          </a:p>
          <a:p>
            <a:pPr indent="270034" algn="just" rtl="1"/>
            <a:r>
              <a:rPr lang="fa-IR" sz="1500" b="1" dirty="0">
                <a:solidFill>
                  <a:schemeClr val="tx1"/>
                </a:solidFill>
                <a:highlight>
                  <a:srgbClr val="0000FF"/>
                </a:highlight>
                <a:latin typeface="Times New Roman" panose="02020603050405020304" pitchFamily="18" charset="0"/>
                <a:ea typeface="Times New Roman" panose="02020603050405020304" pitchFamily="18" charset="0"/>
                <a:cs typeface="2  Nazanin" panose="00000400000000000000" pitchFamily="2" charset="-78"/>
              </a:rPr>
              <a:t>زمینه: من روزانه دو ساعت ورزش می‌کنم. من گیاهخوار هستم و سبزیجات سبز را دوست ندارم. من به خوردن سالم متعهد هستم. </a:t>
            </a:r>
          </a:p>
          <a:p>
            <a:pPr indent="270034" algn="just" rtl="1"/>
            <a:endParaRPr lang="en-US" sz="300" b="1" dirty="0">
              <a:solidFill>
                <a:schemeClr val="tx1"/>
              </a:solidFill>
              <a:highlight>
                <a:srgbClr val="0000FF"/>
              </a:highlight>
              <a:latin typeface="Times New Roman" panose="02020603050405020304" pitchFamily="18" charset="0"/>
              <a:ea typeface="Times New Roman" panose="02020603050405020304" pitchFamily="18" charset="0"/>
              <a:cs typeface="2  Nazanin" panose="00000400000000000000" pitchFamily="2" charset="-78"/>
            </a:endParaRPr>
          </a:p>
          <a:p>
            <a:pPr indent="270034" algn="just" rtl="1"/>
            <a:r>
              <a:rPr lang="fa-IR" sz="1500" b="1" dirty="0">
                <a:solidFill>
                  <a:srgbClr val="000000"/>
                </a:solidFill>
                <a:highlight>
                  <a:srgbClr val="008000"/>
                </a:highlight>
                <a:latin typeface="Times New Roman" panose="02020603050405020304" pitchFamily="18" charset="0"/>
                <a:ea typeface="Times New Roman" panose="02020603050405020304" pitchFamily="18" charset="0"/>
                <a:cs typeface="2  Nazanin" panose="00000400000000000000" pitchFamily="2" charset="-78"/>
              </a:rPr>
              <a:t>وظیفه: بر اساس تخصص شما، لطفاً برای ناهار امروز یک پیشنهاد برای غذای اصلی ارائه دهید.</a:t>
            </a:r>
            <a:endParaRPr lang="en-US" sz="1050" b="1" dirty="0">
              <a:highlight>
                <a:srgbClr val="008000"/>
              </a:highlight>
              <a:latin typeface="Times New Roman" panose="02020603050405020304" pitchFamily="18" charset="0"/>
              <a:ea typeface="Times New Roman" panose="02020603050405020304" pitchFamily="18" charset="0"/>
              <a:cs typeface="2  Nazanin" panose="00000400000000000000" pitchFamily="2" charset="-78"/>
            </a:endParaRPr>
          </a:p>
        </p:txBody>
      </p:sp>
      <p:sp>
        <p:nvSpPr>
          <p:cNvPr id="4" name="Title 1">
            <a:extLst>
              <a:ext uri="{FF2B5EF4-FFF2-40B4-BE49-F238E27FC236}">
                <a16:creationId xmlns:a16="http://schemas.microsoft.com/office/drawing/2014/main" id="{C2CCACE4-28AD-77C5-92D6-B809E55F9931}"/>
              </a:ext>
            </a:extLst>
          </p:cNvPr>
          <p:cNvSpPr>
            <a:spLocks noGrp="1"/>
          </p:cNvSpPr>
          <p:nvPr>
            <p:ph type="title"/>
          </p:nvPr>
        </p:nvSpPr>
        <p:spPr>
          <a:xfrm>
            <a:off x="962025" y="201881"/>
            <a:ext cx="7803400" cy="670799"/>
          </a:xfrm>
        </p:spPr>
        <p:txBody>
          <a:bodyPr>
            <a:normAutofit/>
          </a:bodyPr>
          <a:lstStyle/>
          <a:p>
            <a:pPr algn="r" rtl="1"/>
            <a:r>
              <a:rPr lang="fa-IR" sz="3200" b="0" i="0" dirty="0">
                <a:effectLst/>
                <a:latin typeface="Google Sans"/>
                <a:cs typeface="2  Titr" panose="00000700000000000000" pitchFamily="2" charset="-78"/>
              </a:rPr>
              <a:t>مهندسی درخواست</a:t>
            </a:r>
          </a:p>
        </p:txBody>
      </p:sp>
      <p:sp>
        <p:nvSpPr>
          <p:cNvPr id="2" name="TextBox 1">
            <a:extLst>
              <a:ext uri="{FF2B5EF4-FFF2-40B4-BE49-F238E27FC236}">
                <a16:creationId xmlns:a16="http://schemas.microsoft.com/office/drawing/2014/main" id="{35C745CB-DB21-A5E2-0E44-1A93177DFCD7}"/>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53</a:t>
            </a:r>
            <a:endParaRPr lang="fa-IR" sz="1200"/>
          </a:p>
        </p:txBody>
      </p:sp>
    </p:spTree>
    <p:extLst>
      <p:ext uri="{BB962C8B-B14F-4D97-AF65-F5344CB8AC3E}">
        <p14:creationId xmlns:p14="http://schemas.microsoft.com/office/powerpoint/2010/main" val="44928741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lumMod val="95000"/>
            <a:lumOff val="5000"/>
          </a:scheme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A34B309-D638-498E-B36D-B63B032F8B7D}"/>
              </a:ext>
            </a:extLst>
          </p:cNvPr>
          <p:cNvPicPr>
            <a:picLocks noChangeAspect="1"/>
          </p:cNvPicPr>
          <p:nvPr/>
        </p:nvPicPr>
        <p:blipFill>
          <a:blip r:embed="rId2"/>
          <a:stretch>
            <a:fillRect/>
          </a:stretch>
        </p:blipFill>
        <p:spPr>
          <a:xfrm>
            <a:off x="1775222" y="1632347"/>
            <a:ext cx="5593556" cy="3593306"/>
          </a:xfrm>
          <a:prstGeom prst="rect">
            <a:avLst/>
          </a:prstGeom>
        </p:spPr>
      </p:pic>
      <p:sp>
        <p:nvSpPr>
          <p:cNvPr id="4" name="Title 1">
            <a:extLst>
              <a:ext uri="{FF2B5EF4-FFF2-40B4-BE49-F238E27FC236}">
                <a16:creationId xmlns:a16="http://schemas.microsoft.com/office/drawing/2014/main" id="{6584CB08-9EC4-9D93-5F26-FD64F8517358}"/>
              </a:ext>
            </a:extLst>
          </p:cNvPr>
          <p:cNvSpPr>
            <a:spLocks noGrp="1"/>
          </p:cNvSpPr>
          <p:nvPr>
            <p:ph type="title"/>
          </p:nvPr>
        </p:nvSpPr>
        <p:spPr>
          <a:xfrm>
            <a:off x="962025" y="201881"/>
            <a:ext cx="7803400" cy="670799"/>
          </a:xfrm>
        </p:spPr>
        <p:txBody>
          <a:bodyPr>
            <a:normAutofit/>
          </a:bodyPr>
          <a:lstStyle/>
          <a:p>
            <a:pPr algn="r" rtl="1"/>
            <a:r>
              <a:rPr lang="fa-IR" sz="3200" b="0" i="0" dirty="0">
                <a:effectLst/>
                <a:latin typeface="Google Sans"/>
                <a:cs typeface="2  Titr" panose="00000700000000000000" pitchFamily="2" charset="-78"/>
              </a:rPr>
              <a:t>مهندسی درخواست</a:t>
            </a:r>
          </a:p>
        </p:txBody>
      </p:sp>
      <p:sp>
        <p:nvSpPr>
          <p:cNvPr id="2" name="TextBox 1">
            <a:extLst>
              <a:ext uri="{FF2B5EF4-FFF2-40B4-BE49-F238E27FC236}">
                <a16:creationId xmlns:a16="http://schemas.microsoft.com/office/drawing/2014/main" id="{699F2BC0-E770-C3B7-4B56-548B7300C1B5}"/>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54</a:t>
            </a:r>
            <a:endParaRPr lang="fa-IR" sz="1200"/>
          </a:p>
        </p:txBody>
      </p:sp>
    </p:spTree>
    <p:extLst>
      <p:ext uri="{BB962C8B-B14F-4D97-AF65-F5344CB8AC3E}">
        <p14:creationId xmlns:p14="http://schemas.microsoft.com/office/powerpoint/2010/main" val="89368055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D700D5-9947-6705-19F7-7BCC2951022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FC3E04B-4F07-C6FC-62B4-6A36A189E184}"/>
              </a:ext>
            </a:extLst>
          </p:cNvPr>
          <p:cNvPicPr>
            <a:picLocks noChangeAspect="1"/>
          </p:cNvPicPr>
          <p:nvPr/>
        </p:nvPicPr>
        <p:blipFill>
          <a:blip r:embed="rId2"/>
          <a:stretch>
            <a:fillRect/>
          </a:stretch>
        </p:blipFill>
        <p:spPr>
          <a:xfrm>
            <a:off x="3511599" y="2160337"/>
            <a:ext cx="2358191" cy="1571514"/>
          </a:xfrm>
          <a:prstGeom prst="rect">
            <a:avLst/>
          </a:prstGeom>
        </p:spPr>
      </p:pic>
      <p:sp>
        <p:nvSpPr>
          <p:cNvPr id="5" name="TextBox 4">
            <a:extLst>
              <a:ext uri="{FF2B5EF4-FFF2-40B4-BE49-F238E27FC236}">
                <a16:creationId xmlns:a16="http://schemas.microsoft.com/office/drawing/2014/main" id="{7054CB54-14DE-C177-EDC7-6FE5B742226D}"/>
              </a:ext>
            </a:extLst>
          </p:cNvPr>
          <p:cNvSpPr txBox="1"/>
          <p:nvPr/>
        </p:nvSpPr>
        <p:spPr>
          <a:xfrm>
            <a:off x="549706" y="397514"/>
            <a:ext cx="8663267" cy="1508105"/>
          </a:xfrm>
          <a:prstGeom prst="rect">
            <a:avLst/>
          </a:prstGeom>
          <a:noFill/>
        </p:spPr>
        <p:txBody>
          <a:bodyPr wrap="square">
            <a:spAutoFit/>
          </a:bodyPr>
          <a:lstStyle/>
          <a:p>
            <a:pPr algn="r" rtl="1"/>
            <a:r>
              <a:rPr lang="en-US" sz="3200" dirty="0">
                <a:cs typeface="2  Titr" panose="00000700000000000000" pitchFamily="2" charset="-78"/>
              </a:rPr>
              <a:t>🔥</a:t>
            </a:r>
            <a:r>
              <a:rPr lang="en-US" sz="3200" dirty="0" err="1">
                <a:cs typeface="2  Titr" panose="00000700000000000000" pitchFamily="2" charset="-78"/>
              </a:rPr>
              <a:t>این</a:t>
            </a:r>
            <a:r>
              <a:rPr lang="en-US" sz="3200" dirty="0">
                <a:cs typeface="2  Titr" panose="00000700000000000000" pitchFamily="2" charset="-78"/>
              </a:rPr>
              <a:t> </a:t>
            </a:r>
            <a:r>
              <a:rPr lang="en-US" sz="3200" dirty="0" err="1">
                <a:cs typeface="2  Titr" panose="00000700000000000000" pitchFamily="2" charset="-78"/>
              </a:rPr>
              <a:t>پرامپت</a:t>
            </a:r>
            <a:r>
              <a:rPr lang="en-US" sz="3200" dirty="0">
                <a:cs typeface="2  Titr" panose="00000700000000000000" pitchFamily="2" charset="-78"/>
              </a:rPr>
              <a:t> </a:t>
            </a:r>
            <a:r>
              <a:rPr lang="en-US" sz="3200" err="1">
                <a:cs typeface="2  Titr" panose="00000700000000000000" pitchFamily="2" charset="-78"/>
              </a:rPr>
              <a:t>عکسِ</a:t>
            </a:r>
            <a:r>
              <a:rPr lang="en-US" sz="3200">
                <a:cs typeface="2  Titr" panose="00000700000000000000" pitchFamily="2" charset="-78"/>
              </a:rPr>
              <a:t> رزومه‌ ر</a:t>
            </a:r>
            <a:r>
              <a:rPr lang="fa-IR" sz="3200">
                <a:cs typeface="2  Titr" panose="00000700000000000000" pitchFamily="2" charset="-78"/>
              </a:rPr>
              <a:t>ا</a:t>
            </a:r>
            <a:r>
              <a:rPr lang="en-US" sz="3200">
                <a:cs typeface="2  Titr" panose="00000700000000000000" pitchFamily="2" charset="-78"/>
              </a:rPr>
              <a:t> </a:t>
            </a:r>
            <a:r>
              <a:rPr lang="en-US" sz="3200" err="1">
                <a:cs typeface="2  Titr" panose="00000700000000000000" pitchFamily="2" charset="-78"/>
              </a:rPr>
              <a:t>شبیه</a:t>
            </a:r>
            <a:r>
              <a:rPr lang="en-US" sz="3200">
                <a:cs typeface="2  Titr" panose="00000700000000000000" pitchFamily="2" charset="-78"/>
              </a:rPr>
              <a:t> مدیرعامل</a:t>
            </a:r>
            <a:r>
              <a:rPr lang="fa-IR" sz="3200" dirty="0">
                <a:cs typeface="2  Titr" panose="00000700000000000000" pitchFamily="2" charset="-78"/>
              </a:rPr>
              <a:t>‌</a:t>
            </a:r>
            <a:r>
              <a:rPr lang="en-US" sz="3200">
                <a:cs typeface="2  Titr" panose="00000700000000000000" pitchFamily="2" charset="-78"/>
              </a:rPr>
              <a:t>ها می</a:t>
            </a:r>
            <a:r>
              <a:rPr lang="fa-IR" sz="3200">
                <a:cs typeface="2  Titr" panose="00000700000000000000" pitchFamily="2" charset="-78"/>
              </a:rPr>
              <a:t>‌</a:t>
            </a:r>
            <a:r>
              <a:rPr lang="en-US" sz="3200">
                <a:cs typeface="2  Titr" panose="00000700000000000000" pitchFamily="2" charset="-78"/>
              </a:rPr>
              <a:t>کن</a:t>
            </a:r>
            <a:r>
              <a:rPr lang="fa-IR" sz="3200">
                <a:cs typeface="2  Titr" panose="00000700000000000000" pitchFamily="2" charset="-78"/>
              </a:rPr>
              <a:t>د</a:t>
            </a:r>
            <a:endParaRPr lang="en-US" sz="3200" dirty="0">
              <a:cs typeface="2  Titr" panose="00000700000000000000" pitchFamily="2" charset="-78"/>
            </a:endParaRPr>
          </a:p>
          <a:p>
            <a:pPr algn="r" rtl="1"/>
            <a:r>
              <a:rPr lang="en-US" sz="2000">
                <a:cs typeface="2  Nazanin" panose="00000400000000000000" pitchFamily="2" charset="-78"/>
              </a:rPr>
              <a:t>▪️اگ</a:t>
            </a:r>
            <a:r>
              <a:rPr lang="fa-IR" sz="2000">
                <a:cs typeface="2  Nazanin" panose="00000400000000000000" pitchFamily="2" charset="-78"/>
              </a:rPr>
              <a:t>ر</a:t>
            </a:r>
            <a:r>
              <a:rPr lang="en-US" sz="2000">
                <a:cs typeface="2  Nazanin" panose="00000400000000000000" pitchFamily="2" charset="-78"/>
              </a:rPr>
              <a:t> </a:t>
            </a:r>
            <a:r>
              <a:rPr lang="en-US" sz="2000" err="1">
                <a:cs typeface="2  Nazanin" panose="00000400000000000000" pitchFamily="2" charset="-78"/>
              </a:rPr>
              <a:t>دنبال</a:t>
            </a:r>
            <a:r>
              <a:rPr lang="en-US" sz="2000">
                <a:cs typeface="2  Nazanin" panose="00000400000000000000" pitchFamily="2" charset="-78"/>
              </a:rPr>
              <a:t> ی</a:t>
            </a:r>
            <a:r>
              <a:rPr lang="fa-IR" sz="2000">
                <a:cs typeface="2  Nazanin" panose="00000400000000000000" pitchFamily="2" charset="-78"/>
              </a:rPr>
              <a:t>ک</a:t>
            </a:r>
            <a:r>
              <a:rPr lang="en-US" sz="2000">
                <a:cs typeface="2  Nazanin" panose="00000400000000000000" pitchFamily="2" charset="-78"/>
              </a:rPr>
              <a:t> </a:t>
            </a:r>
            <a:r>
              <a:rPr lang="en-US" sz="2000" dirty="0" err="1">
                <a:cs typeface="2  Nazanin" panose="00000400000000000000" pitchFamily="2" charset="-78"/>
              </a:rPr>
              <a:t>عکس</a:t>
            </a:r>
            <a:r>
              <a:rPr lang="en-US" sz="2000" dirty="0">
                <a:cs typeface="2  Nazanin" panose="00000400000000000000" pitchFamily="2" charset="-78"/>
              </a:rPr>
              <a:t> </a:t>
            </a:r>
            <a:r>
              <a:rPr lang="en-US" sz="2000" dirty="0" err="1">
                <a:cs typeface="2  Nazanin" panose="00000400000000000000" pitchFamily="2" charset="-78"/>
              </a:rPr>
              <a:t>رسمی</a:t>
            </a:r>
            <a:r>
              <a:rPr lang="en-US" sz="2000" dirty="0">
                <a:cs typeface="2  Nazanin" panose="00000400000000000000" pitchFamily="2" charset="-78"/>
              </a:rPr>
              <a:t>، </a:t>
            </a:r>
            <a:r>
              <a:rPr lang="en-US" sz="2000" dirty="0" err="1">
                <a:cs typeface="2  Nazanin" panose="00000400000000000000" pitchFamily="2" charset="-78"/>
              </a:rPr>
              <a:t>شیک</a:t>
            </a:r>
            <a:r>
              <a:rPr lang="en-US" sz="2000" dirty="0">
                <a:cs typeface="2  Nazanin" panose="00000400000000000000" pitchFamily="2" charset="-78"/>
              </a:rPr>
              <a:t> و </a:t>
            </a:r>
            <a:r>
              <a:rPr lang="en-US" sz="2000" dirty="0" err="1">
                <a:cs typeface="2  Nazanin" panose="00000400000000000000" pitchFamily="2" charset="-78"/>
              </a:rPr>
              <a:t>حرفه‌ای</a:t>
            </a:r>
            <a:r>
              <a:rPr lang="en-US" sz="2000" dirty="0">
                <a:cs typeface="2  Nazanin" panose="00000400000000000000" pitchFamily="2" charset="-78"/>
              </a:rPr>
              <a:t> </a:t>
            </a:r>
            <a:r>
              <a:rPr lang="en-US" sz="2000" dirty="0" err="1">
                <a:cs typeface="2  Nazanin" panose="00000400000000000000" pitchFamily="2" charset="-78"/>
              </a:rPr>
              <a:t>برای</a:t>
            </a:r>
            <a:r>
              <a:rPr lang="en-US" sz="2000" dirty="0">
                <a:cs typeface="2  Nazanin" panose="00000400000000000000" pitchFamily="2" charset="-78"/>
              </a:rPr>
              <a:t> </a:t>
            </a:r>
            <a:r>
              <a:rPr lang="en-US" sz="2000" dirty="0" err="1">
                <a:cs typeface="2  Nazanin" panose="00000400000000000000" pitchFamily="2" charset="-78"/>
              </a:rPr>
              <a:t>رزومه</a:t>
            </a:r>
            <a:r>
              <a:rPr lang="en-US" sz="2000" dirty="0">
                <a:cs typeface="2  Nazanin" panose="00000400000000000000" pitchFamily="2" charset="-78"/>
              </a:rPr>
              <a:t>، </a:t>
            </a:r>
            <a:r>
              <a:rPr lang="en-US" sz="2000" dirty="0" err="1">
                <a:cs typeface="2  Nazanin" panose="00000400000000000000" pitchFamily="2" charset="-78"/>
              </a:rPr>
              <a:t>لینکدین</a:t>
            </a:r>
            <a:r>
              <a:rPr lang="en-US" sz="2000" dirty="0">
                <a:cs typeface="2  Nazanin" panose="00000400000000000000" pitchFamily="2" charset="-78"/>
              </a:rPr>
              <a:t> </a:t>
            </a:r>
            <a:r>
              <a:rPr lang="en-US" sz="2000" dirty="0" err="1">
                <a:cs typeface="2  Nazanin" panose="00000400000000000000" pitchFamily="2" charset="-78"/>
              </a:rPr>
              <a:t>یا</a:t>
            </a:r>
            <a:r>
              <a:rPr lang="en-US" sz="2000" dirty="0">
                <a:cs typeface="2  Nazanin" panose="00000400000000000000" pitchFamily="2" charset="-78"/>
              </a:rPr>
              <a:t> </a:t>
            </a:r>
            <a:r>
              <a:rPr lang="en-US" sz="2000" dirty="0" err="1">
                <a:cs typeface="2  Nazanin" panose="00000400000000000000" pitchFamily="2" charset="-78"/>
              </a:rPr>
              <a:t>حتی</a:t>
            </a:r>
            <a:r>
              <a:rPr lang="en-US" sz="2000" dirty="0">
                <a:cs typeface="2  Nazanin" panose="00000400000000000000" pitchFamily="2" charset="-78"/>
              </a:rPr>
              <a:t> </a:t>
            </a:r>
            <a:r>
              <a:rPr lang="en-US" sz="2000" err="1">
                <a:cs typeface="2  Nazanin" panose="00000400000000000000" pitchFamily="2" charset="-78"/>
              </a:rPr>
              <a:t>ویزا</a:t>
            </a:r>
            <a:r>
              <a:rPr lang="en-US" sz="2000">
                <a:cs typeface="2  Nazanin" panose="00000400000000000000" pitchFamily="2" charset="-78"/>
              </a:rPr>
              <a:t> هستی</a:t>
            </a:r>
            <a:r>
              <a:rPr lang="fa-IR" sz="2000">
                <a:cs typeface="2  Nazanin" panose="00000400000000000000" pitchFamily="2" charset="-78"/>
              </a:rPr>
              <a:t>د</a:t>
            </a:r>
            <a:r>
              <a:rPr lang="en-US" sz="2000">
                <a:cs typeface="2  Nazanin" panose="00000400000000000000" pitchFamily="2" charset="-78"/>
              </a:rPr>
              <a:t>، کافی</a:t>
            </a:r>
            <a:r>
              <a:rPr lang="fa-IR" sz="2000">
                <a:cs typeface="2  Nazanin" panose="00000400000000000000" pitchFamily="2" charset="-78"/>
              </a:rPr>
              <a:t> است که</a:t>
            </a:r>
            <a:r>
              <a:rPr lang="en-US" sz="2000">
                <a:cs typeface="2  Nazanin" panose="00000400000000000000" pitchFamily="2" charset="-78"/>
              </a:rPr>
              <a:t> </a:t>
            </a:r>
            <a:r>
              <a:rPr lang="en-US" sz="2000" dirty="0" err="1">
                <a:cs typeface="2  Nazanin" panose="00000400000000000000" pitchFamily="2" charset="-78"/>
              </a:rPr>
              <a:t>این</a:t>
            </a:r>
            <a:r>
              <a:rPr lang="en-US" sz="2000" dirty="0">
                <a:cs typeface="2  Nazanin" panose="00000400000000000000" pitchFamily="2" charset="-78"/>
              </a:rPr>
              <a:t> </a:t>
            </a:r>
            <a:r>
              <a:rPr lang="en-US" sz="2000" err="1">
                <a:cs typeface="2  Nazanin" panose="00000400000000000000" pitchFamily="2" charset="-78"/>
              </a:rPr>
              <a:t>پرامپت</a:t>
            </a:r>
            <a:r>
              <a:rPr lang="en-US" sz="2000">
                <a:cs typeface="2  Nazanin" panose="00000400000000000000" pitchFamily="2" charset="-78"/>
              </a:rPr>
              <a:t> ر</a:t>
            </a:r>
            <a:r>
              <a:rPr lang="fa-IR" sz="2000">
                <a:cs typeface="2  Nazanin" panose="00000400000000000000" pitchFamily="2" charset="-78"/>
              </a:rPr>
              <a:t>ا</a:t>
            </a:r>
            <a:r>
              <a:rPr lang="en-US" sz="2000">
                <a:cs typeface="2  Nazanin" panose="00000400000000000000" pitchFamily="2" charset="-78"/>
              </a:rPr>
              <a:t> به ChatGPT </a:t>
            </a:r>
            <a:r>
              <a:rPr lang="fa-IR" sz="2000">
                <a:cs typeface="2  Nazanin" panose="00000400000000000000" pitchFamily="2" charset="-78"/>
              </a:rPr>
              <a:t> بدهید و ۳ </a:t>
            </a:r>
            <a:r>
              <a:rPr lang="en-US" sz="2000">
                <a:cs typeface="2  Nazanin" panose="00000400000000000000" pitchFamily="2" charset="-78"/>
              </a:rPr>
              <a:t>عکس </a:t>
            </a:r>
            <a:r>
              <a:rPr lang="en-US" sz="2000" err="1">
                <a:cs typeface="2  Nazanin" panose="00000400000000000000" pitchFamily="2" charset="-78"/>
              </a:rPr>
              <a:t>از</a:t>
            </a:r>
            <a:r>
              <a:rPr lang="en-US" sz="2000">
                <a:cs typeface="2  Nazanin" panose="00000400000000000000" pitchFamily="2" charset="-78"/>
              </a:rPr>
              <a:t> خودت</a:t>
            </a:r>
            <a:r>
              <a:rPr lang="fa-IR" sz="2000">
                <a:cs typeface="2  Nazanin" panose="00000400000000000000" pitchFamily="2" charset="-78"/>
              </a:rPr>
              <a:t>ان</a:t>
            </a:r>
            <a:r>
              <a:rPr lang="en-US" sz="2000">
                <a:cs typeface="2  Nazanin" panose="00000400000000000000" pitchFamily="2" charset="-78"/>
              </a:rPr>
              <a:t> </a:t>
            </a:r>
            <a:r>
              <a:rPr lang="en-US" sz="2000" err="1">
                <a:cs typeface="2  Nazanin" panose="00000400000000000000" pitchFamily="2" charset="-78"/>
              </a:rPr>
              <a:t>آپلود</a:t>
            </a:r>
            <a:r>
              <a:rPr lang="en-US" sz="2000">
                <a:cs typeface="2  Nazanin" panose="00000400000000000000" pitchFamily="2" charset="-78"/>
              </a:rPr>
              <a:t> کنی</a:t>
            </a:r>
            <a:r>
              <a:rPr lang="fa-IR" sz="2000">
                <a:cs typeface="2  Nazanin" panose="00000400000000000000" pitchFamily="2" charset="-78"/>
              </a:rPr>
              <a:t>د</a:t>
            </a:r>
            <a:r>
              <a:rPr lang="en-US" sz="2000">
                <a:cs typeface="2  Nazanin" panose="00000400000000000000" pitchFamily="2" charset="-78"/>
              </a:rPr>
              <a:t> </a:t>
            </a:r>
            <a:r>
              <a:rPr lang="en-US" sz="2000" dirty="0">
                <a:cs typeface="2  Nazanin" panose="00000400000000000000" pitchFamily="2" charset="-78"/>
              </a:rPr>
              <a:t>و </a:t>
            </a:r>
            <a:r>
              <a:rPr lang="en-US" sz="2000" err="1">
                <a:cs typeface="2  Nazanin" panose="00000400000000000000" pitchFamily="2" charset="-78"/>
              </a:rPr>
              <a:t>منتظر</a:t>
            </a:r>
            <a:r>
              <a:rPr lang="en-US" sz="2000">
                <a:cs typeface="2  Nazanin" panose="00000400000000000000" pitchFamily="2" charset="-78"/>
              </a:rPr>
              <a:t> بمونی</a:t>
            </a:r>
            <a:r>
              <a:rPr lang="fa-IR" sz="2000">
                <a:cs typeface="2  Nazanin" panose="00000400000000000000" pitchFamily="2" charset="-78"/>
              </a:rPr>
              <a:t>د</a:t>
            </a:r>
            <a:r>
              <a:rPr lang="en-US" sz="2000">
                <a:cs typeface="2  Nazanin" panose="00000400000000000000" pitchFamily="2" charset="-78"/>
              </a:rPr>
              <a:t> </a:t>
            </a:r>
            <a:r>
              <a:rPr lang="en-US" sz="2000" dirty="0" err="1">
                <a:cs typeface="2  Nazanin" panose="00000400000000000000" pitchFamily="2" charset="-78"/>
              </a:rPr>
              <a:t>تا</a:t>
            </a:r>
            <a:r>
              <a:rPr lang="en-US" sz="2000" dirty="0">
                <a:cs typeface="2  Nazanin" panose="00000400000000000000" pitchFamily="2" charset="-78"/>
              </a:rPr>
              <a:t> </a:t>
            </a:r>
            <a:r>
              <a:rPr lang="en-US" sz="2000" dirty="0" err="1">
                <a:cs typeface="2  Nazanin" panose="00000400000000000000" pitchFamily="2" charset="-78"/>
              </a:rPr>
              <a:t>بهترین</a:t>
            </a:r>
            <a:r>
              <a:rPr lang="en-US" sz="2000" dirty="0">
                <a:cs typeface="2  Nazanin" panose="00000400000000000000" pitchFamily="2" charset="-78"/>
              </a:rPr>
              <a:t> </a:t>
            </a:r>
            <a:r>
              <a:rPr lang="en-US" sz="2000" dirty="0" err="1">
                <a:cs typeface="2  Nazanin" panose="00000400000000000000" pitchFamily="2" charset="-78"/>
              </a:rPr>
              <a:t>عکس</a:t>
            </a:r>
            <a:r>
              <a:rPr lang="en-US" sz="2000" dirty="0">
                <a:cs typeface="2  Nazanin" panose="00000400000000000000" pitchFamily="2" charset="-78"/>
              </a:rPr>
              <a:t> </a:t>
            </a:r>
            <a:r>
              <a:rPr lang="en-US" sz="2000" dirty="0" err="1">
                <a:cs typeface="2  Nazanin" panose="00000400000000000000" pitchFamily="2" charset="-78"/>
              </a:rPr>
              <a:t>رسمی</a:t>
            </a:r>
            <a:r>
              <a:rPr lang="en-US" sz="2000" dirty="0">
                <a:cs typeface="2  Nazanin" panose="00000400000000000000" pitchFamily="2" charset="-78"/>
              </a:rPr>
              <a:t> </a:t>
            </a:r>
            <a:r>
              <a:rPr lang="en-US" sz="2000" err="1">
                <a:cs typeface="2  Nazanin" panose="00000400000000000000" pitchFamily="2" charset="-78"/>
              </a:rPr>
              <a:t>ممکن</a:t>
            </a:r>
            <a:r>
              <a:rPr lang="en-US" sz="2000">
                <a:cs typeface="2  Nazanin" panose="00000400000000000000" pitchFamily="2" charset="-78"/>
              </a:rPr>
              <a:t> ر</a:t>
            </a:r>
            <a:r>
              <a:rPr lang="fa-IR" sz="2000">
                <a:cs typeface="2  Nazanin" panose="00000400000000000000" pitchFamily="2" charset="-78"/>
              </a:rPr>
              <a:t>ا</a:t>
            </a:r>
            <a:r>
              <a:rPr lang="en-US" sz="2000">
                <a:cs typeface="2  Nazanin" panose="00000400000000000000" pitchFamily="2" charset="-78"/>
              </a:rPr>
              <a:t> بساز</a:t>
            </a:r>
            <a:r>
              <a:rPr lang="fa-IR" sz="2000">
                <a:cs typeface="2  Nazanin" panose="00000400000000000000" pitchFamily="2" charset="-78"/>
              </a:rPr>
              <a:t>د</a:t>
            </a:r>
            <a:r>
              <a:rPr lang="en-US" sz="2000">
                <a:cs typeface="2  Nazanin" panose="00000400000000000000" pitchFamily="2" charset="-78"/>
              </a:rPr>
              <a:t>!</a:t>
            </a:r>
            <a:endParaRPr lang="en-US" sz="2000" dirty="0">
              <a:cs typeface="2  Nazanin" panose="00000400000000000000" pitchFamily="2" charset="-78"/>
            </a:endParaRPr>
          </a:p>
        </p:txBody>
      </p:sp>
      <p:sp>
        <p:nvSpPr>
          <p:cNvPr id="7" name="TextBox 6">
            <a:extLst>
              <a:ext uri="{FF2B5EF4-FFF2-40B4-BE49-F238E27FC236}">
                <a16:creationId xmlns:a16="http://schemas.microsoft.com/office/drawing/2014/main" id="{1F1E4CCF-1939-7A84-0437-D7419B2D8FE3}"/>
              </a:ext>
            </a:extLst>
          </p:cNvPr>
          <p:cNvSpPr txBox="1"/>
          <p:nvPr/>
        </p:nvSpPr>
        <p:spPr>
          <a:xfrm>
            <a:off x="1938477" y="6123070"/>
            <a:ext cx="6832143" cy="369332"/>
          </a:xfrm>
          <a:prstGeom prst="rect">
            <a:avLst/>
          </a:prstGeom>
          <a:noFill/>
        </p:spPr>
        <p:txBody>
          <a:bodyPr wrap="square">
            <a:spAutoFit/>
          </a:bodyPr>
          <a:lstStyle/>
          <a:p>
            <a:pPr algn="r" rtl="1"/>
            <a:r>
              <a:rPr lang="fa-IR">
                <a:cs typeface="2  Nazanin" panose="00000400000000000000" pitchFamily="2" charset="-78"/>
              </a:rPr>
              <a:t>نکته: </a:t>
            </a:r>
            <a:r>
              <a:rPr lang="en-US">
                <a:cs typeface="2  Nazanin" panose="00000400000000000000" pitchFamily="2" charset="-78"/>
              </a:rPr>
              <a:t>عکس </a:t>
            </a:r>
            <a:r>
              <a:rPr lang="en-US" dirty="0" err="1">
                <a:cs typeface="2  Nazanin" panose="00000400000000000000" pitchFamily="2" charset="-78"/>
              </a:rPr>
              <a:t>حتماً</a:t>
            </a:r>
            <a:r>
              <a:rPr lang="en-US" dirty="0">
                <a:cs typeface="2  Nazanin" panose="00000400000000000000" pitchFamily="2" charset="-78"/>
              </a:rPr>
              <a:t> </a:t>
            </a:r>
            <a:r>
              <a:rPr lang="en-US" dirty="0" err="1">
                <a:cs typeface="2  Nazanin" panose="00000400000000000000" pitchFamily="2" charset="-78"/>
              </a:rPr>
              <a:t>از</a:t>
            </a:r>
            <a:r>
              <a:rPr lang="en-US" dirty="0">
                <a:cs typeface="2  Nazanin" panose="00000400000000000000" pitchFamily="2" charset="-78"/>
              </a:rPr>
              <a:t> </a:t>
            </a:r>
            <a:r>
              <a:rPr lang="en-US" dirty="0" err="1">
                <a:cs typeface="2  Nazanin" panose="00000400000000000000" pitchFamily="2" charset="-78"/>
              </a:rPr>
              <a:t>زوایای</a:t>
            </a:r>
            <a:r>
              <a:rPr lang="en-US" dirty="0">
                <a:cs typeface="2  Nazanin" panose="00000400000000000000" pitchFamily="2" charset="-78"/>
              </a:rPr>
              <a:t> </a:t>
            </a:r>
            <a:r>
              <a:rPr lang="en-US" err="1">
                <a:cs typeface="2  Nazanin" panose="00000400000000000000" pitchFamily="2" charset="-78"/>
              </a:rPr>
              <a:t>مختلف</a:t>
            </a:r>
            <a:r>
              <a:rPr lang="en-US">
                <a:cs typeface="2  Nazanin" panose="00000400000000000000" pitchFamily="2" charset="-78"/>
              </a:rPr>
              <a:t> </a:t>
            </a:r>
            <a:r>
              <a:rPr lang="fa-IR">
                <a:cs typeface="2  Nazanin" panose="00000400000000000000" pitchFamily="2" charset="-78"/>
              </a:rPr>
              <a:t>باشد</a:t>
            </a:r>
            <a:r>
              <a:rPr lang="en-US">
                <a:cs typeface="2  Nazanin" panose="00000400000000000000" pitchFamily="2" charset="-78"/>
              </a:rPr>
              <a:t> </a:t>
            </a:r>
            <a:r>
              <a:rPr lang="en-US" dirty="0" err="1">
                <a:cs typeface="2  Nazanin" panose="00000400000000000000" pitchFamily="2" charset="-78"/>
              </a:rPr>
              <a:t>تا</a:t>
            </a:r>
            <a:r>
              <a:rPr lang="en-US" dirty="0">
                <a:cs typeface="2  Nazanin" panose="00000400000000000000" pitchFamily="2" charset="-78"/>
              </a:rPr>
              <a:t> </a:t>
            </a:r>
            <a:r>
              <a:rPr lang="en-US" dirty="0" err="1">
                <a:cs typeface="2  Nazanin" panose="00000400000000000000" pitchFamily="2" charset="-78"/>
              </a:rPr>
              <a:t>خروجی</a:t>
            </a:r>
            <a:r>
              <a:rPr lang="en-US" dirty="0">
                <a:cs typeface="2  Nazanin" panose="00000400000000000000" pitchFamily="2" charset="-78"/>
              </a:rPr>
              <a:t> </a:t>
            </a:r>
            <a:r>
              <a:rPr lang="en-US" dirty="0" err="1">
                <a:cs typeface="2  Nazanin" panose="00000400000000000000" pitchFamily="2" charset="-78"/>
              </a:rPr>
              <a:t>واقعاً</a:t>
            </a:r>
            <a:r>
              <a:rPr lang="en-US" dirty="0">
                <a:cs typeface="2  Nazanin" panose="00000400000000000000" pitchFamily="2" charset="-78"/>
              </a:rPr>
              <a:t> </a:t>
            </a:r>
            <a:r>
              <a:rPr lang="en-US" err="1">
                <a:cs typeface="2  Nazanin" panose="00000400000000000000" pitchFamily="2" charset="-78"/>
              </a:rPr>
              <a:t>شبیه</a:t>
            </a:r>
            <a:r>
              <a:rPr lang="en-US">
                <a:cs typeface="2  Nazanin" panose="00000400000000000000" pitchFamily="2" charset="-78"/>
              </a:rPr>
              <a:t> </a:t>
            </a:r>
            <a:r>
              <a:rPr lang="fa-IR">
                <a:cs typeface="2  Nazanin" panose="00000400000000000000" pitchFamily="2" charset="-78"/>
              </a:rPr>
              <a:t>شما</a:t>
            </a:r>
            <a:r>
              <a:rPr lang="en-US">
                <a:cs typeface="2  Nazanin" panose="00000400000000000000" pitchFamily="2" charset="-78"/>
              </a:rPr>
              <a:t> دربیا</a:t>
            </a:r>
            <a:r>
              <a:rPr lang="fa-IR">
                <a:cs typeface="2  Nazanin" panose="00000400000000000000" pitchFamily="2" charset="-78"/>
              </a:rPr>
              <a:t>ی</a:t>
            </a:r>
            <a:r>
              <a:rPr lang="en-US">
                <a:cs typeface="2  Nazanin" panose="00000400000000000000" pitchFamily="2" charset="-78"/>
              </a:rPr>
              <a:t>د</a:t>
            </a:r>
            <a:r>
              <a:rPr lang="en-US" dirty="0">
                <a:cs typeface="2  Nazanin" panose="00000400000000000000" pitchFamily="2" charset="-78"/>
              </a:rPr>
              <a:t>!</a:t>
            </a:r>
          </a:p>
        </p:txBody>
      </p:sp>
      <p:sp>
        <p:nvSpPr>
          <p:cNvPr id="9" name="TextBox 8">
            <a:extLst>
              <a:ext uri="{FF2B5EF4-FFF2-40B4-BE49-F238E27FC236}">
                <a16:creationId xmlns:a16="http://schemas.microsoft.com/office/drawing/2014/main" id="{38EEF4EE-2581-71E0-6976-F54740FD9DEA}"/>
              </a:ext>
            </a:extLst>
          </p:cNvPr>
          <p:cNvSpPr txBox="1"/>
          <p:nvPr/>
        </p:nvSpPr>
        <p:spPr>
          <a:xfrm>
            <a:off x="593409" y="3986570"/>
            <a:ext cx="8575862" cy="1384995"/>
          </a:xfrm>
          <a:prstGeom prst="rect">
            <a:avLst/>
          </a:prstGeom>
          <a:noFill/>
        </p:spPr>
        <p:txBody>
          <a:bodyPr wrap="square">
            <a:spAutoFit/>
          </a:bodyPr>
          <a:lstStyle/>
          <a:p>
            <a:r>
              <a:rPr lang="en-US" sz="1400" dirty="0"/>
              <a:t>Create a high-resolution, professional portrait of the exact same person shown in these three photos. This person should be wearing a well-fitted suit with a white or black shirt and a tie. The background should be neutral and softly lit, with professional studio lighting. His expression should be calm and composed, looking directly into the camera. Every facial detail, including hair texture, skin tone, and eye direction, must be rendered accurately and precisely to match the person in the reference photos. This image is intended for use in a résumé and must not include any unrealistic elements or identity alterations.</a:t>
            </a:r>
          </a:p>
        </p:txBody>
      </p:sp>
      <p:sp>
        <p:nvSpPr>
          <p:cNvPr id="2" name="TextBox 1">
            <a:extLst>
              <a:ext uri="{FF2B5EF4-FFF2-40B4-BE49-F238E27FC236}">
                <a16:creationId xmlns:a16="http://schemas.microsoft.com/office/drawing/2014/main" id="{6CCA5330-F0E6-0830-7000-221BDF888B6B}"/>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55</a:t>
            </a:r>
            <a:endParaRPr lang="fa-IR" sz="1200"/>
          </a:p>
        </p:txBody>
      </p:sp>
    </p:spTree>
    <p:extLst>
      <p:ext uri="{BB962C8B-B14F-4D97-AF65-F5344CB8AC3E}">
        <p14:creationId xmlns:p14="http://schemas.microsoft.com/office/powerpoint/2010/main" val="8972420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lumMod val="95000"/>
            <a:lumOff val="5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EBF4F2D-27BD-49D3-B3B4-0B96B129A91A}"/>
              </a:ext>
            </a:extLst>
          </p:cNvPr>
          <p:cNvPicPr>
            <a:picLocks noChangeAspect="1"/>
          </p:cNvPicPr>
          <p:nvPr/>
        </p:nvPicPr>
        <p:blipFill>
          <a:blip r:embed="rId2"/>
          <a:stretch>
            <a:fillRect/>
          </a:stretch>
        </p:blipFill>
        <p:spPr>
          <a:xfrm>
            <a:off x="4769635" y="1370752"/>
            <a:ext cx="4330248" cy="3189818"/>
          </a:xfrm>
          <a:prstGeom prst="rect">
            <a:avLst/>
          </a:prstGeom>
        </p:spPr>
      </p:pic>
      <p:pic>
        <p:nvPicPr>
          <p:cNvPr id="3" name="Picture 2">
            <a:extLst>
              <a:ext uri="{FF2B5EF4-FFF2-40B4-BE49-F238E27FC236}">
                <a16:creationId xmlns:a16="http://schemas.microsoft.com/office/drawing/2014/main" id="{FB39307E-B5A8-4532-9A54-24133B8CAC44}"/>
              </a:ext>
            </a:extLst>
          </p:cNvPr>
          <p:cNvPicPr>
            <a:picLocks noChangeAspect="1"/>
          </p:cNvPicPr>
          <p:nvPr/>
        </p:nvPicPr>
        <p:blipFill>
          <a:blip r:embed="rId3"/>
          <a:stretch>
            <a:fillRect/>
          </a:stretch>
        </p:blipFill>
        <p:spPr>
          <a:xfrm>
            <a:off x="423949" y="3335283"/>
            <a:ext cx="4426685" cy="2903029"/>
          </a:xfrm>
          <a:prstGeom prst="rect">
            <a:avLst/>
          </a:prstGeom>
        </p:spPr>
      </p:pic>
      <p:pic>
        <p:nvPicPr>
          <p:cNvPr id="4" name="Picture 3">
            <a:extLst>
              <a:ext uri="{FF2B5EF4-FFF2-40B4-BE49-F238E27FC236}">
                <a16:creationId xmlns:a16="http://schemas.microsoft.com/office/drawing/2014/main" id="{E14A27D8-68A1-41D5-A178-44DF687F212F}"/>
              </a:ext>
            </a:extLst>
          </p:cNvPr>
          <p:cNvPicPr>
            <a:picLocks noChangeAspect="1"/>
          </p:cNvPicPr>
          <p:nvPr/>
        </p:nvPicPr>
        <p:blipFill>
          <a:blip r:embed="rId4"/>
          <a:stretch>
            <a:fillRect/>
          </a:stretch>
        </p:blipFill>
        <p:spPr>
          <a:xfrm>
            <a:off x="1507370" y="1370752"/>
            <a:ext cx="1307306" cy="1964531"/>
          </a:xfrm>
          <a:prstGeom prst="rect">
            <a:avLst/>
          </a:prstGeom>
        </p:spPr>
      </p:pic>
      <p:sp>
        <p:nvSpPr>
          <p:cNvPr id="8" name="Title 1">
            <a:extLst>
              <a:ext uri="{FF2B5EF4-FFF2-40B4-BE49-F238E27FC236}">
                <a16:creationId xmlns:a16="http://schemas.microsoft.com/office/drawing/2014/main" id="{B4A2D05B-E92B-5A2E-D9DA-C10CD56D779D}"/>
              </a:ext>
            </a:extLst>
          </p:cNvPr>
          <p:cNvSpPr>
            <a:spLocks noGrp="1"/>
          </p:cNvSpPr>
          <p:nvPr>
            <p:ph type="title"/>
          </p:nvPr>
        </p:nvSpPr>
        <p:spPr>
          <a:xfrm>
            <a:off x="962025" y="201881"/>
            <a:ext cx="7803400" cy="670799"/>
          </a:xfrm>
        </p:spPr>
        <p:txBody>
          <a:bodyPr>
            <a:normAutofit/>
          </a:bodyPr>
          <a:lstStyle/>
          <a:p>
            <a:pPr algn="r" rtl="1"/>
            <a:r>
              <a:rPr lang="fa-IR" sz="3200" b="0" i="0" dirty="0">
                <a:effectLst/>
                <a:latin typeface="Google Sans"/>
                <a:cs typeface="2  Titr" panose="00000700000000000000" pitchFamily="2" charset="-78"/>
              </a:rPr>
              <a:t>مهندسی درخواست</a:t>
            </a:r>
          </a:p>
        </p:txBody>
      </p:sp>
      <p:sp>
        <p:nvSpPr>
          <p:cNvPr id="5" name="TextBox 4">
            <a:extLst>
              <a:ext uri="{FF2B5EF4-FFF2-40B4-BE49-F238E27FC236}">
                <a16:creationId xmlns:a16="http://schemas.microsoft.com/office/drawing/2014/main" id="{E52E6388-929F-B3EE-643F-766094EDD11E}"/>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56</a:t>
            </a:r>
            <a:endParaRPr lang="fa-IR" sz="1200"/>
          </a:p>
        </p:txBody>
      </p:sp>
    </p:spTree>
    <p:extLst>
      <p:ext uri="{BB962C8B-B14F-4D97-AF65-F5344CB8AC3E}">
        <p14:creationId xmlns:p14="http://schemas.microsoft.com/office/powerpoint/2010/main" val="410822358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lumMod val="95000"/>
            <a:lumOff val="5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A2B41BC-A81B-4058-A9B2-2E6615CBFC1C}"/>
              </a:ext>
            </a:extLst>
          </p:cNvPr>
          <p:cNvPicPr>
            <a:picLocks noChangeAspect="1"/>
          </p:cNvPicPr>
          <p:nvPr/>
        </p:nvPicPr>
        <p:blipFill>
          <a:blip r:embed="rId3"/>
          <a:stretch>
            <a:fillRect/>
          </a:stretch>
        </p:blipFill>
        <p:spPr>
          <a:xfrm>
            <a:off x="2339123" y="1998173"/>
            <a:ext cx="3843213" cy="2688258"/>
          </a:xfrm>
          <a:prstGeom prst="rect">
            <a:avLst/>
          </a:prstGeom>
        </p:spPr>
      </p:pic>
      <p:sp>
        <p:nvSpPr>
          <p:cNvPr id="10" name="TextBox 9">
            <a:extLst>
              <a:ext uri="{FF2B5EF4-FFF2-40B4-BE49-F238E27FC236}">
                <a16:creationId xmlns:a16="http://schemas.microsoft.com/office/drawing/2014/main" id="{7CCDC083-252A-4B3A-8020-225325350750}"/>
              </a:ext>
            </a:extLst>
          </p:cNvPr>
          <p:cNvSpPr txBox="1"/>
          <p:nvPr/>
        </p:nvSpPr>
        <p:spPr>
          <a:xfrm>
            <a:off x="3106363" y="4905351"/>
            <a:ext cx="4579274" cy="923330"/>
          </a:xfrm>
          <a:prstGeom prst="rect">
            <a:avLst/>
          </a:prstGeom>
          <a:noFill/>
        </p:spPr>
        <p:txBody>
          <a:bodyPr wrap="square">
            <a:spAutoFit/>
          </a:bodyPr>
          <a:lstStyle/>
          <a:p>
            <a:r>
              <a:rPr lang="en-US" sz="1350" dirty="0"/>
              <a:t>I go home --&gt; 😊 go 🏠</a:t>
            </a:r>
          </a:p>
          <a:p>
            <a:r>
              <a:rPr lang="en-US" sz="1350" dirty="0"/>
              <a:t>my dog is sad --&gt; my 🐶 is 😢</a:t>
            </a:r>
          </a:p>
          <a:p>
            <a:r>
              <a:rPr lang="en-US" sz="1350" dirty="0"/>
              <a:t>I run fast --&gt; 😊 🏃‍ ⏩</a:t>
            </a:r>
          </a:p>
          <a:p>
            <a:r>
              <a:rPr lang="en-US" sz="1350" dirty="0"/>
              <a:t>I love book --&gt;</a:t>
            </a:r>
          </a:p>
        </p:txBody>
      </p:sp>
      <p:sp>
        <p:nvSpPr>
          <p:cNvPr id="4" name="Title 1">
            <a:extLst>
              <a:ext uri="{FF2B5EF4-FFF2-40B4-BE49-F238E27FC236}">
                <a16:creationId xmlns:a16="http://schemas.microsoft.com/office/drawing/2014/main" id="{5D6269C0-9DF3-0BC1-3237-B0B46AA35636}"/>
              </a:ext>
            </a:extLst>
          </p:cNvPr>
          <p:cNvSpPr>
            <a:spLocks noGrp="1"/>
          </p:cNvSpPr>
          <p:nvPr>
            <p:ph type="title"/>
          </p:nvPr>
        </p:nvSpPr>
        <p:spPr>
          <a:xfrm>
            <a:off x="962025" y="201881"/>
            <a:ext cx="7803400" cy="670799"/>
          </a:xfrm>
        </p:spPr>
        <p:txBody>
          <a:bodyPr>
            <a:normAutofit/>
          </a:bodyPr>
          <a:lstStyle/>
          <a:p>
            <a:pPr algn="r" rtl="1"/>
            <a:r>
              <a:rPr lang="fa-IR" sz="3200" b="0" i="0" dirty="0">
                <a:effectLst/>
                <a:latin typeface="Google Sans"/>
                <a:cs typeface="2  Titr" panose="00000700000000000000" pitchFamily="2" charset="-78"/>
              </a:rPr>
              <a:t>مهندسی درخواست</a:t>
            </a:r>
          </a:p>
        </p:txBody>
      </p:sp>
      <p:sp>
        <p:nvSpPr>
          <p:cNvPr id="2" name="TextBox 1">
            <a:extLst>
              <a:ext uri="{FF2B5EF4-FFF2-40B4-BE49-F238E27FC236}">
                <a16:creationId xmlns:a16="http://schemas.microsoft.com/office/drawing/2014/main" id="{27AB9BC8-9415-2701-1BCD-4806ED47142A}"/>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57</a:t>
            </a:r>
            <a:endParaRPr lang="fa-IR" sz="1200"/>
          </a:p>
        </p:txBody>
      </p:sp>
    </p:spTree>
    <p:extLst>
      <p:ext uri="{BB962C8B-B14F-4D97-AF65-F5344CB8AC3E}">
        <p14:creationId xmlns:p14="http://schemas.microsoft.com/office/powerpoint/2010/main" val="336481622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DD845-3D66-0471-7751-5DFFF8AC1C6E}"/>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57BDEEBD-F9B3-7ECE-7454-1C130654BB45}"/>
              </a:ext>
            </a:extLst>
          </p:cNvPr>
          <p:cNvPicPr>
            <a:picLocks noChangeAspect="1"/>
          </p:cNvPicPr>
          <p:nvPr/>
        </p:nvPicPr>
        <p:blipFill>
          <a:blip r:embed="rId2"/>
          <a:stretch>
            <a:fillRect/>
          </a:stretch>
        </p:blipFill>
        <p:spPr>
          <a:xfrm>
            <a:off x="1844567" y="40145"/>
            <a:ext cx="5502164" cy="6836478"/>
          </a:xfrm>
          <a:prstGeom prst="rect">
            <a:avLst/>
          </a:prstGeom>
        </p:spPr>
      </p:pic>
      <p:sp>
        <p:nvSpPr>
          <p:cNvPr id="4" name="TextBox 3">
            <a:extLst>
              <a:ext uri="{FF2B5EF4-FFF2-40B4-BE49-F238E27FC236}">
                <a16:creationId xmlns:a16="http://schemas.microsoft.com/office/drawing/2014/main" id="{295D0EFD-750B-C077-1E43-6A5DCAB423FD}"/>
              </a:ext>
            </a:extLst>
          </p:cNvPr>
          <p:cNvSpPr txBox="1"/>
          <p:nvPr/>
        </p:nvSpPr>
        <p:spPr>
          <a:xfrm>
            <a:off x="1304925" y="3458384"/>
            <a:ext cx="5695950" cy="369332"/>
          </a:xfrm>
          <a:prstGeom prst="rect">
            <a:avLst/>
          </a:prstGeom>
          <a:noFill/>
        </p:spPr>
        <p:txBody>
          <a:bodyPr wrap="square">
            <a:spAutoFit/>
          </a:bodyPr>
          <a:lstStyle/>
          <a:p>
            <a:pPr algn="r" rtl="1"/>
            <a:r>
              <a:rPr lang="ar-SA" sz="1800" kern="100">
                <a:solidFill>
                  <a:schemeClr val="bg1"/>
                </a:solidFill>
                <a:effectLst/>
                <a:latin typeface="Arial" panose="020B0604020202020204" pitchFamily="34" charset="0"/>
                <a:ea typeface="Aptos" panose="020B0004020202020204" pitchFamily="34" charset="0"/>
                <a:cs typeface="2  Titr" panose="00000700000000000000" pitchFamily="2" charset="-78"/>
              </a:rPr>
              <a:t>کار با </a:t>
            </a:r>
            <a:r>
              <a:rPr lang="en-US" sz="1800" b="1" kern="100">
                <a:solidFill>
                  <a:schemeClr val="bg1"/>
                </a:solidFill>
                <a:effectLst/>
                <a:latin typeface="Arial" panose="020B0604020202020204" pitchFamily="34" charset="0"/>
                <a:ea typeface="Aptos" panose="020B0004020202020204" pitchFamily="34" charset="0"/>
                <a:cs typeface="2  Titr" panose="00000700000000000000" pitchFamily="2" charset="-78"/>
              </a:rPr>
              <a:t>GPT</a:t>
            </a:r>
            <a:r>
              <a:rPr lang="ar-SA" sz="1800" b="1" kern="100">
                <a:solidFill>
                  <a:schemeClr val="bg1"/>
                </a:solidFill>
                <a:effectLst/>
                <a:latin typeface="Arial" panose="020B0604020202020204" pitchFamily="34" charset="0"/>
                <a:ea typeface="Aptos" panose="020B0004020202020204" pitchFamily="34" charset="0"/>
                <a:cs typeface="2  Titr" panose="00000700000000000000" pitchFamily="2" charset="-78"/>
              </a:rPr>
              <a:t>های سفارشی موجود (آماده) در </a:t>
            </a:r>
            <a:r>
              <a:rPr lang="en-US" sz="1800" b="1" kern="100">
                <a:solidFill>
                  <a:schemeClr val="bg1"/>
                </a:solidFill>
                <a:effectLst/>
                <a:latin typeface="Arial" panose="020B0604020202020204" pitchFamily="34" charset="0"/>
                <a:ea typeface="Aptos" panose="020B0004020202020204" pitchFamily="34" charset="0"/>
                <a:cs typeface="2  Titr" panose="00000700000000000000" pitchFamily="2" charset="-78"/>
              </a:rPr>
              <a:t>ChatGPT</a:t>
            </a:r>
            <a:r>
              <a:rPr lang="en-US" sz="1800" kern="100">
                <a:solidFill>
                  <a:schemeClr val="bg1"/>
                </a:solidFill>
                <a:effectLst/>
                <a:latin typeface="2  Titr" panose="00000700000000000000" pitchFamily="2" charset="-78"/>
                <a:ea typeface="Aptos" panose="020B0004020202020204" pitchFamily="34" charset="0"/>
                <a:cs typeface="2  Nazanin" panose="00000400000000000000" pitchFamily="2" charset="-78"/>
              </a:rPr>
              <a:t> </a:t>
            </a:r>
            <a:endParaRPr lang="fa-IR">
              <a:solidFill>
                <a:schemeClr val="bg1"/>
              </a:solidFill>
            </a:endParaRPr>
          </a:p>
        </p:txBody>
      </p:sp>
      <p:sp>
        <p:nvSpPr>
          <p:cNvPr id="3" name="TextBox 2">
            <a:extLst>
              <a:ext uri="{FF2B5EF4-FFF2-40B4-BE49-F238E27FC236}">
                <a16:creationId xmlns:a16="http://schemas.microsoft.com/office/drawing/2014/main" id="{70A516F1-A83B-416A-437A-087C1001A5D4}"/>
              </a:ext>
            </a:extLst>
          </p:cNvPr>
          <p:cNvSpPr txBox="1"/>
          <p:nvPr/>
        </p:nvSpPr>
        <p:spPr>
          <a:xfrm>
            <a:off x="8093155" y="100627"/>
            <a:ext cx="747347" cy="276999"/>
          </a:xfrm>
          <a:prstGeom prst="rect">
            <a:avLst/>
          </a:prstGeom>
          <a:noFill/>
        </p:spPr>
        <p:txBody>
          <a:bodyPr wrap="square">
            <a:spAutoFit/>
          </a:bodyPr>
          <a:lstStyle/>
          <a:p>
            <a:pPr algn="ctr"/>
            <a:r>
              <a:rPr lang="fa-IR" sz="1200">
                <a:cs typeface="2  Nazanin" panose="00000400000000000000" pitchFamily="2" charset="-78"/>
              </a:rPr>
              <a:t>اسلاید 58</a:t>
            </a:r>
            <a:endParaRPr lang="fa-IR" sz="1200"/>
          </a:p>
        </p:txBody>
      </p:sp>
    </p:spTree>
    <p:extLst>
      <p:ext uri="{BB962C8B-B14F-4D97-AF65-F5344CB8AC3E}">
        <p14:creationId xmlns:p14="http://schemas.microsoft.com/office/powerpoint/2010/main" val="81223475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3B3E4-665E-F979-D9D9-0056B0187B3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8E641A3-1095-36D2-9AC0-A471CD380F60}"/>
              </a:ext>
            </a:extLst>
          </p:cNvPr>
          <p:cNvSpPr txBox="1"/>
          <p:nvPr/>
        </p:nvSpPr>
        <p:spPr>
          <a:xfrm>
            <a:off x="394138" y="310513"/>
            <a:ext cx="8607972" cy="400494"/>
          </a:xfrm>
          <a:prstGeom prst="rect">
            <a:avLst/>
          </a:prstGeom>
          <a:noFill/>
        </p:spPr>
        <p:txBody>
          <a:bodyPr wrap="square">
            <a:spAutoFit/>
          </a:bodyPr>
          <a:lstStyle/>
          <a:p>
            <a:pPr algn="r" rtl="1">
              <a:lnSpc>
                <a:spcPct val="115000"/>
              </a:lnSpc>
              <a:spcAft>
                <a:spcPts val="800"/>
              </a:spcAft>
            </a:pPr>
            <a:r>
              <a:rPr lang="ar-SA" sz="1800" kern="100">
                <a:effectLst/>
                <a:latin typeface="Arial" panose="020B0604020202020204" pitchFamily="34" charset="0"/>
                <a:ea typeface="Aptos" panose="020B0004020202020204" pitchFamily="34" charset="0"/>
                <a:cs typeface="2  Titr" panose="00000700000000000000" pitchFamily="2" charset="-78"/>
              </a:rPr>
              <a:t>چند </a:t>
            </a:r>
            <a:r>
              <a:rPr lang="ar-SA" sz="1800" b="1" kern="100">
                <a:effectLst/>
                <a:latin typeface="Arial" panose="020B0604020202020204" pitchFamily="34" charset="0"/>
                <a:ea typeface="Aptos" panose="020B0004020202020204" pitchFamily="34" charset="0"/>
                <a:cs typeface="2  Titr" panose="00000700000000000000" pitchFamily="2" charset="-78"/>
              </a:rPr>
              <a:t>پروژه‌ی عملی و آموزشی</a:t>
            </a:r>
            <a:r>
              <a:rPr lang="ar-SA" sz="1800" kern="100">
                <a:effectLst/>
                <a:latin typeface="Arial" panose="020B0604020202020204" pitchFamily="34" charset="0"/>
                <a:ea typeface="Aptos" panose="020B0004020202020204" pitchFamily="34" charset="0"/>
                <a:cs typeface="2  Titr" panose="00000700000000000000" pitchFamily="2" charset="-78"/>
              </a:rPr>
              <a:t> برای کار با </a:t>
            </a:r>
            <a:r>
              <a:rPr lang="en-US" sz="1800" b="1" kern="100">
                <a:effectLst/>
                <a:latin typeface="Arial" panose="020B0604020202020204" pitchFamily="34" charset="0"/>
                <a:ea typeface="Aptos" panose="020B0004020202020204" pitchFamily="34" charset="0"/>
                <a:cs typeface="2  Titr" panose="00000700000000000000" pitchFamily="2" charset="-78"/>
              </a:rPr>
              <a:t>GPT</a:t>
            </a:r>
            <a:r>
              <a:rPr lang="ar-SA" sz="1800" b="1" kern="100">
                <a:effectLst/>
                <a:latin typeface="Arial" panose="020B0604020202020204" pitchFamily="34" charset="0"/>
                <a:ea typeface="Aptos" panose="020B0004020202020204" pitchFamily="34" charset="0"/>
                <a:cs typeface="2  Titr" panose="00000700000000000000" pitchFamily="2" charset="-78"/>
              </a:rPr>
              <a:t>های سفارشی موجود (آماده) در </a:t>
            </a:r>
            <a:r>
              <a:rPr lang="en-US" sz="1800" b="1" kern="100">
                <a:effectLst/>
                <a:latin typeface="Arial" panose="020B0604020202020204" pitchFamily="34" charset="0"/>
                <a:ea typeface="Aptos" panose="020B0004020202020204" pitchFamily="34" charset="0"/>
                <a:cs typeface="2  Titr" panose="00000700000000000000" pitchFamily="2" charset="-78"/>
              </a:rPr>
              <a:t>ChatGPT</a:t>
            </a:r>
            <a:r>
              <a:rPr lang="en-US" sz="1800" kern="100">
                <a:effectLst/>
                <a:latin typeface="2  Titr" panose="00000700000000000000" pitchFamily="2" charset="-78"/>
                <a:ea typeface="Aptos" panose="020B0004020202020204" pitchFamily="34" charset="0"/>
                <a:cs typeface="2  Nazanin" panose="00000400000000000000" pitchFamily="2" charset="-78"/>
              </a:rPr>
              <a:t> </a:t>
            </a:r>
            <a:endParaRPr lang="en-US" sz="2000" kern="100">
              <a:effectLst/>
              <a:latin typeface="Arial" panose="020B0604020202020204" pitchFamily="34" charset="0"/>
              <a:ea typeface="Aptos" panose="020B0004020202020204" pitchFamily="34" charset="0"/>
              <a:cs typeface="2  Nazanin" panose="00000400000000000000" pitchFamily="2" charset="-78"/>
            </a:endParaRPr>
          </a:p>
        </p:txBody>
      </p:sp>
      <p:sp>
        <p:nvSpPr>
          <p:cNvPr id="5" name="TextBox 4">
            <a:extLst>
              <a:ext uri="{FF2B5EF4-FFF2-40B4-BE49-F238E27FC236}">
                <a16:creationId xmlns:a16="http://schemas.microsoft.com/office/drawing/2014/main" id="{F90F6DDD-1B75-E46E-BC63-D854BE9D4CDB}"/>
              </a:ext>
            </a:extLst>
          </p:cNvPr>
          <p:cNvSpPr txBox="1"/>
          <p:nvPr/>
        </p:nvSpPr>
        <p:spPr>
          <a:xfrm>
            <a:off x="772510" y="836071"/>
            <a:ext cx="8087710" cy="3375283"/>
          </a:xfrm>
          <a:prstGeom prst="rect">
            <a:avLst/>
          </a:prstGeom>
          <a:noFill/>
        </p:spPr>
        <p:txBody>
          <a:bodyPr wrap="square">
            <a:spAutoFit/>
          </a:bodyPr>
          <a:lstStyle/>
          <a:p>
            <a:pPr algn="r" rtl="1">
              <a:spcAft>
                <a:spcPts val="800"/>
              </a:spcAft>
              <a:buNone/>
            </a:pPr>
            <a:r>
              <a:rPr lang="fa-IR" sz="2000" b="1" kern="100">
                <a:effectLst/>
                <a:latin typeface="Arial" panose="020B0604020202020204" pitchFamily="34" charset="0"/>
                <a:ea typeface="Aptos" panose="020B0004020202020204" pitchFamily="34" charset="0"/>
                <a:cs typeface="Segoe UI Emoji" panose="020B0502040204020203" pitchFamily="34" charset="0"/>
              </a:rPr>
              <a:t>🧠</a:t>
            </a:r>
            <a:r>
              <a:rPr lang="fa-IR" sz="2000" b="1" kern="100">
                <a:effectLst/>
                <a:latin typeface="Arial" panose="020B0604020202020204" pitchFamily="34" charset="0"/>
                <a:ea typeface="Aptos" panose="020B0004020202020204" pitchFamily="34" charset="0"/>
                <a:cs typeface="Times New Roman" panose="02020603050405020304" pitchFamily="18" charset="0"/>
              </a:rPr>
              <a:t> </a:t>
            </a:r>
            <a:r>
              <a:rPr lang="ar-SA" sz="2000" b="1" kern="100">
                <a:effectLst/>
                <a:latin typeface="Arial" panose="020B0604020202020204" pitchFamily="34" charset="0"/>
                <a:ea typeface="Aptos" panose="020B0004020202020204" pitchFamily="34" charset="0"/>
                <a:cs typeface="2  Nazanin" panose="00000400000000000000" pitchFamily="2" charset="-78"/>
              </a:rPr>
              <a:t>پروژه </a:t>
            </a:r>
            <a:r>
              <a:rPr lang="fa-IR" sz="2000" b="1" kern="100">
                <a:effectLst/>
                <a:latin typeface="Arial" panose="020B0604020202020204" pitchFamily="34" charset="0"/>
                <a:ea typeface="Aptos" panose="020B0004020202020204" pitchFamily="34" charset="0"/>
                <a:cs typeface="2  Nazanin" panose="00000400000000000000" pitchFamily="2" charset="-78"/>
              </a:rPr>
              <a:t>۱: </a:t>
            </a:r>
            <a:r>
              <a:rPr lang="ar-SA" sz="2000" b="1" kern="100">
                <a:effectLst/>
                <a:latin typeface="Arial" panose="020B0604020202020204" pitchFamily="34" charset="0"/>
                <a:ea typeface="Aptos" panose="020B0004020202020204" pitchFamily="34" charset="0"/>
                <a:cs typeface="2  Nazanin" panose="00000400000000000000" pitchFamily="2" charset="-78"/>
              </a:rPr>
              <a:t>نوشتن مقاله با </a:t>
            </a:r>
            <a:r>
              <a:rPr lang="en-US" sz="2000" b="1" kern="100">
                <a:effectLst/>
                <a:latin typeface="Arial" panose="020B0604020202020204" pitchFamily="34" charset="0"/>
                <a:ea typeface="Aptos" panose="020B0004020202020204" pitchFamily="34" charset="0"/>
                <a:cs typeface="2  Nazanin" panose="00000400000000000000" pitchFamily="2" charset="-78"/>
              </a:rPr>
              <a:t>GPT «AI Essay Writer</a:t>
            </a:r>
            <a:r>
              <a:rPr lang="fa-IR" sz="2000" b="1" kern="100">
                <a:effectLst/>
                <a:latin typeface="Arial" panose="020B0604020202020204" pitchFamily="34" charset="0"/>
                <a:ea typeface="Aptos" panose="020B0004020202020204" pitchFamily="34" charset="0"/>
                <a:cs typeface="2  Nazanin" panose="00000400000000000000" pitchFamily="2" charset="-78"/>
              </a:rPr>
              <a:t>»</a:t>
            </a:r>
            <a:endParaRPr lang="en-US" sz="2400" kern="100">
              <a:effectLst/>
              <a:latin typeface="Arial" panose="020B0604020202020204" pitchFamily="34" charset="0"/>
              <a:ea typeface="Aptos" panose="020B0004020202020204" pitchFamily="34" charset="0"/>
              <a:cs typeface="2  Nazanin" panose="00000400000000000000" pitchFamily="2" charset="-78"/>
            </a:endParaRPr>
          </a:p>
          <a:p>
            <a:pPr algn="r" rtl="1">
              <a:spcAft>
                <a:spcPts val="800"/>
              </a:spcAft>
              <a:buNone/>
            </a:pPr>
            <a:r>
              <a:rPr lang="en-US" sz="2000" b="1" kern="100">
                <a:effectLst/>
                <a:latin typeface="Arial" panose="020B0604020202020204" pitchFamily="34" charset="0"/>
                <a:ea typeface="Aptos" panose="020B0004020202020204" pitchFamily="34" charset="0"/>
                <a:cs typeface="2  Nazanin" panose="00000400000000000000" pitchFamily="2" charset="-78"/>
              </a:rPr>
              <a:t>GPT:</a:t>
            </a:r>
            <a:r>
              <a:rPr lang="en-US" sz="2000" kern="100">
                <a:effectLst/>
                <a:latin typeface="Arial" panose="020B0604020202020204" pitchFamily="34" charset="0"/>
                <a:ea typeface="Aptos" panose="020B0004020202020204" pitchFamily="34" charset="0"/>
                <a:cs typeface="2  Nazanin" panose="00000400000000000000" pitchFamily="2" charset="-78"/>
              </a:rPr>
              <a:t> AI Essay Writer</a:t>
            </a:r>
            <a:br>
              <a:rPr lang="en-US" sz="2000" kern="100">
                <a:effectLst/>
                <a:latin typeface="Arial" panose="020B0604020202020204" pitchFamily="34" charset="0"/>
                <a:ea typeface="Aptos" panose="020B0004020202020204" pitchFamily="34" charset="0"/>
                <a:cs typeface="2  Nazanin" panose="00000400000000000000" pitchFamily="2" charset="-78"/>
              </a:rPr>
            </a:br>
            <a:r>
              <a:rPr lang="ar-SA" sz="2000" b="1" kern="100">
                <a:effectLst/>
                <a:latin typeface="Arial" panose="020B0604020202020204" pitchFamily="34" charset="0"/>
                <a:ea typeface="Aptos" panose="020B0004020202020204" pitchFamily="34" charset="0"/>
                <a:cs typeface="2  Nazanin" panose="00000400000000000000" pitchFamily="2" charset="-78"/>
              </a:rPr>
              <a:t>هدف</a:t>
            </a:r>
            <a:r>
              <a:rPr lang="fa-IR" sz="2000" b="1" kern="100">
                <a:effectLst/>
                <a:latin typeface="Arial" panose="020B0604020202020204" pitchFamily="34" charset="0"/>
                <a:ea typeface="Aptos" panose="020B0004020202020204" pitchFamily="34" charset="0"/>
                <a:cs typeface="2  Nazanin" panose="00000400000000000000" pitchFamily="2" charset="-78"/>
              </a:rPr>
              <a:t>:</a:t>
            </a:r>
            <a:r>
              <a:rPr lang="fa-IR" sz="2000" kern="100">
                <a:effectLst/>
                <a:latin typeface="Arial" panose="020B0604020202020204" pitchFamily="34" charset="0"/>
                <a:ea typeface="Aptos" panose="020B0004020202020204" pitchFamily="34" charset="0"/>
                <a:cs typeface="2  Nazanin" panose="00000400000000000000" pitchFamily="2" charset="-78"/>
              </a:rPr>
              <a:t> </a:t>
            </a:r>
            <a:r>
              <a:rPr lang="ar-SA" sz="2000" kern="100">
                <a:effectLst/>
                <a:latin typeface="Arial" panose="020B0604020202020204" pitchFamily="34" charset="0"/>
                <a:ea typeface="Aptos" panose="020B0004020202020204" pitchFamily="34" charset="0"/>
                <a:cs typeface="2  Nazanin" panose="00000400000000000000" pitchFamily="2" charset="-78"/>
              </a:rPr>
              <a:t>آموزش نوشتن مقاله علمی یا عمومی با ساختار استاندارد</a:t>
            </a:r>
            <a:br>
              <a:rPr lang="en-US" sz="2000" kern="100">
                <a:effectLst/>
                <a:latin typeface="Arial" panose="020B0604020202020204" pitchFamily="34" charset="0"/>
                <a:ea typeface="Aptos" panose="020B0004020202020204" pitchFamily="34" charset="0"/>
                <a:cs typeface="2  Nazanin" panose="00000400000000000000" pitchFamily="2" charset="-78"/>
              </a:rPr>
            </a:br>
            <a:r>
              <a:rPr lang="ar-SA" sz="2000" b="1" kern="100">
                <a:effectLst/>
                <a:latin typeface="Arial" panose="020B0604020202020204" pitchFamily="34" charset="0"/>
                <a:ea typeface="Aptos" panose="020B0004020202020204" pitchFamily="34" charset="0"/>
                <a:cs typeface="2  Nazanin" panose="00000400000000000000" pitchFamily="2" charset="-78"/>
              </a:rPr>
              <a:t>مراحل اجرا</a:t>
            </a:r>
            <a:r>
              <a:rPr lang="fa-IR" sz="2000" b="1" kern="100">
                <a:effectLst/>
                <a:latin typeface="Arial" panose="020B0604020202020204" pitchFamily="34" charset="0"/>
                <a:ea typeface="Aptos" panose="020B0004020202020204" pitchFamily="34" charset="0"/>
                <a:cs typeface="2  Nazanin" panose="00000400000000000000" pitchFamily="2" charset="-78"/>
              </a:rPr>
              <a:t>:</a:t>
            </a:r>
            <a:endParaRPr lang="en-US" sz="2400" kern="100">
              <a:effectLst/>
              <a:latin typeface="Arial" panose="020B0604020202020204" pitchFamily="34" charset="0"/>
              <a:ea typeface="Aptos" panose="020B0004020202020204" pitchFamily="34" charset="0"/>
              <a:cs typeface="2  Nazanin" panose="00000400000000000000" pitchFamily="2" charset="-78"/>
            </a:endParaRPr>
          </a:p>
          <a:p>
            <a:pPr marL="342900" lvl="0" indent="-342900" algn="r" rtl="1">
              <a:spcAft>
                <a:spcPts val="800"/>
              </a:spcAft>
              <a:buSzPts val="1000"/>
              <a:buFont typeface="Symbol" panose="05050102010706020507" pitchFamily="18" charset="2"/>
              <a:buChar char=""/>
              <a:tabLst>
                <a:tab pos="457200" algn="l"/>
              </a:tabLst>
            </a:pPr>
            <a:r>
              <a:rPr lang="ar-SA" sz="2000" kern="100">
                <a:effectLst/>
                <a:latin typeface="Arial" panose="020B0604020202020204" pitchFamily="34" charset="0"/>
                <a:ea typeface="Aptos" panose="020B0004020202020204" pitchFamily="34" charset="0"/>
                <a:cs typeface="2  Nazanin" panose="00000400000000000000" pitchFamily="2" charset="-78"/>
              </a:rPr>
              <a:t>موضوعی مثل</a:t>
            </a:r>
            <a:r>
              <a:rPr lang="fa-IR" sz="2000" kern="100">
                <a:effectLst/>
                <a:latin typeface="Arial" panose="020B0604020202020204" pitchFamily="34" charset="0"/>
                <a:ea typeface="Aptos" panose="020B0004020202020204" pitchFamily="34" charset="0"/>
                <a:cs typeface="2  Nazanin" panose="00000400000000000000" pitchFamily="2" charset="-78"/>
              </a:rPr>
              <a:t> "</a:t>
            </a:r>
            <a:r>
              <a:rPr lang="en-US" sz="2000" kern="100">
                <a:effectLst/>
                <a:latin typeface="Arial" panose="020B0604020202020204" pitchFamily="34" charset="0"/>
                <a:ea typeface="Aptos" panose="020B0004020202020204" pitchFamily="34" charset="0"/>
                <a:cs typeface="2  Nazanin" panose="00000400000000000000" pitchFamily="2" charset="-78"/>
              </a:rPr>
              <a:t>The impact of AI on education</a:t>
            </a:r>
            <a:r>
              <a:rPr lang="fa-IR" sz="2000" kern="100">
                <a:effectLst/>
                <a:latin typeface="Arial" panose="020B0604020202020204" pitchFamily="34" charset="0"/>
                <a:ea typeface="Aptos" panose="020B0004020202020204" pitchFamily="34" charset="0"/>
                <a:cs typeface="2  Nazanin" panose="00000400000000000000" pitchFamily="2" charset="-78"/>
              </a:rPr>
              <a:t>" </a:t>
            </a:r>
            <a:r>
              <a:rPr lang="ar-SA" sz="2000" kern="100">
                <a:effectLst/>
                <a:latin typeface="Arial" panose="020B0604020202020204" pitchFamily="34" charset="0"/>
                <a:ea typeface="Aptos" panose="020B0004020202020204" pitchFamily="34" charset="0"/>
                <a:cs typeface="2  Nazanin" panose="00000400000000000000" pitchFamily="2" charset="-78"/>
              </a:rPr>
              <a:t>بده</a:t>
            </a:r>
            <a:r>
              <a:rPr lang="fa-IR" sz="2000" kern="100">
                <a:effectLst/>
                <a:latin typeface="Arial" panose="020B0604020202020204" pitchFamily="34" charset="0"/>
                <a:ea typeface="Aptos" panose="020B0004020202020204" pitchFamily="34" charset="0"/>
                <a:cs typeface="2  Nazanin" panose="00000400000000000000" pitchFamily="2" charset="-78"/>
              </a:rPr>
              <a:t>.</a:t>
            </a:r>
            <a:endParaRPr lang="en-US" sz="2400" kern="100">
              <a:effectLst/>
              <a:latin typeface="Arial" panose="020B0604020202020204" pitchFamily="34" charset="0"/>
              <a:ea typeface="Aptos" panose="020B0004020202020204" pitchFamily="34" charset="0"/>
              <a:cs typeface="2  Nazanin" panose="00000400000000000000" pitchFamily="2" charset="-78"/>
            </a:endParaRPr>
          </a:p>
          <a:p>
            <a:pPr marL="342900" lvl="0" indent="-342900" algn="r" rtl="1">
              <a:spcAft>
                <a:spcPts val="800"/>
              </a:spcAft>
              <a:buSzPts val="1000"/>
              <a:buFont typeface="Symbol" panose="05050102010706020507" pitchFamily="18" charset="2"/>
              <a:buChar char=""/>
              <a:tabLst>
                <a:tab pos="457200" algn="l"/>
              </a:tabLst>
            </a:pPr>
            <a:r>
              <a:rPr lang="ar-SA" sz="2000" kern="100">
                <a:effectLst/>
                <a:latin typeface="Arial" panose="020B0604020202020204" pitchFamily="34" charset="0"/>
                <a:ea typeface="Aptos" panose="020B0004020202020204" pitchFamily="34" charset="0"/>
                <a:cs typeface="2  Nazanin" panose="00000400000000000000" pitchFamily="2" charset="-78"/>
              </a:rPr>
              <a:t>ساختار مقاله: مقدمه، بدنه (</a:t>
            </a:r>
            <a:r>
              <a:rPr lang="fa-IR" sz="2000" kern="100">
                <a:effectLst/>
                <a:latin typeface="Arial" panose="020B0604020202020204" pitchFamily="34" charset="0"/>
                <a:ea typeface="Aptos" panose="020B0004020202020204" pitchFamily="34" charset="0"/>
                <a:cs typeface="2  Nazanin" panose="00000400000000000000" pitchFamily="2" charset="-78"/>
              </a:rPr>
              <a:t>۳</a:t>
            </a:r>
            <a:r>
              <a:rPr lang="ar-SA" sz="2000" kern="100">
                <a:effectLst/>
                <a:latin typeface="Arial" panose="020B0604020202020204" pitchFamily="34" charset="0"/>
                <a:ea typeface="Aptos" panose="020B0004020202020204" pitchFamily="34" charset="0"/>
                <a:cs typeface="2  Nazanin" panose="00000400000000000000" pitchFamily="2" charset="-78"/>
              </a:rPr>
              <a:t> پاراگراف)، نتیجه‌گیری</a:t>
            </a:r>
            <a:endParaRPr lang="en-US" sz="2400" kern="100">
              <a:effectLst/>
              <a:latin typeface="Arial" panose="020B0604020202020204" pitchFamily="34" charset="0"/>
              <a:ea typeface="Aptos" panose="020B0004020202020204" pitchFamily="34" charset="0"/>
              <a:cs typeface="2  Nazanin" panose="00000400000000000000" pitchFamily="2" charset="-78"/>
            </a:endParaRPr>
          </a:p>
          <a:p>
            <a:pPr marL="342900" lvl="0" indent="-342900" algn="r" rtl="1">
              <a:spcAft>
                <a:spcPts val="800"/>
              </a:spcAft>
              <a:buSzPts val="1000"/>
              <a:buFont typeface="Symbol" panose="05050102010706020507" pitchFamily="18" charset="2"/>
              <a:buChar char=""/>
              <a:tabLst>
                <a:tab pos="457200" algn="l"/>
              </a:tabLst>
            </a:pPr>
            <a:r>
              <a:rPr lang="ar-SA" sz="2000" kern="100">
                <a:effectLst/>
                <a:latin typeface="Arial" panose="020B0604020202020204" pitchFamily="34" charset="0"/>
                <a:ea typeface="Aptos" panose="020B0004020202020204" pitchFamily="34" charset="0"/>
                <a:cs typeface="2  Nazanin" panose="00000400000000000000" pitchFamily="2" charset="-78"/>
              </a:rPr>
              <a:t>بررسی و ویرایش خروجی</a:t>
            </a:r>
            <a:br>
              <a:rPr lang="en-US" sz="2000" kern="100">
                <a:effectLst/>
                <a:latin typeface="Arial" panose="020B0604020202020204" pitchFamily="34" charset="0"/>
                <a:ea typeface="Aptos" panose="020B0004020202020204" pitchFamily="34" charset="0"/>
                <a:cs typeface="2  Nazanin" panose="00000400000000000000" pitchFamily="2" charset="-78"/>
              </a:rPr>
            </a:br>
            <a:r>
              <a:rPr lang="ar-SA" sz="2000" b="1" kern="100">
                <a:effectLst/>
                <a:latin typeface="Arial" panose="020B0604020202020204" pitchFamily="34" charset="0"/>
                <a:ea typeface="Aptos" panose="020B0004020202020204" pitchFamily="34" charset="0"/>
                <a:cs typeface="2  Nazanin" panose="00000400000000000000" pitchFamily="2" charset="-78"/>
              </a:rPr>
              <a:t>خروجی</a:t>
            </a:r>
            <a:r>
              <a:rPr lang="fa-IR" sz="2000" b="1" kern="100">
                <a:effectLst/>
                <a:latin typeface="Arial" panose="020B0604020202020204" pitchFamily="34" charset="0"/>
                <a:ea typeface="Aptos" panose="020B0004020202020204" pitchFamily="34" charset="0"/>
                <a:cs typeface="2  Nazanin" panose="00000400000000000000" pitchFamily="2" charset="-78"/>
              </a:rPr>
              <a:t>:</a:t>
            </a:r>
            <a:r>
              <a:rPr lang="fa-IR" sz="2000" kern="100">
                <a:effectLst/>
                <a:latin typeface="Arial" panose="020B0604020202020204" pitchFamily="34" charset="0"/>
                <a:ea typeface="Aptos" panose="020B0004020202020204" pitchFamily="34" charset="0"/>
                <a:cs typeface="2  Nazanin" panose="00000400000000000000" pitchFamily="2" charset="-78"/>
              </a:rPr>
              <a:t> </a:t>
            </a:r>
            <a:r>
              <a:rPr lang="ar-SA" sz="2000" kern="100">
                <a:effectLst/>
                <a:latin typeface="Arial" panose="020B0604020202020204" pitchFamily="34" charset="0"/>
                <a:ea typeface="Aptos" panose="020B0004020202020204" pitchFamily="34" charset="0"/>
                <a:cs typeface="2  Nazanin" panose="00000400000000000000" pitchFamily="2" charset="-78"/>
              </a:rPr>
              <a:t>یک مقاله‌ی کامل برای ارائه یا تمرین نوشتاری</a:t>
            </a:r>
            <a:endParaRPr lang="en-US" sz="2400" kern="100">
              <a:effectLst/>
              <a:latin typeface="Arial" panose="020B0604020202020204" pitchFamily="34" charset="0"/>
              <a:ea typeface="Aptos" panose="020B0004020202020204" pitchFamily="34" charset="0"/>
              <a:cs typeface="2  Nazanin" panose="00000400000000000000" pitchFamily="2" charset="-78"/>
            </a:endParaRPr>
          </a:p>
          <a:p>
            <a:pPr algn="r" rtl="1">
              <a:spcAft>
                <a:spcPts val="800"/>
              </a:spcAft>
            </a:pPr>
            <a:r>
              <a:rPr lang="en-US" sz="2000" kern="100">
                <a:effectLst/>
                <a:latin typeface="Arial" panose="020B0604020202020204" pitchFamily="34" charset="0"/>
                <a:ea typeface="Aptos" panose="020B0004020202020204" pitchFamily="34" charset="0"/>
                <a:cs typeface="2  Nazanin" panose="00000400000000000000" pitchFamily="2" charset="-78"/>
              </a:rPr>
              <a:t> </a:t>
            </a:r>
            <a:endParaRPr lang="en-US" sz="2400" kern="100">
              <a:effectLst/>
              <a:latin typeface="Arial" panose="020B0604020202020204" pitchFamily="34" charset="0"/>
              <a:ea typeface="Aptos" panose="020B0004020202020204" pitchFamily="34" charset="0"/>
              <a:cs typeface="2  Nazanin" panose="00000400000000000000" pitchFamily="2" charset="-78"/>
            </a:endParaRPr>
          </a:p>
        </p:txBody>
      </p:sp>
      <p:sp>
        <p:nvSpPr>
          <p:cNvPr id="6" name="TextBox 5">
            <a:extLst>
              <a:ext uri="{FF2B5EF4-FFF2-40B4-BE49-F238E27FC236}">
                <a16:creationId xmlns:a16="http://schemas.microsoft.com/office/drawing/2014/main" id="{4B70DDFF-5338-ADFD-8992-EA1BAFDE9975}"/>
              </a:ext>
            </a:extLst>
          </p:cNvPr>
          <p:cNvSpPr txBox="1"/>
          <p:nvPr/>
        </p:nvSpPr>
        <p:spPr>
          <a:xfrm>
            <a:off x="-283780" y="4177086"/>
            <a:ext cx="9144000" cy="2441694"/>
          </a:xfrm>
          <a:prstGeom prst="rect">
            <a:avLst/>
          </a:prstGeom>
          <a:noFill/>
        </p:spPr>
        <p:txBody>
          <a:bodyPr wrap="square">
            <a:spAutoFit/>
          </a:bodyPr>
          <a:lstStyle/>
          <a:p>
            <a:pPr algn="r" rtl="1">
              <a:spcAft>
                <a:spcPts val="800"/>
              </a:spcAft>
              <a:buNone/>
            </a:pPr>
            <a:r>
              <a:rPr lang="fa-IR" sz="1800" b="1" kern="100">
                <a:effectLst/>
                <a:latin typeface="Arial" panose="020B0604020202020204" pitchFamily="34" charset="0"/>
                <a:ea typeface="Aptos" panose="020B0004020202020204" pitchFamily="34" charset="0"/>
                <a:cs typeface="Segoe UI Emoji" panose="020B0502040204020203" pitchFamily="34" charset="0"/>
              </a:rPr>
              <a:t>📚</a:t>
            </a:r>
            <a:r>
              <a:rPr lang="fa-IR" sz="1800" b="1" kern="100">
                <a:effectLst/>
                <a:latin typeface="Arial" panose="020B0604020202020204" pitchFamily="34" charset="0"/>
                <a:ea typeface="Aptos" panose="020B0004020202020204" pitchFamily="34" charset="0"/>
                <a:cs typeface="Times New Roman" panose="02020603050405020304" pitchFamily="18" charset="0"/>
              </a:rPr>
              <a:t> </a:t>
            </a:r>
            <a:r>
              <a:rPr lang="ar-SA" sz="1800" b="1" kern="100">
                <a:effectLst/>
                <a:latin typeface="Arial" panose="020B0604020202020204" pitchFamily="34" charset="0"/>
                <a:ea typeface="Aptos" panose="020B0004020202020204" pitchFamily="34" charset="0"/>
                <a:cs typeface="2  Nazanin" panose="00000400000000000000" pitchFamily="2" charset="-78"/>
              </a:rPr>
              <a:t>پروژه </a:t>
            </a:r>
            <a:r>
              <a:rPr lang="fa-IR" sz="1800" b="1" kern="100">
                <a:effectLst/>
                <a:latin typeface="Arial" panose="020B0604020202020204" pitchFamily="34" charset="0"/>
                <a:ea typeface="Aptos" panose="020B0004020202020204" pitchFamily="34" charset="0"/>
                <a:cs typeface="2  Nazanin" panose="00000400000000000000" pitchFamily="2" charset="-78"/>
              </a:rPr>
              <a:t>۲: </a:t>
            </a:r>
            <a:r>
              <a:rPr lang="ar-SA" sz="1800" b="1" kern="100">
                <a:effectLst/>
                <a:latin typeface="Arial" panose="020B0604020202020204" pitchFamily="34" charset="0"/>
                <a:ea typeface="Aptos" panose="020B0004020202020204" pitchFamily="34" charset="0"/>
                <a:cs typeface="2  Nazanin" panose="00000400000000000000" pitchFamily="2" charset="-78"/>
              </a:rPr>
              <a:t>تحقیق علمی با </a:t>
            </a:r>
            <a:r>
              <a:rPr lang="en-US" sz="1800" b="1" kern="100">
                <a:effectLst/>
                <a:latin typeface="Arial" panose="020B0604020202020204" pitchFamily="34" charset="0"/>
                <a:ea typeface="Aptos" panose="020B0004020202020204" pitchFamily="34" charset="0"/>
                <a:cs typeface="2  Nazanin" panose="00000400000000000000" pitchFamily="2" charset="-78"/>
              </a:rPr>
              <a:t>Scholar GPT</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algn="r" rtl="1">
              <a:spcAft>
                <a:spcPts val="800"/>
              </a:spcAft>
              <a:buNone/>
            </a:pPr>
            <a:r>
              <a:rPr lang="en-US" sz="1800" b="1" kern="100">
                <a:effectLst/>
                <a:latin typeface="Arial" panose="020B0604020202020204" pitchFamily="34" charset="0"/>
                <a:ea typeface="Aptos" panose="020B0004020202020204" pitchFamily="34" charset="0"/>
                <a:cs typeface="2  Nazanin" panose="00000400000000000000" pitchFamily="2" charset="-78"/>
              </a:rPr>
              <a:t>GPT:</a:t>
            </a:r>
            <a:r>
              <a:rPr lang="en-US" sz="1800" kern="100">
                <a:effectLst/>
                <a:latin typeface="Arial" panose="020B0604020202020204" pitchFamily="34" charset="0"/>
                <a:ea typeface="Aptos" panose="020B0004020202020204" pitchFamily="34" charset="0"/>
                <a:cs typeface="2  Nazanin" panose="00000400000000000000" pitchFamily="2" charset="-78"/>
              </a:rPr>
              <a:t> Scholar GPT</a:t>
            </a:r>
            <a:br>
              <a:rPr lang="en-US" sz="1800" kern="100">
                <a:effectLst/>
                <a:latin typeface="Arial" panose="020B0604020202020204" pitchFamily="34" charset="0"/>
                <a:ea typeface="Aptos" panose="020B0004020202020204" pitchFamily="34" charset="0"/>
                <a:cs typeface="2  Nazanin" panose="00000400000000000000" pitchFamily="2" charset="-78"/>
              </a:rPr>
            </a:br>
            <a:r>
              <a:rPr lang="ar-SA" sz="1800" b="1" kern="100">
                <a:effectLst/>
                <a:latin typeface="Arial" panose="020B0604020202020204" pitchFamily="34" charset="0"/>
                <a:ea typeface="Aptos" panose="020B0004020202020204" pitchFamily="34" charset="0"/>
                <a:cs typeface="2  Nazanin" panose="00000400000000000000" pitchFamily="2" charset="-78"/>
              </a:rPr>
              <a:t>هدف</a:t>
            </a:r>
            <a:r>
              <a:rPr lang="fa-IR" sz="1800" b="1" kern="100">
                <a:effectLst/>
                <a:latin typeface="Arial" panose="020B0604020202020204" pitchFamily="34" charset="0"/>
                <a:ea typeface="Aptos" panose="020B0004020202020204" pitchFamily="34" charset="0"/>
                <a:cs typeface="2  Nazanin" panose="00000400000000000000" pitchFamily="2" charset="-78"/>
              </a:rPr>
              <a:t>:</a:t>
            </a:r>
            <a:r>
              <a:rPr lang="fa-IR" sz="1800" kern="100">
                <a:effectLst/>
                <a:latin typeface="Arial" panose="020B0604020202020204" pitchFamily="34" charset="0"/>
                <a:ea typeface="Aptos" panose="020B0004020202020204" pitchFamily="34" charset="0"/>
                <a:cs typeface="2  Nazanin" panose="00000400000000000000" pitchFamily="2" charset="-78"/>
              </a:rPr>
              <a:t> </a:t>
            </a:r>
            <a:r>
              <a:rPr lang="ar-SA" sz="1800" kern="100">
                <a:effectLst/>
                <a:latin typeface="Arial" panose="020B0604020202020204" pitchFamily="34" charset="0"/>
                <a:ea typeface="Aptos" panose="020B0004020202020204" pitchFamily="34" charset="0"/>
                <a:cs typeface="2  Nazanin" panose="00000400000000000000" pitchFamily="2" charset="-78"/>
              </a:rPr>
              <a:t>جستجو و خلاصه‌سازی مقالات علمی از منابع معتبر مانند </a:t>
            </a:r>
            <a:r>
              <a:rPr lang="en-US" sz="1800" kern="100">
                <a:effectLst/>
                <a:latin typeface="Arial" panose="020B0604020202020204" pitchFamily="34" charset="0"/>
                <a:ea typeface="Aptos" panose="020B0004020202020204" pitchFamily="34" charset="0"/>
                <a:cs typeface="2  Nazanin" panose="00000400000000000000" pitchFamily="2" charset="-78"/>
              </a:rPr>
              <a:t>Google Scholar</a:t>
            </a:r>
            <a:r>
              <a:rPr lang="en-US" sz="1800" kern="100">
                <a:effectLst/>
                <a:latin typeface="2  Nazanin" panose="00000400000000000000" pitchFamily="2" charset="-78"/>
                <a:ea typeface="Aptos" panose="020B0004020202020204" pitchFamily="34" charset="0"/>
                <a:cs typeface="2  Nazanin" panose="00000400000000000000" pitchFamily="2" charset="-78"/>
              </a:rPr>
              <a:t> </a:t>
            </a:r>
            <a:r>
              <a:rPr lang="ar-SA" sz="1800" kern="100">
                <a:effectLst/>
                <a:latin typeface="Arial" panose="020B0604020202020204" pitchFamily="34" charset="0"/>
                <a:ea typeface="Aptos" panose="020B0004020202020204" pitchFamily="34" charset="0"/>
                <a:cs typeface="2  Nazanin" panose="00000400000000000000" pitchFamily="2" charset="-78"/>
              </a:rPr>
              <a:t>و </a:t>
            </a:r>
            <a:r>
              <a:rPr lang="en-US" sz="1800" kern="100">
                <a:effectLst/>
                <a:latin typeface="Arial" panose="020B0604020202020204" pitchFamily="34" charset="0"/>
                <a:ea typeface="Aptos" panose="020B0004020202020204" pitchFamily="34" charset="0"/>
                <a:cs typeface="2  Nazanin" panose="00000400000000000000" pitchFamily="2" charset="-78"/>
              </a:rPr>
              <a:t>PubMed</a:t>
            </a:r>
            <a:br>
              <a:rPr lang="en-US" sz="1800" kern="100">
                <a:effectLst/>
                <a:latin typeface="Arial" panose="020B0604020202020204" pitchFamily="34" charset="0"/>
                <a:ea typeface="Aptos" panose="020B0004020202020204" pitchFamily="34" charset="0"/>
                <a:cs typeface="2  Nazanin" panose="00000400000000000000" pitchFamily="2" charset="-78"/>
              </a:rPr>
            </a:br>
            <a:r>
              <a:rPr lang="ar-SA" sz="1800" b="1" kern="100">
                <a:effectLst/>
                <a:latin typeface="Arial" panose="020B0604020202020204" pitchFamily="34" charset="0"/>
                <a:ea typeface="Aptos" panose="020B0004020202020204" pitchFamily="34" charset="0"/>
                <a:cs typeface="2  Nazanin" panose="00000400000000000000" pitchFamily="2" charset="-78"/>
              </a:rPr>
              <a:t>مراحل</a:t>
            </a:r>
            <a:r>
              <a:rPr lang="fa-IR" sz="1800" b="1" kern="100">
                <a:effectLst/>
                <a:latin typeface="Arial" panose="020B0604020202020204" pitchFamily="34" charset="0"/>
                <a:ea typeface="Aptos" panose="020B0004020202020204" pitchFamily="34" charset="0"/>
                <a:cs typeface="2  Nazanin" panose="00000400000000000000" pitchFamily="2" charset="-78"/>
              </a:rPr>
              <a:t>:</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marL="342900" lvl="0" indent="-342900" algn="r" rtl="1">
              <a:spcAft>
                <a:spcPts val="800"/>
              </a:spcAft>
              <a:buSzPts val="1000"/>
              <a:buFont typeface="Symbol" panose="05050102010706020507" pitchFamily="18" charset="2"/>
              <a:buChar char=""/>
              <a:tabLst>
                <a:tab pos="457200" algn="l"/>
              </a:tabLst>
            </a:pPr>
            <a:r>
              <a:rPr lang="ar-SA" sz="1800" kern="100">
                <a:effectLst/>
                <a:latin typeface="Arial" panose="020B0604020202020204" pitchFamily="34" charset="0"/>
                <a:ea typeface="Aptos" panose="020B0004020202020204" pitchFamily="34" charset="0"/>
                <a:cs typeface="2  Nazanin" panose="00000400000000000000" pitchFamily="2" charset="-78"/>
              </a:rPr>
              <a:t>انتخاب موضوع تحقیق (مثلاً "تأثیر هوش مصنوعی بر آموزش")</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marL="342900" lvl="0" indent="-342900" algn="r" rtl="1">
              <a:spcAft>
                <a:spcPts val="800"/>
              </a:spcAft>
              <a:buSzPts val="1000"/>
              <a:buFont typeface="Symbol" panose="05050102010706020507" pitchFamily="18" charset="2"/>
              <a:buChar char=""/>
              <a:tabLst>
                <a:tab pos="457200" algn="l"/>
              </a:tabLst>
            </a:pPr>
            <a:r>
              <a:rPr lang="ar-SA" sz="1800" kern="100">
                <a:effectLst/>
                <a:latin typeface="Arial" panose="020B0604020202020204" pitchFamily="34" charset="0"/>
                <a:ea typeface="Aptos" panose="020B0004020202020204" pitchFamily="34" charset="0"/>
                <a:cs typeface="2  Nazanin" panose="00000400000000000000" pitchFamily="2" charset="-78"/>
              </a:rPr>
              <a:t>درخواست از </a:t>
            </a:r>
            <a:r>
              <a:rPr lang="en-US" sz="1800" kern="100">
                <a:effectLst/>
                <a:latin typeface="Arial" panose="020B0604020202020204" pitchFamily="34" charset="0"/>
                <a:ea typeface="Aptos" panose="020B0004020202020204" pitchFamily="34" charset="0"/>
                <a:cs typeface="2  Nazanin" panose="00000400000000000000" pitchFamily="2" charset="-78"/>
              </a:rPr>
              <a:t>GPT</a:t>
            </a:r>
            <a:r>
              <a:rPr lang="en-US" sz="1800" kern="100">
                <a:effectLst/>
                <a:latin typeface="2  Nazanin" panose="00000400000000000000" pitchFamily="2" charset="-78"/>
                <a:ea typeface="Aptos" panose="020B0004020202020204" pitchFamily="34" charset="0"/>
                <a:cs typeface="2  Nazanin" panose="00000400000000000000" pitchFamily="2" charset="-78"/>
              </a:rPr>
              <a:t> </a:t>
            </a:r>
            <a:r>
              <a:rPr lang="ar-SA" sz="1800" kern="100">
                <a:effectLst/>
                <a:latin typeface="Arial" panose="020B0604020202020204" pitchFamily="34" charset="0"/>
                <a:ea typeface="Aptos" panose="020B0004020202020204" pitchFamily="34" charset="0"/>
                <a:cs typeface="2  Nazanin" panose="00000400000000000000" pitchFamily="2" charset="-78"/>
              </a:rPr>
              <a:t>برای یافتن مقالات مرتبط و ارائه خلاصه‌ای از آن‌ها</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marL="342900" lvl="0" indent="-342900" algn="r" rtl="1">
              <a:spcAft>
                <a:spcPts val="800"/>
              </a:spcAft>
              <a:buSzPts val="1000"/>
              <a:buFont typeface="Symbol" panose="05050102010706020507" pitchFamily="18" charset="2"/>
              <a:buChar char=""/>
              <a:tabLst>
                <a:tab pos="457200" algn="l"/>
              </a:tabLst>
            </a:pPr>
            <a:r>
              <a:rPr lang="ar-SA" sz="1800" kern="100">
                <a:effectLst/>
                <a:latin typeface="Arial" panose="020B0604020202020204" pitchFamily="34" charset="0"/>
                <a:ea typeface="Aptos" panose="020B0004020202020204" pitchFamily="34" charset="0"/>
                <a:cs typeface="2  Nazanin" panose="00000400000000000000" pitchFamily="2" charset="-78"/>
              </a:rPr>
              <a:t>تحلیل و بررسی نتایج به‌دست‌آمده</a:t>
            </a:r>
            <a:r>
              <a:rPr lang="fa-IR" sz="1800" kern="100">
                <a:effectLst/>
                <a:latin typeface="Arial" panose="020B0604020202020204" pitchFamily="34" charset="0"/>
                <a:ea typeface="Aptos" panose="020B0004020202020204" pitchFamily="34" charset="0"/>
                <a:cs typeface="2  Nazanin" panose="00000400000000000000" pitchFamily="2" charset="-78"/>
              </a:rPr>
              <a:t>(</a:t>
            </a:r>
            <a:r>
              <a:rPr lang="en-US" sz="1800" u="sng" kern="100">
                <a:solidFill>
                  <a:srgbClr val="467886"/>
                </a:solidFill>
                <a:effectLst/>
                <a:latin typeface="Arial" panose="020B0604020202020204" pitchFamily="34" charset="0"/>
                <a:ea typeface="Aptos" panose="020B0004020202020204" pitchFamily="34" charset="0"/>
                <a:cs typeface="2  Nazanin" panose="00000400000000000000" pitchFamily="2" charset="-78"/>
                <a:hlinkClick r:id="rId2" tooltip="Top ChatGPT GPTs ranking on 2025-01-27 - GPT Store"/>
              </a:rPr>
              <a:t>gptstore.ai</a:t>
            </a:r>
            <a:r>
              <a:rPr lang="fa-IR" sz="1800" kern="100">
                <a:effectLst/>
                <a:latin typeface="Arial" panose="020B0604020202020204" pitchFamily="34" charset="0"/>
                <a:ea typeface="Aptos" panose="020B0004020202020204" pitchFamily="34" charset="0"/>
                <a:cs typeface="2  Nazanin" panose="00000400000000000000" pitchFamily="2" charset="-78"/>
              </a:rPr>
              <a:t>)</a:t>
            </a:r>
            <a:endParaRPr lang="en-US" sz="2000" kern="100">
              <a:effectLst/>
              <a:latin typeface="Arial" panose="020B0604020202020204" pitchFamily="34" charset="0"/>
              <a:ea typeface="Aptos" panose="020B0004020202020204" pitchFamily="34" charset="0"/>
              <a:cs typeface="2  Nazanin" panose="00000400000000000000" pitchFamily="2" charset="-78"/>
            </a:endParaRPr>
          </a:p>
        </p:txBody>
      </p:sp>
      <p:sp>
        <p:nvSpPr>
          <p:cNvPr id="2" name="TextBox 1">
            <a:extLst>
              <a:ext uri="{FF2B5EF4-FFF2-40B4-BE49-F238E27FC236}">
                <a16:creationId xmlns:a16="http://schemas.microsoft.com/office/drawing/2014/main" id="{64CE3A7A-24E7-D056-4C40-2B882166D0F6}"/>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59</a:t>
            </a:r>
            <a:endParaRPr lang="fa-IR" sz="1200"/>
          </a:p>
        </p:txBody>
      </p:sp>
    </p:spTree>
    <p:extLst>
      <p:ext uri="{BB962C8B-B14F-4D97-AF65-F5344CB8AC3E}">
        <p14:creationId xmlns:p14="http://schemas.microsoft.com/office/powerpoint/2010/main" val="369505817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071A8-C6A8-3EE3-AB32-5DC7F615715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45EDCB8-E5DE-6A93-4671-B22F7CAA5FE5}"/>
              </a:ext>
            </a:extLst>
          </p:cNvPr>
          <p:cNvSpPr txBox="1"/>
          <p:nvPr/>
        </p:nvSpPr>
        <p:spPr>
          <a:xfrm>
            <a:off x="362607" y="213306"/>
            <a:ext cx="8513379" cy="3051092"/>
          </a:xfrm>
          <a:prstGeom prst="rect">
            <a:avLst/>
          </a:prstGeom>
          <a:noFill/>
        </p:spPr>
        <p:txBody>
          <a:bodyPr wrap="square">
            <a:spAutoFit/>
          </a:bodyPr>
          <a:lstStyle/>
          <a:p>
            <a:pPr algn="r" rtl="1">
              <a:lnSpc>
                <a:spcPct val="115000"/>
              </a:lnSpc>
              <a:spcAft>
                <a:spcPts val="800"/>
              </a:spcAft>
              <a:buNone/>
            </a:pPr>
            <a:r>
              <a:rPr lang="fa-IR" sz="1800" b="1" kern="100">
                <a:effectLst/>
                <a:latin typeface="Arial" panose="020B0604020202020204" pitchFamily="34" charset="0"/>
                <a:ea typeface="Aptos" panose="020B0004020202020204" pitchFamily="34" charset="0"/>
                <a:cs typeface="Segoe UI Emoji" panose="020B0502040204020203" pitchFamily="34" charset="0"/>
              </a:rPr>
              <a:t>🎨</a:t>
            </a:r>
            <a:r>
              <a:rPr lang="fa-IR" sz="1800" b="1" kern="100">
                <a:effectLst/>
                <a:latin typeface="Arial" panose="020B0604020202020204" pitchFamily="34" charset="0"/>
                <a:ea typeface="Aptos" panose="020B0004020202020204" pitchFamily="34" charset="0"/>
                <a:cs typeface="Times New Roman" panose="02020603050405020304" pitchFamily="18" charset="0"/>
              </a:rPr>
              <a:t> </a:t>
            </a:r>
            <a:r>
              <a:rPr lang="ar-SA" sz="1800" b="1" kern="100">
                <a:effectLst/>
                <a:latin typeface="Arial" panose="020B0604020202020204" pitchFamily="34" charset="0"/>
                <a:ea typeface="Aptos" panose="020B0004020202020204" pitchFamily="34" charset="0"/>
                <a:cs typeface="2  Nazanin" panose="00000400000000000000" pitchFamily="2" charset="-78"/>
              </a:rPr>
              <a:t>پروژه </a:t>
            </a:r>
            <a:r>
              <a:rPr lang="fa-IR" sz="1800" b="1" kern="100">
                <a:effectLst/>
                <a:latin typeface="Arial" panose="020B0604020202020204" pitchFamily="34" charset="0"/>
                <a:ea typeface="Aptos" panose="020B0004020202020204" pitchFamily="34" charset="0"/>
                <a:cs typeface="2  Nazanin" panose="00000400000000000000" pitchFamily="2" charset="-78"/>
              </a:rPr>
              <a:t>۳: </a:t>
            </a:r>
            <a:r>
              <a:rPr lang="ar-SA" sz="1800" b="1" kern="100">
                <a:effectLst/>
                <a:latin typeface="Arial" panose="020B0604020202020204" pitchFamily="34" charset="0"/>
                <a:ea typeface="Aptos" panose="020B0004020202020204" pitchFamily="34" charset="0"/>
                <a:cs typeface="2  Nazanin" panose="00000400000000000000" pitchFamily="2" charset="-78"/>
              </a:rPr>
              <a:t>طراحی لوگو یا تصویر با </a:t>
            </a:r>
            <a:r>
              <a:rPr lang="en-US" sz="1800" b="1" kern="100">
                <a:effectLst/>
                <a:latin typeface="Arial" panose="020B0604020202020204" pitchFamily="34" charset="0"/>
                <a:ea typeface="Aptos" panose="020B0004020202020204" pitchFamily="34" charset="0"/>
                <a:cs typeface="2  Nazanin" panose="00000400000000000000" pitchFamily="2" charset="-78"/>
              </a:rPr>
              <a:t>GPT «DALL·E Assistant</a:t>
            </a:r>
            <a:r>
              <a:rPr lang="fa-IR" sz="1800" b="1" kern="100">
                <a:effectLst/>
                <a:latin typeface="Arial" panose="020B0604020202020204" pitchFamily="34" charset="0"/>
                <a:ea typeface="Aptos" panose="020B0004020202020204" pitchFamily="34" charset="0"/>
                <a:cs typeface="2  Nazanin" panose="00000400000000000000" pitchFamily="2" charset="-78"/>
              </a:rPr>
              <a:t>»</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algn="r" rtl="1">
              <a:lnSpc>
                <a:spcPct val="115000"/>
              </a:lnSpc>
              <a:spcAft>
                <a:spcPts val="800"/>
              </a:spcAft>
              <a:buNone/>
            </a:pPr>
            <a:r>
              <a:rPr lang="en-US" sz="1800" b="1" kern="100">
                <a:effectLst/>
                <a:latin typeface="Arial" panose="020B0604020202020204" pitchFamily="34" charset="0"/>
                <a:ea typeface="Aptos" panose="020B0004020202020204" pitchFamily="34" charset="0"/>
                <a:cs typeface="2  Nazanin" panose="00000400000000000000" pitchFamily="2" charset="-78"/>
              </a:rPr>
              <a:t>GPT:</a:t>
            </a:r>
            <a:r>
              <a:rPr lang="en-US" sz="1800" kern="100">
                <a:effectLst/>
                <a:latin typeface="Arial" panose="020B0604020202020204" pitchFamily="34" charset="0"/>
                <a:ea typeface="Aptos" panose="020B0004020202020204" pitchFamily="34" charset="0"/>
                <a:cs typeface="2  Nazanin" panose="00000400000000000000" pitchFamily="2" charset="-78"/>
              </a:rPr>
              <a:t> DALL·E Assistant</a:t>
            </a:r>
            <a:br>
              <a:rPr lang="en-US" sz="1800" kern="100">
                <a:effectLst/>
                <a:latin typeface="Arial" panose="020B0604020202020204" pitchFamily="34" charset="0"/>
                <a:ea typeface="Aptos" panose="020B0004020202020204" pitchFamily="34" charset="0"/>
                <a:cs typeface="2  Nazanin" panose="00000400000000000000" pitchFamily="2" charset="-78"/>
              </a:rPr>
            </a:br>
            <a:r>
              <a:rPr lang="ar-SA" sz="1800" b="1" kern="100">
                <a:effectLst/>
                <a:latin typeface="Arial" panose="020B0604020202020204" pitchFamily="34" charset="0"/>
                <a:ea typeface="Aptos" panose="020B0004020202020204" pitchFamily="34" charset="0"/>
                <a:cs typeface="2  Nazanin" panose="00000400000000000000" pitchFamily="2" charset="-78"/>
              </a:rPr>
              <a:t>هدف</a:t>
            </a:r>
            <a:r>
              <a:rPr lang="fa-IR" sz="1800" b="1" kern="100">
                <a:effectLst/>
                <a:latin typeface="Arial" panose="020B0604020202020204" pitchFamily="34" charset="0"/>
                <a:ea typeface="Aptos" panose="020B0004020202020204" pitchFamily="34" charset="0"/>
                <a:cs typeface="2  Nazanin" panose="00000400000000000000" pitchFamily="2" charset="-78"/>
              </a:rPr>
              <a:t>:</a:t>
            </a:r>
            <a:r>
              <a:rPr lang="fa-IR" sz="1800" kern="100">
                <a:effectLst/>
                <a:latin typeface="Arial" panose="020B0604020202020204" pitchFamily="34" charset="0"/>
                <a:ea typeface="Aptos" panose="020B0004020202020204" pitchFamily="34" charset="0"/>
                <a:cs typeface="2  Nazanin" panose="00000400000000000000" pitchFamily="2" charset="-78"/>
              </a:rPr>
              <a:t> </a:t>
            </a:r>
            <a:r>
              <a:rPr lang="ar-SA" sz="1800" kern="100">
                <a:effectLst/>
                <a:latin typeface="Arial" panose="020B0604020202020204" pitchFamily="34" charset="0"/>
                <a:ea typeface="Aptos" panose="020B0004020202020204" pitchFamily="34" charset="0"/>
                <a:cs typeface="2  Nazanin" panose="00000400000000000000" pitchFamily="2" charset="-78"/>
              </a:rPr>
              <a:t>تولید تصویر یا لوگو از طریق دستور متنی</a:t>
            </a:r>
            <a:br>
              <a:rPr lang="en-US" sz="1800" kern="100">
                <a:effectLst/>
                <a:latin typeface="Arial" panose="020B0604020202020204" pitchFamily="34" charset="0"/>
                <a:ea typeface="Aptos" panose="020B0004020202020204" pitchFamily="34" charset="0"/>
                <a:cs typeface="2  Nazanin" panose="00000400000000000000" pitchFamily="2" charset="-78"/>
              </a:rPr>
            </a:br>
            <a:r>
              <a:rPr lang="ar-SA" sz="1800" b="1" kern="100">
                <a:effectLst/>
                <a:latin typeface="Arial" panose="020B0604020202020204" pitchFamily="34" charset="0"/>
                <a:ea typeface="Aptos" panose="020B0004020202020204" pitchFamily="34" charset="0"/>
                <a:cs typeface="2  Nazanin" panose="00000400000000000000" pitchFamily="2" charset="-78"/>
              </a:rPr>
              <a:t>مراحل اجرا</a:t>
            </a:r>
            <a:r>
              <a:rPr lang="fa-IR" sz="1800" b="1" kern="100">
                <a:effectLst/>
                <a:latin typeface="Arial" panose="020B0604020202020204" pitchFamily="34" charset="0"/>
                <a:ea typeface="Aptos" panose="020B0004020202020204" pitchFamily="34" charset="0"/>
                <a:cs typeface="2  Nazanin" panose="00000400000000000000" pitchFamily="2" charset="-78"/>
              </a:rPr>
              <a:t>:</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marL="342900" lvl="0" indent="-342900" algn="r" rtl="1">
              <a:lnSpc>
                <a:spcPct val="115000"/>
              </a:lnSpc>
              <a:spcAft>
                <a:spcPts val="800"/>
              </a:spcAft>
              <a:buSzPts val="1000"/>
              <a:buFont typeface="Symbol" panose="05050102010706020507" pitchFamily="18" charset="2"/>
              <a:buChar char=""/>
              <a:tabLst>
                <a:tab pos="457200" algn="l"/>
              </a:tabLst>
            </a:pPr>
            <a:r>
              <a:rPr lang="ar-SA" sz="1800" kern="100">
                <a:effectLst/>
                <a:latin typeface="Arial" panose="020B0604020202020204" pitchFamily="34" charset="0"/>
                <a:ea typeface="Aptos" panose="020B0004020202020204" pitchFamily="34" charset="0"/>
                <a:cs typeface="2  Nazanin" panose="00000400000000000000" pitchFamily="2" charset="-78"/>
              </a:rPr>
              <a:t>وارد </a:t>
            </a:r>
            <a:r>
              <a:rPr lang="en-US" sz="1800" kern="100">
                <a:effectLst/>
                <a:latin typeface="Arial" panose="020B0604020202020204" pitchFamily="34" charset="0"/>
                <a:ea typeface="Aptos" panose="020B0004020202020204" pitchFamily="34" charset="0"/>
                <a:cs typeface="2  Nazanin" panose="00000400000000000000" pitchFamily="2" charset="-78"/>
              </a:rPr>
              <a:t>GPT</a:t>
            </a:r>
            <a:r>
              <a:rPr lang="en-US" sz="1800" kern="100">
                <a:effectLst/>
                <a:latin typeface="2  Nazanin" panose="00000400000000000000" pitchFamily="2" charset="-78"/>
                <a:ea typeface="Aptos" panose="020B0004020202020204" pitchFamily="34" charset="0"/>
                <a:cs typeface="2  Nazanin" panose="00000400000000000000" pitchFamily="2" charset="-78"/>
              </a:rPr>
              <a:t> </a:t>
            </a:r>
            <a:r>
              <a:rPr lang="ar-SA" sz="1800" kern="100">
                <a:effectLst/>
                <a:latin typeface="Arial" panose="020B0604020202020204" pitchFamily="34" charset="0"/>
                <a:ea typeface="Aptos" panose="020B0004020202020204" pitchFamily="34" charset="0"/>
                <a:cs typeface="2  Nazanin" panose="00000400000000000000" pitchFamily="2" charset="-78"/>
              </a:rPr>
              <a:t>بشو، موضوع بده</a:t>
            </a:r>
            <a:r>
              <a:rPr lang="fa-IR" sz="1800" kern="100">
                <a:effectLst/>
                <a:latin typeface="Arial" panose="020B0604020202020204" pitchFamily="34" charset="0"/>
                <a:ea typeface="Aptos" panose="020B0004020202020204" pitchFamily="34" charset="0"/>
                <a:cs typeface="2  Nazanin" panose="00000400000000000000" pitchFamily="2" charset="-78"/>
              </a:rPr>
              <a:t>:</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a:lnSpc>
                <a:spcPct val="115000"/>
              </a:lnSpc>
              <a:spcAft>
                <a:spcPts val="800"/>
              </a:spcAft>
              <a:buNone/>
            </a:pPr>
            <a:r>
              <a:rPr lang="fa-IR" sz="1800" kern="100">
                <a:effectLst/>
                <a:latin typeface="Arial" panose="020B0604020202020204" pitchFamily="34" charset="0"/>
                <a:ea typeface="Aptos" panose="020B0004020202020204" pitchFamily="34" charset="0"/>
                <a:cs typeface="2  Nazanin" panose="00000400000000000000" pitchFamily="2" charset="-78"/>
              </a:rPr>
              <a:t>"</a:t>
            </a:r>
            <a:r>
              <a:rPr lang="en-US" sz="1800" kern="100">
                <a:effectLst/>
                <a:latin typeface="Arial" panose="020B0604020202020204" pitchFamily="34" charset="0"/>
                <a:ea typeface="Aptos" panose="020B0004020202020204" pitchFamily="34" charset="0"/>
                <a:cs typeface="2  Nazanin" panose="00000400000000000000" pitchFamily="2" charset="-78"/>
              </a:rPr>
              <a:t>A modern logo for a tech startup named RoboMind, in blue and white</a:t>
            </a:r>
            <a:r>
              <a:rPr lang="fa-IR" sz="1800" kern="100">
                <a:effectLst/>
                <a:latin typeface="Arial" panose="020B0604020202020204" pitchFamily="34" charset="0"/>
                <a:ea typeface="Aptos" panose="020B0004020202020204" pitchFamily="34" charset="0"/>
                <a:cs typeface="2  Nazanin" panose="00000400000000000000" pitchFamily="2" charset="-78"/>
              </a:rPr>
              <a:t>"</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marL="342900" lvl="0" indent="-342900" algn="r" rtl="1">
              <a:lnSpc>
                <a:spcPct val="115000"/>
              </a:lnSpc>
              <a:spcAft>
                <a:spcPts val="800"/>
              </a:spcAft>
              <a:buSzPts val="1000"/>
              <a:buFont typeface="Symbol" panose="05050102010706020507" pitchFamily="18" charset="2"/>
              <a:buChar char=""/>
              <a:tabLst>
                <a:tab pos="457200" algn="l"/>
              </a:tabLst>
            </a:pPr>
            <a:r>
              <a:rPr lang="ar-SA" sz="1800" kern="100">
                <a:effectLst/>
                <a:latin typeface="Arial" panose="020B0604020202020204" pitchFamily="34" charset="0"/>
                <a:ea typeface="Aptos" panose="020B0004020202020204" pitchFamily="34" charset="0"/>
                <a:cs typeface="2  Nazanin" panose="00000400000000000000" pitchFamily="2" charset="-78"/>
              </a:rPr>
              <a:t>خروجی را دانلود یا در </a:t>
            </a:r>
            <a:r>
              <a:rPr lang="en-US" sz="1800" kern="100">
                <a:effectLst/>
                <a:latin typeface="Arial" panose="020B0604020202020204" pitchFamily="34" charset="0"/>
                <a:ea typeface="Aptos" panose="020B0004020202020204" pitchFamily="34" charset="0"/>
                <a:cs typeface="2  Nazanin" panose="00000400000000000000" pitchFamily="2" charset="-78"/>
              </a:rPr>
              <a:t>Canva</a:t>
            </a:r>
            <a:r>
              <a:rPr lang="en-US" sz="1800" kern="100">
                <a:effectLst/>
                <a:latin typeface="2  Nazanin" panose="00000400000000000000" pitchFamily="2" charset="-78"/>
                <a:ea typeface="Aptos" panose="020B0004020202020204" pitchFamily="34" charset="0"/>
                <a:cs typeface="2  Nazanin" panose="00000400000000000000" pitchFamily="2" charset="-78"/>
              </a:rPr>
              <a:t> </a:t>
            </a:r>
            <a:r>
              <a:rPr lang="ar-SA" sz="1800" kern="100">
                <a:effectLst/>
                <a:latin typeface="Arial" panose="020B0604020202020204" pitchFamily="34" charset="0"/>
                <a:ea typeface="Aptos" panose="020B0004020202020204" pitchFamily="34" charset="0"/>
                <a:cs typeface="2  Nazanin" panose="00000400000000000000" pitchFamily="2" charset="-78"/>
              </a:rPr>
              <a:t>استفاده کن</a:t>
            </a:r>
            <a:br>
              <a:rPr lang="en-US" sz="1800" kern="100">
                <a:effectLst/>
                <a:latin typeface="Arial" panose="020B0604020202020204" pitchFamily="34" charset="0"/>
                <a:ea typeface="Aptos" panose="020B0004020202020204" pitchFamily="34" charset="0"/>
                <a:cs typeface="2  Nazanin" panose="00000400000000000000" pitchFamily="2" charset="-78"/>
              </a:rPr>
            </a:br>
            <a:r>
              <a:rPr lang="ar-SA" sz="1800" b="1" kern="100">
                <a:effectLst/>
                <a:latin typeface="Arial" panose="020B0604020202020204" pitchFamily="34" charset="0"/>
                <a:ea typeface="Aptos" panose="020B0004020202020204" pitchFamily="34" charset="0"/>
                <a:cs typeface="2  Nazanin" panose="00000400000000000000" pitchFamily="2" charset="-78"/>
              </a:rPr>
              <a:t>خروجی</a:t>
            </a:r>
            <a:r>
              <a:rPr lang="fa-IR" sz="1800" b="1" kern="100">
                <a:effectLst/>
                <a:latin typeface="Arial" panose="020B0604020202020204" pitchFamily="34" charset="0"/>
                <a:ea typeface="Aptos" panose="020B0004020202020204" pitchFamily="34" charset="0"/>
                <a:cs typeface="2  Nazanin" panose="00000400000000000000" pitchFamily="2" charset="-78"/>
              </a:rPr>
              <a:t>:</a:t>
            </a:r>
            <a:r>
              <a:rPr lang="fa-IR" sz="1800" kern="100">
                <a:effectLst/>
                <a:latin typeface="Arial" panose="020B0604020202020204" pitchFamily="34" charset="0"/>
                <a:ea typeface="Aptos" panose="020B0004020202020204" pitchFamily="34" charset="0"/>
                <a:cs typeface="2  Nazanin" panose="00000400000000000000" pitchFamily="2" charset="-78"/>
              </a:rPr>
              <a:t> </a:t>
            </a:r>
            <a:r>
              <a:rPr lang="ar-SA" sz="1800" kern="100">
                <a:effectLst/>
                <a:latin typeface="Arial" panose="020B0604020202020204" pitchFamily="34" charset="0"/>
                <a:ea typeface="Aptos" panose="020B0004020202020204" pitchFamily="34" charset="0"/>
                <a:cs typeface="2  Nazanin" panose="00000400000000000000" pitchFamily="2" charset="-78"/>
              </a:rPr>
              <a:t>لوگو یا تصویر گرافیکی برای پروژه</a:t>
            </a:r>
            <a:endParaRPr lang="en-US" sz="2000" kern="100">
              <a:effectLst/>
              <a:latin typeface="Arial" panose="020B0604020202020204" pitchFamily="34" charset="0"/>
              <a:ea typeface="Aptos" panose="020B0004020202020204" pitchFamily="34" charset="0"/>
              <a:cs typeface="2  Nazanin" panose="00000400000000000000" pitchFamily="2" charset="-78"/>
            </a:endParaRPr>
          </a:p>
        </p:txBody>
      </p:sp>
      <p:sp>
        <p:nvSpPr>
          <p:cNvPr id="5" name="TextBox 4">
            <a:extLst>
              <a:ext uri="{FF2B5EF4-FFF2-40B4-BE49-F238E27FC236}">
                <a16:creationId xmlns:a16="http://schemas.microsoft.com/office/drawing/2014/main" id="{0267808D-D623-C338-3433-E471BCD4829A}"/>
              </a:ext>
            </a:extLst>
          </p:cNvPr>
          <p:cNvSpPr txBox="1"/>
          <p:nvPr/>
        </p:nvSpPr>
        <p:spPr>
          <a:xfrm>
            <a:off x="583324" y="3593603"/>
            <a:ext cx="8292662" cy="2732543"/>
          </a:xfrm>
          <a:prstGeom prst="rect">
            <a:avLst/>
          </a:prstGeom>
          <a:noFill/>
        </p:spPr>
        <p:txBody>
          <a:bodyPr wrap="square">
            <a:spAutoFit/>
          </a:bodyPr>
          <a:lstStyle/>
          <a:p>
            <a:pPr algn="r" rtl="1">
              <a:lnSpc>
                <a:spcPct val="115000"/>
              </a:lnSpc>
              <a:spcAft>
                <a:spcPts val="800"/>
              </a:spcAft>
              <a:buNone/>
            </a:pPr>
            <a:r>
              <a:rPr lang="fa-IR" sz="1800" b="1" kern="100">
                <a:effectLst/>
                <a:latin typeface="Arial" panose="020B0604020202020204" pitchFamily="34" charset="0"/>
                <a:ea typeface="Aptos" panose="020B0004020202020204" pitchFamily="34" charset="0"/>
                <a:cs typeface="Segoe UI Emoji" panose="020B0502040204020203" pitchFamily="34" charset="0"/>
              </a:rPr>
              <a:t>🎨</a:t>
            </a:r>
            <a:r>
              <a:rPr lang="fa-IR" sz="1800" b="1" kern="100">
                <a:effectLst/>
                <a:latin typeface="Arial" panose="020B0604020202020204" pitchFamily="34" charset="0"/>
                <a:ea typeface="Aptos" panose="020B0004020202020204" pitchFamily="34" charset="0"/>
                <a:cs typeface="Times New Roman" panose="02020603050405020304" pitchFamily="18" charset="0"/>
              </a:rPr>
              <a:t> </a:t>
            </a:r>
            <a:r>
              <a:rPr lang="ar-SA" sz="1800" b="1" kern="100">
                <a:effectLst/>
                <a:latin typeface="Arial" panose="020B0604020202020204" pitchFamily="34" charset="0"/>
                <a:ea typeface="Aptos" panose="020B0004020202020204" pitchFamily="34" charset="0"/>
                <a:cs typeface="2  Nazanin" panose="00000400000000000000" pitchFamily="2" charset="-78"/>
              </a:rPr>
              <a:t>پروژه </a:t>
            </a:r>
            <a:r>
              <a:rPr lang="fa-IR" sz="1800" b="1" kern="100">
                <a:effectLst/>
                <a:latin typeface="Arial" panose="020B0604020202020204" pitchFamily="34" charset="0"/>
                <a:ea typeface="Aptos" panose="020B0004020202020204" pitchFamily="34" charset="0"/>
                <a:cs typeface="2  Nazanin" panose="00000400000000000000" pitchFamily="2" charset="-78"/>
              </a:rPr>
              <a:t>۴: </a:t>
            </a:r>
            <a:r>
              <a:rPr lang="ar-SA" sz="1800" b="1" kern="100">
                <a:effectLst/>
                <a:latin typeface="Arial" panose="020B0604020202020204" pitchFamily="34" charset="0"/>
                <a:ea typeface="Aptos" panose="020B0004020202020204" pitchFamily="34" charset="0"/>
                <a:cs typeface="2  Nazanin" panose="00000400000000000000" pitchFamily="2" charset="-78"/>
              </a:rPr>
              <a:t>طراحی لوگو با </a:t>
            </a:r>
            <a:r>
              <a:rPr lang="en-US" sz="1800" b="1" kern="100">
                <a:effectLst/>
                <a:latin typeface="Arial" panose="020B0604020202020204" pitchFamily="34" charset="0"/>
                <a:ea typeface="Aptos" panose="020B0004020202020204" pitchFamily="34" charset="0"/>
                <a:cs typeface="2  Nazanin" panose="00000400000000000000" pitchFamily="2" charset="-78"/>
              </a:rPr>
              <a:t>Logo Creator</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algn="r" rtl="1">
              <a:lnSpc>
                <a:spcPct val="115000"/>
              </a:lnSpc>
              <a:spcAft>
                <a:spcPts val="800"/>
              </a:spcAft>
              <a:buNone/>
            </a:pPr>
            <a:r>
              <a:rPr lang="en-US" sz="1800" b="1" kern="100">
                <a:effectLst/>
                <a:latin typeface="Arial" panose="020B0604020202020204" pitchFamily="34" charset="0"/>
                <a:ea typeface="Aptos" panose="020B0004020202020204" pitchFamily="34" charset="0"/>
                <a:cs typeface="2  Nazanin" panose="00000400000000000000" pitchFamily="2" charset="-78"/>
              </a:rPr>
              <a:t>GPT:</a:t>
            </a:r>
            <a:r>
              <a:rPr lang="en-US" sz="1800" kern="100">
                <a:effectLst/>
                <a:latin typeface="Arial" panose="020B0604020202020204" pitchFamily="34" charset="0"/>
                <a:ea typeface="Aptos" panose="020B0004020202020204" pitchFamily="34" charset="0"/>
                <a:cs typeface="2  Nazanin" panose="00000400000000000000" pitchFamily="2" charset="-78"/>
              </a:rPr>
              <a:t> Logo Creator</a:t>
            </a:r>
            <a:br>
              <a:rPr lang="en-US" sz="1800" kern="100">
                <a:effectLst/>
                <a:latin typeface="Arial" panose="020B0604020202020204" pitchFamily="34" charset="0"/>
                <a:ea typeface="Aptos" panose="020B0004020202020204" pitchFamily="34" charset="0"/>
                <a:cs typeface="2  Nazanin" panose="00000400000000000000" pitchFamily="2" charset="-78"/>
              </a:rPr>
            </a:br>
            <a:r>
              <a:rPr lang="ar-SA" sz="1800" b="1" kern="100">
                <a:effectLst/>
                <a:latin typeface="Arial" panose="020B0604020202020204" pitchFamily="34" charset="0"/>
                <a:ea typeface="Aptos" panose="020B0004020202020204" pitchFamily="34" charset="0"/>
                <a:cs typeface="2  Nazanin" panose="00000400000000000000" pitchFamily="2" charset="-78"/>
              </a:rPr>
              <a:t>هدف</a:t>
            </a:r>
            <a:r>
              <a:rPr lang="fa-IR" sz="1800" b="1" kern="100">
                <a:effectLst/>
                <a:latin typeface="Arial" panose="020B0604020202020204" pitchFamily="34" charset="0"/>
                <a:ea typeface="Aptos" panose="020B0004020202020204" pitchFamily="34" charset="0"/>
                <a:cs typeface="2  Nazanin" panose="00000400000000000000" pitchFamily="2" charset="-78"/>
              </a:rPr>
              <a:t>:</a:t>
            </a:r>
            <a:r>
              <a:rPr lang="fa-IR" sz="1800" kern="100">
                <a:effectLst/>
                <a:latin typeface="Arial" panose="020B0604020202020204" pitchFamily="34" charset="0"/>
                <a:ea typeface="Aptos" panose="020B0004020202020204" pitchFamily="34" charset="0"/>
                <a:cs typeface="2  Nazanin" panose="00000400000000000000" pitchFamily="2" charset="-78"/>
              </a:rPr>
              <a:t> </a:t>
            </a:r>
            <a:r>
              <a:rPr lang="ar-SA" sz="1800" kern="100">
                <a:effectLst/>
                <a:latin typeface="Arial" panose="020B0604020202020204" pitchFamily="34" charset="0"/>
                <a:ea typeface="Aptos" panose="020B0004020202020204" pitchFamily="34" charset="0"/>
                <a:cs typeface="2  Nazanin" panose="00000400000000000000" pitchFamily="2" charset="-78"/>
              </a:rPr>
              <a:t>ایجاد لوگوهای حرفه‌ای برای پروژه‌ها یا برندهای شخصی</a:t>
            </a:r>
            <a:br>
              <a:rPr lang="en-US" sz="1800" kern="100">
                <a:effectLst/>
                <a:latin typeface="Arial" panose="020B0604020202020204" pitchFamily="34" charset="0"/>
                <a:ea typeface="Aptos" panose="020B0004020202020204" pitchFamily="34" charset="0"/>
                <a:cs typeface="2  Nazanin" panose="00000400000000000000" pitchFamily="2" charset="-78"/>
              </a:rPr>
            </a:br>
            <a:r>
              <a:rPr lang="ar-SA" sz="1800" b="1" kern="100">
                <a:effectLst/>
                <a:latin typeface="Arial" panose="020B0604020202020204" pitchFamily="34" charset="0"/>
                <a:ea typeface="Aptos" panose="020B0004020202020204" pitchFamily="34" charset="0"/>
                <a:cs typeface="2  Nazanin" panose="00000400000000000000" pitchFamily="2" charset="-78"/>
              </a:rPr>
              <a:t>مراحل</a:t>
            </a:r>
            <a:r>
              <a:rPr lang="fa-IR" sz="1800" b="1" kern="100">
                <a:effectLst/>
                <a:latin typeface="Arial" panose="020B0604020202020204" pitchFamily="34" charset="0"/>
                <a:ea typeface="Aptos" panose="020B0004020202020204" pitchFamily="34" charset="0"/>
                <a:cs typeface="2  Nazanin" panose="00000400000000000000" pitchFamily="2" charset="-78"/>
              </a:rPr>
              <a:t>:</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marL="342900" lvl="0" indent="-342900" algn="r" rtl="1">
              <a:lnSpc>
                <a:spcPct val="115000"/>
              </a:lnSpc>
              <a:spcAft>
                <a:spcPts val="800"/>
              </a:spcAft>
              <a:buSzPts val="1000"/>
              <a:buFont typeface="Symbol" panose="05050102010706020507" pitchFamily="18" charset="2"/>
              <a:buChar char=""/>
              <a:tabLst>
                <a:tab pos="457200" algn="l"/>
              </a:tabLst>
            </a:pPr>
            <a:r>
              <a:rPr lang="ar-SA" sz="1800" kern="100">
                <a:effectLst/>
                <a:latin typeface="Arial" panose="020B0604020202020204" pitchFamily="34" charset="0"/>
                <a:ea typeface="Aptos" panose="020B0004020202020204" pitchFamily="34" charset="0"/>
                <a:cs typeface="2  Nazanin" panose="00000400000000000000" pitchFamily="2" charset="-78"/>
              </a:rPr>
              <a:t>تعیین نام برند و حوزه فعالیت</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marL="342900" lvl="0" indent="-342900" algn="r" rtl="1">
              <a:lnSpc>
                <a:spcPct val="115000"/>
              </a:lnSpc>
              <a:spcAft>
                <a:spcPts val="800"/>
              </a:spcAft>
              <a:buSzPts val="1000"/>
              <a:buFont typeface="Symbol" panose="05050102010706020507" pitchFamily="18" charset="2"/>
              <a:buChar char=""/>
              <a:tabLst>
                <a:tab pos="457200" algn="l"/>
              </a:tabLst>
            </a:pPr>
            <a:r>
              <a:rPr lang="ar-SA" sz="1800" kern="100">
                <a:effectLst/>
                <a:latin typeface="Arial" panose="020B0604020202020204" pitchFamily="34" charset="0"/>
                <a:ea typeface="Aptos" panose="020B0004020202020204" pitchFamily="34" charset="0"/>
                <a:cs typeface="2  Nazanin" panose="00000400000000000000" pitchFamily="2" charset="-78"/>
              </a:rPr>
              <a:t>درخواست از </a:t>
            </a:r>
            <a:r>
              <a:rPr lang="en-US" sz="1800" kern="100">
                <a:effectLst/>
                <a:latin typeface="Arial" panose="020B0604020202020204" pitchFamily="34" charset="0"/>
                <a:ea typeface="Aptos" panose="020B0004020202020204" pitchFamily="34" charset="0"/>
                <a:cs typeface="2  Nazanin" panose="00000400000000000000" pitchFamily="2" charset="-78"/>
              </a:rPr>
              <a:t>GPT</a:t>
            </a:r>
            <a:r>
              <a:rPr lang="en-US" sz="1800" kern="100">
                <a:effectLst/>
                <a:latin typeface="2  Nazanin" panose="00000400000000000000" pitchFamily="2" charset="-78"/>
                <a:ea typeface="Aptos" panose="020B0004020202020204" pitchFamily="34" charset="0"/>
                <a:cs typeface="2  Nazanin" panose="00000400000000000000" pitchFamily="2" charset="-78"/>
              </a:rPr>
              <a:t> </a:t>
            </a:r>
            <a:r>
              <a:rPr lang="ar-SA" sz="1800" kern="100">
                <a:effectLst/>
                <a:latin typeface="Arial" panose="020B0604020202020204" pitchFamily="34" charset="0"/>
                <a:ea typeface="Aptos" panose="020B0004020202020204" pitchFamily="34" charset="0"/>
                <a:cs typeface="2  Nazanin" panose="00000400000000000000" pitchFamily="2" charset="-78"/>
              </a:rPr>
              <a:t>برای طراحی لوگو با ویژگی‌های مشخص (رنگ، سبک، نمادها)</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marL="342900" lvl="0" indent="-342900" algn="r" rtl="1">
              <a:lnSpc>
                <a:spcPct val="115000"/>
              </a:lnSpc>
              <a:spcAft>
                <a:spcPts val="800"/>
              </a:spcAft>
              <a:buSzPts val="1000"/>
              <a:buFont typeface="Symbol" panose="05050102010706020507" pitchFamily="18" charset="2"/>
              <a:buChar char=""/>
              <a:tabLst>
                <a:tab pos="457200" algn="l"/>
              </a:tabLst>
            </a:pPr>
            <a:r>
              <a:rPr lang="ar-SA" sz="1800" kern="100">
                <a:effectLst/>
                <a:latin typeface="Arial" panose="020B0604020202020204" pitchFamily="34" charset="0"/>
                <a:ea typeface="Aptos" panose="020B0004020202020204" pitchFamily="34" charset="0"/>
                <a:cs typeface="2  Nazanin" panose="00000400000000000000" pitchFamily="2" charset="-78"/>
              </a:rPr>
              <a:t>دریافت و بررسی طرح‌های پیشنهادی</a:t>
            </a:r>
            <a:r>
              <a:rPr lang="fa-IR" sz="1800" kern="100">
                <a:effectLst/>
                <a:latin typeface="Arial" panose="020B0604020202020204" pitchFamily="34" charset="0"/>
                <a:ea typeface="Aptos" panose="020B0004020202020204" pitchFamily="34" charset="0"/>
                <a:cs typeface="2  Nazanin" panose="00000400000000000000" pitchFamily="2" charset="-78"/>
              </a:rPr>
              <a:t>(</a:t>
            </a:r>
            <a:r>
              <a:rPr lang="en-US" sz="1800" u="sng" kern="100">
                <a:solidFill>
                  <a:srgbClr val="467886"/>
                </a:solidFill>
                <a:effectLst/>
                <a:latin typeface="Arial" panose="020B0604020202020204" pitchFamily="34" charset="0"/>
                <a:ea typeface="Aptos" panose="020B0004020202020204" pitchFamily="34" charset="0"/>
                <a:cs typeface="2  Nazanin" panose="00000400000000000000" pitchFamily="2" charset="-78"/>
                <a:hlinkClick r:id="rId2" tooltip="Top ChatGPT GPTs ranking on 2025-01-27 - GPT Store"/>
              </a:rPr>
              <a:t>gptstore.ai</a:t>
            </a:r>
            <a:r>
              <a:rPr lang="fa-IR" sz="1800" kern="100">
                <a:effectLst/>
                <a:latin typeface="Arial" panose="020B0604020202020204" pitchFamily="34" charset="0"/>
                <a:ea typeface="Aptos" panose="020B0004020202020204" pitchFamily="34" charset="0"/>
                <a:cs typeface="2  Nazanin" panose="00000400000000000000" pitchFamily="2" charset="-78"/>
              </a:rPr>
              <a:t>)</a:t>
            </a:r>
            <a:endParaRPr lang="en-US" sz="2000" kern="100">
              <a:effectLst/>
              <a:latin typeface="Arial" panose="020B0604020202020204" pitchFamily="34" charset="0"/>
              <a:ea typeface="Aptos" panose="020B0004020202020204" pitchFamily="34" charset="0"/>
              <a:cs typeface="2  Nazanin" panose="00000400000000000000" pitchFamily="2" charset="-78"/>
            </a:endParaRPr>
          </a:p>
        </p:txBody>
      </p:sp>
      <p:sp>
        <p:nvSpPr>
          <p:cNvPr id="2" name="TextBox 1">
            <a:extLst>
              <a:ext uri="{FF2B5EF4-FFF2-40B4-BE49-F238E27FC236}">
                <a16:creationId xmlns:a16="http://schemas.microsoft.com/office/drawing/2014/main" id="{355D8118-3E93-F9B5-D96B-3DDAB6276AA0}"/>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60</a:t>
            </a:r>
            <a:endParaRPr lang="fa-IR" sz="1200"/>
          </a:p>
        </p:txBody>
      </p:sp>
    </p:spTree>
    <p:extLst>
      <p:ext uri="{BB962C8B-B14F-4D97-AF65-F5344CB8AC3E}">
        <p14:creationId xmlns:p14="http://schemas.microsoft.com/office/powerpoint/2010/main" val="153231771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43D45-D506-E8F4-525E-BD75E38C026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70F562BB-BFD3-75DC-7987-9B6ACCD28FA2}"/>
              </a:ext>
            </a:extLst>
          </p:cNvPr>
          <p:cNvSpPr txBox="1"/>
          <p:nvPr/>
        </p:nvSpPr>
        <p:spPr>
          <a:xfrm>
            <a:off x="819807" y="329283"/>
            <a:ext cx="7961586" cy="2629951"/>
          </a:xfrm>
          <a:prstGeom prst="rect">
            <a:avLst/>
          </a:prstGeom>
          <a:noFill/>
        </p:spPr>
        <p:txBody>
          <a:bodyPr wrap="square">
            <a:spAutoFit/>
          </a:bodyPr>
          <a:lstStyle/>
          <a:p>
            <a:pPr algn="r" rtl="1">
              <a:lnSpc>
                <a:spcPct val="115000"/>
              </a:lnSpc>
              <a:spcAft>
                <a:spcPts val="800"/>
              </a:spcAft>
              <a:buNone/>
            </a:pPr>
            <a:r>
              <a:rPr lang="fa-IR" sz="1800" b="1" kern="100">
                <a:effectLst/>
                <a:latin typeface="Arial" panose="020B0604020202020204" pitchFamily="34" charset="0"/>
                <a:ea typeface="Aptos" panose="020B0004020202020204" pitchFamily="34" charset="0"/>
                <a:cs typeface="Segoe UI Emoji" panose="020B0502040204020203" pitchFamily="34" charset="0"/>
              </a:rPr>
              <a:t>🧑‍🏫</a:t>
            </a:r>
            <a:r>
              <a:rPr lang="fa-IR" sz="1800" b="1" kern="100">
                <a:effectLst/>
                <a:latin typeface="Arial" panose="020B0604020202020204" pitchFamily="34" charset="0"/>
                <a:ea typeface="Aptos" panose="020B0004020202020204" pitchFamily="34" charset="0"/>
                <a:cs typeface="Times New Roman" panose="02020603050405020304" pitchFamily="18" charset="0"/>
              </a:rPr>
              <a:t> </a:t>
            </a:r>
            <a:r>
              <a:rPr lang="ar-SA" sz="1800" b="1" kern="100">
                <a:effectLst/>
                <a:latin typeface="Arial" panose="020B0604020202020204" pitchFamily="34" charset="0"/>
                <a:ea typeface="Aptos" panose="020B0004020202020204" pitchFamily="34" charset="0"/>
                <a:cs typeface="2  Nazanin" panose="00000400000000000000" pitchFamily="2" charset="-78"/>
              </a:rPr>
              <a:t>پروژه </a:t>
            </a:r>
            <a:r>
              <a:rPr lang="fa-IR" sz="1800" b="1" kern="100">
                <a:effectLst/>
                <a:latin typeface="Arial" panose="020B0604020202020204" pitchFamily="34" charset="0"/>
                <a:ea typeface="Aptos" panose="020B0004020202020204" pitchFamily="34" charset="0"/>
                <a:cs typeface="2  Nazanin" panose="00000400000000000000" pitchFamily="2" charset="-78"/>
              </a:rPr>
              <a:t>۵: </a:t>
            </a:r>
            <a:r>
              <a:rPr lang="ar-SA" sz="1800" b="1" kern="100">
                <a:effectLst/>
                <a:latin typeface="Arial" panose="020B0604020202020204" pitchFamily="34" charset="0"/>
                <a:ea typeface="Aptos" panose="020B0004020202020204" pitchFamily="34" charset="0"/>
                <a:cs typeface="2  Nazanin" panose="00000400000000000000" pitchFamily="2" charset="-78"/>
              </a:rPr>
              <a:t>تمرین زبان انگلیسی با </a:t>
            </a:r>
            <a:r>
              <a:rPr lang="en-US" sz="1800" b="1" kern="100">
                <a:effectLst/>
                <a:latin typeface="Arial" panose="020B0604020202020204" pitchFamily="34" charset="0"/>
                <a:ea typeface="Aptos" panose="020B0004020202020204" pitchFamily="34" charset="0"/>
                <a:cs typeface="2  Nazanin" panose="00000400000000000000" pitchFamily="2" charset="-78"/>
              </a:rPr>
              <a:t>GPT «English Tutor</a:t>
            </a:r>
            <a:r>
              <a:rPr lang="fa-IR" sz="1800" b="1" kern="100">
                <a:effectLst/>
                <a:latin typeface="Arial" panose="020B0604020202020204" pitchFamily="34" charset="0"/>
                <a:ea typeface="Aptos" panose="020B0004020202020204" pitchFamily="34" charset="0"/>
                <a:cs typeface="2  Nazanin" panose="00000400000000000000" pitchFamily="2" charset="-78"/>
              </a:rPr>
              <a:t>»</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algn="r" rtl="1">
              <a:lnSpc>
                <a:spcPct val="115000"/>
              </a:lnSpc>
              <a:spcAft>
                <a:spcPts val="800"/>
              </a:spcAft>
              <a:buNone/>
            </a:pPr>
            <a:r>
              <a:rPr lang="en-US" sz="1800" b="1" kern="100">
                <a:effectLst/>
                <a:latin typeface="Arial" panose="020B0604020202020204" pitchFamily="34" charset="0"/>
                <a:ea typeface="Aptos" panose="020B0004020202020204" pitchFamily="34" charset="0"/>
                <a:cs typeface="2  Nazanin" panose="00000400000000000000" pitchFamily="2" charset="-78"/>
              </a:rPr>
              <a:t>GPT:</a:t>
            </a:r>
            <a:r>
              <a:rPr lang="en-US" sz="1800" kern="100">
                <a:effectLst/>
                <a:latin typeface="Arial" panose="020B0604020202020204" pitchFamily="34" charset="0"/>
                <a:ea typeface="Aptos" panose="020B0004020202020204" pitchFamily="34" charset="0"/>
                <a:cs typeface="2  Nazanin" panose="00000400000000000000" pitchFamily="2" charset="-78"/>
              </a:rPr>
              <a:t> English Tutor</a:t>
            </a:r>
            <a:br>
              <a:rPr lang="en-US" sz="1800" kern="100">
                <a:effectLst/>
                <a:latin typeface="Arial" panose="020B0604020202020204" pitchFamily="34" charset="0"/>
                <a:ea typeface="Aptos" panose="020B0004020202020204" pitchFamily="34" charset="0"/>
                <a:cs typeface="2  Nazanin" panose="00000400000000000000" pitchFamily="2" charset="-78"/>
              </a:rPr>
            </a:br>
            <a:r>
              <a:rPr lang="ar-SA" sz="1800" b="1" kern="100">
                <a:effectLst/>
                <a:latin typeface="Arial" panose="020B0604020202020204" pitchFamily="34" charset="0"/>
                <a:ea typeface="Aptos" panose="020B0004020202020204" pitchFamily="34" charset="0"/>
                <a:cs typeface="2  Nazanin" panose="00000400000000000000" pitchFamily="2" charset="-78"/>
              </a:rPr>
              <a:t>هدف</a:t>
            </a:r>
            <a:r>
              <a:rPr lang="fa-IR" sz="1800" b="1" kern="100">
                <a:effectLst/>
                <a:latin typeface="Arial" panose="020B0604020202020204" pitchFamily="34" charset="0"/>
                <a:ea typeface="Aptos" panose="020B0004020202020204" pitchFamily="34" charset="0"/>
                <a:cs typeface="2  Nazanin" panose="00000400000000000000" pitchFamily="2" charset="-78"/>
              </a:rPr>
              <a:t>:</a:t>
            </a:r>
            <a:r>
              <a:rPr lang="fa-IR" sz="1800" kern="100">
                <a:effectLst/>
                <a:latin typeface="Arial" panose="020B0604020202020204" pitchFamily="34" charset="0"/>
                <a:ea typeface="Aptos" panose="020B0004020202020204" pitchFamily="34" charset="0"/>
                <a:cs typeface="2  Nazanin" panose="00000400000000000000" pitchFamily="2" charset="-78"/>
              </a:rPr>
              <a:t> </a:t>
            </a:r>
            <a:r>
              <a:rPr lang="ar-SA" sz="1800" kern="100">
                <a:effectLst/>
                <a:latin typeface="Arial" panose="020B0604020202020204" pitchFamily="34" charset="0"/>
                <a:ea typeface="Aptos" panose="020B0004020202020204" pitchFamily="34" charset="0"/>
                <a:cs typeface="2  Nazanin" panose="00000400000000000000" pitchFamily="2" charset="-78"/>
              </a:rPr>
              <a:t>تمرین مکالمه، اصلاح اشتباهات و یادگیری گرامر</a:t>
            </a:r>
            <a:br>
              <a:rPr lang="en-US" sz="1800" kern="100">
                <a:effectLst/>
                <a:latin typeface="Arial" panose="020B0604020202020204" pitchFamily="34" charset="0"/>
                <a:ea typeface="Aptos" panose="020B0004020202020204" pitchFamily="34" charset="0"/>
                <a:cs typeface="2  Nazanin" panose="00000400000000000000" pitchFamily="2" charset="-78"/>
              </a:rPr>
            </a:br>
            <a:r>
              <a:rPr lang="ar-SA" sz="1800" b="1" kern="100">
                <a:effectLst/>
                <a:latin typeface="Arial" panose="020B0604020202020204" pitchFamily="34" charset="0"/>
                <a:ea typeface="Aptos" panose="020B0004020202020204" pitchFamily="34" charset="0"/>
                <a:cs typeface="2  Nazanin" panose="00000400000000000000" pitchFamily="2" charset="-78"/>
              </a:rPr>
              <a:t>مراحل اجرا</a:t>
            </a:r>
            <a:r>
              <a:rPr lang="fa-IR" sz="1800" b="1" kern="100">
                <a:effectLst/>
                <a:latin typeface="Arial" panose="020B0604020202020204" pitchFamily="34" charset="0"/>
                <a:ea typeface="Aptos" panose="020B0004020202020204" pitchFamily="34" charset="0"/>
                <a:cs typeface="2  Nazanin" panose="00000400000000000000" pitchFamily="2" charset="-78"/>
              </a:rPr>
              <a:t>:</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marL="342900" lvl="0" indent="-342900" algn="r" rtl="1">
              <a:lnSpc>
                <a:spcPct val="115000"/>
              </a:lnSpc>
              <a:spcAft>
                <a:spcPts val="800"/>
              </a:spcAft>
              <a:buSzPts val="1000"/>
              <a:buFont typeface="Symbol" panose="05050102010706020507" pitchFamily="18" charset="2"/>
              <a:buChar char=""/>
              <a:tabLst>
                <a:tab pos="457200" algn="l"/>
              </a:tabLst>
            </a:pPr>
            <a:r>
              <a:rPr lang="ar-SA" sz="1800" kern="100">
                <a:effectLst/>
                <a:latin typeface="Arial" panose="020B0604020202020204" pitchFamily="34" charset="0"/>
                <a:ea typeface="Aptos" panose="020B0004020202020204" pitchFamily="34" charset="0"/>
                <a:cs typeface="2  Nazanin" panose="00000400000000000000" pitchFamily="2" charset="-78"/>
              </a:rPr>
              <a:t>مکالمه‌ی روزمره با </a:t>
            </a:r>
            <a:r>
              <a:rPr lang="en-US" sz="1800" kern="100">
                <a:effectLst/>
                <a:latin typeface="Arial" panose="020B0604020202020204" pitchFamily="34" charset="0"/>
                <a:ea typeface="Aptos" panose="020B0004020202020204" pitchFamily="34" charset="0"/>
                <a:cs typeface="2  Nazanin" panose="00000400000000000000" pitchFamily="2" charset="-78"/>
              </a:rPr>
              <a:t>GPT</a:t>
            </a:r>
            <a:r>
              <a:rPr lang="en-US" sz="1800" kern="100">
                <a:effectLst/>
                <a:latin typeface="2  Nazanin" panose="00000400000000000000" pitchFamily="2" charset="-78"/>
                <a:ea typeface="Aptos" panose="020B0004020202020204" pitchFamily="34" charset="0"/>
                <a:cs typeface="2  Nazanin" panose="00000400000000000000" pitchFamily="2" charset="-78"/>
              </a:rPr>
              <a:t> </a:t>
            </a:r>
            <a:r>
              <a:rPr lang="ar-SA" sz="1800" kern="100">
                <a:effectLst/>
                <a:latin typeface="Arial" panose="020B0604020202020204" pitchFamily="34" charset="0"/>
                <a:ea typeface="Aptos" panose="020B0004020202020204" pitchFamily="34" charset="0"/>
                <a:cs typeface="2  Nazanin" panose="00000400000000000000" pitchFamily="2" charset="-78"/>
              </a:rPr>
              <a:t>انجام بده (مثل رفتن به رستوران یا مصاحبه شغلی)</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marL="342900" lvl="0" indent="-342900" algn="r" rtl="1">
              <a:lnSpc>
                <a:spcPct val="115000"/>
              </a:lnSpc>
              <a:spcAft>
                <a:spcPts val="800"/>
              </a:spcAft>
              <a:buSzPts val="1000"/>
              <a:buFont typeface="Symbol" panose="05050102010706020507" pitchFamily="18" charset="2"/>
              <a:buChar char=""/>
              <a:tabLst>
                <a:tab pos="457200" algn="l"/>
              </a:tabLst>
            </a:pPr>
            <a:r>
              <a:rPr lang="ar-SA" sz="1800" kern="100">
                <a:effectLst/>
                <a:latin typeface="Arial" panose="020B0604020202020204" pitchFamily="34" charset="0"/>
                <a:ea typeface="Aptos" panose="020B0004020202020204" pitchFamily="34" charset="0"/>
                <a:cs typeface="2  Nazanin" panose="00000400000000000000" pitchFamily="2" charset="-78"/>
              </a:rPr>
              <a:t>از </a:t>
            </a:r>
            <a:r>
              <a:rPr lang="en-US" sz="1800" kern="100">
                <a:effectLst/>
                <a:latin typeface="Arial" panose="020B0604020202020204" pitchFamily="34" charset="0"/>
                <a:ea typeface="Aptos" panose="020B0004020202020204" pitchFamily="34" charset="0"/>
                <a:cs typeface="2  Nazanin" panose="00000400000000000000" pitchFamily="2" charset="-78"/>
              </a:rPr>
              <a:t>GPT</a:t>
            </a:r>
            <a:r>
              <a:rPr lang="en-US" sz="1800" kern="100">
                <a:effectLst/>
                <a:latin typeface="2  Nazanin" panose="00000400000000000000" pitchFamily="2" charset="-78"/>
                <a:ea typeface="Aptos" panose="020B0004020202020204" pitchFamily="34" charset="0"/>
                <a:cs typeface="2  Nazanin" panose="00000400000000000000" pitchFamily="2" charset="-78"/>
              </a:rPr>
              <a:t> </a:t>
            </a:r>
            <a:r>
              <a:rPr lang="ar-SA" sz="1800" kern="100">
                <a:effectLst/>
                <a:latin typeface="Arial" panose="020B0604020202020204" pitchFamily="34" charset="0"/>
                <a:ea typeface="Aptos" panose="020B0004020202020204" pitchFamily="34" charset="0"/>
                <a:cs typeface="2  Nazanin" panose="00000400000000000000" pitchFamily="2" charset="-78"/>
              </a:rPr>
              <a:t>بخواه اشکالات را اصلاح کند</a:t>
            </a:r>
            <a:br>
              <a:rPr lang="en-US" sz="1800" kern="100">
                <a:effectLst/>
                <a:latin typeface="Arial" panose="020B0604020202020204" pitchFamily="34" charset="0"/>
                <a:ea typeface="Aptos" panose="020B0004020202020204" pitchFamily="34" charset="0"/>
                <a:cs typeface="2  Nazanin" panose="00000400000000000000" pitchFamily="2" charset="-78"/>
              </a:rPr>
            </a:br>
            <a:r>
              <a:rPr lang="ar-SA" sz="1800" b="1" kern="100">
                <a:effectLst/>
                <a:latin typeface="Arial" panose="020B0604020202020204" pitchFamily="34" charset="0"/>
                <a:ea typeface="Aptos" panose="020B0004020202020204" pitchFamily="34" charset="0"/>
                <a:cs typeface="2  Nazanin" panose="00000400000000000000" pitchFamily="2" charset="-78"/>
              </a:rPr>
              <a:t>خروجی</a:t>
            </a:r>
            <a:r>
              <a:rPr lang="fa-IR" sz="1800" b="1" kern="100">
                <a:effectLst/>
                <a:latin typeface="Arial" panose="020B0604020202020204" pitchFamily="34" charset="0"/>
                <a:ea typeface="Aptos" panose="020B0004020202020204" pitchFamily="34" charset="0"/>
                <a:cs typeface="2  Nazanin" panose="00000400000000000000" pitchFamily="2" charset="-78"/>
              </a:rPr>
              <a:t>:</a:t>
            </a:r>
            <a:r>
              <a:rPr lang="fa-IR" sz="1800" kern="100">
                <a:effectLst/>
                <a:latin typeface="Arial" panose="020B0604020202020204" pitchFamily="34" charset="0"/>
                <a:ea typeface="Aptos" panose="020B0004020202020204" pitchFamily="34" charset="0"/>
                <a:cs typeface="2  Nazanin" panose="00000400000000000000" pitchFamily="2" charset="-78"/>
              </a:rPr>
              <a:t> </a:t>
            </a:r>
            <a:r>
              <a:rPr lang="ar-SA" sz="1800" kern="100">
                <a:effectLst/>
                <a:latin typeface="Arial" panose="020B0604020202020204" pitchFamily="34" charset="0"/>
                <a:ea typeface="Aptos" panose="020B0004020202020204" pitchFamily="34" charset="0"/>
                <a:cs typeface="2  Nazanin" panose="00000400000000000000" pitchFamily="2" charset="-78"/>
              </a:rPr>
              <a:t>تقویت مکالمه و درک گرامر</a:t>
            </a:r>
            <a:endParaRPr lang="en-US" sz="2000" kern="100">
              <a:effectLst/>
              <a:latin typeface="Arial" panose="020B0604020202020204" pitchFamily="34" charset="0"/>
              <a:ea typeface="Aptos" panose="020B0004020202020204" pitchFamily="34" charset="0"/>
              <a:cs typeface="2  Nazanin" panose="00000400000000000000" pitchFamily="2" charset="-78"/>
            </a:endParaRPr>
          </a:p>
        </p:txBody>
      </p:sp>
      <p:sp>
        <p:nvSpPr>
          <p:cNvPr id="9" name="TextBox 8">
            <a:extLst>
              <a:ext uri="{FF2B5EF4-FFF2-40B4-BE49-F238E27FC236}">
                <a16:creationId xmlns:a16="http://schemas.microsoft.com/office/drawing/2014/main" id="{222BFAEE-3888-E23C-C5CB-5BF2B4BA6A60}"/>
              </a:ext>
            </a:extLst>
          </p:cNvPr>
          <p:cNvSpPr txBox="1"/>
          <p:nvPr/>
        </p:nvSpPr>
        <p:spPr>
          <a:xfrm>
            <a:off x="819807" y="3429000"/>
            <a:ext cx="7961586" cy="2629951"/>
          </a:xfrm>
          <a:prstGeom prst="rect">
            <a:avLst/>
          </a:prstGeom>
          <a:noFill/>
        </p:spPr>
        <p:txBody>
          <a:bodyPr wrap="square">
            <a:spAutoFit/>
          </a:bodyPr>
          <a:lstStyle/>
          <a:p>
            <a:pPr algn="r" rtl="1">
              <a:lnSpc>
                <a:spcPct val="115000"/>
              </a:lnSpc>
              <a:spcAft>
                <a:spcPts val="800"/>
              </a:spcAft>
              <a:buNone/>
            </a:pPr>
            <a:r>
              <a:rPr lang="fa-IR" sz="1800" b="1" kern="100">
                <a:effectLst/>
                <a:latin typeface="Arial" panose="020B0604020202020204" pitchFamily="34" charset="0"/>
                <a:ea typeface="Aptos" panose="020B0004020202020204" pitchFamily="34" charset="0"/>
                <a:cs typeface="Segoe UI Emoji" panose="020B0502040204020203" pitchFamily="34" charset="0"/>
              </a:rPr>
              <a:t>💬</a:t>
            </a:r>
            <a:r>
              <a:rPr lang="fa-IR" sz="1800" b="1" kern="100">
                <a:effectLst/>
                <a:latin typeface="Arial" panose="020B0604020202020204" pitchFamily="34" charset="0"/>
                <a:ea typeface="Aptos" panose="020B0004020202020204" pitchFamily="34" charset="0"/>
                <a:cs typeface="Times New Roman" panose="02020603050405020304" pitchFamily="18" charset="0"/>
              </a:rPr>
              <a:t> </a:t>
            </a:r>
            <a:r>
              <a:rPr lang="ar-SA" sz="1800" b="1" kern="100">
                <a:effectLst/>
                <a:latin typeface="Arial" panose="020B0604020202020204" pitchFamily="34" charset="0"/>
                <a:ea typeface="Aptos" panose="020B0004020202020204" pitchFamily="34" charset="0"/>
                <a:cs typeface="2  Nazanin" panose="00000400000000000000" pitchFamily="2" charset="-78"/>
              </a:rPr>
              <a:t>پروژه </a:t>
            </a:r>
            <a:r>
              <a:rPr lang="fa-IR" sz="1800" b="1" kern="100">
                <a:effectLst/>
                <a:latin typeface="Arial" panose="020B0604020202020204" pitchFamily="34" charset="0"/>
                <a:ea typeface="Aptos" panose="020B0004020202020204" pitchFamily="34" charset="0"/>
                <a:cs typeface="2  Nazanin" panose="00000400000000000000" pitchFamily="2" charset="-78"/>
              </a:rPr>
              <a:t>۶: </a:t>
            </a:r>
            <a:r>
              <a:rPr lang="ar-SA" sz="1800" b="1" kern="100">
                <a:effectLst/>
                <a:latin typeface="Arial" panose="020B0604020202020204" pitchFamily="34" charset="0"/>
                <a:ea typeface="Aptos" panose="020B0004020202020204" pitchFamily="34" charset="0"/>
                <a:cs typeface="2  Nazanin" panose="00000400000000000000" pitchFamily="2" charset="-78"/>
              </a:rPr>
              <a:t>ساخت پست اینستاگرام یا کپشن با </a:t>
            </a:r>
            <a:r>
              <a:rPr lang="en-US" sz="1800" b="1" kern="100">
                <a:effectLst/>
                <a:latin typeface="Arial" panose="020B0604020202020204" pitchFamily="34" charset="0"/>
                <a:ea typeface="Aptos" panose="020B0004020202020204" pitchFamily="34" charset="0"/>
                <a:cs typeface="2  Nazanin" panose="00000400000000000000" pitchFamily="2" charset="-78"/>
              </a:rPr>
              <a:t>GPT «Social Media Assistant</a:t>
            </a:r>
            <a:r>
              <a:rPr lang="fa-IR" sz="1800" b="1" kern="100">
                <a:effectLst/>
                <a:latin typeface="Arial" panose="020B0604020202020204" pitchFamily="34" charset="0"/>
                <a:ea typeface="Aptos" panose="020B0004020202020204" pitchFamily="34" charset="0"/>
                <a:cs typeface="2  Nazanin" panose="00000400000000000000" pitchFamily="2" charset="-78"/>
              </a:rPr>
              <a:t>»</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algn="r" rtl="1">
              <a:lnSpc>
                <a:spcPct val="115000"/>
              </a:lnSpc>
              <a:spcAft>
                <a:spcPts val="800"/>
              </a:spcAft>
              <a:buNone/>
            </a:pPr>
            <a:r>
              <a:rPr lang="en-US" sz="1800" b="1" kern="100">
                <a:effectLst/>
                <a:latin typeface="Arial" panose="020B0604020202020204" pitchFamily="34" charset="0"/>
                <a:ea typeface="Aptos" panose="020B0004020202020204" pitchFamily="34" charset="0"/>
                <a:cs typeface="2  Nazanin" panose="00000400000000000000" pitchFamily="2" charset="-78"/>
              </a:rPr>
              <a:t>GPT:</a:t>
            </a:r>
            <a:r>
              <a:rPr lang="en-US" sz="1800" kern="100">
                <a:effectLst/>
                <a:latin typeface="Arial" panose="020B0604020202020204" pitchFamily="34" charset="0"/>
                <a:ea typeface="Aptos" panose="020B0004020202020204" pitchFamily="34" charset="0"/>
                <a:cs typeface="2  Nazanin" panose="00000400000000000000" pitchFamily="2" charset="-78"/>
              </a:rPr>
              <a:t> Social Media Assistant</a:t>
            </a:r>
            <a:br>
              <a:rPr lang="en-US" sz="1800" kern="100">
                <a:effectLst/>
                <a:latin typeface="Arial" panose="020B0604020202020204" pitchFamily="34" charset="0"/>
                <a:ea typeface="Aptos" panose="020B0004020202020204" pitchFamily="34" charset="0"/>
                <a:cs typeface="2  Nazanin" panose="00000400000000000000" pitchFamily="2" charset="-78"/>
              </a:rPr>
            </a:br>
            <a:r>
              <a:rPr lang="ar-SA" sz="1800" b="1" kern="100">
                <a:effectLst/>
                <a:latin typeface="Arial" panose="020B0604020202020204" pitchFamily="34" charset="0"/>
                <a:ea typeface="Aptos" panose="020B0004020202020204" pitchFamily="34" charset="0"/>
                <a:cs typeface="2  Nazanin" panose="00000400000000000000" pitchFamily="2" charset="-78"/>
              </a:rPr>
              <a:t>هدف</a:t>
            </a:r>
            <a:r>
              <a:rPr lang="fa-IR" sz="1800" b="1" kern="100">
                <a:effectLst/>
                <a:latin typeface="Arial" panose="020B0604020202020204" pitchFamily="34" charset="0"/>
                <a:ea typeface="Aptos" panose="020B0004020202020204" pitchFamily="34" charset="0"/>
                <a:cs typeface="2  Nazanin" panose="00000400000000000000" pitchFamily="2" charset="-78"/>
              </a:rPr>
              <a:t>:</a:t>
            </a:r>
            <a:r>
              <a:rPr lang="fa-IR" sz="1800" kern="100">
                <a:effectLst/>
                <a:latin typeface="Arial" panose="020B0604020202020204" pitchFamily="34" charset="0"/>
                <a:ea typeface="Aptos" panose="020B0004020202020204" pitchFamily="34" charset="0"/>
                <a:cs typeface="2  Nazanin" panose="00000400000000000000" pitchFamily="2" charset="-78"/>
              </a:rPr>
              <a:t> </a:t>
            </a:r>
            <a:r>
              <a:rPr lang="ar-SA" sz="1800" kern="100">
                <a:effectLst/>
                <a:latin typeface="Arial" panose="020B0604020202020204" pitchFamily="34" charset="0"/>
                <a:ea typeface="Aptos" panose="020B0004020202020204" pitchFamily="34" charset="0"/>
                <a:cs typeface="2  Nazanin" panose="00000400000000000000" pitchFamily="2" charset="-78"/>
              </a:rPr>
              <a:t>تولید محتوای شبکه‌های اجتماعی</a:t>
            </a:r>
            <a:br>
              <a:rPr lang="en-US" sz="1800" kern="100">
                <a:effectLst/>
                <a:latin typeface="Arial" panose="020B0604020202020204" pitchFamily="34" charset="0"/>
                <a:ea typeface="Aptos" panose="020B0004020202020204" pitchFamily="34" charset="0"/>
                <a:cs typeface="2  Nazanin" panose="00000400000000000000" pitchFamily="2" charset="-78"/>
              </a:rPr>
            </a:br>
            <a:r>
              <a:rPr lang="ar-SA" sz="1800" b="1" kern="100">
                <a:effectLst/>
                <a:latin typeface="Arial" panose="020B0604020202020204" pitchFamily="34" charset="0"/>
                <a:ea typeface="Aptos" panose="020B0004020202020204" pitchFamily="34" charset="0"/>
                <a:cs typeface="2  Nazanin" panose="00000400000000000000" pitchFamily="2" charset="-78"/>
              </a:rPr>
              <a:t>مراحل اجرا</a:t>
            </a:r>
            <a:r>
              <a:rPr lang="fa-IR" sz="1800" b="1" kern="100">
                <a:effectLst/>
                <a:latin typeface="Arial" panose="020B0604020202020204" pitchFamily="34" charset="0"/>
                <a:ea typeface="Aptos" panose="020B0004020202020204" pitchFamily="34" charset="0"/>
                <a:cs typeface="2  Nazanin" panose="00000400000000000000" pitchFamily="2" charset="-78"/>
              </a:rPr>
              <a:t>:</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marL="342900" lvl="0" indent="-342900" algn="r" rtl="1">
              <a:lnSpc>
                <a:spcPct val="115000"/>
              </a:lnSpc>
              <a:spcAft>
                <a:spcPts val="800"/>
              </a:spcAft>
              <a:buSzPts val="1000"/>
              <a:buFont typeface="Symbol" panose="05050102010706020507" pitchFamily="18" charset="2"/>
              <a:buChar char=""/>
              <a:tabLst>
                <a:tab pos="457200" algn="l"/>
              </a:tabLst>
            </a:pPr>
            <a:r>
              <a:rPr lang="ar-SA" sz="1800" kern="100">
                <a:effectLst/>
                <a:latin typeface="Arial" panose="020B0604020202020204" pitchFamily="34" charset="0"/>
                <a:ea typeface="Aptos" panose="020B0004020202020204" pitchFamily="34" charset="0"/>
                <a:cs typeface="2  Nazanin" panose="00000400000000000000" pitchFamily="2" charset="-78"/>
              </a:rPr>
              <a:t>موضوعی بده (مثلاً معرفی کلاس جدید یا نقل‌قول انگیزشی)</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marL="342900" lvl="0" indent="-342900" algn="r" rtl="1">
              <a:lnSpc>
                <a:spcPct val="115000"/>
              </a:lnSpc>
              <a:spcAft>
                <a:spcPts val="800"/>
              </a:spcAft>
              <a:buSzPts val="1000"/>
              <a:buFont typeface="Symbol" panose="05050102010706020507" pitchFamily="18" charset="2"/>
              <a:buChar char=""/>
              <a:tabLst>
                <a:tab pos="457200" algn="l"/>
              </a:tabLst>
            </a:pPr>
            <a:r>
              <a:rPr lang="ar-SA" sz="1800" kern="100">
                <a:effectLst/>
                <a:latin typeface="Arial" panose="020B0604020202020204" pitchFamily="34" charset="0"/>
                <a:ea typeface="Aptos" panose="020B0004020202020204" pitchFamily="34" charset="0"/>
                <a:cs typeface="2  Nazanin" panose="00000400000000000000" pitchFamily="2" charset="-78"/>
              </a:rPr>
              <a:t>از </a:t>
            </a:r>
            <a:r>
              <a:rPr lang="en-US" sz="1800" kern="100">
                <a:effectLst/>
                <a:latin typeface="Arial" panose="020B0604020202020204" pitchFamily="34" charset="0"/>
                <a:ea typeface="Aptos" panose="020B0004020202020204" pitchFamily="34" charset="0"/>
                <a:cs typeface="2  Nazanin" panose="00000400000000000000" pitchFamily="2" charset="-78"/>
              </a:rPr>
              <a:t>GPT</a:t>
            </a:r>
            <a:r>
              <a:rPr lang="en-US" sz="1800" kern="100">
                <a:effectLst/>
                <a:latin typeface="2  Nazanin" panose="00000400000000000000" pitchFamily="2" charset="-78"/>
                <a:ea typeface="Aptos" panose="020B0004020202020204" pitchFamily="34" charset="0"/>
                <a:cs typeface="2  Nazanin" panose="00000400000000000000" pitchFamily="2" charset="-78"/>
              </a:rPr>
              <a:t> </a:t>
            </a:r>
            <a:r>
              <a:rPr lang="ar-SA" sz="1800" kern="100">
                <a:effectLst/>
                <a:latin typeface="Arial" panose="020B0604020202020204" pitchFamily="34" charset="0"/>
                <a:ea typeface="Aptos" panose="020B0004020202020204" pitchFamily="34" charset="0"/>
                <a:cs typeface="2  Nazanin" panose="00000400000000000000" pitchFamily="2" charset="-78"/>
              </a:rPr>
              <a:t>بخواه پست، هشتگ و ایموجی مناسب تولید کند</a:t>
            </a:r>
            <a:br>
              <a:rPr lang="en-US" sz="1800" kern="100">
                <a:effectLst/>
                <a:latin typeface="Arial" panose="020B0604020202020204" pitchFamily="34" charset="0"/>
                <a:ea typeface="Aptos" panose="020B0004020202020204" pitchFamily="34" charset="0"/>
                <a:cs typeface="2  Nazanin" panose="00000400000000000000" pitchFamily="2" charset="-78"/>
              </a:rPr>
            </a:br>
            <a:r>
              <a:rPr lang="ar-SA" sz="1800" b="1" kern="100">
                <a:effectLst/>
                <a:latin typeface="Arial" panose="020B0604020202020204" pitchFamily="34" charset="0"/>
                <a:ea typeface="Aptos" panose="020B0004020202020204" pitchFamily="34" charset="0"/>
                <a:cs typeface="2  Nazanin" panose="00000400000000000000" pitchFamily="2" charset="-78"/>
              </a:rPr>
              <a:t>خروجی</a:t>
            </a:r>
            <a:r>
              <a:rPr lang="fa-IR" sz="1800" b="1" kern="100">
                <a:effectLst/>
                <a:latin typeface="Arial" panose="020B0604020202020204" pitchFamily="34" charset="0"/>
                <a:ea typeface="Aptos" panose="020B0004020202020204" pitchFamily="34" charset="0"/>
                <a:cs typeface="2  Nazanin" panose="00000400000000000000" pitchFamily="2" charset="-78"/>
              </a:rPr>
              <a:t>:</a:t>
            </a:r>
            <a:r>
              <a:rPr lang="fa-IR" sz="1800" kern="100">
                <a:effectLst/>
                <a:latin typeface="Arial" panose="020B0604020202020204" pitchFamily="34" charset="0"/>
                <a:ea typeface="Aptos" panose="020B0004020202020204" pitchFamily="34" charset="0"/>
                <a:cs typeface="2  Nazanin" panose="00000400000000000000" pitchFamily="2" charset="-78"/>
              </a:rPr>
              <a:t> </a:t>
            </a:r>
            <a:r>
              <a:rPr lang="ar-SA" sz="1800" kern="100">
                <a:effectLst/>
                <a:latin typeface="Arial" panose="020B0604020202020204" pitchFamily="34" charset="0"/>
                <a:ea typeface="Aptos" panose="020B0004020202020204" pitchFamily="34" charset="0"/>
                <a:cs typeface="2  Nazanin" panose="00000400000000000000" pitchFamily="2" charset="-78"/>
              </a:rPr>
              <a:t>یک پست آماده برای انتشار</a:t>
            </a:r>
            <a:endParaRPr lang="en-US" sz="2000" kern="100">
              <a:effectLst/>
              <a:latin typeface="Arial" panose="020B0604020202020204" pitchFamily="34" charset="0"/>
              <a:ea typeface="Aptos" panose="020B0004020202020204" pitchFamily="34" charset="0"/>
              <a:cs typeface="2  Nazanin" panose="00000400000000000000" pitchFamily="2" charset="-78"/>
            </a:endParaRPr>
          </a:p>
        </p:txBody>
      </p:sp>
      <p:sp>
        <p:nvSpPr>
          <p:cNvPr id="2" name="TextBox 1">
            <a:extLst>
              <a:ext uri="{FF2B5EF4-FFF2-40B4-BE49-F238E27FC236}">
                <a16:creationId xmlns:a16="http://schemas.microsoft.com/office/drawing/2014/main" id="{4C99ADD7-2428-3B73-D041-5958A561E40C}"/>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61</a:t>
            </a:r>
            <a:endParaRPr lang="fa-IR" sz="1200"/>
          </a:p>
        </p:txBody>
      </p:sp>
    </p:spTree>
    <p:extLst>
      <p:ext uri="{BB962C8B-B14F-4D97-AF65-F5344CB8AC3E}">
        <p14:creationId xmlns:p14="http://schemas.microsoft.com/office/powerpoint/2010/main" val="152487805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6C4D428-1A89-C6B0-84B2-F68F45C4A091}"/>
              </a:ext>
            </a:extLst>
          </p:cNvPr>
          <p:cNvSpPr txBox="1"/>
          <p:nvPr/>
        </p:nvSpPr>
        <p:spPr>
          <a:xfrm>
            <a:off x="315310" y="480500"/>
            <a:ext cx="8513379" cy="2629951"/>
          </a:xfrm>
          <a:prstGeom prst="rect">
            <a:avLst/>
          </a:prstGeom>
          <a:noFill/>
        </p:spPr>
        <p:txBody>
          <a:bodyPr wrap="square">
            <a:spAutoFit/>
          </a:bodyPr>
          <a:lstStyle/>
          <a:p>
            <a:pPr algn="r" rtl="1">
              <a:lnSpc>
                <a:spcPct val="115000"/>
              </a:lnSpc>
              <a:spcAft>
                <a:spcPts val="800"/>
              </a:spcAft>
              <a:buNone/>
            </a:pPr>
            <a:r>
              <a:rPr lang="fa-IR" sz="1800" b="1" kern="100">
                <a:effectLst/>
                <a:latin typeface="Arial" panose="020B0604020202020204" pitchFamily="34" charset="0"/>
                <a:ea typeface="Aptos" panose="020B0004020202020204" pitchFamily="34" charset="0"/>
                <a:cs typeface="Segoe UI Emoji" panose="020B0502040204020203" pitchFamily="34" charset="0"/>
              </a:rPr>
              <a:t>🧾</a:t>
            </a:r>
            <a:r>
              <a:rPr lang="fa-IR" sz="1800" b="1" kern="100">
                <a:effectLst/>
                <a:latin typeface="Arial" panose="020B0604020202020204" pitchFamily="34" charset="0"/>
                <a:ea typeface="Aptos" panose="020B0004020202020204" pitchFamily="34" charset="0"/>
                <a:cs typeface="Times New Roman" panose="02020603050405020304" pitchFamily="18" charset="0"/>
              </a:rPr>
              <a:t> </a:t>
            </a:r>
            <a:r>
              <a:rPr lang="ar-SA" sz="1800" b="1" kern="100">
                <a:effectLst/>
                <a:latin typeface="Arial" panose="020B0604020202020204" pitchFamily="34" charset="0"/>
                <a:ea typeface="Aptos" panose="020B0004020202020204" pitchFamily="34" charset="0"/>
                <a:cs typeface="2  Nazanin" panose="00000400000000000000" pitchFamily="2" charset="-78"/>
              </a:rPr>
              <a:t>پروژه </a:t>
            </a:r>
            <a:r>
              <a:rPr lang="fa-IR" sz="1800" b="1" kern="100">
                <a:effectLst/>
                <a:latin typeface="Arial" panose="020B0604020202020204" pitchFamily="34" charset="0"/>
                <a:ea typeface="Aptos" panose="020B0004020202020204" pitchFamily="34" charset="0"/>
                <a:cs typeface="2  Nazanin" panose="00000400000000000000" pitchFamily="2" charset="-78"/>
              </a:rPr>
              <a:t>۷: </a:t>
            </a:r>
            <a:r>
              <a:rPr lang="ar-SA" sz="1800" b="1" kern="100">
                <a:effectLst/>
                <a:latin typeface="Arial" panose="020B0604020202020204" pitchFamily="34" charset="0"/>
                <a:ea typeface="Aptos" panose="020B0004020202020204" pitchFamily="34" charset="0"/>
                <a:cs typeface="2  Nazanin" panose="00000400000000000000" pitchFamily="2" charset="-78"/>
              </a:rPr>
              <a:t>ساخت رزومه با </a:t>
            </a:r>
            <a:r>
              <a:rPr lang="en-US" sz="1800" b="1" kern="100">
                <a:effectLst/>
                <a:latin typeface="Arial" panose="020B0604020202020204" pitchFamily="34" charset="0"/>
                <a:ea typeface="Aptos" panose="020B0004020202020204" pitchFamily="34" charset="0"/>
                <a:cs typeface="2  Nazanin" panose="00000400000000000000" pitchFamily="2" charset="-78"/>
              </a:rPr>
              <a:t>GPT «Resume Builder</a:t>
            </a:r>
            <a:r>
              <a:rPr lang="fa-IR" sz="1800" b="1" kern="100">
                <a:effectLst/>
                <a:latin typeface="Arial" panose="020B0604020202020204" pitchFamily="34" charset="0"/>
                <a:ea typeface="Aptos" panose="020B0004020202020204" pitchFamily="34" charset="0"/>
                <a:cs typeface="2  Nazanin" panose="00000400000000000000" pitchFamily="2" charset="-78"/>
              </a:rPr>
              <a:t>»</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algn="r" rtl="1">
              <a:lnSpc>
                <a:spcPct val="115000"/>
              </a:lnSpc>
              <a:spcAft>
                <a:spcPts val="800"/>
              </a:spcAft>
              <a:buNone/>
            </a:pPr>
            <a:r>
              <a:rPr lang="en-US" sz="1800" b="1" kern="100">
                <a:effectLst/>
                <a:latin typeface="Arial" panose="020B0604020202020204" pitchFamily="34" charset="0"/>
                <a:ea typeface="Aptos" panose="020B0004020202020204" pitchFamily="34" charset="0"/>
                <a:cs typeface="2  Nazanin" panose="00000400000000000000" pitchFamily="2" charset="-78"/>
              </a:rPr>
              <a:t>GPT:</a:t>
            </a:r>
            <a:r>
              <a:rPr lang="en-US" sz="1800" kern="100">
                <a:effectLst/>
                <a:latin typeface="Arial" panose="020B0604020202020204" pitchFamily="34" charset="0"/>
                <a:ea typeface="Aptos" panose="020B0004020202020204" pitchFamily="34" charset="0"/>
                <a:cs typeface="2  Nazanin" panose="00000400000000000000" pitchFamily="2" charset="-78"/>
              </a:rPr>
              <a:t> Resume Builder</a:t>
            </a:r>
            <a:br>
              <a:rPr lang="en-US" sz="1800" kern="100">
                <a:effectLst/>
                <a:latin typeface="Arial" panose="020B0604020202020204" pitchFamily="34" charset="0"/>
                <a:ea typeface="Aptos" panose="020B0004020202020204" pitchFamily="34" charset="0"/>
                <a:cs typeface="2  Nazanin" panose="00000400000000000000" pitchFamily="2" charset="-78"/>
              </a:rPr>
            </a:br>
            <a:r>
              <a:rPr lang="ar-SA" sz="1800" b="1" kern="100">
                <a:effectLst/>
                <a:latin typeface="Arial" panose="020B0604020202020204" pitchFamily="34" charset="0"/>
                <a:ea typeface="Aptos" panose="020B0004020202020204" pitchFamily="34" charset="0"/>
                <a:cs typeface="2  Nazanin" panose="00000400000000000000" pitchFamily="2" charset="-78"/>
              </a:rPr>
              <a:t>هدف</a:t>
            </a:r>
            <a:r>
              <a:rPr lang="fa-IR" sz="1800" b="1" kern="100">
                <a:effectLst/>
                <a:latin typeface="Arial" panose="020B0604020202020204" pitchFamily="34" charset="0"/>
                <a:ea typeface="Aptos" panose="020B0004020202020204" pitchFamily="34" charset="0"/>
                <a:cs typeface="2  Nazanin" panose="00000400000000000000" pitchFamily="2" charset="-78"/>
              </a:rPr>
              <a:t>:</a:t>
            </a:r>
            <a:r>
              <a:rPr lang="fa-IR" sz="1800" kern="100">
                <a:effectLst/>
                <a:latin typeface="Arial" panose="020B0604020202020204" pitchFamily="34" charset="0"/>
                <a:ea typeface="Aptos" panose="020B0004020202020204" pitchFamily="34" charset="0"/>
                <a:cs typeface="2  Nazanin" panose="00000400000000000000" pitchFamily="2" charset="-78"/>
              </a:rPr>
              <a:t> </a:t>
            </a:r>
            <a:r>
              <a:rPr lang="ar-SA" sz="1800" kern="100">
                <a:effectLst/>
                <a:latin typeface="Arial" panose="020B0604020202020204" pitchFamily="34" charset="0"/>
                <a:ea typeface="Aptos" panose="020B0004020202020204" pitchFamily="34" charset="0"/>
                <a:cs typeface="2  Nazanin" panose="00000400000000000000" pitchFamily="2" charset="-78"/>
              </a:rPr>
              <a:t>ایجاد رزومه حرفه‌ای</a:t>
            </a:r>
            <a:br>
              <a:rPr lang="en-US" sz="1800" kern="100">
                <a:effectLst/>
                <a:latin typeface="Arial" panose="020B0604020202020204" pitchFamily="34" charset="0"/>
                <a:ea typeface="Aptos" panose="020B0004020202020204" pitchFamily="34" charset="0"/>
                <a:cs typeface="2  Nazanin" panose="00000400000000000000" pitchFamily="2" charset="-78"/>
              </a:rPr>
            </a:br>
            <a:r>
              <a:rPr lang="ar-SA" sz="1800" b="1" kern="100">
                <a:effectLst/>
                <a:latin typeface="Arial" panose="020B0604020202020204" pitchFamily="34" charset="0"/>
                <a:ea typeface="Aptos" panose="020B0004020202020204" pitchFamily="34" charset="0"/>
                <a:cs typeface="2  Nazanin" panose="00000400000000000000" pitchFamily="2" charset="-78"/>
              </a:rPr>
              <a:t>مراحل اجرا</a:t>
            </a:r>
            <a:r>
              <a:rPr lang="fa-IR" sz="1800" b="1" kern="100">
                <a:effectLst/>
                <a:latin typeface="Arial" panose="020B0604020202020204" pitchFamily="34" charset="0"/>
                <a:ea typeface="Aptos" panose="020B0004020202020204" pitchFamily="34" charset="0"/>
                <a:cs typeface="2  Nazanin" panose="00000400000000000000" pitchFamily="2" charset="-78"/>
              </a:rPr>
              <a:t>:</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marL="342900" lvl="0" indent="-342900" algn="r" rtl="1">
              <a:lnSpc>
                <a:spcPct val="115000"/>
              </a:lnSpc>
              <a:spcAft>
                <a:spcPts val="800"/>
              </a:spcAft>
              <a:buSzPts val="1000"/>
              <a:buFont typeface="Symbol" panose="05050102010706020507" pitchFamily="18" charset="2"/>
              <a:buChar char=""/>
              <a:tabLst>
                <a:tab pos="457200" algn="l"/>
              </a:tabLst>
            </a:pPr>
            <a:r>
              <a:rPr lang="ar-SA" sz="1800" kern="100">
                <a:effectLst/>
                <a:latin typeface="Arial" panose="020B0604020202020204" pitchFamily="34" charset="0"/>
                <a:ea typeface="Aptos" panose="020B0004020202020204" pitchFamily="34" charset="0"/>
                <a:cs typeface="2  Nazanin" panose="00000400000000000000" pitchFamily="2" charset="-78"/>
              </a:rPr>
              <a:t>اطلاعات فردی، تحصیلی و مهارت‌ها را وارد کن</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marL="342900" lvl="0" indent="-342900" algn="r" rtl="1">
              <a:lnSpc>
                <a:spcPct val="115000"/>
              </a:lnSpc>
              <a:spcAft>
                <a:spcPts val="800"/>
              </a:spcAft>
              <a:buSzPts val="1000"/>
              <a:buFont typeface="Symbol" panose="05050102010706020507" pitchFamily="18" charset="2"/>
              <a:buChar char=""/>
              <a:tabLst>
                <a:tab pos="457200" algn="l"/>
              </a:tabLst>
            </a:pPr>
            <a:r>
              <a:rPr lang="ar-SA" sz="1800" kern="100">
                <a:effectLst/>
                <a:latin typeface="Arial" panose="020B0604020202020204" pitchFamily="34" charset="0"/>
                <a:ea typeface="Aptos" panose="020B0004020202020204" pitchFamily="34" charset="0"/>
                <a:cs typeface="2  Nazanin" panose="00000400000000000000" pitchFamily="2" charset="-78"/>
              </a:rPr>
              <a:t>قالب‌بندی مناسب را انتخاب کن (مثلاً تکنولوژی یا مدیریت)</a:t>
            </a:r>
            <a:br>
              <a:rPr lang="en-US" sz="1800" kern="100">
                <a:effectLst/>
                <a:latin typeface="Arial" panose="020B0604020202020204" pitchFamily="34" charset="0"/>
                <a:ea typeface="Aptos" panose="020B0004020202020204" pitchFamily="34" charset="0"/>
                <a:cs typeface="2  Nazanin" panose="00000400000000000000" pitchFamily="2" charset="-78"/>
              </a:rPr>
            </a:br>
            <a:r>
              <a:rPr lang="ar-SA" sz="1800" b="1" kern="100">
                <a:effectLst/>
                <a:latin typeface="Arial" panose="020B0604020202020204" pitchFamily="34" charset="0"/>
                <a:ea typeface="Aptos" panose="020B0004020202020204" pitchFamily="34" charset="0"/>
                <a:cs typeface="2  Nazanin" panose="00000400000000000000" pitchFamily="2" charset="-78"/>
              </a:rPr>
              <a:t>خروجی</a:t>
            </a:r>
            <a:r>
              <a:rPr lang="fa-IR" sz="1800" b="1" kern="100">
                <a:effectLst/>
                <a:latin typeface="Arial" panose="020B0604020202020204" pitchFamily="34" charset="0"/>
                <a:ea typeface="Aptos" panose="020B0004020202020204" pitchFamily="34" charset="0"/>
                <a:cs typeface="2  Nazanin" panose="00000400000000000000" pitchFamily="2" charset="-78"/>
              </a:rPr>
              <a:t>:</a:t>
            </a:r>
            <a:r>
              <a:rPr lang="fa-IR" sz="1800" kern="100">
                <a:effectLst/>
                <a:latin typeface="Arial" panose="020B0604020202020204" pitchFamily="34" charset="0"/>
                <a:ea typeface="Aptos" panose="020B0004020202020204" pitchFamily="34" charset="0"/>
                <a:cs typeface="2  Nazanin" panose="00000400000000000000" pitchFamily="2" charset="-78"/>
              </a:rPr>
              <a:t> </a:t>
            </a:r>
            <a:r>
              <a:rPr lang="ar-SA" sz="1800" kern="100">
                <a:effectLst/>
                <a:latin typeface="Arial" panose="020B0604020202020204" pitchFamily="34" charset="0"/>
                <a:ea typeface="Aptos" panose="020B0004020202020204" pitchFamily="34" charset="0"/>
                <a:cs typeface="2  Nazanin" panose="00000400000000000000" pitchFamily="2" charset="-78"/>
              </a:rPr>
              <a:t>فایل رزومه برای دانلود یا ویرایش</a:t>
            </a:r>
            <a:endParaRPr lang="en-US" sz="2000" kern="100">
              <a:effectLst/>
              <a:latin typeface="Arial" panose="020B0604020202020204" pitchFamily="34" charset="0"/>
              <a:ea typeface="Aptos" panose="020B0004020202020204" pitchFamily="34" charset="0"/>
              <a:cs typeface="2  Nazanin" panose="00000400000000000000" pitchFamily="2" charset="-78"/>
            </a:endParaRPr>
          </a:p>
        </p:txBody>
      </p:sp>
      <p:sp>
        <p:nvSpPr>
          <p:cNvPr id="7" name="TextBox 6">
            <a:extLst>
              <a:ext uri="{FF2B5EF4-FFF2-40B4-BE49-F238E27FC236}">
                <a16:creationId xmlns:a16="http://schemas.microsoft.com/office/drawing/2014/main" id="{11647EA0-E835-3F6C-B27A-25B43EFC6EFA}"/>
              </a:ext>
            </a:extLst>
          </p:cNvPr>
          <p:cNvSpPr txBox="1"/>
          <p:nvPr/>
        </p:nvSpPr>
        <p:spPr>
          <a:xfrm>
            <a:off x="804041" y="3523423"/>
            <a:ext cx="8024648" cy="2629951"/>
          </a:xfrm>
          <a:prstGeom prst="rect">
            <a:avLst/>
          </a:prstGeom>
          <a:noFill/>
        </p:spPr>
        <p:txBody>
          <a:bodyPr wrap="square">
            <a:spAutoFit/>
          </a:bodyPr>
          <a:lstStyle/>
          <a:p>
            <a:pPr algn="r" rtl="1">
              <a:lnSpc>
                <a:spcPct val="115000"/>
              </a:lnSpc>
              <a:spcAft>
                <a:spcPts val="800"/>
              </a:spcAft>
              <a:buNone/>
            </a:pPr>
            <a:r>
              <a:rPr lang="fa-IR" sz="1800" b="1" kern="100">
                <a:effectLst/>
                <a:latin typeface="Arial" panose="020B0604020202020204" pitchFamily="34" charset="0"/>
                <a:ea typeface="Aptos" panose="020B0004020202020204" pitchFamily="34" charset="0"/>
                <a:cs typeface="Segoe UI Emoji" panose="020B0502040204020203" pitchFamily="34" charset="0"/>
              </a:rPr>
              <a:t>🐍</a:t>
            </a:r>
            <a:r>
              <a:rPr lang="fa-IR" sz="1800" b="1" kern="100">
                <a:effectLst/>
                <a:latin typeface="Arial" panose="020B0604020202020204" pitchFamily="34" charset="0"/>
                <a:ea typeface="Aptos" panose="020B0004020202020204" pitchFamily="34" charset="0"/>
                <a:cs typeface="Times New Roman" panose="02020603050405020304" pitchFamily="18" charset="0"/>
              </a:rPr>
              <a:t> </a:t>
            </a:r>
            <a:r>
              <a:rPr lang="ar-SA" sz="1800" b="1" kern="100">
                <a:effectLst/>
                <a:latin typeface="Arial" panose="020B0604020202020204" pitchFamily="34" charset="0"/>
                <a:ea typeface="Aptos" panose="020B0004020202020204" pitchFamily="34" charset="0"/>
                <a:cs typeface="2  Nazanin" panose="00000400000000000000" pitchFamily="2" charset="-78"/>
              </a:rPr>
              <a:t>پروژه </a:t>
            </a:r>
            <a:r>
              <a:rPr lang="fa-IR" sz="1800" b="1" kern="100">
                <a:effectLst/>
                <a:latin typeface="Arial" panose="020B0604020202020204" pitchFamily="34" charset="0"/>
                <a:ea typeface="Aptos" panose="020B0004020202020204" pitchFamily="34" charset="0"/>
                <a:cs typeface="2  Nazanin" panose="00000400000000000000" pitchFamily="2" charset="-78"/>
              </a:rPr>
              <a:t>۸: </a:t>
            </a:r>
            <a:r>
              <a:rPr lang="ar-SA" sz="1800" b="1" kern="100">
                <a:effectLst/>
                <a:latin typeface="Arial" panose="020B0604020202020204" pitchFamily="34" charset="0"/>
                <a:ea typeface="Aptos" panose="020B0004020202020204" pitchFamily="34" charset="0"/>
                <a:cs typeface="2  Nazanin" panose="00000400000000000000" pitchFamily="2" charset="-78"/>
              </a:rPr>
              <a:t>تمرین کدنویسی پایتون با </a:t>
            </a:r>
            <a:r>
              <a:rPr lang="en-US" sz="1800" b="1" kern="100">
                <a:effectLst/>
                <a:latin typeface="Arial" panose="020B0604020202020204" pitchFamily="34" charset="0"/>
                <a:ea typeface="Aptos" panose="020B0004020202020204" pitchFamily="34" charset="0"/>
                <a:cs typeface="2  Nazanin" panose="00000400000000000000" pitchFamily="2" charset="-78"/>
              </a:rPr>
              <a:t>GPT «Python Tutor</a:t>
            </a:r>
            <a:r>
              <a:rPr lang="fa-IR" sz="1800" b="1" kern="100">
                <a:effectLst/>
                <a:latin typeface="Arial" panose="020B0604020202020204" pitchFamily="34" charset="0"/>
                <a:ea typeface="Aptos" panose="020B0004020202020204" pitchFamily="34" charset="0"/>
                <a:cs typeface="2  Nazanin" panose="00000400000000000000" pitchFamily="2" charset="-78"/>
              </a:rPr>
              <a:t>»</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algn="r" rtl="1">
              <a:lnSpc>
                <a:spcPct val="115000"/>
              </a:lnSpc>
              <a:spcAft>
                <a:spcPts val="800"/>
              </a:spcAft>
              <a:buNone/>
            </a:pPr>
            <a:r>
              <a:rPr lang="en-US" sz="1800" b="1" kern="100">
                <a:effectLst/>
                <a:latin typeface="Arial" panose="020B0604020202020204" pitchFamily="34" charset="0"/>
                <a:ea typeface="Aptos" panose="020B0004020202020204" pitchFamily="34" charset="0"/>
                <a:cs typeface="2  Nazanin" panose="00000400000000000000" pitchFamily="2" charset="-78"/>
              </a:rPr>
              <a:t>GPT:</a:t>
            </a:r>
            <a:r>
              <a:rPr lang="en-US" sz="1800" kern="100">
                <a:effectLst/>
                <a:latin typeface="Arial" panose="020B0604020202020204" pitchFamily="34" charset="0"/>
                <a:ea typeface="Aptos" panose="020B0004020202020204" pitchFamily="34" charset="0"/>
                <a:cs typeface="2  Nazanin" panose="00000400000000000000" pitchFamily="2" charset="-78"/>
              </a:rPr>
              <a:t> Python Tutor</a:t>
            </a:r>
            <a:br>
              <a:rPr lang="en-US" sz="1800" kern="100">
                <a:effectLst/>
                <a:latin typeface="Arial" panose="020B0604020202020204" pitchFamily="34" charset="0"/>
                <a:ea typeface="Aptos" panose="020B0004020202020204" pitchFamily="34" charset="0"/>
                <a:cs typeface="2  Nazanin" panose="00000400000000000000" pitchFamily="2" charset="-78"/>
              </a:rPr>
            </a:br>
            <a:r>
              <a:rPr lang="ar-SA" sz="1800" b="1" kern="100">
                <a:effectLst/>
                <a:latin typeface="Arial" panose="020B0604020202020204" pitchFamily="34" charset="0"/>
                <a:ea typeface="Aptos" panose="020B0004020202020204" pitchFamily="34" charset="0"/>
                <a:cs typeface="2  Nazanin" panose="00000400000000000000" pitchFamily="2" charset="-78"/>
              </a:rPr>
              <a:t>هدف</a:t>
            </a:r>
            <a:r>
              <a:rPr lang="fa-IR" sz="1800" b="1" kern="100">
                <a:effectLst/>
                <a:latin typeface="Arial" panose="020B0604020202020204" pitchFamily="34" charset="0"/>
                <a:ea typeface="Aptos" panose="020B0004020202020204" pitchFamily="34" charset="0"/>
                <a:cs typeface="2  Nazanin" panose="00000400000000000000" pitchFamily="2" charset="-78"/>
              </a:rPr>
              <a:t>:</a:t>
            </a:r>
            <a:r>
              <a:rPr lang="fa-IR" sz="1800" kern="100">
                <a:effectLst/>
                <a:latin typeface="Arial" panose="020B0604020202020204" pitchFamily="34" charset="0"/>
                <a:ea typeface="Aptos" panose="020B0004020202020204" pitchFamily="34" charset="0"/>
                <a:cs typeface="2  Nazanin" panose="00000400000000000000" pitchFamily="2" charset="-78"/>
              </a:rPr>
              <a:t> </a:t>
            </a:r>
            <a:r>
              <a:rPr lang="ar-SA" sz="1800" kern="100">
                <a:effectLst/>
                <a:latin typeface="Arial" panose="020B0604020202020204" pitchFamily="34" charset="0"/>
                <a:ea typeface="Aptos" panose="020B0004020202020204" pitchFamily="34" charset="0"/>
                <a:cs typeface="2  Nazanin" panose="00000400000000000000" pitchFamily="2" charset="-78"/>
              </a:rPr>
              <a:t>یادگیری مفاهیم اولیه تا پیشرفته پایتون</a:t>
            </a:r>
            <a:br>
              <a:rPr lang="en-US" sz="1800" kern="100">
                <a:effectLst/>
                <a:latin typeface="Arial" panose="020B0604020202020204" pitchFamily="34" charset="0"/>
                <a:ea typeface="Aptos" panose="020B0004020202020204" pitchFamily="34" charset="0"/>
                <a:cs typeface="2  Nazanin" panose="00000400000000000000" pitchFamily="2" charset="-78"/>
              </a:rPr>
            </a:br>
            <a:r>
              <a:rPr lang="ar-SA" sz="1800" b="1" kern="100">
                <a:effectLst/>
                <a:latin typeface="Arial" panose="020B0604020202020204" pitchFamily="34" charset="0"/>
                <a:ea typeface="Aptos" panose="020B0004020202020204" pitchFamily="34" charset="0"/>
                <a:cs typeface="2  Nazanin" panose="00000400000000000000" pitchFamily="2" charset="-78"/>
              </a:rPr>
              <a:t>مراحل اجرا</a:t>
            </a:r>
            <a:r>
              <a:rPr lang="fa-IR" sz="1800" b="1" kern="100">
                <a:effectLst/>
                <a:latin typeface="Arial" panose="020B0604020202020204" pitchFamily="34" charset="0"/>
                <a:ea typeface="Aptos" panose="020B0004020202020204" pitchFamily="34" charset="0"/>
                <a:cs typeface="2  Nazanin" panose="00000400000000000000" pitchFamily="2" charset="-78"/>
              </a:rPr>
              <a:t>:</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marL="342900" lvl="0" indent="-342900" algn="r" rtl="1">
              <a:lnSpc>
                <a:spcPct val="115000"/>
              </a:lnSpc>
              <a:spcAft>
                <a:spcPts val="800"/>
              </a:spcAft>
              <a:buSzPts val="1000"/>
              <a:buFont typeface="Symbol" panose="05050102010706020507" pitchFamily="18" charset="2"/>
              <a:buChar char=""/>
              <a:tabLst>
                <a:tab pos="457200" algn="l"/>
              </a:tabLst>
            </a:pPr>
            <a:r>
              <a:rPr lang="ar-SA" sz="1800" kern="100">
                <a:effectLst/>
                <a:latin typeface="Arial" panose="020B0604020202020204" pitchFamily="34" charset="0"/>
                <a:ea typeface="Aptos" panose="020B0004020202020204" pitchFamily="34" charset="0"/>
                <a:cs typeface="2  Nazanin" panose="00000400000000000000" pitchFamily="2" charset="-78"/>
              </a:rPr>
              <a:t>از </a:t>
            </a:r>
            <a:r>
              <a:rPr lang="en-US" sz="1800" kern="100">
                <a:effectLst/>
                <a:latin typeface="Arial" panose="020B0604020202020204" pitchFamily="34" charset="0"/>
                <a:ea typeface="Aptos" panose="020B0004020202020204" pitchFamily="34" charset="0"/>
                <a:cs typeface="2  Nazanin" panose="00000400000000000000" pitchFamily="2" charset="-78"/>
              </a:rPr>
              <a:t>GPT</a:t>
            </a:r>
            <a:r>
              <a:rPr lang="en-US" sz="1800" kern="100">
                <a:effectLst/>
                <a:latin typeface="2  Nazanin" panose="00000400000000000000" pitchFamily="2" charset="-78"/>
                <a:ea typeface="Aptos" panose="020B0004020202020204" pitchFamily="34" charset="0"/>
                <a:cs typeface="2  Nazanin" panose="00000400000000000000" pitchFamily="2" charset="-78"/>
              </a:rPr>
              <a:t> </a:t>
            </a:r>
            <a:r>
              <a:rPr lang="ar-SA" sz="1800" kern="100">
                <a:effectLst/>
                <a:latin typeface="Arial" panose="020B0604020202020204" pitchFamily="34" charset="0"/>
                <a:ea typeface="Aptos" panose="020B0004020202020204" pitchFamily="34" charset="0"/>
                <a:cs typeface="2  Nazanin" panose="00000400000000000000" pitchFamily="2" charset="-78"/>
              </a:rPr>
              <a:t>بخواه یک مسئله ساده مثل فاکتوریل حل کند</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marL="342900" lvl="0" indent="-342900" algn="r" rtl="1">
              <a:lnSpc>
                <a:spcPct val="115000"/>
              </a:lnSpc>
              <a:spcAft>
                <a:spcPts val="800"/>
              </a:spcAft>
              <a:buSzPts val="1000"/>
              <a:buFont typeface="Symbol" panose="05050102010706020507" pitchFamily="18" charset="2"/>
              <a:buChar char=""/>
              <a:tabLst>
                <a:tab pos="457200" algn="l"/>
              </a:tabLst>
            </a:pPr>
            <a:r>
              <a:rPr lang="ar-SA" sz="1800" kern="100">
                <a:effectLst/>
                <a:latin typeface="Arial" panose="020B0604020202020204" pitchFamily="34" charset="0"/>
                <a:ea typeface="Aptos" panose="020B0004020202020204" pitchFamily="34" charset="0"/>
                <a:cs typeface="2  Nazanin" panose="00000400000000000000" pitchFamily="2" charset="-78"/>
              </a:rPr>
              <a:t>سپس از آن بخواه کد را خط‌به‌خط توضیح دهد</a:t>
            </a:r>
            <a:br>
              <a:rPr lang="en-US" sz="1800" kern="100">
                <a:effectLst/>
                <a:latin typeface="Arial" panose="020B0604020202020204" pitchFamily="34" charset="0"/>
                <a:ea typeface="Aptos" panose="020B0004020202020204" pitchFamily="34" charset="0"/>
                <a:cs typeface="2  Nazanin" panose="00000400000000000000" pitchFamily="2" charset="-78"/>
              </a:rPr>
            </a:br>
            <a:r>
              <a:rPr lang="ar-SA" sz="1800" b="1" kern="100">
                <a:effectLst/>
                <a:latin typeface="Arial" panose="020B0604020202020204" pitchFamily="34" charset="0"/>
                <a:ea typeface="Aptos" panose="020B0004020202020204" pitchFamily="34" charset="0"/>
                <a:cs typeface="2  Nazanin" panose="00000400000000000000" pitchFamily="2" charset="-78"/>
              </a:rPr>
              <a:t>خروجی</a:t>
            </a:r>
            <a:r>
              <a:rPr lang="fa-IR" sz="1800" b="1" kern="100">
                <a:effectLst/>
                <a:latin typeface="Arial" panose="020B0604020202020204" pitchFamily="34" charset="0"/>
                <a:ea typeface="Aptos" panose="020B0004020202020204" pitchFamily="34" charset="0"/>
                <a:cs typeface="2  Nazanin" panose="00000400000000000000" pitchFamily="2" charset="-78"/>
              </a:rPr>
              <a:t>:</a:t>
            </a:r>
            <a:r>
              <a:rPr lang="fa-IR" sz="1800" kern="100">
                <a:effectLst/>
                <a:latin typeface="Arial" panose="020B0604020202020204" pitchFamily="34" charset="0"/>
                <a:ea typeface="Aptos" panose="020B0004020202020204" pitchFamily="34" charset="0"/>
                <a:cs typeface="2  Nazanin" panose="00000400000000000000" pitchFamily="2" charset="-78"/>
              </a:rPr>
              <a:t> </a:t>
            </a:r>
            <a:r>
              <a:rPr lang="ar-SA" sz="1800" kern="100">
                <a:effectLst/>
                <a:latin typeface="Arial" panose="020B0604020202020204" pitchFamily="34" charset="0"/>
                <a:ea typeface="Aptos" panose="020B0004020202020204" pitchFamily="34" charset="0"/>
                <a:cs typeface="2  Nazanin" panose="00000400000000000000" pitchFamily="2" charset="-78"/>
              </a:rPr>
              <a:t>درک دقیق مفاهیم پایه برنامه‌نویسی</a:t>
            </a:r>
            <a:endParaRPr lang="en-US" sz="2000" kern="100">
              <a:effectLst/>
              <a:latin typeface="Arial" panose="020B0604020202020204" pitchFamily="34" charset="0"/>
              <a:ea typeface="Aptos" panose="020B0004020202020204" pitchFamily="34" charset="0"/>
              <a:cs typeface="2  Nazanin" panose="00000400000000000000" pitchFamily="2" charset="-78"/>
            </a:endParaRPr>
          </a:p>
        </p:txBody>
      </p:sp>
      <p:sp>
        <p:nvSpPr>
          <p:cNvPr id="2" name="TextBox 1">
            <a:extLst>
              <a:ext uri="{FF2B5EF4-FFF2-40B4-BE49-F238E27FC236}">
                <a16:creationId xmlns:a16="http://schemas.microsoft.com/office/drawing/2014/main" id="{C84C7FE8-4A73-685C-4E2A-F6C16E4396DE}"/>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62</a:t>
            </a:r>
            <a:endParaRPr lang="fa-IR" sz="1200"/>
          </a:p>
        </p:txBody>
      </p:sp>
    </p:spTree>
    <p:extLst>
      <p:ext uri="{BB962C8B-B14F-4D97-AF65-F5344CB8AC3E}">
        <p14:creationId xmlns:p14="http://schemas.microsoft.com/office/powerpoint/2010/main" val="33964871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91F03-0CBD-CCF2-246E-00B572146A5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9835BAF-3E3D-0BCE-728D-E03CEE7928BD}"/>
              </a:ext>
            </a:extLst>
          </p:cNvPr>
          <p:cNvSpPr txBox="1"/>
          <p:nvPr/>
        </p:nvSpPr>
        <p:spPr>
          <a:xfrm>
            <a:off x="292831" y="331350"/>
            <a:ext cx="8592206" cy="3098284"/>
          </a:xfrm>
          <a:prstGeom prst="rect">
            <a:avLst/>
          </a:prstGeom>
          <a:noFill/>
        </p:spPr>
        <p:txBody>
          <a:bodyPr wrap="square">
            <a:spAutoFit/>
          </a:bodyPr>
          <a:lstStyle/>
          <a:p>
            <a:pPr algn="r" rtl="1">
              <a:spcAft>
                <a:spcPts val="800"/>
              </a:spcAft>
              <a:buNone/>
            </a:pPr>
            <a:r>
              <a:rPr lang="fa-IR" sz="1800" b="1" kern="100">
                <a:effectLst/>
                <a:latin typeface="Arial" panose="020B0604020202020204" pitchFamily="34" charset="0"/>
                <a:ea typeface="Aptos" panose="020B0004020202020204" pitchFamily="34" charset="0"/>
                <a:cs typeface="Segoe UI Emoji" panose="020B0502040204020203" pitchFamily="34" charset="0"/>
              </a:rPr>
              <a:t>📖</a:t>
            </a:r>
            <a:r>
              <a:rPr lang="fa-IR" sz="1800" b="1" kern="100">
                <a:effectLst/>
                <a:latin typeface="Arial" panose="020B0604020202020204" pitchFamily="34" charset="0"/>
                <a:ea typeface="Aptos" panose="020B0004020202020204" pitchFamily="34" charset="0"/>
                <a:cs typeface="Times New Roman" panose="02020603050405020304" pitchFamily="18" charset="0"/>
              </a:rPr>
              <a:t> </a:t>
            </a:r>
            <a:r>
              <a:rPr lang="ar-SA" sz="1800" b="1" kern="100">
                <a:effectLst/>
                <a:latin typeface="Arial" panose="020B0604020202020204" pitchFamily="34" charset="0"/>
                <a:ea typeface="Aptos" panose="020B0004020202020204" pitchFamily="34" charset="0"/>
                <a:cs typeface="2  Nazanin" panose="00000400000000000000" pitchFamily="2" charset="-78"/>
              </a:rPr>
              <a:t>پروژه </a:t>
            </a:r>
            <a:r>
              <a:rPr lang="fa-IR" sz="1800" b="1" kern="100">
                <a:effectLst/>
                <a:latin typeface="Arial" panose="020B0604020202020204" pitchFamily="34" charset="0"/>
                <a:ea typeface="Aptos" panose="020B0004020202020204" pitchFamily="34" charset="0"/>
                <a:cs typeface="2  Nazanin" panose="00000400000000000000" pitchFamily="2" charset="-78"/>
              </a:rPr>
              <a:t>۹: </a:t>
            </a:r>
            <a:r>
              <a:rPr lang="ar-SA" sz="1800" b="1" kern="100">
                <a:effectLst/>
                <a:latin typeface="Arial" panose="020B0604020202020204" pitchFamily="34" charset="0"/>
                <a:ea typeface="Aptos" panose="020B0004020202020204" pitchFamily="34" charset="0"/>
                <a:cs typeface="2  Nazanin" panose="00000400000000000000" pitchFamily="2" charset="-78"/>
              </a:rPr>
              <a:t>تحلیل کتاب با </a:t>
            </a:r>
            <a:r>
              <a:rPr lang="en-US" sz="1800" b="1" kern="100">
                <a:effectLst/>
                <a:latin typeface="Arial" panose="020B0604020202020204" pitchFamily="34" charset="0"/>
                <a:ea typeface="Aptos" panose="020B0004020202020204" pitchFamily="34" charset="0"/>
                <a:cs typeface="2  Nazanin" panose="00000400000000000000" pitchFamily="2" charset="-78"/>
              </a:rPr>
              <a:t>GPT «Literary Analyst</a:t>
            </a:r>
            <a:r>
              <a:rPr lang="fa-IR" sz="1800" b="1" kern="100">
                <a:effectLst/>
                <a:latin typeface="Arial" panose="020B0604020202020204" pitchFamily="34" charset="0"/>
                <a:ea typeface="Aptos" panose="020B0004020202020204" pitchFamily="34" charset="0"/>
                <a:cs typeface="2  Nazanin" panose="00000400000000000000" pitchFamily="2" charset="-78"/>
              </a:rPr>
              <a:t>»</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algn="r" rtl="1">
              <a:spcAft>
                <a:spcPts val="800"/>
              </a:spcAft>
              <a:buNone/>
            </a:pPr>
            <a:r>
              <a:rPr lang="en-US" sz="1800" b="1" kern="100">
                <a:effectLst/>
                <a:latin typeface="Arial" panose="020B0604020202020204" pitchFamily="34" charset="0"/>
                <a:ea typeface="Aptos" panose="020B0004020202020204" pitchFamily="34" charset="0"/>
                <a:cs typeface="2  Nazanin" panose="00000400000000000000" pitchFamily="2" charset="-78"/>
              </a:rPr>
              <a:t>GPT:</a:t>
            </a:r>
            <a:r>
              <a:rPr lang="en-US" sz="1800" kern="100">
                <a:effectLst/>
                <a:latin typeface="Arial" panose="020B0604020202020204" pitchFamily="34" charset="0"/>
                <a:ea typeface="Aptos" panose="020B0004020202020204" pitchFamily="34" charset="0"/>
                <a:cs typeface="2  Nazanin" panose="00000400000000000000" pitchFamily="2" charset="-78"/>
              </a:rPr>
              <a:t> Literary Analyst</a:t>
            </a:r>
            <a:br>
              <a:rPr lang="en-US" sz="1800" kern="100">
                <a:effectLst/>
                <a:latin typeface="Arial" panose="020B0604020202020204" pitchFamily="34" charset="0"/>
                <a:ea typeface="Aptos" panose="020B0004020202020204" pitchFamily="34" charset="0"/>
                <a:cs typeface="2  Nazanin" panose="00000400000000000000" pitchFamily="2" charset="-78"/>
              </a:rPr>
            </a:br>
            <a:r>
              <a:rPr lang="ar-SA" sz="1800" b="1" kern="100">
                <a:effectLst/>
                <a:latin typeface="Arial" panose="020B0604020202020204" pitchFamily="34" charset="0"/>
                <a:ea typeface="Aptos" panose="020B0004020202020204" pitchFamily="34" charset="0"/>
                <a:cs typeface="2  Nazanin" panose="00000400000000000000" pitchFamily="2" charset="-78"/>
              </a:rPr>
              <a:t>هدف</a:t>
            </a:r>
            <a:r>
              <a:rPr lang="fa-IR" sz="1800" b="1" kern="100">
                <a:effectLst/>
                <a:latin typeface="Arial" panose="020B0604020202020204" pitchFamily="34" charset="0"/>
                <a:ea typeface="Aptos" panose="020B0004020202020204" pitchFamily="34" charset="0"/>
                <a:cs typeface="2  Nazanin" panose="00000400000000000000" pitchFamily="2" charset="-78"/>
              </a:rPr>
              <a:t>:</a:t>
            </a:r>
            <a:r>
              <a:rPr lang="fa-IR" sz="1800" kern="100">
                <a:effectLst/>
                <a:latin typeface="Arial" panose="020B0604020202020204" pitchFamily="34" charset="0"/>
                <a:ea typeface="Aptos" panose="020B0004020202020204" pitchFamily="34" charset="0"/>
                <a:cs typeface="2  Nazanin" panose="00000400000000000000" pitchFamily="2" charset="-78"/>
              </a:rPr>
              <a:t> </a:t>
            </a:r>
            <a:r>
              <a:rPr lang="ar-SA" sz="1800" kern="100">
                <a:effectLst/>
                <a:latin typeface="Arial" panose="020B0604020202020204" pitchFamily="34" charset="0"/>
                <a:ea typeface="Aptos" panose="020B0004020202020204" pitchFamily="34" charset="0"/>
                <a:cs typeface="2  Nazanin" panose="00000400000000000000" pitchFamily="2" charset="-78"/>
              </a:rPr>
              <a:t>تحلیل ادبی یک کتاب مثل «1984» یا «فرانکنشتاین</a:t>
            </a:r>
            <a:r>
              <a:rPr lang="fa-IR" sz="1800" kern="100">
                <a:effectLst/>
                <a:latin typeface="Arial" panose="020B0604020202020204" pitchFamily="34" charset="0"/>
                <a:ea typeface="Aptos" panose="020B0004020202020204" pitchFamily="34" charset="0"/>
                <a:cs typeface="2  Nazanin" panose="00000400000000000000" pitchFamily="2" charset="-78"/>
              </a:rPr>
              <a:t>»</a:t>
            </a:r>
            <a:br>
              <a:rPr lang="en-US" sz="1800" kern="100">
                <a:effectLst/>
                <a:latin typeface="Arial" panose="020B0604020202020204" pitchFamily="34" charset="0"/>
                <a:ea typeface="Aptos" panose="020B0004020202020204" pitchFamily="34" charset="0"/>
                <a:cs typeface="2  Nazanin" panose="00000400000000000000" pitchFamily="2" charset="-78"/>
              </a:rPr>
            </a:br>
            <a:r>
              <a:rPr lang="ar-SA" sz="1800" b="1" kern="100">
                <a:effectLst/>
                <a:latin typeface="Arial" panose="020B0604020202020204" pitchFamily="34" charset="0"/>
                <a:ea typeface="Aptos" panose="020B0004020202020204" pitchFamily="34" charset="0"/>
                <a:cs typeface="2  Nazanin" panose="00000400000000000000" pitchFamily="2" charset="-78"/>
              </a:rPr>
              <a:t>مراحل اجرا</a:t>
            </a:r>
            <a:r>
              <a:rPr lang="fa-IR" sz="1800" b="1" kern="100">
                <a:effectLst/>
                <a:latin typeface="Arial" panose="020B0604020202020204" pitchFamily="34" charset="0"/>
                <a:ea typeface="Aptos" panose="020B0004020202020204" pitchFamily="34" charset="0"/>
                <a:cs typeface="2  Nazanin" panose="00000400000000000000" pitchFamily="2" charset="-78"/>
              </a:rPr>
              <a:t>:</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marL="342900" lvl="0" indent="-342900" algn="r" rtl="1">
              <a:spcAft>
                <a:spcPts val="800"/>
              </a:spcAft>
              <a:buSzPts val="1000"/>
              <a:buFont typeface="Symbol" panose="05050102010706020507" pitchFamily="18" charset="2"/>
              <a:buChar char=""/>
              <a:tabLst>
                <a:tab pos="457200" algn="l"/>
              </a:tabLst>
            </a:pPr>
            <a:r>
              <a:rPr lang="ar-SA" sz="1800" kern="100">
                <a:effectLst/>
                <a:latin typeface="Arial" panose="020B0604020202020204" pitchFamily="34" charset="0"/>
                <a:ea typeface="Aptos" panose="020B0004020202020204" pitchFamily="34" charset="0"/>
                <a:cs typeface="2  Nazanin" panose="00000400000000000000" pitchFamily="2" charset="-78"/>
              </a:rPr>
              <a:t>نام کتاب و فصل را بده</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marL="342900" lvl="0" indent="-342900" algn="r" rtl="1">
              <a:spcAft>
                <a:spcPts val="800"/>
              </a:spcAft>
              <a:buSzPts val="1000"/>
              <a:buFont typeface="Symbol" panose="05050102010706020507" pitchFamily="18" charset="2"/>
              <a:buChar char=""/>
              <a:tabLst>
                <a:tab pos="457200" algn="l"/>
              </a:tabLst>
            </a:pPr>
            <a:r>
              <a:rPr lang="ar-SA" sz="1800" kern="100">
                <a:effectLst/>
                <a:latin typeface="Arial" panose="020B0604020202020204" pitchFamily="34" charset="0"/>
                <a:ea typeface="Aptos" panose="020B0004020202020204" pitchFamily="34" charset="0"/>
                <a:cs typeface="2  Nazanin" panose="00000400000000000000" pitchFamily="2" charset="-78"/>
              </a:rPr>
              <a:t>سؤال‌هایی بپرس مثل</a:t>
            </a:r>
            <a:r>
              <a:rPr lang="fa-IR" sz="1800" kern="100">
                <a:effectLst/>
                <a:latin typeface="Arial" panose="020B0604020202020204" pitchFamily="34" charset="0"/>
                <a:ea typeface="Aptos" panose="020B0004020202020204" pitchFamily="34" charset="0"/>
                <a:cs typeface="2  Nazanin" panose="00000400000000000000" pitchFamily="2" charset="-78"/>
              </a:rPr>
              <a:t>:</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a:spcAft>
                <a:spcPts val="800"/>
              </a:spcAft>
              <a:buNone/>
            </a:pPr>
            <a:r>
              <a:rPr lang="fa-IR" sz="1800" kern="100">
                <a:effectLst/>
                <a:latin typeface="Arial" panose="020B0604020202020204" pitchFamily="34" charset="0"/>
                <a:ea typeface="Aptos" panose="020B0004020202020204" pitchFamily="34" charset="0"/>
                <a:cs typeface="2  Nazanin" panose="00000400000000000000" pitchFamily="2" charset="-78"/>
              </a:rPr>
              <a:t>"</a:t>
            </a:r>
            <a:r>
              <a:rPr lang="en-US" sz="1800" kern="100">
                <a:effectLst/>
                <a:latin typeface="Arial" panose="020B0604020202020204" pitchFamily="34" charset="0"/>
                <a:ea typeface="Aptos" panose="020B0004020202020204" pitchFamily="34" charset="0"/>
                <a:cs typeface="2  Nazanin" panose="00000400000000000000" pitchFamily="2" charset="-78"/>
              </a:rPr>
              <a:t>What is the main conflict in chapter 3</a:t>
            </a:r>
            <a:r>
              <a:rPr lang="fa-IR" sz="1800" kern="100">
                <a:effectLst/>
                <a:latin typeface="Arial" panose="020B0604020202020204" pitchFamily="34" charset="0"/>
                <a:ea typeface="Aptos" panose="020B0004020202020204" pitchFamily="34" charset="0"/>
                <a:cs typeface="2  Nazanin" panose="00000400000000000000" pitchFamily="2" charset="-78"/>
              </a:rPr>
              <a:t>?"</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marL="342900" lvl="0" indent="-342900" algn="r" rtl="1">
              <a:spcAft>
                <a:spcPts val="800"/>
              </a:spcAft>
              <a:buSzPts val="1000"/>
              <a:buFont typeface="Symbol" panose="05050102010706020507" pitchFamily="18" charset="2"/>
              <a:buChar char=""/>
              <a:tabLst>
                <a:tab pos="457200" algn="l"/>
              </a:tabLst>
            </a:pPr>
            <a:r>
              <a:rPr lang="ar-SA" sz="1800" kern="100">
                <a:effectLst/>
                <a:latin typeface="Arial" panose="020B0604020202020204" pitchFamily="34" charset="0"/>
                <a:ea typeface="Aptos" panose="020B0004020202020204" pitchFamily="34" charset="0"/>
                <a:cs typeface="2  Nazanin" panose="00000400000000000000" pitchFamily="2" charset="-78"/>
              </a:rPr>
              <a:t>پاسخ‌ها را با بحث کلاسی مقایسه کن</a:t>
            </a:r>
            <a:br>
              <a:rPr lang="en-US" sz="1800" kern="100">
                <a:effectLst/>
                <a:latin typeface="Arial" panose="020B0604020202020204" pitchFamily="34" charset="0"/>
                <a:ea typeface="Aptos" panose="020B0004020202020204" pitchFamily="34" charset="0"/>
                <a:cs typeface="2  Nazanin" panose="00000400000000000000" pitchFamily="2" charset="-78"/>
              </a:rPr>
            </a:br>
            <a:r>
              <a:rPr lang="ar-SA" sz="1800" b="1" kern="100">
                <a:effectLst/>
                <a:latin typeface="Arial" panose="020B0604020202020204" pitchFamily="34" charset="0"/>
                <a:ea typeface="Aptos" panose="020B0004020202020204" pitchFamily="34" charset="0"/>
                <a:cs typeface="2  Nazanin" panose="00000400000000000000" pitchFamily="2" charset="-78"/>
              </a:rPr>
              <a:t>خروجی</a:t>
            </a:r>
            <a:r>
              <a:rPr lang="fa-IR" sz="1800" b="1" kern="100">
                <a:effectLst/>
                <a:latin typeface="Arial" panose="020B0604020202020204" pitchFamily="34" charset="0"/>
                <a:ea typeface="Aptos" panose="020B0004020202020204" pitchFamily="34" charset="0"/>
                <a:cs typeface="2  Nazanin" panose="00000400000000000000" pitchFamily="2" charset="-78"/>
              </a:rPr>
              <a:t>:</a:t>
            </a:r>
            <a:r>
              <a:rPr lang="fa-IR" sz="1800" kern="100">
                <a:effectLst/>
                <a:latin typeface="Arial" panose="020B0604020202020204" pitchFamily="34" charset="0"/>
                <a:ea typeface="Aptos" panose="020B0004020202020204" pitchFamily="34" charset="0"/>
                <a:cs typeface="2  Nazanin" panose="00000400000000000000" pitchFamily="2" charset="-78"/>
              </a:rPr>
              <a:t> </a:t>
            </a:r>
            <a:r>
              <a:rPr lang="ar-SA" sz="1800" kern="100">
                <a:effectLst/>
                <a:latin typeface="Arial" panose="020B0604020202020204" pitchFamily="34" charset="0"/>
                <a:ea typeface="Aptos" panose="020B0004020202020204" pitchFamily="34" charset="0"/>
                <a:cs typeface="2  Nazanin" panose="00000400000000000000" pitchFamily="2" charset="-78"/>
              </a:rPr>
              <a:t>تحلیل عمیق برای پروژه درسی یا فلسفی</a:t>
            </a:r>
            <a:endParaRPr lang="en-US" sz="2000" kern="100">
              <a:effectLst/>
              <a:latin typeface="Arial" panose="020B0604020202020204" pitchFamily="34" charset="0"/>
              <a:ea typeface="Aptos" panose="020B0004020202020204" pitchFamily="34" charset="0"/>
              <a:cs typeface="2  Nazanin" panose="00000400000000000000" pitchFamily="2" charset="-78"/>
            </a:endParaRPr>
          </a:p>
        </p:txBody>
      </p:sp>
      <p:sp>
        <p:nvSpPr>
          <p:cNvPr id="5" name="TextBox 4">
            <a:extLst>
              <a:ext uri="{FF2B5EF4-FFF2-40B4-BE49-F238E27FC236}">
                <a16:creationId xmlns:a16="http://schemas.microsoft.com/office/drawing/2014/main" id="{5B1DBBA8-E65D-1124-E8BB-243109415BD9}"/>
              </a:ext>
            </a:extLst>
          </p:cNvPr>
          <p:cNvSpPr txBox="1"/>
          <p:nvPr/>
        </p:nvSpPr>
        <p:spPr>
          <a:xfrm>
            <a:off x="275897" y="3456357"/>
            <a:ext cx="8592206" cy="2732543"/>
          </a:xfrm>
          <a:prstGeom prst="rect">
            <a:avLst/>
          </a:prstGeom>
          <a:noFill/>
        </p:spPr>
        <p:txBody>
          <a:bodyPr wrap="square">
            <a:spAutoFit/>
          </a:bodyPr>
          <a:lstStyle/>
          <a:p>
            <a:pPr algn="r" rtl="1">
              <a:lnSpc>
                <a:spcPct val="115000"/>
              </a:lnSpc>
              <a:spcAft>
                <a:spcPts val="800"/>
              </a:spcAft>
              <a:buNone/>
            </a:pPr>
            <a:r>
              <a:rPr lang="fa-IR" sz="1800" b="1" kern="100">
                <a:effectLst/>
                <a:latin typeface="Arial" panose="020B0604020202020204" pitchFamily="34" charset="0"/>
                <a:ea typeface="Aptos" panose="020B0004020202020204" pitchFamily="34" charset="0"/>
                <a:cs typeface="Segoe UI Emoji" panose="020B0502040204020203" pitchFamily="34" charset="0"/>
              </a:rPr>
              <a:t>🎥</a:t>
            </a:r>
            <a:r>
              <a:rPr lang="fa-IR" sz="1800" b="1" kern="100">
                <a:effectLst/>
                <a:latin typeface="Arial" panose="020B0604020202020204" pitchFamily="34" charset="0"/>
                <a:ea typeface="Aptos" panose="020B0004020202020204" pitchFamily="34" charset="0"/>
                <a:cs typeface="Times New Roman" panose="02020603050405020304" pitchFamily="18" charset="0"/>
              </a:rPr>
              <a:t> </a:t>
            </a:r>
            <a:r>
              <a:rPr lang="ar-SA" sz="1800" b="1" kern="100">
                <a:effectLst/>
                <a:latin typeface="Arial" panose="020B0604020202020204" pitchFamily="34" charset="0"/>
                <a:ea typeface="Aptos" panose="020B0004020202020204" pitchFamily="34" charset="0"/>
                <a:cs typeface="2  Nazanin" panose="00000400000000000000" pitchFamily="2" charset="-78"/>
              </a:rPr>
              <a:t>پروژه </a:t>
            </a:r>
            <a:r>
              <a:rPr lang="fa-IR" sz="1800" b="1" kern="100">
                <a:effectLst/>
                <a:latin typeface="Arial" panose="020B0604020202020204" pitchFamily="34" charset="0"/>
                <a:ea typeface="Aptos" panose="020B0004020202020204" pitchFamily="34" charset="0"/>
                <a:cs typeface="2  Nazanin" panose="00000400000000000000" pitchFamily="2" charset="-78"/>
              </a:rPr>
              <a:t>10: </a:t>
            </a:r>
            <a:r>
              <a:rPr lang="ar-SA" sz="1800" b="1" kern="100">
                <a:effectLst/>
                <a:latin typeface="Arial" panose="020B0604020202020204" pitchFamily="34" charset="0"/>
                <a:ea typeface="Aptos" panose="020B0004020202020204" pitchFamily="34" charset="0"/>
                <a:cs typeface="2  Nazanin" panose="00000400000000000000" pitchFamily="2" charset="-78"/>
              </a:rPr>
              <a:t>تولید ویدئو با </a:t>
            </a:r>
            <a:r>
              <a:rPr lang="en-US" sz="1800" b="1" kern="100">
                <a:effectLst/>
                <a:latin typeface="Arial" panose="020B0604020202020204" pitchFamily="34" charset="0"/>
                <a:ea typeface="Aptos" panose="020B0004020202020204" pitchFamily="34" charset="0"/>
                <a:cs typeface="2  Nazanin" panose="00000400000000000000" pitchFamily="2" charset="-78"/>
              </a:rPr>
              <a:t>Video GPT by VEED</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algn="r" rtl="1">
              <a:lnSpc>
                <a:spcPct val="115000"/>
              </a:lnSpc>
              <a:spcAft>
                <a:spcPts val="800"/>
              </a:spcAft>
              <a:buNone/>
            </a:pPr>
            <a:r>
              <a:rPr lang="en-US" sz="1800" b="1" kern="100">
                <a:effectLst/>
                <a:latin typeface="Arial" panose="020B0604020202020204" pitchFamily="34" charset="0"/>
                <a:ea typeface="Aptos" panose="020B0004020202020204" pitchFamily="34" charset="0"/>
                <a:cs typeface="2  Nazanin" panose="00000400000000000000" pitchFamily="2" charset="-78"/>
              </a:rPr>
              <a:t>GPT:</a:t>
            </a:r>
            <a:r>
              <a:rPr lang="en-US" sz="1800" kern="100">
                <a:effectLst/>
                <a:latin typeface="Arial" panose="020B0604020202020204" pitchFamily="34" charset="0"/>
                <a:ea typeface="Aptos" panose="020B0004020202020204" pitchFamily="34" charset="0"/>
                <a:cs typeface="2  Nazanin" panose="00000400000000000000" pitchFamily="2" charset="-78"/>
              </a:rPr>
              <a:t> Video GPT by VEED</a:t>
            </a:r>
            <a:br>
              <a:rPr lang="en-US" sz="1800" kern="100">
                <a:effectLst/>
                <a:latin typeface="Arial" panose="020B0604020202020204" pitchFamily="34" charset="0"/>
                <a:ea typeface="Aptos" panose="020B0004020202020204" pitchFamily="34" charset="0"/>
                <a:cs typeface="2  Nazanin" panose="00000400000000000000" pitchFamily="2" charset="-78"/>
              </a:rPr>
            </a:br>
            <a:r>
              <a:rPr lang="ar-SA" sz="1800" b="1" kern="100">
                <a:effectLst/>
                <a:latin typeface="Arial" panose="020B0604020202020204" pitchFamily="34" charset="0"/>
                <a:ea typeface="Aptos" panose="020B0004020202020204" pitchFamily="34" charset="0"/>
                <a:cs typeface="2  Nazanin" panose="00000400000000000000" pitchFamily="2" charset="-78"/>
              </a:rPr>
              <a:t>هدف</a:t>
            </a:r>
            <a:r>
              <a:rPr lang="fa-IR" sz="1800" b="1" kern="100">
                <a:effectLst/>
                <a:latin typeface="Arial" panose="020B0604020202020204" pitchFamily="34" charset="0"/>
                <a:ea typeface="Aptos" panose="020B0004020202020204" pitchFamily="34" charset="0"/>
                <a:cs typeface="2  Nazanin" panose="00000400000000000000" pitchFamily="2" charset="-78"/>
              </a:rPr>
              <a:t>:</a:t>
            </a:r>
            <a:r>
              <a:rPr lang="fa-IR" sz="1800" kern="100">
                <a:effectLst/>
                <a:latin typeface="Arial" panose="020B0604020202020204" pitchFamily="34" charset="0"/>
                <a:ea typeface="Aptos" panose="020B0004020202020204" pitchFamily="34" charset="0"/>
                <a:cs typeface="2  Nazanin" panose="00000400000000000000" pitchFamily="2" charset="-78"/>
              </a:rPr>
              <a:t> </a:t>
            </a:r>
            <a:r>
              <a:rPr lang="ar-SA" sz="1800" kern="100">
                <a:effectLst/>
                <a:latin typeface="Arial" panose="020B0604020202020204" pitchFamily="34" charset="0"/>
                <a:ea typeface="Aptos" panose="020B0004020202020204" pitchFamily="34" charset="0"/>
                <a:cs typeface="2  Nazanin" panose="00000400000000000000" pitchFamily="2" charset="-78"/>
              </a:rPr>
              <a:t>ایجاد ویدئوهای آموزشی یا تبلیغاتی با استفاده از متن</a:t>
            </a:r>
            <a:br>
              <a:rPr lang="en-US" sz="1800" kern="100">
                <a:effectLst/>
                <a:latin typeface="Arial" panose="020B0604020202020204" pitchFamily="34" charset="0"/>
                <a:ea typeface="Aptos" panose="020B0004020202020204" pitchFamily="34" charset="0"/>
                <a:cs typeface="2  Nazanin" panose="00000400000000000000" pitchFamily="2" charset="-78"/>
              </a:rPr>
            </a:br>
            <a:r>
              <a:rPr lang="ar-SA" sz="1800" b="1" kern="100">
                <a:effectLst/>
                <a:latin typeface="Arial" panose="020B0604020202020204" pitchFamily="34" charset="0"/>
                <a:ea typeface="Aptos" panose="020B0004020202020204" pitchFamily="34" charset="0"/>
                <a:cs typeface="2  Nazanin" panose="00000400000000000000" pitchFamily="2" charset="-78"/>
              </a:rPr>
              <a:t>مراحل</a:t>
            </a:r>
            <a:r>
              <a:rPr lang="fa-IR" sz="1800" b="1" kern="100">
                <a:effectLst/>
                <a:latin typeface="Arial" panose="020B0604020202020204" pitchFamily="34" charset="0"/>
                <a:ea typeface="Aptos" panose="020B0004020202020204" pitchFamily="34" charset="0"/>
                <a:cs typeface="2  Nazanin" panose="00000400000000000000" pitchFamily="2" charset="-78"/>
              </a:rPr>
              <a:t>:</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marL="342900" lvl="0" indent="-342900" algn="r" rtl="1">
              <a:lnSpc>
                <a:spcPct val="115000"/>
              </a:lnSpc>
              <a:spcAft>
                <a:spcPts val="800"/>
              </a:spcAft>
              <a:buSzPts val="1000"/>
              <a:buFont typeface="Symbol" panose="05050102010706020507" pitchFamily="18" charset="2"/>
              <a:buChar char=""/>
              <a:tabLst>
                <a:tab pos="457200" algn="l"/>
              </a:tabLst>
            </a:pPr>
            <a:r>
              <a:rPr lang="ar-SA" sz="1800" kern="100">
                <a:effectLst/>
                <a:latin typeface="Arial" panose="020B0604020202020204" pitchFamily="34" charset="0"/>
                <a:ea typeface="Aptos" panose="020B0004020202020204" pitchFamily="34" charset="0"/>
                <a:cs typeface="2  Nazanin" panose="00000400000000000000" pitchFamily="2" charset="-78"/>
              </a:rPr>
              <a:t>نوشتن اسکریپت یا توضیح موضوع ویدئو</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marL="342900" lvl="0" indent="-342900" algn="r" rtl="1">
              <a:lnSpc>
                <a:spcPct val="115000"/>
              </a:lnSpc>
              <a:spcAft>
                <a:spcPts val="800"/>
              </a:spcAft>
              <a:buSzPts val="1000"/>
              <a:buFont typeface="Symbol" panose="05050102010706020507" pitchFamily="18" charset="2"/>
              <a:buChar char=""/>
              <a:tabLst>
                <a:tab pos="457200" algn="l"/>
              </a:tabLst>
            </a:pPr>
            <a:r>
              <a:rPr lang="ar-SA" sz="1800" kern="100">
                <a:effectLst/>
                <a:latin typeface="Arial" panose="020B0604020202020204" pitchFamily="34" charset="0"/>
                <a:ea typeface="Aptos" panose="020B0004020202020204" pitchFamily="34" charset="0"/>
                <a:cs typeface="2  Nazanin" panose="00000400000000000000" pitchFamily="2" charset="-78"/>
              </a:rPr>
              <a:t>درخواست از </a:t>
            </a:r>
            <a:r>
              <a:rPr lang="en-US" sz="1800" kern="100">
                <a:effectLst/>
                <a:latin typeface="Arial" panose="020B0604020202020204" pitchFamily="34" charset="0"/>
                <a:ea typeface="Aptos" panose="020B0004020202020204" pitchFamily="34" charset="0"/>
                <a:cs typeface="2  Nazanin" panose="00000400000000000000" pitchFamily="2" charset="-78"/>
              </a:rPr>
              <a:t>GPT</a:t>
            </a:r>
            <a:r>
              <a:rPr lang="en-US" sz="1800" kern="100">
                <a:effectLst/>
                <a:latin typeface="2  Nazanin" panose="00000400000000000000" pitchFamily="2" charset="-78"/>
                <a:ea typeface="Aptos" panose="020B0004020202020204" pitchFamily="34" charset="0"/>
                <a:cs typeface="2  Nazanin" panose="00000400000000000000" pitchFamily="2" charset="-78"/>
              </a:rPr>
              <a:t> </a:t>
            </a:r>
            <a:r>
              <a:rPr lang="ar-SA" sz="1800" kern="100">
                <a:effectLst/>
                <a:latin typeface="Arial" panose="020B0604020202020204" pitchFamily="34" charset="0"/>
                <a:ea typeface="Aptos" panose="020B0004020202020204" pitchFamily="34" charset="0"/>
                <a:cs typeface="2  Nazanin" panose="00000400000000000000" pitchFamily="2" charset="-78"/>
              </a:rPr>
              <a:t>برای تولید ویدئو با استفاده از تصاویر، صدا و زیرنویس</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marL="342900" lvl="0" indent="-342900" algn="r" rtl="1">
              <a:lnSpc>
                <a:spcPct val="115000"/>
              </a:lnSpc>
              <a:spcAft>
                <a:spcPts val="800"/>
              </a:spcAft>
              <a:buSzPts val="1000"/>
              <a:buFont typeface="Symbol" panose="05050102010706020507" pitchFamily="18" charset="2"/>
              <a:buChar char=""/>
              <a:tabLst>
                <a:tab pos="457200" algn="l"/>
              </a:tabLst>
            </a:pPr>
            <a:r>
              <a:rPr lang="ar-SA" sz="1800" kern="100">
                <a:effectLst/>
                <a:latin typeface="Arial" panose="020B0604020202020204" pitchFamily="34" charset="0"/>
                <a:ea typeface="Aptos" panose="020B0004020202020204" pitchFamily="34" charset="0"/>
                <a:cs typeface="2  Nazanin" panose="00000400000000000000" pitchFamily="2" charset="-78"/>
              </a:rPr>
              <a:t>بررسی و ویرایش ویدئوی تولیدشده</a:t>
            </a:r>
            <a:r>
              <a:rPr lang="fa-IR" sz="1800" kern="100">
                <a:effectLst/>
                <a:latin typeface="Arial" panose="020B0604020202020204" pitchFamily="34" charset="0"/>
                <a:ea typeface="Aptos" panose="020B0004020202020204" pitchFamily="34" charset="0"/>
                <a:cs typeface="2  Nazanin" panose="00000400000000000000" pitchFamily="2" charset="-78"/>
              </a:rPr>
              <a:t>(</a:t>
            </a:r>
            <a:r>
              <a:rPr lang="en-US" sz="1800" u="sng" kern="100">
                <a:solidFill>
                  <a:srgbClr val="467886"/>
                </a:solidFill>
                <a:effectLst/>
                <a:latin typeface="Arial" panose="020B0604020202020204" pitchFamily="34" charset="0"/>
                <a:ea typeface="Aptos" panose="020B0004020202020204" pitchFamily="34" charset="0"/>
                <a:cs typeface="2  Nazanin" panose="00000400000000000000" pitchFamily="2" charset="-78"/>
                <a:hlinkClick r:id="rId2" tooltip="Top ChatGPT GPTs ranking on 2025-01-27 - GPT Store"/>
              </a:rPr>
              <a:t>gptstore.ai</a:t>
            </a:r>
            <a:r>
              <a:rPr lang="fa-IR" sz="1800" kern="100">
                <a:effectLst/>
                <a:latin typeface="Arial" panose="020B0604020202020204" pitchFamily="34" charset="0"/>
                <a:ea typeface="Aptos" panose="020B0004020202020204" pitchFamily="34" charset="0"/>
                <a:cs typeface="2  Nazanin" panose="00000400000000000000" pitchFamily="2" charset="-78"/>
              </a:rPr>
              <a:t>)</a:t>
            </a:r>
            <a:endParaRPr lang="en-US" sz="2000" kern="100">
              <a:effectLst/>
              <a:latin typeface="Arial" panose="020B0604020202020204" pitchFamily="34" charset="0"/>
              <a:ea typeface="Aptos" panose="020B0004020202020204" pitchFamily="34" charset="0"/>
              <a:cs typeface="2  Nazanin" panose="00000400000000000000" pitchFamily="2" charset="-78"/>
            </a:endParaRPr>
          </a:p>
        </p:txBody>
      </p:sp>
      <p:sp>
        <p:nvSpPr>
          <p:cNvPr id="2" name="TextBox 1">
            <a:extLst>
              <a:ext uri="{FF2B5EF4-FFF2-40B4-BE49-F238E27FC236}">
                <a16:creationId xmlns:a16="http://schemas.microsoft.com/office/drawing/2014/main" id="{9A24C73E-9CCD-D1D1-7FE1-525493D542B4}"/>
              </a:ext>
            </a:extLst>
          </p:cNvPr>
          <p:cNvSpPr txBox="1"/>
          <p:nvPr/>
        </p:nvSpPr>
        <p:spPr>
          <a:xfrm>
            <a:off x="4317022" y="24427"/>
            <a:ext cx="747347" cy="276999"/>
          </a:xfrm>
          <a:prstGeom prst="rect">
            <a:avLst/>
          </a:prstGeom>
          <a:noFill/>
        </p:spPr>
        <p:txBody>
          <a:bodyPr wrap="square">
            <a:spAutoFit/>
          </a:bodyPr>
          <a:lstStyle/>
          <a:p>
            <a:pPr algn="ctr"/>
            <a:r>
              <a:rPr lang="fa-IR" sz="1200">
                <a:cs typeface="2  Nazanin" panose="00000400000000000000" pitchFamily="2" charset="-78"/>
              </a:rPr>
              <a:t>اسلاید 63</a:t>
            </a:r>
            <a:endParaRPr lang="fa-IR" sz="1200"/>
          </a:p>
        </p:txBody>
      </p:sp>
    </p:spTree>
    <p:extLst>
      <p:ext uri="{BB962C8B-B14F-4D97-AF65-F5344CB8AC3E}">
        <p14:creationId xmlns:p14="http://schemas.microsoft.com/office/powerpoint/2010/main" val="209425169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F7822-A115-FAAC-ADBA-DFD44F92DDE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2398F3B-861F-CB3A-D391-E801ADFCFBA0}"/>
              </a:ext>
            </a:extLst>
          </p:cNvPr>
          <p:cNvSpPr txBox="1"/>
          <p:nvPr/>
        </p:nvSpPr>
        <p:spPr>
          <a:xfrm>
            <a:off x="1387366" y="343663"/>
            <a:ext cx="7425558" cy="658642"/>
          </a:xfrm>
          <a:prstGeom prst="rect">
            <a:avLst/>
          </a:prstGeom>
          <a:noFill/>
        </p:spPr>
        <p:txBody>
          <a:bodyPr wrap="square">
            <a:spAutoFit/>
          </a:bodyPr>
          <a:lstStyle/>
          <a:p>
            <a:pPr algn="r" rtl="1">
              <a:lnSpc>
                <a:spcPct val="115000"/>
              </a:lnSpc>
              <a:spcAft>
                <a:spcPts val="800"/>
              </a:spcAft>
            </a:pPr>
            <a:r>
              <a:rPr lang="ar-SA" sz="3200" b="1" kern="100">
                <a:effectLst/>
                <a:latin typeface="Arial" panose="020B0604020202020204" pitchFamily="34" charset="0"/>
                <a:ea typeface="Aptos" panose="020B0004020202020204" pitchFamily="34" charset="0"/>
                <a:cs typeface="2  Titr" panose="00000700000000000000" pitchFamily="2" charset="-78"/>
              </a:rPr>
              <a:t>چند </a:t>
            </a:r>
            <a:r>
              <a:rPr lang="en-US" sz="3200" b="1" kern="100">
                <a:effectLst/>
                <a:latin typeface="Arial" panose="020B0604020202020204" pitchFamily="34" charset="0"/>
                <a:ea typeface="Aptos" panose="020B0004020202020204" pitchFamily="34" charset="0"/>
                <a:cs typeface="2  Titr" panose="00000700000000000000" pitchFamily="2" charset="-78"/>
              </a:rPr>
              <a:t>GPT</a:t>
            </a:r>
            <a:r>
              <a:rPr lang="en-US" sz="3200" b="1" kern="100">
                <a:effectLst/>
                <a:latin typeface="2  Titr" panose="00000700000000000000" pitchFamily="2" charset="-78"/>
                <a:ea typeface="Aptos" panose="020B0004020202020204" pitchFamily="34" charset="0"/>
                <a:cs typeface="2  Nazanin" panose="00000400000000000000" pitchFamily="2" charset="-78"/>
              </a:rPr>
              <a:t> </a:t>
            </a:r>
            <a:r>
              <a:rPr lang="fa-IR" sz="3200" b="1" kern="100">
                <a:effectLst/>
                <a:latin typeface="2  Titr" panose="00000700000000000000" pitchFamily="2" charset="-78"/>
                <a:ea typeface="Aptos" panose="020B0004020202020204" pitchFamily="34" charset="0"/>
                <a:cs typeface="2  Nazanin" panose="00000400000000000000" pitchFamily="2" charset="-78"/>
              </a:rPr>
              <a:t> </a:t>
            </a:r>
            <a:r>
              <a:rPr lang="ar-SA" sz="3200" b="1" kern="100">
                <a:effectLst/>
                <a:latin typeface="Arial" panose="020B0604020202020204" pitchFamily="34" charset="0"/>
                <a:ea typeface="Aptos" panose="020B0004020202020204" pitchFamily="34" charset="0"/>
                <a:cs typeface="2  Titr" panose="00000700000000000000" pitchFamily="2" charset="-78"/>
              </a:rPr>
              <a:t>سفارشی محبوب و مفید برای مربیان</a:t>
            </a:r>
            <a:endParaRPr lang="en-US" sz="3600" kern="100">
              <a:effectLst/>
              <a:latin typeface="Arial" panose="020B0604020202020204" pitchFamily="34" charset="0"/>
              <a:ea typeface="Aptos" panose="020B0004020202020204" pitchFamily="34" charset="0"/>
              <a:cs typeface="2  Nazanin" panose="00000400000000000000" pitchFamily="2" charset="-78"/>
            </a:endParaRPr>
          </a:p>
        </p:txBody>
      </p:sp>
      <p:sp>
        <p:nvSpPr>
          <p:cNvPr id="5" name="TextBox 4">
            <a:extLst>
              <a:ext uri="{FF2B5EF4-FFF2-40B4-BE49-F238E27FC236}">
                <a16:creationId xmlns:a16="http://schemas.microsoft.com/office/drawing/2014/main" id="{253913B6-52D0-C7B5-9715-50F2513F48EF}"/>
              </a:ext>
            </a:extLst>
          </p:cNvPr>
          <p:cNvSpPr txBox="1"/>
          <p:nvPr/>
        </p:nvSpPr>
        <p:spPr>
          <a:xfrm>
            <a:off x="4099034" y="1444836"/>
            <a:ext cx="4887316" cy="790473"/>
          </a:xfrm>
          <a:prstGeom prst="rect">
            <a:avLst/>
          </a:prstGeom>
          <a:noFill/>
        </p:spPr>
        <p:txBody>
          <a:bodyPr wrap="square">
            <a:spAutoFit/>
          </a:bodyPr>
          <a:lstStyle/>
          <a:p>
            <a:pPr algn="r" rtl="1">
              <a:lnSpc>
                <a:spcPct val="115000"/>
              </a:lnSpc>
              <a:spcAft>
                <a:spcPts val="800"/>
              </a:spcAft>
              <a:buNone/>
            </a:pPr>
            <a:r>
              <a:rPr lang="fa-IR" sz="1800" b="1" kern="100">
                <a:effectLst/>
                <a:latin typeface="Arial" panose="020B0604020202020204" pitchFamily="34" charset="0"/>
                <a:ea typeface="Aptos" panose="020B0004020202020204" pitchFamily="34" charset="0"/>
                <a:cs typeface="Segoe UI Emoji" panose="020B0502040204020203" pitchFamily="34" charset="0"/>
              </a:rPr>
              <a:t>🧠</a:t>
            </a:r>
            <a:r>
              <a:rPr lang="fa-IR" sz="1800" b="1" kern="100">
                <a:effectLst/>
                <a:latin typeface="Arial" panose="020B0604020202020204" pitchFamily="34" charset="0"/>
                <a:ea typeface="Aptos" panose="020B0004020202020204" pitchFamily="34" charset="0"/>
                <a:cs typeface="Times New Roman" panose="02020603050405020304" pitchFamily="18" charset="0"/>
              </a:rPr>
              <a:t> 1. </a:t>
            </a:r>
            <a:r>
              <a:rPr lang="en-US" sz="1800" b="1" u="sng" kern="100">
                <a:solidFill>
                  <a:srgbClr val="467886"/>
                </a:solidFill>
                <a:effectLst/>
                <a:latin typeface="Arial" panose="020B0604020202020204" pitchFamily="34" charset="0"/>
                <a:ea typeface="Aptos" panose="020B0004020202020204" pitchFamily="34" charset="0"/>
                <a:cs typeface="2  Nazanin" panose="00000400000000000000" pitchFamily="2" charset="-78"/>
                <a:hlinkClick r:id="rId2"/>
              </a:rPr>
              <a:t>Universal Primer</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algn="r" rtl="1">
              <a:buNone/>
            </a:pPr>
            <a:r>
              <a:rPr lang="ar-SA" sz="1800" b="1">
                <a:effectLst/>
                <a:latin typeface="Arial" panose="020B0604020202020204" pitchFamily="34" charset="0"/>
                <a:ea typeface="Aptos" panose="020B0004020202020204" pitchFamily="34" charset="0"/>
                <a:cs typeface="2  Nazanin" panose="00000400000000000000" pitchFamily="2" charset="-78"/>
              </a:rPr>
              <a:t>کاربرد</a:t>
            </a:r>
            <a:r>
              <a:rPr lang="fa-IR" sz="1800" b="1">
                <a:effectLst/>
                <a:latin typeface="Arial" panose="020B0604020202020204" pitchFamily="34" charset="0"/>
                <a:ea typeface="Aptos" panose="020B0004020202020204" pitchFamily="34" charset="0"/>
                <a:cs typeface="2  Nazanin" panose="00000400000000000000" pitchFamily="2" charset="-78"/>
              </a:rPr>
              <a:t>:</a:t>
            </a:r>
            <a:r>
              <a:rPr lang="fa-IR" sz="1800">
                <a:effectLst/>
                <a:latin typeface="Arial" panose="020B0604020202020204" pitchFamily="34" charset="0"/>
                <a:ea typeface="Aptos" panose="020B0004020202020204" pitchFamily="34" charset="0"/>
                <a:cs typeface="2  Nazanin" panose="00000400000000000000" pitchFamily="2" charset="-78"/>
              </a:rPr>
              <a:t> </a:t>
            </a:r>
            <a:r>
              <a:rPr lang="ar-SA" sz="1800">
                <a:effectLst/>
                <a:latin typeface="Arial" panose="020B0604020202020204" pitchFamily="34" charset="0"/>
                <a:ea typeface="Aptos" panose="020B0004020202020204" pitchFamily="34" charset="0"/>
                <a:cs typeface="2  Nazanin" panose="00000400000000000000" pitchFamily="2" charset="-78"/>
              </a:rPr>
              <a:t>توضیح مفاهیم پیچیده با استفاده از تشبیهات ساده و تصاویر</a:t>
            </a:r>
            <a:endParaRPr lang="fa-IR"/>
          </a:p>
        </p:txBody>
      </p:sp>
      <p:sp>
        <p:nvSpPr>
          <p:cNvPr id="7" name="TextBox 6">
            <a:extLst>
              <a:ext uri="{FF2B5EF4-FFF2-40B4-BE49-F238E27FC236}">
                <a16:creationId xmlns:a16="http://schemas.microsoft.com/office/drawing/2014/main" id="{6F1B2259-044B-8B77-2741-9FE7AF2EFF65}"/>
              </a:ext>
            </a:extLst>
          </p:cNvPr>
          <p:cNvSpPr txBox="1"/>
          <p:nvPr/>
        </p:nvSpPr>
        <p:spPr>
          <a:xfrm>
            <a:off x="4414350" y="2386271"/>
            <a:ext cx="4572000" cy="790473"/>
          </a:xfrm>
          <a:prstGeom prst="rect">
            <a:avLst/>
          </a:prstGeom>
          <a:noFill/>
        </p:spPr>
        <p:txBody>
          <a:bodyPr wrap="square">
            <a:spAutoFit/>
          </a:bodyPr>
          <a:lstStyle/>
          <a:p>
            <a:pPr algn="r" rtl="1">
              <a:lnSpc>
                <a:spcPct val="115000"/>
              </a:lnSpc>
              <a:spcAft>
                <a:spcPts val="800"/>
              </a:spcAft>
              <a:buNone/>
            </a:pPr>
            <a:r>
              <a:rPr lang="fa-IR" sz="1800" b="1" kern="100">
                <a:effectLst/>
                <a:latin typeface="Arial" panose="020B0604020202020204" pitchFamily="34" charset="0"/>
                <a:ea typeface="Aptos" panose="020B0004020202020204" pitchFamily="34" charset="0"/>
                <a:cs typeface="Segoe UI Emoji" panose="020B0502040204020203" pitchFamily="34" charset="0"/>
              </a:rPr>
              <a:t>📝</a:t>
            </a:r>
            <a:r>
              <a:rPr lang="fa-IR" sz="1800" b="1" kern="100">
                <a:effectLst/>
                <a:latin typeface="Arial" panose="020B0604020202020204" pitchFamily="34" charset="0"/>
                <a:ea typeface="Aptos" panose="020B0004020202020204" pitchFamily="34" charset="0"/>
                <a:cs typeface="Times New Roman" panose="02020603050405020304" pitchFamily="18" charset="0"/>
              </a:rPr>
              <a:t> 2. </a:t>
            </a:r>
            <a:r>
              <a:rPr lang="en-US" sz="1800" b="1" u="sng" kern="100">
                <a:solidFill>
                  <a:srgbClr val="467886"/>
                </a:solidFill>
                <a:effectLst/>
                <a:latin typeface="Arial" panose="020B0604020202020204" pitchFamily="34" charset="0"/>
                <a:ea typeface="Aptos" panose="020B0004020202020204" pitchFamily="34" charset="0"/>
                <a:cs typeface="2  Nazanin" panose="00000400000000000000" pitchFamily="2" charset="-78"/>
                <a:hlinkClick r:id="rId3"/>
              </a:rPr>
              <a:t>Monsha Lesson Planner</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algn="r" rtl="1">
              <a:buNone/>
            </a:pPr>
            <a:r>
              <a:rPr lang="ar-SA" sz="1800" b="1">
                <a:effectLst/>
                <a:latin typeface="Arial" panose="020B0604020202020204" pitchFamily="34" charset="0"/>
                <a:ea typeface="Aptos" panose="020B0004020202020204" pitchFamily="34" charset="0"/>
                <a:cs typeface="2  Nazanin" panose="00000400000000000000" pitchFamily="2" charset="-78"/>
              </a:rPr>
              <a:t>کاربرد</a:t>
            </a:r>
            <a:r>
              <a:rPr lang="fa-IR" sz="1800" b="1">
                <a:effectLst/>
                <a:latin typeface="Arial" panose="020B0604020202020204" pitchFamily="34" charset="0"/>
                <a:ea typeface="Aptos" panose="020B0004020202020204" pitchFamily="34" charset="0"/>
                <a:cs typeface="2  Nazanin" panose="00000400000000000000" pitchFamily="2" charset="-78"/>
              </a:rPr>
              <a:t>:</a:t>
            </a:r>
            <a:r>
              <a:rPr lang="fa-IR" sz="1800">
                <a:effectLst/>
                <a:latin typeface="Arial" panose="020B0604020202020204" pitchFamily="34" charset="0"/>
                <a:ea typeface="Aptos" panose="020B0004020202020204" pitchFamily="34" charset="0"/>
                <a:cs typeface="2  Nazanin" panose="00000400000000000000" pitchFamily="2" charset="-78"/>
              </a:rPr>
              <a:t> </a:t>
            </a:r>
            <a:r>
              <a:rPr lang="ar-SA" sz="1800">
                <a:effectLst/>
                <a:latin typeface="Arial" panose="020B0604020202020204" pitchFamily="34" charset="0"/>
                <a:ea typeface="Aptos" panose="020B0004020202020204" pitchFamily="34" charset="0"/>
                <a:cs typeface="2  Nazanin" panose="00000400000000000000" pitchFamily="2" charset="-78"/>
              </a:rPr>
              <a:t>طراحی برنامه‌های درسی جامع و ساختارمند</a:t>
            </a:r>
            <a:endParaRPr lang="fa-IR"/>
          </a:p>
        </p:txBody>
      </p:sp>
      <p:sp>
        <p:nvSpPr>
          <p:cNvPr id="9" name="TextBox 8">
            <a:extLst>
              <a:ext uri="{FF2B5EF4-FFF2-40B4-BE49-F238E27FC236}">
                <a16:creationId xmlns:a16="http://schemas.microsoft.com/office/drawing/2014/main" id="{3F982028-5052-B2AB-4994-4DBF7CE8FC93}"/>
              </a:ext>
            </a:extLst>
          </p:cNvPr>
          <p:cNvSpPr txBox="1"/>
          <p:nvPr/>
        </p:nvSpPr>
        <p:spPr>
          <a:xfrm>
            <a:off x="4414350" y="3429000"/>
            <a:ext cx="4572000" cy="790473"/>
          </a:xfrm>
          <a:prstGeom prst="rect">
            <a:avLst/>
          </a:prstGeom>
          <a:noFill/>
        </p:spPr>
        <p:txBody>
          <a:bodyPr wrap="square">
            <a:spAutoFit/>
          </a:bodyPr>
          <a:lstStyle/>
          <a:p>
            <a:pPr algn="r" rtl="1">
              <a:lnSpc>
                <a:spcPct val="115000"/>
              </a:lnSpc>
              <a:spcAft>
                <a:spcPts val="800"/>
              </a:spcAft>
              <a:buNone/>
            </a:pPr>
            <a:r>
              <a:rPr lang="fa-IR" sz="1800" b="1" kern="100">
                <a:effectLst/>
                <a:latin typeface="Arial" panose="020B0604020202020204" pitchFamily="34" charset="0"/>
                <a:ea typeface="Aptos" panose="020B0004020202020204" pitchFamily="34" charset="0"/>
                <a:cs typeface="Segoe UI Emoji" panose="020B0502040204020203" pitchFamily="34" charset="0"/>
              </a:rPr>
              <a:t>🧑‍🏫</a:t>
            </a:r>
            <a:r>
              <a:rPr lang="fa-IR" sz="1800" b="1" kern="100">
                <a:effectLst/>
                <a:latin typeface="Arial" panose="020B0604020202020204" pitchFamily="34" charset="0"/>
                <a:ea typeface="Aptos" panose="020B0004020202020204" pitchFamily="34" charset="0"/>
                <a:cs typeface="Times New Roman" panose="02020603050405020304" pitchFamily="18" charset="0"/>
              </a:rPr>
              <a:t> 3. </a:t>
            </a:r>
            <a:r>
              <a:rPr lang="en-US" sz="1800" b="1" u="sng" kern="100">
                <a:solidFill>
                  <a:srgbClr val="467886"/>
                </a:solidFill>
                <a:effectLst/>
                <a:latin typeface="Arial" panose="020B0604020202020204" pitchFamily="34" charset="0"/>
                <a:ea typeface="Aptos" panose="020B0004020202020204" pitchFamily="34" charset="0"/>
                <a:cs typeface="2  Nazanin" panose="00000400000000000000" pitchFamily="2" charset="-78"/>
                <a:hlinkClick r:id="rId4"/>
              </a:rPr>
              <a:t>Educator Pro</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a:buNone/>
            </a:pPr>
            <a:r>
              <a:rPr lang="ar-SA" sz="1800" b="1">
                <a:effectLst/>
                <a:latin typeface="Arial" panose="020B0604020202020204" pitchFamily="34" charset="0"/>
                <a:ea typeface="Aptos" panose="020B0004020202020204" pitchFamily="34" charset="0"/>
                <a:cs typeface="2  Nazanin" panose="00000400000000000000" pitchFamily="2" charset="-78"/>
              </a:rPr>
              <a:t>کاربرد</a:t>
            </a:r>
            <a:r>
              <a:rPr lang="fa-IR" sz="1800" b="1">
                <a:effectLst/>
                <a:latin typeface="Arial" panose="020B0604020202020204" pitchFamily="34" charset="0"/>
                <a:ea typeface="Aptos" panose="020B0004020202020204" pitchFamily="34" charset="0"/>
                <a:cs typeface="2  Nazanin" panose="00000400000000000000" pitchFamily="2" charset="-78"/>
              </a:rPr>
              <a:t>:</a:t>
            </a:r>
            <a:r>
              <a:rPr lang="fa-IR" sz="1800">
                <a:effectLst/>
                <a:latin typeface="Arial" panose="020B0604020202020204" pitchFamily="34" charset="0"/>
                <a:ea typeface="Aptos" panose="020B0004020202020204" pitchFamily="34" charset="0"/>
                <a:cs typeface="2  Nazanin" panose="00000400000000000000" pitchFamily="2" charset="-78"/>
              </a:rPr>
              <a:t> </a:t>
            </a:r>
            <a:r>
              <a:rPr lang="ar-SA" sz="1800">
                <a:effectLst/>
                <a:latin typeface="Arial" panose="020B0604020202020204" pitchFamily="34" charset="0"/>
                <a:ea typeface="Aptos" panose="020B0004020202020204" pitchFamily="34" charset="0"/>
                <a:cs typeface="2  Nazanin" panose="00000400000000000000" pitchFamily="2" charset="-78"/>
              </a:rPr>
              <a:t>معلم همه‌کاره برای موضوعات و سطوح مختلف</a:t>
            </a:r>
            <a:endParaRPr lang="fa-IR"/>
          </a:p>
        </p:txBody>
      </p:sp>
      <p:sp>
        <p:nvSpPr>
          <p:cNvPr id="11" name="TextBox 10">
            <a:extLst>
              <a:ext uri="{FF2B5EF4-FFF2-40B4-BE49-F238E27FC236}">
                <a16:creationId xmlns:a16="http://schemas.microsoft.com/office/drawing/2014/main" id="{BC612714-4993-58E8-9D26-B2BA07884CEE}"/>
              </a:ext>
            </a:extLst>
          </p:cNvPr>
          <p:cNvSpPr txBox="1"/>
          <p:nvPr/>
        </p:nvSpPr>
        <p:spPr>
          <a:xfrm>
            <a:off x="4414350" y="4370435"/>
            <a:ext cx="4572000" cy="790473"/>
          </a:xfrm>
          <a:prstGeom prst="rect">
            <a:avLst/>
          </a:prstGeom>
          <a:noFill/>
        </p:spPr>
        <p:txBody>
          <a:bodyPr wrap="square">
            <a:spAutoFit/>
          </a:bodyPr>
          <a:lstStyle/>
          <a:p>
            <a:pPr algn="r" rtl="1">
              <a:lnSpc>
                <a:spcPct val="115000"/>
              </a:lnSpc>
              <a:spcAft>
                <a:spcPts val="800"/>
              </a:spcAft>
              <a:buNone/>
            </a:pPr>
            <a:r>
              <a:rPr lang="fa-IR" sz="1800" b="1" kern="100">
                <a:effectLst/>
                <a:latin typeface="Arial" panose="020B0604020202020204" pitchFamily="34" charset="0"/>
                <a:ea typeface="Aptos" panose="020B0004020202020204" pitchFamily="34" charset="0"/>
                <a:cs typeface="Segoe UI Emoji" panose="020B0502040204020203" pitchFamily="34" charset="0"/>
              </a:rPr>
              <a:t>🧪</a:t>
            </a:r>
            <a:r>
              <a:rPr lang="fa-IR" sz="1800" b="1" kern="100">
                <a:effectLst/>
                <a:latin typeface="Arial" panose="020B0604020202020204" pitchFamily="34" charset="0"/>
                <a:ea typeface="Aptos" panose="020B0004020202020204" pitchFamily="34" charset="0"/>
                <a:cs typeface="Times New Roman" panose="02020603050405020304" pitchFamily="18" charset="0"/>
              </a:rPr>
              <a:t> 4. </a:t>
            </a:r>
            <a:r>
              <a:rPr lang="en-US" sz="1800" b="1" u="sng" kern="100">
                <a:solidFill>
                  <a:srgbClr val="467886"/>
                </a:solidFill>
                <a:effectLst/>
                <a:latin typeface="Arial" panose="020B0604020202020204" pitchFamily="34" charset="0"/>
                <a:ea typeface="Aptos" panose="020B0004020202020204" pitchFamily="34" charset="0"/>
                <a:cs typeface="2  Nazanin" panose="00000400000000000000" pitchFamily="2" charset="-78"/>
                <a:hlinkClick r:id="rId5"/>
              </a:rPr>
              <a:t>Code Tutor</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a:buNone/>
            </a:pPr>
            <a:r>
              <a:rPr lang="ar-SA" sz="1800" b="1">
                <a:effectLst/>
                <a:latin typeface="Arial" panose="020B0604020202020204" pitchFamily="34" charset="0"/>
                <a:ea typeface="Aptos" panose="020B0004020202020204" pitchFamily="34" charset="0"/>
                <a:cs typeface="2  Nazanin" panose="00000400000000000000" pitchFamily="2" charset="-78"/>
              </a:rPr>
              <a:t>کاربرد</a:t>
            </a:r>
            <a:r>
              <a:rPr lang="fa-IR" sz="1800" b="1">
                <a:effectLst/>
                <a:latin typeface="Arial" panose="020B0604020202020204" pitchFamily="34" charset="0"/>
                <a:ea typeface="Aptos" panose="020B0004020202020204" pitchFamily="34" charset="0"/>
                <a:cs typeface="2  Nazanin" panose="00000400000000000000" pitchFamily="2" charset="-78"/>
              </a:rPr>
              <a:t>:</a:t>
            </a:r>
            <a:r>
              <a:rPr lang="fa-IR" sz="1800">
                <a:effectLst/>
                <a:latin typeface="Arial" panose="020B0604020202020204" pitchFamily="34" charset="0"/>
                <a:ea typeface="Aptos" panose="020B0004020202020204" pitchFamily="34" charset="0"/>
                <a:cs typeface="2  Nazanin" panose="00000400000000000000" pitchFamily="2" charset="-78"/>
              </a:rPr>
              <a:t> </a:t>
            </a:r>
            <a:r>
              <a:rPr lang="ar-SA" sz="1800">
                <a:effectLst/>
                <a:latin typeface="Arial" panose="020B0604020202020204" pitchFamily="34" charset="0"/>
                <a:ea typeface="Aptos" panose="020B0004020202020204" pitchFamily="34" charset="0"/>
                <a:cs typeface="2  Nazanin" panose="00000400000000000000" pitchFamily="2" charset="-78"/>
              </a:rPr>
              <a:t>آموزش برنامه‌نویسی با روش سقراطی</a:t>
            </a:r>
            <a:endParaRPr lang="fa-IR"/>
          </a:p>
        </p:txBody>
      </p:sp>
      <p:sp>
        <p:nvSpPr>
          <p:cNvPr id="13" name="TextBox 12">
            <a:extLst>
              <a:ext uri="{FF2B5EF4-FFF2-40B4-BE49-F238E27FC236}">
                <a16:creationId xmlns:a16="http://schemas.microsoft.com/office/drawing/2014/main" id="{56979A77-271C-3DAE-D751-303B5C3D94A3}"/>
              </a:ext>
            </a:extLst>
          </p:cNvPr>
          <p:cNvSpPr txBox="1"/>
          <p:nvPr/>
        </p:nvSpPr>
        <p:spPr>
          <a:xfrm>
            <a:off x="4414350" y="5311870"/>
            <a:ext cx="4572000" cy="790473"/>
          </a:xfrm>
          <a:prstGeom prst="rect">
            <a:avLst/>
          </a:prstGeom>
          <a:noFill/>
        </p:spPr>
        <p:txBody>
          <a:bodyPr wrap="square">
            <a:spAutoFit/>
          </a:bodyPr>
          <a:lstStyle/>
          <a:p>
            <a:pPr algn="r" rtl="1">
              <a:lnSpc>
                <a:spcPct val="115000"/>
              </a:lnSpc>
              <a:spcAft>
                <a:spcPts val="800"/>
              </a:spcAft>
              <a:buNone/>
            </a:pPr>
            <a:r>
              <a:rPr lang="fa-IR" sz="1800" b="1" kern="100">
                <a:effectLst/>
                <a:latin typeface="Arial" panose="020B0604020202020204" pitchFamily="34" charset="0"/>
                <a:ea typeface="Aptos" panose="020B0004020202020204" pitchFamily="34" charset="0"/>
                <a:cs typeface="Segoe UI Emoji" panose="020B0502040204020203" pitchFamily="34" charset="0"/>
              </a:rPr>
              <a:t>📚</a:t>
            </a:r>
            <a:r>
              <a:rPr lang="fa-IR" sz="1800" b="1" kern="100">
                <a:effectLst/>
                <a:latin typeface="Arial" panose="020B0604020202020204" pitchFamily="34" charset="0"/>
                <a:ea typeface="Aptos" panose="020B0004020202020204" pitchFamily="34" charset="0"/>
                <a:cs typeface="Times New Roman" panose="02020603050405020304" pitchFamily="18" charset="0"/>
              </a:rPr>
              <a:t> 5. </a:t>
            </a:r>
            <a:r>
              <a:rPr lang="en-US" sz="1800" b="1" u="sng" kern="100">
                <a:solidFill>
                  <a:srgbClr val="467886"/>
                </a:solidFill>
                <a:effectLst/>
                <a:latin typeface="Arial" panose="020B0604020202020204" pitchFamily="34" charset="0"/>
                <a:ea typeface="Aptos" panose="020B0004020202020204" pitchFamily="34" charset="0"/>
                <a:cs typeface="2  Nazanin" panose="00000400000000000000" pitchFamily="2" charset="-78"/>
                <a:hlinkClick r:id="rId6"/>
              </a:rPr>
              <a:t>Mr. Ranedeer</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a:buNone/>
            </a:pPr>
            <a:r>
              <a:rPr lang="ar-SA" sz="1800" b="1">
                <a:effectLst/>
                <a:latin typeface="Arial" panose="020B0604020202020204" pitchFamily="34" charset="0"/>
                <a:ea typeface="Aptos" panose="020B0004020202020204" pitchFamily="34" charset="0"/>
                <a:cs typeface="2  Nazanin" panose="00000400000000000000" pitchFamily="2" charset="-78"/>
              </a:rPr>
              <a:t>کاربرد</a:t>
            </a:r>
            <a:r>
              <a:rPr lang="fa-IR" sz="1800" b="1">
                <a:effectLst/>
                <a:latin typeface="Arial" panose="020B0604020202020204" pitchFamily="34" charset="0"/>
                <a:ea typeface="Aptos" panose="020B0004020202020204" pitchFamily="34" charset="0"/>
                <a:cs typeface="2  Nazanin" panose="00000400000000000000" pitchFamily="2" charset="-78"/>
              </a:rPr>
              <a:t>:</a:t>
            </a:r>
            <a:r>
              <a:rPr lang="fa-IR" sz="1800">
                <a:effectLst/>
                <a:latin typeface="Arial" panose="020B0604020202020204" pitchFamily="34" charset="0"/>
                <a:ea typeface="Aptos" panose="020B0004020202020204" pitchFamily="34" charset="0"/>
                <a:cs typeface="2  Nazanin" panose="00000400000000000000" pitchFamily="2" charset="-78"/>
              </a:rPr>
              <a:t> </a:t>
            </a:r>
            <a:r>
              <a:rPr lang="ar-SA" sz="1800">
                <a:effectLst/>
                <a:latin typeface="Arial" panose="020B0604020202020204" pitchFamily="34" charset="0"/>
                <a:ea typeface="Aptos" panose="020B0004020202020204" pitchFamily="34" charset="0"/>
                <a:cs typeface="2  Nazanin" panose="00000400000000000000" pitchFamily="2" charset="-78"/>
              </a:rPr>
              <a:t>ایجاد برنامه‌های درسی و آزمون‌های سفارشی</a:t>
            </a:r>
            <a:endParaRPr lang="fa-IR"/>
          </a:p>
        </p:txBody>
      </p:sp>
      <p:sp>
        <p:nvSpPr>
          <p:cNvPr id="2" name="TextBox 1">
            <a:extLst>
              <a:ext uri="{FF2B5EF4-FFF2-40B4-BE49-F238E27FC236}">
                <a16:creationId xmlns:a16="http://schemas.microsoft.com/office/drawing/2014/main" id="{51C8220A-2EF5-7959-8352-F92FEBB4BE69}"/>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64</a:t>
            </a:r>
            <a:endParaRPr lang="fa-IR" sz="1200"/>
          </a:p>
        </p:txBody>
      </p:sp>
    </p:spTree>
    <p:extLst>
      <p:ext uri="{BB962C8B-B14F-4D97-AF65-F5344CB8AC3E}">
        <p14:creationId xmlns:p14="http://schemas.microsoft.com/office/powerpoint/2010/main" val="281871866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90D03-64D4-69D2-176F-2541551DA42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0437B61-5B17-434C-5587-50A2E26C971E}"/>
              </a:ext>
            </a:extLst>
          </p:cNvPr>
          <p:cNvSpPr txBox="1"/>
          <p:nvPr/>
        </p:nvSpPr>
        <p:spPr>
          <a:xfrm>
            <a:off x="1387366" y="343663"/>
            <a:ext cx="7425558" cy="658642"/>
          </a:xfrm>
          <a:prstGeom prst="rect">
            <a:avLst/>
          </a:prstGeom>
          <a:noFill/>
        </p:spPr>
        <p:txBody>
          <a:bodyPr wrap="square">
            <a:spAutoFit/>
          </a:bodyPr>
          <a:lstStyle/>
          <a:p>
            <a:pPr algn="r" rtl="1">
              <a:lnSpc>
                <a:spcPct val="115000"/>
              </a:lnSpc>
              <a:spcAft>
                <a:spcPts val="800"/>
              </a:spcAft>
            </a:pPr>
            <a:r>
              <a:rPr lang="ar-SA" sz="3200" b="1" kern="100">
                <a:effectLst/>
                <a:latin typeface="Arial" panose="020B0604020202020204" pitchFamily="34" charset="0"/>
                <a:ea typeface="Aptos" panose="020B0004020202020204" pitchFamily="34" charset="0"/>
                <a:cs typeface="2  Titr" panose="00000700000000000000" pitchFamily="2" charset="-78"/>
              </a:rPr>
              <a:t>چند </a:t>
            </a:r>
            <a:r>
              <a:rPr lang="en-US" sz="3200" b="1" kern="100">
                <a:effectLst/>
                <a:latin typeface="Arial" panose="020B0604020202020204" pitchFamily="34" charset="0"/>
                <a:ea typeface="Aptos" panose="020B0004020202020204" pitchFamily="34" charset="0"/>
                <a:cs typeface="2  Titr" panose="00000700000000000000" pitchFamily="2" charset="-78"/>
              </a:rPr>
              <a:t>GPT</a:t>
            </a:r>
            <a:r>
              <a:rPr lang="en-US" sz="3200" b="1" kern="100">
                <a:effectLst/>
                <a:latin typeface="2  Titr" panose="00000700000000000000" pitchFamily="2" charset="-78"/>
                <a:ea typeface="Aptos" panose="020B0004020202020204" pitchFamily="34" charset="0"/>
                <a:cs typeface="2  Nazanin" panose="00000400000000000000" pitchFamily="2" charset="-78"/>
              </a:rPr>
              <a:t> </a:t>
            </a:r>
            <a:r>
              <a:rPr lang="fa-IR" sz="3200" b="1" kern="100">
                <a:effectLst/>
                <a:latin typeface="2  Titr" panose="00000700000000000000" pitchFamily="2" charset="-78"/>
                <a:ea typeface="Aptos" panose="020B0004020202020204" pitchFamily="34" charset="0"/>
                <a:cs typeface="2  Nazanin" panose="00000400000000000000" pitchFamily="2" charset="-78"/>
              </a:rPr>
              <a:t> </a:t>
            </a:r>
            <a:r>
              <a:rPr lang="ar-SA" sz="3200" b="1" kern="100">
                <a:effectLst/>
                <a:latin typeface="Arial" panose="020B0604020202020204" pitchFamily="34" charset="0"/>
                <a:ea typeface="Aptos" panose="020B0004020202020204" pitchFamily="34" charset="0"/>
                <a:cs typeface="2  Titr" panose="00000700000000000000" pitchFamily="2" charset="-78"/>
              </a:rPr>
              <a:t>سفارشی محبوب و مفید برای مربیان</a:t>
            </a:r>
            <a:endParaRPr lang="en-US" sz="3600" kern="100">
              <a:effectLst/>
              <a:latin typeface="Arial" panose="020B0604020202020204" pitchFamily="34" charset="0"/>
              <a:ea typeface="Aptos" panose="020B0004020202020204" pitchFamily="34" charset="0"/>
              <a:cs typeface="2  Nazanin" panose="00000400000000000000" pitchFamily="2" charset="-78"/>
            </a:endParaRPr>
          </a:p>
        </p:txBody>
      </p:sp>
      <p:sp>
        <p:nvSpPr>
          <p:cNvPr id="15" name="TextBox 14">
            <a:extLst>
              <a:ext uri="{FF2B5EF4-FFF2-40B4-BE49-F238E27FC236}">
                <a16:creationId xmlns:a16="http://schemas.microsoft.com/office/drawing/2014/main" id="{647A8164-7E50-9512-66DD-D39A64F86468}"/>
              </a:ext>
            </a:extLst>
          </p:cNvPr>
          <p:cNvSpPr txBox="1"/>
          <p:nvPr/>
        </p:nvSpPr>
        <p:spPr>
          <a:xfrm>
            <a:off x="4351283" y="1271415"/>
            <a:ext cx="4572000" cy="790473"/>
          </a:xfrm>
          <a:prstGeom prst="rect">
            <a:avLst/>
          </a:prstGeom>
          <a:noFill/>
        </p:spPr>
        <p:txBody>
          <a:bodyPr wrap="square">
            <a:spAutoFit/>
          </a:bodyPr>
          <a:lstStyle/>
          <a:p>
            <a:pPr algn="r" rtl="1">
              <a:lnSpc>
                <a:spcPct val="115000"/>
              </a:lnSpc>
              <a:spcAft>
                <a:spcPts val="800"/>
              </a:spcAft>
              <a:buNone/>
            </a:pPr>
            <a:r>
              <a:rPr lang="fa-IR" sz="1800" b="1" kern="100">
                <a:effectLst/>
                <a:latin typeface="Arial" panose="020B0604020202020204" pitchFamily="34" charset="0"/>
                <a:ea typeface="Aptos" panose="020B0004020202020204" pitchFamily="34" charset="0"/>
                <a:cs typeface="Segoe UI Emoji" panose="020B0502040204020203" pitchFamily="34" charset="0"/>
              </a:rPr>
              <a:t>🧾</a:t>
            </a:r>
            <a:r>
              <a:rPr lang="fa-IR" sz="1800" b="1" kern="100">
                <a:effectLst/>
                <a:latin typeface="Arial" panose="020B0604020202020204" pitchFamily="34" charset="0"/>
                <a:ea typeface="Aptos" panose="020B0004020202020204" pitchFamily="34" charset="0"/>
                <a:cs typeface="Times New Roman" panose="02020603050405020304" pitchFamily="18" charset="0"/>
              </a:rPr>
              <a:t> 6. </a:t>
            </a:r>
            <a:r>
              <a:rPr lang="en-US" sz="1800" b="1" u="sng" kern="100">
                <a:solidFill>
                  <a:srgbClr val="467886"/>
                </a:solidFill>
                <a:effectLst/>
                <a:latin typeface="Arial" panose="020B0604020202020204" pitchFamily="34" charset="0"/>
                <a:ea typeface="Aptos" panose="020B0004020202020204" pitchFamily="34" charset="0"/>
                <a:cs typeface="2  Nazanin" panose="00000400000000000000" pitchFamily="2" charset="-78"/>
                <a:hlinkClick r:id="rId2"/>
              </a:rPr>
              <a:t>Monsha Quiz Maker</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algn="r" rtl="1">
              <a:buNone/>
            </a:pPr>
            <a:r>
              <a:rPr lang="ar-SA" sz="1800" b="1">
                <a:effectLst/>
                <a:latin typeface="Arial" panose="020B0604020202020204" pitchFamily="34" charset="0"/>
                <a:ea typeface="Aptos" panose="020B0004020202020204" pitchFamily="34" charset="0"/>
                <a:cs typeface="2  Nazanin" panose="00000400000000000000" pitchFamily="2" charset="-78"/>
              </a:rPr>
              <a:t>کاربرد</a:t>
            </a:r>
            <a:r>
              <a:rPr lang="fa-IR" sz="1800" b="1">
                <a:effectLst/>
                <a:latin typeface="Arial" panose="020B0604020202020204" pitchFamily="34" charset="0"/>
                <a:ea typeface="Aptos" panose="020B0004020202020204" pitchFamily="34" charset="0"/>
                <a:cs typeface="2  Nazanin" panose="00000400000000000000" pitchFamily="2" charset="-78"/>
              </a:rPr>
              <a:t>:</a:t>
            </a:r>
            <a:r>
              <a:rPr lang="fa-IR" sz="1800">
                <a:effectLst/>
                <a:latin typeface="Arial" panose="020B0604020202020204" pitchFamily="34" charset="0"/>
                <a:ea typeface="Aptos" panose="020B0004020202020204" pitchFamily="34" charset="0"/>
                <a:cs typeface="2  Nazanin" panose="00000400000000000000" pitchFamily="2" charset="-78"/>
              </a:rPr>
              <a:t> </a:t>
            </a:r>
            <a:r>
              <a:rPr lang="ar-SA" sz="1800">
                <a:effectLst/>
                <a:latin typeface="Arial" panose="020B0604020202020204" pitchFamily="34" charset="0"/>
                <a:ea typeface="Aptos" panose="020B0004020202020204" pitchFamily="34" charset="0"/>
                <a:cs typeface="2  Nazanin" panose="00000400000000000000" pitchFamily="2" charset="-78"/>
              </a:rPr>
              <a:t>ایجاد آزمون‌ها و ارزیابی‌های متنوع</a:t>
            </a:r>
            <a:endParaRPr lang="fa-IR"/>
          </a:p>
        </p:txBody>
      </p:sp>
      <p:sp>
        <p:nvSpPr>
          <p:cNvPr id="4" name="TextBox 3">
            <a:extLst>
              <a:ext uri="{FF2B5EF4-FFF2-40B4-BE49-F238E27FC236}">
                <a16:creationId xmlns:a16="http://schemas.microsoft.com/office/drawing/2014/main" id="{C99C748B-8D9D-DE3E-C377-9B2AAE08446C}"/>
              </a:ext>
            </a:extLst>
          </p:cNvPr>
          <p:cNvSpPr txBox="1"/>
          <p:nvPr/>
        </p:nvSpPr>
        <p:spPr>
          <a:xfrm>
            <a:off x="2995448" y="2339554"/>
            <a:ext cx="5927835" cy="1067472"/>
          </a:xfrm>
          <a:prstGeom prst="rect">
            <a:avLst/>
          </a:prstGeom>
          <a:noFill/>
        </p:spPr>
        <p:txBody>
          <a:bodyPr wrap="square">
            <a:spAutoFit/>
          </a:bodyPr>
          <a:lstStyle/>
          <a:p>
            <a:pPr algn="r" rtl="1">
              <a:lnSpc>
                <a:spcPct val="115000"/>
              </a:lnSpc>
              <a:spcAft>
                <a:spcPts val="800"/>
              </a:spcAft>
              <a:buNone/>
            </a:pPr>
            <a:r>
              <a:rPr lang="fa-IR" sz="1800" b="1" kern="100">
                <a:effectLst/>
                <a:latin typeface="Arial" panose="020B0604020202020204" pitchFamily="34" charset="0"/>
                <a:ea typeface="Aptos" panose="020B0004020202020204" pitchFamily="34" charset="0"/>
                <a:cs typeface="Segoe UI Emoji" panose="020B0502040204020203" pitchFamily="34" charset="0"/>
              </a:rPr>
              <a:t>🌍</a:t>
            </a:r>
            <a:r>
              <a:rPr lang="fa-IR" sz="1800" b="1" kern="100">
                <a:effectLst/>
                <a:latin typeface="Arial" panose="020B0604020202020204" pitchFamily="34" charset="0"/>
                <a:ea typeface="Aptos" panose="020B0004020202020204" pitchFamily="34" charset="0"/>
                <a:cs typeface="Times New Roman" panose="02020603050405020304" pitchFamily="18" charset="0"/>
              </a:rPr>
              <a:t> 7. </a:t>
            </a:r>
            <a:r>
              <a:rPr lang="en-US" sz="1800" b="1" u="sng" kern="100">
                <a:solidFill>
                  <a:srgbClr val="467886"/>
                </a:solidFill>
                <a:effectLst/>
                <a:latin typeface="Arial" panose="020B0604020202020204" pitchFamily="34" charset="0"/>
                <a:ea typeface="Aptos" panose="020B0004020202020204" pitchFamily="34" charset="0"/>
                <a:cs typeface="2  Nazanin" panose="00000400000000000000" pitchFamily="2" charset="-78"/>
                <a:hlinkClick r:id="rId3"/>
              </a:rPr>
              <a:t>Ms. Smith – Private Language Teacher</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algn="r">
              <a:buNone/>
            </a:pPr>
            <a:r>
              <a:rPr lang="ar-SA" sz="1800" b="1">
                <a:effectLst/>
                <a:latin typeface="Arial" panose="020B0604020202020204" pitchFamily="34" charset="0"/>
                <a:ea typeface="Aptos" panose="020B0004020202020204" pitchFamily="34" charset="0"/>
                <a:cs typeface="2  Nazanin" panose="00000400000000000000" pitchFamily="2" charset="-78"/>
              </a:rPr>
              <a:t>کاربرد</a:t>
            </a:r>
            <a:r>
              <a:rPr lang="fa-IR" sz="1800" b="1">
                <a:effectLst/>
                <a:latin typeface="Arial" panose="020B0604020202020204" pitchFamily="34" charset="0"/>
                <a:ea typeface="Aptos" panose="020B0004020202020204" pitchFamily="34" charset="0"/>
                <a:cs typeface="2  Nazanin" panose="00000400000000000000" pitchFamily="2" charset="-78"/>
              </a:rPr>
              <a:t>:</a:t>
            </a:r>
            <a:r>
              <a:rPr lang="fa-IR" sz="1800">
                <a:effectLst/>
                <a:latin typeface="Arial" panose="020B0604020202020204" pitchFamily="34" charset="0"/>
                <a:ea typeface="Aptos" panose="020B0004020202020204" pitchFamily="34" charset="0"/>
                <a:cs typeface="2  Nazanin" panose="00000400000000000000" pitchFamily="2" charset="-78"/>
              </a:rPr>
              <a:t> </a:t>
            </a:r>
            <a:r>
              <a:rPr lang="ar-SA" sz="1800">
                <a:effectLst/>
                <a:latin typeface="Arial" panose="020B0604020202020204" pitchFamily="34" charset="0"/>
                <a:ea typeface="Aptos" panose="020B0004020202020204" pitchFamily="34" charset="0"/>
                <a:cs typeface="2  Nazanin" panose="00000400000000000000" pitchFamily="2" charset="-78"/>
              </a:rPr>
              <a:t>تدریس زبان‌های خارجی با تمرکز بر مکالمه</a:t>
            </a:r>
            <a:br>
              <a:rPr lang="en-US" sz="1800">
                <a:effectLst/>
                <a:latin typeface="Arial" panose="020B0604020202020204" pitchFamily="34" charset="0"/>
                <a:ea typeface="Aptos" panose="020B0004020202020204" pitchFamily="34" charset="0"/>
                <a:cs typeface="2  Nazanin" panose="00000400000000000000" pitchFamily="2" charset="-78"/>
              </a:rPr>
            </a:br>
            <a:endParaRPr lang="fa-IR"/>
          </a:p>
        </p:txBody>
      </p:sp>
      <p:sp>
        <p:nvSpPr>
          <p:cNvPr id="8" name="TextBox 7">
            <a:extLst>
              <a:ext uri="{FF2B5EF4-FFF2-40B4-BE49-F238E27FC236}">
                <a16:creationId xmlns:a16="http://schemas.microsoft.com/office/drawing/2014/main" id="{7717BC7A-AA31-8E9B-2412-54CD615F9CB8}"/>
              </a:ext>
            </a:extLst>
          </p:cNvPr>
          <p:cNvSpPr txBox="1"/>
          <p:nvPr/>
        </p:nvSpPr>
        <p:spPr>
          <a:xfrm>
            <a:off x="4351283" y="3371529"/>
            <a:ext cx="4572000" cy="1067472"/>
          </a:xfrm>
          <a:prstGeom prst="rect">
            <a:avLst/>
          </a:prstGeom>
          <a:noFill/>
        </p:spPr>
        <p:txBody>
          <a:bodyPr wrap="square">
            <a:spAutoFit/>
          </a:bodyPr>
          <a:lstStyle/>
          <a:p>
            <a:pPr algn="r" rtl="1">
              <a:lnSpc>
                <a:spcPct val="115000"/>
              </a:lnSpc>
              <a:spcAft>
                <a:spcPts val="800"/>
              </a:spcAft>
              <a:buNone/>
            </a:pPr>
            <a:r>
              <a:rPr lang="fa-IR" sz="1800" b="1" kern="100">
                <a:effectLst/>
                <a:latin typeface="Arial" panose="020B0604020202020204" pitchFamily="34" charset="0"/>
                <a:ea typeface="Aptos" panose="020B0004020202020204" pitchFamily="34" charset="0"/>
                <a:cs typeface="Segoe UI Emoji" panose="020B0502040204020203" pitchFamily="34" charset="0"/>
              </a:rPr>
              <a:t>🧩</a:t>
            </a:r>
            <a:r>
              <a:rPr lang="fa-IR" sz="1800" b="1" kern="100">
                <a:effectLst/>
                <a:latin typeface="Arial" panose="020B0604020202020204" pitchFamily="34" charset="0"/>
                <a:ea typeface="Aptos" panose="020B0004020202020204" pitchFamily="34" charset="0"/>
                <a:cs typeface="Times New Roman" panose="02020603050405020304" pitchFamily="18" charset="0"/>
              </a:rPr>
              <a:t> 8. </a:t>
            </a:r>
            <a:r>
              <a:rPr lang="en-US" sz="1800" b="1" u="sng" kern="100">
                <a:solidFill>
                  <a:srgbClr val="467886"/>
                </a:solidFill>
                <a:effectLst/>
                <a:latin typeface="Arial" panose="020B0604020202020204" pitchFamily="34" charset="0"/>
                <a:ea typeface="Aptos" panose="020B0004020202020204" pitchFamily="34" charset="0"/>
                <a:cs typeface="2  Nazanin" panose="00000400000000000000" pitchFamily="2" charset="-78"/>
                <a:hlinkClick r:id="rId4"/>
              </a:rPr>
              <a:t>CK-12 Flexi</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algn="r" rtl="1">
              <a:buNone/>
            </a:pPr>
            <a:r>
              <a:rPr lang="ar-SA" sz="1800" b="1">
                <a:effectLst/>
                <a:latin typeface="Arial" panose="020B0604020202020204" pitchFamily="34" charset="0"/>
                <a:ea typeface="Aptos" panose="020B0004020202020204" pitchFamily="34" charset="0"/>
                <a:cs typeface="2  Nazanin" panose="00000400000000000000" pitchFamily="2" charset="-78"/>
              </a:rPr>
              <a:t>کاربرد</a:t>
            </a:r>
            <a:r>
              <a:rPr lang="fa-IR" sz="1800" b="1">
                <a:effectLst/>
                <a:latin typeface="Arial" panose="020B0604020202020204" pitchFamily="34" charset="0"/>
                <a:ea typeface="Aptos" panose="020B0004020202020204" pitchFamily="34" charset="0"/>
                <a:cs typeface="2  Nazanin" panose="00000400000000000000" pitchFamily="2" charset="-78"/>
              </a:rPr>
              <a:t>:</a:t>
            </a:r>
            <a:r>
              <a:rPr lang="fa-IR" sz="1800">
                <a:effectLst/>
                <a:latin typeface="Arial" panose="020B0604020202020204" pitchFamily="34" charset="0"/>
                <a:ea typeface="Aptos" panose="020B0004020202020204" pitchFamily="34" charset="0"/>
                <a:cs typeface="2  Nazanin" panose="00000400000000000000" pitchFamily="2" charset="-78"/>
              </a:rPr>
              <a:t> </a:t>
            </a:r>
            <a:r>
              <a:rPr lang="ar-SA" sz="1800">
                <a:effectLst/>
                <a:latin typeface="Arial" panose="020B0604020202020204" pitchFamily="34" charset="0"/>
                <a:ea typeface="Aptos" panose="020B0004020202020204" pitchFamily="34" charset="0"/>
                <a:cs typeface="2  Nazanin" panose="00000400000000000000" pitchFamily="2" charset="-78"/>
              </a:rPr>
              <a:t>آموزش ریاضی و علوم با روش‌های تعاملی</a:t>
            </a:r>
            <a:br>
              <a:rPr lang="en-US" sz="1800">
                <a:effectLst/>
                <a:latin typeface="Arial" panose="020B0604020202020204" pitchFamily="34" charset="0"/>
                <a:ea typeface="Aptos" panose="020B0004020202020204" pitchFamily="34" charset="0"/>
                <a:cs typeface="2  Nazanin" panose="00000400000000000000" pitchFamily="2" charset="-78"/>
              </a:rPr>
            </a:br>
            <a:endParaRPr lang="fa-IR"/>
          </a:p>
        </p:txBody>
      </p:sp>
      <p:sp>
        <p:nvSpPr>
          <p:cNvPr id="12" name="TextBox 11">
            <a:extLst>
              <a:ext uri="{FF2B5EF4-FFF2-40B4-BE49-F238E27FC236}">
                <a16:creationId xmlns:a16="http://schemas.microsoft.com/office/drawing/2014/main" id="{F31AC074-E4B4-362E-C33E-D206DE1D8F97}"/>
              </a:ext>
            </a:extLst>
          </p:cNvPr>
          <p:cNvSpPr txBox="1"/>
          <p:nvPr/>
        </p:nvSpPr>
        <p:spPr>
          <a:xfrm>
            <a:off x="4240924" y="4439001"/>
            <a:ext cx="4572000" cy="790473"/>
          </a:xfrm>
          <a:prstGeom prst="rect">
            <a:avLst/>
          </a:prstGeom>
          <a:noFill/>
        </p:spPr>
        <p:txBody>
          <a:bodyPr wrap="square">
            <a:spAutoFit/>
          </a:bodyPr>
          <a:lstStyle/>
          <a:p>
            <a:pPr algn="r" rtl="1">
              <a:lnSpc>
                <a:spcPct val="115000"/>
              </a:lnSpc>
              <a:spcAft>
                <a:spcPts val="800"/>
              </a:spcAft>
              <a:buNone/>
            </a:pPr>
            <a:r>
              <a:rPr lang="fa-IR" sz="1800" b="1" kern="100">
                <a:effectLst/>
                <a:latin typeface="Arial" panose="020B0604020202020204" pitchFamily="34" charset="0"/>
                <a:ea typeface="Aptos" panose="020B0004020202020204" pitchFamily="34" charset="0"/>
                <a:cs typeface="Segoe UI Emoji" panose="020B0502040204020203" pitchFamily="34" charset="0"/>
              </a:rPr>
              <a:t>🎨</a:t>
            </a:r>
            <a:r>
              <a:rPr lang="fa-IR" sz="1800" b="1" kern="100">
                <a:effectLst/>
                <a:latin typeface="Arial" panose="020B0604020202020204" pitchFamily="34" charset="0"/>
                <a:ea typeface="Aptos" panose="020B0004020202020204" pitchFamily="34" charset="0"/>
                <a:cs typeface="Times New Roman" panose="02020603050405020304" pitchFamily="18" charset="0"/>
              </a:rPr>
              <a:t> 9. </a:t>
            </a:r>
            <a:r>
              <a:rPr lang="en-US" sz="1800" b="1" u="sng" kern="100">
                <a:solidFill>
                  <a:srgbClr val="467886"/>
                </a:solidFill>
                <a:effectLst/>
                <a:latin typeface="Arial" panose="020B0604020202020204" pitchFamily="34" charset="0"/>
                <a:ea typeface="Aptos" panose="020B0004020202020204" pitchFamily="34" charset="0"/>
                <a:cs typeface="2  Nazanin" panose="00000400000000000000" pitchFamily="2" charset="-78"/>
                <a:hlinkClick r:id="rId5"/>
              </a:rPr>
              <a:t>Canva GPT</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algn="r" rtl="1">
              <a:buNone/>
            </a:pPr>
            <a:r>
              <a:rPr lang="ar-SA" sz="1800" b="1">
                <a:effectLst/>
                <a:latin typeface="Arial" panose="020B0604020202020204" pitchFamily="34" charset="0"/>
                <a:ea typeface="Aptos" panose="020B0004020202020204" pitchFamily="34" charset="0"/>
                <a:cs typeface="2  Nazanin" panose="00000400000000000000" pitchFamily="2" charset="-78"/>
              </a:rPr>
              <a:t>کاربرد</a:t>
            </a:r>
            <a:r>
              <a:rPr lang="fa-IR" sz="1800" b="1">
                <a:effectLst/>
                <a:latin typeface="Arial" panose="020B0604020202020204" pitchFamily="34" charset="0"/>
                <a:ea typeface="Aptos" panose="020B0004020202020204" pitchFamily="34" charset="0"/>
                <a:cs typeface="2  Nazanin" panose="00000400000000000000" pitchFamily="2" charset="-78"/>
              </a:rPr>
              <a:t>:</a:t>
            </a:r>
            <a:r>
              <a:rPr lang="fa-IR" sz="1800">
                <a:effectLst/>
                <a:latin typeface="Arial" panose="020B0604020202020204" pitchFamily="34" charset="0"/>
                <a:ea typeface="Aptos" panose="020B0004020202020204" pitchFamily="34" charset="0"/>
                <a:cs typeface="2  Nazanin" panose="00000400000000000000" pitchFamily="2" charset="-78"/>
              </a:rPr>
              <a:t> </a:t>
            </a:r>
            <a:r>
              <a:rPr lang="ar-SA" sz="1800">
                <a:effectLst/>
                <a:latin typeface="Arial" panose="020B0604020202020204" pitchFamily="34" charset="0"/>
                <a:ea typeface="Aptos" panose="020B0004020202020204" pitchFamily="34" charset="0"/>
                <a:cs typeface="2  Nazanin" panose="00000400000000000000" pitchFamily="2" charset="-78"/>
              </a:rPr>
              <a:t>طراحی گرافیکی برای مطالب آموزشی</a:t>
            </a:r>
            <a:endParaRPr lang="fa-IR"/>
          </a:p>
        </p:txBody>
      </p:sp>
      <p:sp>
        <p:nvSpPr>
          <p:cNvPr id="16" name="TextBox 15">
            <a:extLst>
              <a:ext uri="{FF2B5EF4-FFF2-40B4-BE49-F238E27FC236}">
                <a16:creationId xmlns:a16="http://schemas.microsoft.com/office/drawing/2014/main" id="{F0279AFB-B451-19C8-E9E6-23F0FC1E2F1B}"/>
              </a:ext>
            </a:extLst>
          </p:cNvPr>
          <p:cNvSpPr txBox="1"/>
          <p:nvPr/>
        </p:nvSpPr>
        <p:spPr>
          <a:xfrm>
            <a:off x="3594538" y="5436691"/>
            <a:ext cx="5218386" cy="790473"/>
          </a:xfrm>
          <a:prstGeom prst="rect">
            <a:avLst/>
          </a:prstGeom>
          <a:noFill/>
        </p:spPr>
        <p:txBody>
          <a:bodyPr wrap="square">
            <a:spAutoFit/>
          </a:bodyPr>
          <a:lstStyle/>
          <a:p>
            <a:pPr algn="r" rtl="1">
              <a:lnSpc>
                <a:spcPct val="115000"/>
              </a:lnSpc>
              <a:spcAft>
                <a:spcPts val="800"/>
              </a:spcAft>
              <a:buNone/>
            </a:pPr>
            <a:r>
              <a:rPr lang="fa-IR" sz="1800" b="1" kern="100">
                <a:effectLst/>
                <a:latin typeface="Arial" panose="020B0604020202020204" pitchFamily="34" charset="0"/>
                <a:ea typeface="Aptos" panose="020B0004020202020204" pitchFamily="34" charset="0"/>
                <a:cs typeface="Segoe UI Emoji" panose="020B0502040204020203" pitchFamily="34" charset="0"/>
              </a:rPr>
              <a:t>🧠</a:t>
            </a:r>
            <a:r>
              <a:rPr lang="fa-IR" sz="1800" b="1" kern="100">
                <a:effectLst/>
                <a:latin typeface="Arial" panose="020B0604020202020204" pitchFamily="34" charset="0"/>
                <a:ea typeface="Aptos" panose="020B0004020202020204" pitchFamily="34" charset="0"/>
                <a:cs typeface="Times New Roman" panose="02020603050405020304" pitchFamily="18" charset="0"/>
              </a:rPr>
              <a:t> 10. </a:t>
            </a:r>
            <a:r>
              <a:rPr lang="en-US" sz="1800" b="1" u="sng" kern="100">
                <a:solidFill>
                  <a:srgbClr val="467886"/>
                </a:solidFill>
                <a:effectLst/>
                <a:latin typeface="Arial" panose="020B0604020202020204" pitchFamily="34" charset="0"/>
                <a:ea typeface="Aptos" panose="020B0004020202020204" pitchFamily="34" charset="0"/>
                <a:cs typeface="2  Nazanin" panose="00000400000000000000" pitchFamily="2" charset="-78"/>
                <a:hlinkClick r:id="rId6"/>
              </a:rPr>
              <a:t>AI Humanizer</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algn="r" rtl="1">
              <a:buNone/>
            </a:pPr>
            <a:r>
              <a:rPr lang="ar-SA" sz="1800" b="1">
                <a:effectLst/>
                <a:latin typeface="Arial" panose="020B0604020202020204" pitchFamily="34" charset="0"/>
                <a:ea typeface="Aptos" panose="020B0004020202020204" pitchFamily="34" charset="0"/>
                <a:cs typeface="2  Nazanin" panose="00000400000000000000" pitchFamily="2" charset="-78"/>
              </a:rPr>
              <a:t>کاربرد</a:t>
            </a:r>
            <a:r>
              <a:rPr lang="fa-IR" sz="1800" b="1">
                <a:effectLst/>
                <a:latin typeface="Arial" panose="020B0604020202020204" pitchFamily="34" charset="0"/>
                <a:ea typeface="Aptos" panose="020B0004020202020204" pitchFamily="34" charset="0"/>
                <a:cs typeface="2  Nazanin" panose="00000400000000000000" pitchFamily="2" charset="-78"/>
              </a:rPr>
              <a:t>:</a:t>
            </a:r>
            <a:r>
              <a:rPr lang="fa-IR" sz="1800">
                <a:effectLst/>
                <a:latin typeface="Arial" panose="020B0604020202020204" pitchFamily="34" charset="0"/>
                <a:ea typeface="Aptos" panose="020B0004020202020204" pitchFamily="34" charset="0"/>
                <a:cs typeface="2  Nazanin" panose="00000400000000000000" pitchFamily="2" charset="-78"/>
              </a:rPr>
              <a:t> </a:t>
            </a:r>
            <a:r>
              <a:rPr lang="ar-SA" sz="1800">
                <a:effectLst/>
                <a:latin typeface="Arial" panose="020B0604020202020204" pitchFamily="34" charset="0"/>
                <a:ea typeface="Aptos" panose="020B0004020202020204" pitchFamily="34" charset="0"/>
                <a:cs typeface="2  Nazanin" panose="00000400000000000000" pitchFamily="2" charset="-78"/>
              </a:rPr>
              <a:t>تبدیل متن‌های تولیدشده توسط </a:t>
            </a:r>
            <a:r>
              <a:rPr lang="en-US" sz="1800">
                <a:effectLst/>
                <a:latin typeface="Arial" panose="020B0604020202020204" pitchFamily="34" charset="0"/>
                <a:ea typeface="Aptos" panose="020B0004020202020204" pitchFamily="34" charset="0"/>
                <a:cs typeface="2  Nazanin" panose="00000400000000000000" pitchFamily="2" charset="-78"/>
              </a:rPr>
              <a:t>AI</a:t>
            </a:r>
            <a:r>
              <a:rPr lang="en-US" sz="1800">
                <a:effectLst/>
                <a:latin typeface="2  Nazanin" panose="00000400000000000000" pitchFamily="2" charset="-78"/>
                <a:ea typeface="Aptos" panose="020B0004020202020204" pitchFamily="34" charset="0"/>
              </a:rPr>
              <a:t> </a:t>
            </a:r>
            <a:r>
              <a:rPr lang="ar-SA" sz="1800">
                <a:effectLst/>
                <a:latin typeface="Arial" panose="020B0604020202020204" pitchFamily="34" charset="0"/>
                <a:ea typeface="Aptos" panose="020B0004020202020204" pitchFamily="34" charset="0"/>
                <a:cs typeface="2  Nazanin" panose="00000400000000000000" pitchFamily="2" charset="-78"/>
              </a:rPr>
              <a:t>به زبان طبیعی و انسانی</a:t>
            </a:r>
            <a:endParaRPr lang="fa-IR"/>
          </a:p>
        </p:txBody>
      </p:sp>
      <p:sp>
        <p:nvSpPr>
          <p:cNvPr id="2" name="TextBox 1">
            <a:extLst>
              <a:ext uri="{FF2B5EF4-FFF2-40B4-BE49-F238E27FC236}">
                <a16:creationId xmlns:a16="http://schemas.microsoft.com/office/drawing/2014/main" id="{14EB1681-B0B1-8DE8-54BC-B4278CE1E4FE}"/>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65</a:t>
            </a:r>
            <a:endParaRPr lang="fa-IR" sz="1200"/>
          </a:p>
        </p:txBody>
      </p:sp>
    </p:spTree>
    <p:extLst>
      <p:ext uri="{BB962C8B-B14F-4D97-AF65-F5344CB8AC3E}">
        <p14:creationId xmlns:p14="http://schemas.microsoft.com/office/powerpoint/2010/main" val="116414823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80834-2DBD-9108-9216-739AC744782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F01DAD1-3EB1-47BE-9110-A81F7E93CEAB}"/>
              </a:ext>
            </a:extLst>
          </p:cNvPr>
          <p:cNvSpPr txBox="1"/>
          <p:nvPr/>
        </p:nvSpPr>
        <p:spPr>
          <a:xfrm>
            <a:off x="536028" y="343663"/>
            <a:ext cx="8276896" cy="640175"/>
          </a:xfrm>
          <a:prstGeom prst="rect">
            <a:avLst/>
          </a:prstGeom>
          <a:noFill/>
        </p:spPr>
        <p:txBody>
          <a:bodyPr wrap="square">
            <a:spAutoFit/>
          </a:bodyPr>
          <a:lstStyle/>
          <a:p>
            <a:pPr algn="r" rtl="1">
              <a:lnSpc>
                <a:spcPct val="115000"/>
              </a:lnSpc>
              <a:spcAft>
                <a:spcPts val="800"/>
              </a:spcAft>
            </a:pPr>
            <a:r>
              <a:rPr lang="ar-SA" sz="3200" b="1" kern="100">
                <a:effectLst/>
                <a:latin typeface="Arial" panose="020B0604020202020204" pitchFamily="34" charset="0"/>
                <a:ea typeface="Aptos" panose="020B0004020202020204" pitchFamily="34" charset="0"/>
                <a:cs typeface="2  Titr" panose="00000700000000000000" pitchFamily="2" charset="-78"/>
              </a:rPr>
              <a:t>💡 چند پروژه پیشنهادی استاندارد </a:t>
            </a:r>
            <a:r>
              <a:rPr lang="fa-IR" sz="3200" b="1" kern="100">
                <a:effectLst/>
                <a:latin typeface="Arial" panose="020B0604020202020204" pitchFamily="34" charset="0"/>
                <a:ea typeface="Aptos" panose="020B0004020202020204" pitchFamily="34" charset="0"/>
                <a:cs typeface="2  Titr" panose="00000700000000000000" pitchFamily="2" charset="-78"/>
              </a:rPr>
              <a:t>نویسی</a:t>
            </a:r>
            <a:endParaRPr lang="en-US" sz="3600" kern="100">
              <a:effectLst/>
              <a:latin typeface="Arial" panose="020B0604020202020204" pitchFamily="34" charset="0"/>
              <a:ea typeface="Aptos" panose="020B0004020202020204" pitchFamily="34" charset="0"/>
              <a:cs typeface="2  Nazanin" panose="00000400000000000000" pitchFamily="2" charset="-78"/>
            </a:endParaRPr>
          </a:p>
        </p:txBody>
      </p:sp>
      <p:sp>
        <p:nvSpPr>
          <p:cNvPr id="5" name="TextBox 4">
            <a:extLst>
              <a:ext uri="{FF2B5EF4-FFF2-40B4-BE49-F238E27FC236}">
                <a16:creationId xmlns:a16="http://schemas.microsoft.com/office/drawing/2014/main" id="{7283105D-FD4C-E994-EB09-57707616B35E}"/>
              </a:ext>
            </a:extLst>
          </p:cNvPr>
          <p:cNvSpPr txBox="1"/>
          <p:nvPr/>
        </p:nvSpPr>
        <p:spPr>
          <a:xfrm>
            <a:off x="536028" y="1103225"/>
            <a:ext cx="8276896" cy="2790508"/>
          </a:xfrm>
          <a:prstGeom prst="rect">
            <a:avLst/>
          </a:prstGeom>
          <a:noFill/>
        </p:spPr>
        <p:txBody>
          <a:bodyPr wrap="square">
            <a:spAutoFit/>
          </a:bodyPr>
          <a:lstStyle/>
          <a:p>
            <a:pPr algn="r" rtl="1">
              <a:spcAft>
                <a:spcPts val="200"/>
              </a:spcAft>
              <a:buNone/>
            </a:pPr>
            <a:r>
              <a:rPr lang="fa-IR" b="1" kern="100">
                <a:effectLst/>
                <a:latin typeface="Arial" panose="020B0604020202020204" pitchFamily="34" charset="0"/>
                <a:ea typeface="Aptos" panose="020B0004020202020204" pitchFamily="34" charset="0"/>
                <a:cs typeface="Segoe UI Emoji" panose="020B0502040204020203" pitchFamily="34" charset="0"/>
              </a:rPr>
              <a:t>✅</a:t>
            </a:r>
            <a:r>
              <a:rPr lang="fa-IR" b="1" kern="100">
                <a:effectLst/>
                <a:latin typeface="Arial" panose="020B0604020202020204" pitchFamily="34" charset="0"/>
                <a:ea typeface="Aptos" panose="020B0004020202020204" pitchFamily="34" charset="0"/>
                <a:cs typeface="Times New Roman" panose="02020603050405020304" pitchFamily="18" charset="0"/>
              </a:rPr>
              <a:t> </a:t>
            </a:r>
            <a:r>
              <a:rPr lang="ar-SA" b="1" kern="100">
                <a:effectLst/>
                <a:latin typeface="Arial" panose="020B0604020202020204" pitchFamily="34" charset="0"/>
                <a:ea typeface="Aptos" panose="020B0004020202020204" pitchFamily="34" charset="0"/>
                <a:cs typeface="2  Nazanin" panose="00000400000000000000" pitchFamily="2" charset="-78"/>
              </a:rPr>
              <a:t>پروژه 1: تولید محتوای درسی با </a:t>
            </a:r>
            <a:r>
              <a:rPr lang="en-US" b="1" kern="100">
                <a:effectLst/>
                <a:latin typeface="Arial" panose="020B0604020202020204" pitchFamily="34" charset="0"/>
                <a:ea typeface="Aptos" panose="020B0004020202020204" pitchFamily="34" charset="0"/>
                <a:cs typeface="2  Nazanin" panose="00000400000000000000" pitchFamily="2" charset="-78"/>
              </a:rPr>
              <a:t>GPT</a:t>
            </a:r>
            <a:endParaRPr lang="en-US" kern="100">
              <a:effectLst/>
              <a:latin typeface="Arial" panose="020B0604020202020204" pitchFamily="34" charset="0"/>
              <a:ea typeface="Aptos" panose="020B0004020202020204" pitchFamily="34" charset="0"/>
              <a:cs typeface="2  Nazanin" panose="00000400000000000000" pitchFamily="2" charset="-78"/>
            </a:endParaRPr>
          </a:p>
          <a:p>
            <a:pPr algn="r" rtl="1">
              <a:spcAft>
                <a:spcPts val="200"/>
              </a:spcAft>
              <a:buNone/>
            </a:pPr>
            <a:r>
              <a:rPr lang="en-US" b="1" kern="100">
                <a:effectLst/>
                <a:latin typeface="Arial" panose="020B0604020202020204" pitchFamily="34" charset="0"/>
                <a:ea typeface="Aptos" panose="020B0004020202020204" pitchFamily="34" charset="0"/>
                <a:cs typeface="2  Nazanin" panose="00000400000000000000" pitchFamily="2" charset="-78"/>
              </a:rPr>
              <a:t>GPT</a:t>
            </a:r>
            <a:r>
              <a:rPr lang="en-US" b="1" kern="100">
                <a:effectLst/>
                <a:latin typeface="2  Nazanin" panose="00000400000000000000" pitchFamily="2" charset="-78"/>
                <a:ea typeface="Aptos" panose="020B0004020202020204" pitchFamily="34" charset="0"/>
                <a:cs typeface="2  Nazanin" panose="00000400000000000000" pitchFamily="2" charset="-78"/>
              </a:rPr>
              <a:t> </a:t>
            </a:r>
            <a:r>
              <a:rPr lang="ar-SA" b="1" kern="100">
                <a:effectLst/>
                <a:latin typeface="Arial" panose="020B0604020202020204" pitchFamily="34" charset="0"/>
                <a:ea typeface="Aptos" panose="020B0004020202020204" pitchFamily="34" charset="0"/>
                <a:cs typeface="2  Nazanin" panose="00000400000000000000" pitchFamily="2" charset="-78"/>
              </a:rPr>
              <a:t>پیشنهادی</a:t>
            </a:r>
            <a:r>
              <a:rPr lang="fa-IR" b="1" kern="100">
                <a:effectLst/>
                <a:latin typeface="Arial" panose="020B0604020202020204" pitchFamily="34" charset="0"/>
                <a:ea typeface="Aptos" panose="020B0004020202020204" pitchFamily="34" charset="0"/>
                <a:cs typeface="2  Nazanin" panose="00000400000000000000" pitchFamily="2" charset="-78"/>
              </a:rPr>
              <a:t>:</a:t>
            </a:r>
            <a:r>
              <a:rPr lang="fa-IR" kern="100">
                <a:effectLst/>
                <a:latin typeface="Arial" panose="020B0604020202020204" pitchFamily="34" charset="0"/>
                <a:ea typeface="Aptos" panose="020B0004020202020204" pitchFamily="34" charset="0"/>
                <a:cs typeface="2  Nazanin" panose="00000400000000000000" pitchFamily="2" charset="-78"/>
              </a:rPr>
              <a:t> </a:t>
            </a:r>
            <a:r>
              <a:rPr lang="en-US" kern="100">
                <a:effectLst/>
                <a:latin typeface="Arial" panose="020B0604020202020204" pitchFamily="34" charset="0"/>
                <a:ea typeface="Aptos" panose="020B0004020202020204" pitchFamily="34" charset="0"/>
                <a:cs typeface="2  Nazanin" panose="00000400000000000000" pitchFamily="2" charset="-78"/>
              </a:rPr>
              <a:t>Educator Pro + Monsha Lesson Planner</a:t>
            </a:r>
          </a:p>
          <a:p>
            <a:pPr marL="342900" lvl="0" indent="-342900" algn="r" rtl="1">
              <a:spcAft>
                <a:spcPts val="200"/>
              </a:spcAft>
              <a:buSzPts val="1000"/>
              <a:buFont typeface="Symbol" panose="05050102010706020507" pitchFamily="18" charset="2"/>
              <a:buChar char=""/>
              <a:tabLst>
                <a:tab pos="457200" algn="l"/>
              </a:tabLst>
            </a:pPr>
            <a:r>
              <a:rPr lang="ar-SA" b="1" kern="100">
                <a:effectLst/>
                <a:latin typeface="Arial" panose="020B0604020202020204" pitchFamily="34" charset="0"/>
                <a:ea typeface="Aptos" panose="020B0004020202020204" pitchFamily="34" charset="0"/>
                <a:cs typeface="2  Nazanin" panose="00000400000000000000" pitchFamily="2" charset="-78"/>
              </a:rPr>
              <a:t>هدف</a:t>
            </a:r>
            <a:r>
              <a:rPr lang="fa-IR" b="1" kern="100">
                <a:effectLst/>
                <a:latin typeface="Arial" panose="020B0604020202020204" pitchFamily="34" charset="0"/>
                <a:ea typeface="Aptos" panose="020B0004020202020204" pitchFamily="34" charset="0"/>
                <a:cs typeface="2  Nazanin" panose="00000400000000000000" pitchFamily="2" charset="-78"/>
              </a:rPr>
              <a:t>:</a:t>
            </a:r>
            <a:r>
              <a:rPr lang="fa-IR" kern="100">
                <a:effectLst/>
                <a:latin typeface="Arial" panose="020B0604020202020204" pitchFamily="34" charset="0"/>
                <a:ea typeface="Aptos" panose="020B0004020202020204" pitchFamily="34" charset="0"/>
                <a:cs typeface="2  Nazanin" panose="00000400000000000000" pitchFamily="2" charset="-78"/>
              </a:rPr>
              <a:t> </a:t>
            </a:r>
            <a:r>
              <a:rPr lang="ar-SA" kern="100">
                <a:effectLst/>
                <a:latin typeface="Arial" panose="020B0604020202020204" pitchFamily="34" charset="0"/>
                <a:ea typeface="Aptos" panose="020B0004020202020204" pitchFamily="34" charset="0"/>
                <a:cs typeface="2  Nazanin" panose="00000400000000000000" pitchFamily="2" charset="-78"/>
              </a:rPr>
              <a:t>آموزش تولید یک محتوای درسی استاندارد با استفاده از </a:t>
            </a:r>
            <a:r>
              <a:rPr lang="en-US" kern="100">
                <a:effectLst/>
                <a:latin typeface="Arial" panose="020B0604020202020204" pitchFamily="34" charset="0"/>
                <a:ea typeface="Aptos" panose="020B0004020202020204" pitchFamily="34" charset="0"/>
                <a:cs typeface="2  Nazanin" panose="00000400000000000000" pitchFamily="2" charset="-78"/>
              </a:rPr>
              <a:t>GPT</a:t>
            </a:r>
          </a:p>
          <a:p>
            <a:pPr marL="342900" lvl="0" indent="-342900" algn="r" rtl="1">
              <a:spcAft>
                <a:spcPts val="200"/>
              </a:spcAft>
              <a:buSzPts val="1000"/>
              <a:buFont typeface="Symbol" panose="05050102010706020507" pitchFamily="18" charset="2"/>
              <a:buChar char=""/>
              <a:tabLst>
                <a:tab pos="457200" algn="l"/>
              </a:tabLst>
            </a:pPr>
            <a:r>
              <a:rPr lang="ar-SA" b="1" kern="100">
                <a:effectLst/>
                <a:latin typeface="Arial" panose="020B0604020202020204" pitchFamily="34" charset="0"/>
                <a:ea typeface="Aptos" panose="020B0004020202020204" pitchFamily="34" charset="0"/>
                <a:cs typeface="2  Nazanin" panose="00000400000000000000" pitchFamily="2" charset="-78"/>
              </a:rPr>
              <a:t>مراحل</a:t>
            </a:r>
            <a:r>
              <a:rPr lang="fa-IR" b="1" kern="100">
                <a:effectLst/>
                <a:latin typeface="Arial" panose="020B0604020202020204" pitchFamily="34" charset="0"/>
                <a:ea typeface="Aptos" panose="020B0004020202020204" pitchFamily="34" charset="0"/>
                <a:cs typeface="2  Nazanin" panose="00000400000000000000" pitchFamily="2" charset="-78"/>
              </a:rPr>
              <a:t>:</a:t>
            </a:r>
            <a:endParaRPr lang="en-US" kern="100">
              <a:effectLst/>
              <a:latin typeface="Arial" panose="020B0604020202020204" pitchFamily="34" charset="0"/>
              <a:ea typeface="Aptos" panose="020B0004020202020204" pitchFamily="34" charset="0"/>
              <a:cs typeface="2  Nazanin" panose="00000400000000000000" pitchFamily="2" charset="-78"/>
            </a:endParaRPr>
          </a:p>
          <a:p>
            <a:pPr marL="742950" lvl="1" indent="-285750" algn="r" rtl="1">
              <a:spcAft>
                <a:spcPts val="200"/>
              </a:spcAft>
              <a:buFont typeface="+mj-lt"/>
              <a:buAutoNum type="arabicPeriod"/>
              <a:tabLst>
                <a:tab pos="914400" algn="l"/>
              </a:tabLst>
            </a:pPr>
            <a:r>
              <a:rPr lang="ar-SA" kern="100">
                <a:effectLst/>
                <a:latin typeface="Arial" panose="020B0604020202020204" pitchFamily="34" charset="0"/>
                <a:ea typeface="Aptos" panose="020B0004020202020204" pitchFamily="34" charset="0"/>
                <a:cs typeface="2  Nazanin" panose="00000400000000000000" pitchFamily="2" charset="-78"/>
              </a:rPr>
              <a:t>انتخاب موضوع درسی (مثلاً "آشنایی با اینترنت")</a:t>
            </a:r>
            <a:endParaRPr lang="en-US" kern="100">
              <a:effectLst/>
              <a:latin typeface="Arial" panose="020B0604020202020204" pitchFamily="34" charset="0"/>
              <a:ea typeface="Aptos" panose="020B0004020202020204" pitchFamily="34" charset="0"/>
              <a:cs typeface="2  Nazanin" panose="00000400000000000000" pitchFamily="2" charset="-78"/>
            </a:endParaRPr>
          </a:p>
          <a:p>
            <a:pPr marL="742950" lvl="1" indent="-285750" algn="r" rtl="1">
              <a:spcAft>
                <a:spcPts val="200"/>
              </a:spcAft>
              <a:buFont typeface="+mj-lt"/>
              <a:buAutoNum type="arabicPeriod"/>
              <a:tabLst>
                <a:tab pos="914400" algn="l"/>
              </a:tabLst>
            </a:pPr>
            <a:r>
              <a:rPr lang="ar-SA" kern="100">
                <a:effectLst/>
                <a:latin typeface="Arial" panose="020B0604020202020204" pitchFamily="34" charset="0"/>
                <a:ea typeface="Aptos" panose="020B0004020202020204" pitchFamily="34" charset="0"/>
                <a:cs typeface="2  Nazanin" panose="00000400000000000000" pitchFamily="2" charset="-78"/>
              </a:rPr>
              <a:t>تولید درس‌نامه، تمرین، آزمون و اهداف یادگیری با </a:t>
            </a:r>
            <a:r>
              <a:rPr lang="en-US" kern="100">
                <a:effectLst/>
                <a:latin typeface="Arial" panose="020B0604020202020204" pitchFamily="34" charset="0"/>
                <a:ea typeface="Aptos" panose="020B0004020202020204" pitchFamily="34" charset="0"/>
                <a:cs typeface="2  Nazanin" panose="00000400000000000000" pitchFamily="2" charset="-78"/>
              </a:rPr>
              <a:t>GPT</a:t>
            </a:r>
          </a:p>
          <a:p>
            <a:pPr marL="742950" lvl="1" indent="-285750" algn="r" rtl="1">
              <a:spcAft>
                <a:spcPts val="200"/>
              </a:spcAft>
              <a:buFont typeface="+mj-lt"/>
              <a:buAutoNum type="arabicPeriod"/>
              <a:tabLst>
                <a:tab pos="914400" algn="l"/>
              </a:tabLst>
            </a:pPr>
            <a:r>
              <a:rPr lang="ar-SA" kern="100">
                <a:effectLst/>
                <a:latin typeface="Arial" panose="020B0604020202020204" pitchFamily="34" charset="0"/>
                <a:ea typeface="Aptos" panose="020B0004020202020204" pitchFamily="34" charset="0"/>
                <a:cs typeface="2  Nazanin" panose="00000400000000000000" pitchFamily="2" charset="-78"/>
              </a:rPr>
              <a:t>ویرایش محتوا با کمک </a:t>
            </a:r>
            <a:r>
              <a:rPr lang="en-US" kern="100">
                <a:effectLst/>
                <a:latin typeface="Arial" panose="020B0604020202020204" pitchFamily="34" charset="0"/>
                <a:ea typeface="Aptos" panose="020B0004020202020204" pitchFamily="34" charset="0"/>
                <a:cs typeface="2  Nazanin" panose="00000400000000000000" pitchFamily="2" charset="-78"/>
              </a:rPr>
              <a:t>AI Humanizer</a:t>
            </a:r>
          </a:p>
          <a:p>
            <a:pPr marL="742950" lvl="1" indent="-285750" algn="r" rtl="1">
              <a:spcAft>
                <a:spcPts val="200"/>
              </a:spcAft>
              <a:buFont typeface="+mj-lt"/>
              <a:buAutoNum type="arabicPeriod"/>
              <a:tabLst>
                <a:tab pos="914400" algn="l"/>
              </a:tabLst>
            </a:pPr>
            <a:r>
              <a:rPr lang="ar-SA" kern="100">
                <a:effectLst/>
                <a:latin typeface="Arial" panose="020B0604020202020204" pitchFamily="34" charset="0"/>
                <a:ea typeface="Aptos" panose="020B0004020202020204" pitchFamily="34" charset="0"/>
                <a:cs typeface="2  Nazanin" panose="00000400000000000000" pitchFamily="2" charset="-78"/>
              </a:rPr>
              <a:t>مستندسازی در فرمت استاندارد </a:t>
            </a:r>
            <a:r>
              <a:rPr lang="en-US" kern="100">
                <a:effectLst/>
                <a:latin typeface="Arial" panose="020B0604020202020204" pitchFamily="34" charset="0"/>
                <a:ea typeface="Aptos" panose="020B0004020202020204" pitchFamily="34" charset="0"/>
                <a:cs typeface="2  Nazanin" panose="00000400000000000000" pitchFamily="2" charset="-78"/>
              </a:rPr>
              <a:t>PDF</a:t>
            </a:r>
          </a:p>
          <a:p>
            <a:pPr marL="342900" lvl="0" indent="-342900" algn="r" rtl="1">
              <a:spcAft>
                <a:spcPts val="200"/>
              </a:spcAft>
              <a:buSzPts val="1000"/>
              <a:buFont typeface="Symbol" panose="05050102010706020507" pitchFamily="18" charset="2"/>
              <a:buChar char=""/>
              <a:tabLst>
                <a:tab pos="457200" algn="l"/>
              </a:tabLst>
            </a:pPr>
            <a:r>
              <a:rPr lang="ar-SA" b="1" kern="100">
                <a:effectLst/>
                <a:latin typeface="Arial" panose="020B0604020202020204" pitchFamily="34" charset="0"/>
                <a:ea typeface="Aptos" panose="020B0004020202020204" pitchFamily="34" charset="0"/>
                <a:cs typeface="2  Nazanin" panose="00000400000000000000" pitchFamily="2" charset="-78"/>
              </a:rPr>
              <a:t>ارزشیابی</a:t>
            </a:r>
            <a:r>
              <a:rPr lang="fa-IR" b="1" kern="100">
                <a:effectLst/>
                <a:latin typeface="Arial" panose="020B0604020202020204" pitchFamily="34" charset="0"/>
                <a:ea typeface="Aptos" panose="020B0004020202020204" pitchFamily="34" charset="0"/>
                <a:cs typeface="2  Nazanin" panose="00000400000000000000" pitchFamily="2" charset="-78"/>
              </a:rPr>
              <a:t>:</a:t>
            </a:r>
            <a:r>
              <a:rPr lang="fa-IR" kern="100">
                <a:effectLst/>
                <a:latin typeface="Arial" panose="020B0604020202020204" pitchFamily="34" charset="0"/>
                <a:ea typeface="Aptos" panose="020B0004020202020204" pitchFamily="34" charset="0"/>
                <a:cs typeface="2  Nazanin" panose="00000400000000000000" pitchFamily="2" charset="-78"/>
              </a:rPr>
              <a:t> </a:t>
            </a:r>
            <a:r>
              <a:rPr lang="ar-SA" kern="100">
                <a:effectLst/>
                <a:latin typeface="Arial" panose="020B0604020202020204" pitchFamily="34" charset="0"/>
                <a:ea typeface="Aptos" panose="020B0004020202020204" pitchFamily="34" charset="0"/>
                <a:cs typeface="2  Nazanin" panose="00000400000000000000" pitchFamily="2" charset="-78"/>
              </a:rPr>
              <a:t>کیفیت محتوای تولیدی + کاربرد آن در تدریس</a:t>
            </a:r>
            <a:endParaRPr lang="en-US" kern="100">
              <a:effectLst/>
              <a:latin typeface="Arial" panose="020B0604020202020204" pitchFamily="34" charset="0"/>
              <a:ea typeface="Aptos" panose="020B0004020202020204" pitchFamily="34" charset="0"/>
              <a:cs typeface="2  Nazanin" panose="00000400000000000000" pitchFamily="2" charset="-78"/>
            </a:endParaRPr>
          </a:p>
        </p:txBody>
      </p:sp>
      <p:sp>
        <p:nvSpPr>
          <p:cNvPr id="7" name="TextBox 6">
            <a:extLst>
              <a:ext uri="{FF2B5EF4-FFF2-40B4-BE49-F238E27FC236}">
                <a16:creationId xmlns:a16="http://schemas.microsoft.com/office/drawing/2014/main" id="{E5208D30-CE72-0DAE-1FDF-8785ADF0FD91}"/>
              </a:ext>
            </a:extLst>
          </p:cNvPr>
          <p:cNvSpPr txBox="1"/>
          <p:nvPr/>
        </p:nvSpPr>
        <p:spPr>
          <a:xfrm>
            <a:off x="1292772" y="3997340"/>
            <a:ext cx="7520152" cy="2585323"/>
          </a:xfrm>
          <a:prstGeom prst="rect">
            <a:avLst/>
          </a:prstGeom>
          <a:noFill/>
        </p:spPr>
        <p:txBody>
          <a:bodyPr wrap="square">
            <a:spAutoFit/>
          </a:bodyPr>
          <a:lstStyle/>
          <a:p>
            <a:pPr algn="r" rtl="1">
              <a:buNone/>
            </a:pPr>
            <a:r>
              <a:rPr lang="fa-IR" b="1" kern="100">
                <a:effectLst/>
                <a:latin typeface="Arial" panose="020B0604020202020204" pitchFamily="34" charset="0"/>
                <a:ea typeface="Aptos" panose="020B0004020202020204" pitchFamily="34" charset="0"/>
                <a:cs typeface="Segoe UI Emoji" panose="020B0502040204020203" pitchFamily="34" charset="0"/>
              </a:rPr>
              <a:t>✅</a:t>
            </a:r>
            <a:r>
              <a:rPr lang="fa-IR" b="1" kern="100">
                <a:effectLst/>
                <a:latin typeface="Arial" panose="020B0604020202020204" pitchFamily="34" charset="0"/>
                <a:ea typeface="Aptos" panose="020B0004020202020204" pitchFamily="34" charset="0"/>
                <a:cs typeface="Times New Roman" panose="02020603050405020304" pitchFamily="18" charset="0"/>
              </a:rPr>
              <a:t> </a:t>
            </a:r>
            <a:r>
              <a:rPr lang="ar-SA" b="1" kern="100">
                <a:effectLst/>
                <a:latin typeface="Arial" panose="020B0604020202020204" pitchFamily="34" charset="0"/>
                <a:ea typeface="Aptos" panose="020B0004020202020204" pitchFamily="34" charset="0"/>
                <a:cs typeface="2  Nazanin" panose="00000400000000000000" pitchFamily="2" charset="-78"/>
              </a:rPr>
              <a:t>پروژه 2: ساخت آزمون دیجیتال</a:t>
            </a:r>
            <a:endParaRPr lang="en-US" kern="100">
              <a:effectLst/>
              <a:latin typeface="Arial" panose="020B0604020202020204" pitchFamily="34" charset="0"/>
              <a:ea typeface="Aptos" panose="020B0004020202020204" pitchFamily="34" charset="0"/>
              <a:cs typeface="2  Nazanin" panose="00000400000000000000" pitchFamily="2" charset="-78"/>
            </a:endParaRPr>
          </a:p>
          <a:p>
            <a:pPr algn="r" rtl="1">
              <a:buNone/>
            </a:pPr>
            <a:r>
              <a:rPr lang="en-US" b="1" kern="100">
                <a:effectLst/>
                <a:latin typeface="Arial" panose="020B0604020202020204" pitchFamily="34" charset="0"/>
                <a:ea typeface="Aptos" panose="020B0004020202020204" pitchFamily="34" charset="0"/>
                <a:cs typeface="2  Nazanin" panose="00000400000000000000" pitchFamily="2" charset="-78"/>
              </a:rPr>
              <a:t>GPT</a:t>
            </a:r>
            <a:r>
              <a:rPr lang="en-US" b="1" kern="100">
                <a:effectLst/>
                <a:latin typeface="2  Nazanin" panose="00000400000000000000" pitchFamily="2" charset="-78"/>
                <a:ea typeface="Aptos" panose="020B0004020202020204" pitchFamily="34" charset="0"/>
                <a:cs typeface="2  Nazanin" panose="00000400000000000000" pitchFamily="2" charset="-78"/>
              </a:rPr>
              <a:t> </a:t>
            </a:r>
            <a:r>
              <a:rPr lang="ar-SA" b="1" kern="100">
                <a:effectLst/>
                <a:latin typeface="Arial" panose="020B0604020202020204" pitchFamily="34" charset="0"/>
                <a:ea typeface="Aptos" panose="020B0004020202020204" pitchFamily="34" charset="0"/>
                <a:cs typeface="2  Nazanin" panose="00000400000000000000" pitchFamily="2" charset="-78"/>
              </a:rPr>
              <a:t>پیشنهادی</a:t>
            </a:r>
            <a:r>
              <a:rPr lang="fa-IR" b="1" kern="100">
                <a:effectLst/>
                <a:latin typeface="Arial" panose="020B0604020202020204" pitchFamily="34" charset="0"/>
                <a:ea typeface="Aptos" panose="020B0004020202020204" pitchFamily="34" charset="0"/>
                <a:cs typeface="2  Nazanin" panose="00000400000000000000" pitchFamily="2" charset="-78"/>
              </a:rPr>
              <a:t>:</a:t>
            </a:r>
            <a:r>
              <a:rPr lang="fa-IR" kern="100">
                <a:effectLst/>
                <a:latin typeface="Arial" panose="020B0604020202020204" pitchFamily="34" charset="0"/>
                <a:ea typeface="Aptos" panose="020B0004020202020204" pitchFamily="34" charset="0"/>
                <a:cs typeface="2  Nazanin" panose="00000400000000000000" pitchFamily="2" charset="-78"/>
              </a:rPr>
              <a:t> </a:t>
            </a:r>
            <a:r>
              <a:rPr lang="en-US" kern="100">
                <a:effectLst/>
                <a:latin typeface="Arial" panose="020B0604020202020204" pitchFamily="34" charset="0"/>
                <a:ea typeface="Aptos" panose="020B0004020202020204" pitchFamily="34" charset="0"/>
                <a:cs typeface="2  Nazanin" panose="00000400000000000000" pitchFamily="2" charset="-78"/>
              </a:rPr>
              <a:t>Monsha Quiz Maker</a:t>
            </a:r>
          </a:p>
          <a:p>
            <a:pPr marL="342900" lvl="0" indent="-342900" algn="r" rtl="1">
              <a:buSzPts val="1000"/>
              <a:buFont typeface="Symbol" panose="05050102010706020507" pitchFamily="18" charset="2"/>
              <a:buChar char=""/>
              <a:tabLst>
                <a:tab pos="457200" algn="l"/>
              </a:tabLst>
            </a:pPr>
            <a:r>
              <a:rPr lang="ar-SA" b="1" kern="100">
                <a:effectLst/>
                <a:latin typeface="Arial" panose="020B0604020202020204" pitchFamily="34" charset="0"/>
                <a:ea typeface="Aptos" panose="020B0004020202020204" pitchFamily="34" charset="0"/>
                <a:cs typeface="2  Nazanin" panose="00000400000000000000" pitchFamily="2" charset="-78"/>
              </a:rPr>
              <a:t>هدف</a:t>
            </a:r>
            <a:r>
              <a:rPr lang="fa-IR" b="1" kern="100">
                <a:effectLst/>
                <a:latin typeface="Arial" panose="020B0604020202020204" pitchFamily="34" charset="0"/>
                <a:ea typeface="Aptos" panose="020B0004020202020204" pitchFamily="34" charset="0"/>
                <a:cs typeface="2  Nazanin" panose="00000400000000000000" pitchFamily="2" charset="-78"/>
              </a:rPr>
              <a:t>:</a:t>
            </a:r>
            <a:r>
              <a:rPr lang="fa-IR" kern="100">
                <a:effectLst/>
                <a:latin typeface="Arial" panose="020B0604020202020204" pitchFamily="34" charset="0"/>
                <a:ea typeface="Aptos" panose="020B0004020202020204" pitchFamily="34" charset="0"/>
                <a:cs typeface="2  Nazanin" panose="00000400000000000000" pitchFamily="2" charset="-78"/>
              </a:rPr>
              <a:t> </a:t>
            </a:r>
            <a:r>
              <a:rPr lang="ar-SA" kern="100">
                <a:effectLst/>
                <a:latin typeface="Arial" panose="020B0604020202020204" pitchFamily="34" charset="0"/>
                <a:ea typeface="Aptos" panose="020B0004020202020204" pitchFamily="34" charset="0"/>
                <a:cs typeface="2  Nazanin" panose="00000400000000000000" pitchFamily="2" charset="-78"/>
              </a:rPr>
              <a:t>طراحی یک آزمون چندگزینه‌ای برای یک مهارت خاص</a:t>
            </a:r>
            <a:endParaRPr lang="en-US" kern="100">
              <a:effectLst/>
              <a:latin typeface="Arial" panose="020B0604020202020204" pitchFamily="34" charset="0"/>
              <a:ea typeface="Aptos" panose="020B0004020202020204" pitchFamily="34" charset="0"/>
              <a:cs typeface="2  Nazanin" panose="00000400000000000000" pitchFamily="2" charset="-78"/>
            </a:endParaRPr>
          </a:p>
          <a:p>
            <a:pPr marL="342900" lvl="0" indent="-342900" algn="r" rtl="1">
              <a:buSzPts val="1000"/>
              <a:buFont typeface="Symbol" panose="05050102010706020507" pitchFamily="18" charset="2"/>
              <a:buChar char=""/>
              <a:tabLst>
                <a:tab pos="457200" algn="l"/>
              </a:tabLst>
            </a:pPr>
            <a:r>
              <a:rPr lang="ar-SA" b="1" kern="100">
                <a:effectLst/>
                <a:latin typeface="Arial" panose="020B0604020202020204" pitchFamily="34" charset="0"/>
                <a:ea typeface="Aptos" panose="020B0004020202020204" pitchFamily="34" charset="0"/>
                <a:cs typeface="2  Nazanin" panose="00000400000000000000" pitchFamily="2" charset="-78"/>
              </a:rPr>
              <a:t>مراحل</a:t>
            </a:r>
            <a:r>
              <a:rPr lang="fa-IR" b="1" kern="100">
                <a:effectLst/>
                <a:latin typeface="Arial" panose="020B0604020202020204" pitchFamily="34" charset="0"/>
                <a:ea typeface="Aptos" panose="020B0004020202020204" pitchFamily="34" charset="0"/>
                <a:cs typeface="2  Nazanin" panose="00000400000000000000" pitchFamily="2" charset="-78"/>
              </a:rPr>
              <a:t>:</a:t>
            </a:r>
            <a:endParaRPr lang="en-US" kern="100">
              <a:effectLst/>
              <a:latin typeface="Arial" panose="020B0604020202020204" pitchFamily="34" charset="0"/>
              <a:ea typeface="Aptos" panose="020B0004020202020204" pitchFamily="34" charset="0"/>
              <a:cs typeface="2  Nazanin" panose="00000400000000000000" pitchFamily="2" charset="-78"/>
            </a:endParaRPr>
          </a:p>
          <a:p>
            <a:pPr marL="742950" lvl="1" indent="-285750" algn="r" rtl="1">
              <a:buFont typeface="+mj-lt"/>
              <a:buAutoNum type="arabicPeriod"/>
              <a:tabLst>
                <a:tab pos="914400" algn="l"/>
              </a:tabLst>
            </a:pPr>
            <a:r>
              <a:rPr lang="ar-SA" kern="100">
                <a:effectLst/>
                <a:latin typeface="Arial" panose="020B0604020202020204" pitchFamily="34" charset="0"/>
                <a:ea typeface="Aptos" panose="020B0004020202020204" pitchFamily="34" charset="0"/>
                <a:cs typeface="2  Nazanin" panose="00000400000000000000" pitchFamily="2" charset="-78"/>
              </a:rPr>
              <a:t>انتخاب موضوع</a:t>
            </a:r>
            <a:r>
              <a:rPr lang="fa-IR" kern="100">
                <a:effectLst/>
                <a:latin typeface="Arial" panose="020B0604020202020204" pitchFamily="34" charset="0"/>
                <a:ea typeface="Aptos" panose="020B0004020202020204" pitchFamily="34" charset="0"/>
                <a:cs typeface="2  Nazanin" panose="00000400000000000000" pitchFamily="2" charset="-78"/>
              </a:rPr>
              <a:t> (</a:t>
            </a:r>
            <a:r>
              <a:rPr lang="ar-SA" kern="100">
                <a:effectLst/>
                <a:latin typeface="Arial" panose="020B0604020202020204" pitchFamily="34" charset="0"/>
                <a:ea typeface="Aptos" panose="020B0004020202020204" pitchFamily="34" charset="0"/>
                <a:cs typeface="2  Nazanin" panose="00000400000000000000" pitchFamily="2" charset="-78"/>
              </a:rPr>
              <a:t>مثلاً </a:t>
            </a:r>
            <a:r>
              <a:rPr lang="en-US" kern="100">
                <a:effectLst/>
                <a:latin typeface="Arial" panose="020B0604020202020204" pitchFamily="34" charset="0"/>
                <a:ea typeface="Aptos" panose="020B0004020202020204" pitchFamily="34" charset="0"/>
                <a:cs typeface="2  Nazanin" panose="00000400000000000000" pitchFamily="2" charset="-78"/>
              </a:rPr>
              <a:t>ICDL Word</a:t>
            </a:r>
            <a:r>
              <a:rPr lang="fa-IR" kern="100">
                <a:effectLst/>
                <a:latin typeface="Arial" panose="020B0604020202020204" pitchFamily="34" charset="0"/>
                <a:ea typeface="Aptos" panose="020B0004020202020204" pitchFamily="34" charset="0"/>
                <a:cs typeface="2  Nazanin" panose="00000400000000000000" pitchFamily="2" charset="-78"/>
              </a:rPr>
              <a:t>)</a:t>
            </a:r>
            <a:endParaRPr lang="en-US" kern="100">
              <a:effectLst/>
              <a:latin typeface="Arial" panose="020B0604020202020204" pitchFamily="34" charset="0"/>
              <a:ea typeface="Aptos" panose="020B0004020202020204" pitchFamily="34" charset="0"/>
              <a:cs typeface="2  Nazanin" panose="00000400000000000000" pitchFamily="2" charset="-78"/>
            </a:endParaRPr>
          </a:p>
          <a:p>
            <a:pPr marL="742950" lvl="1" indent="-285750" algn="r" rtl="1">
              <a:buFont typeface="+mj-lt"/>
              <a:buAutoNum type="arabicPeriod"/>
              <a:tabLst>
                <a:tab pos="914400" algn="l"/>
              </a:tabLst>
            </a:pPr>
            <a:r>
              <a:rPr lang="ar-SA" kern="100">
                <a:effectLst/>
                <a:latin typeface="Arial" panose="020B0604020202020204" pitchFamily="34" charset="0"/>
                <a:ea typeface="Aptos" panose="020B0004020202020204" pitchFamily="34" charset="0"/>
                <a:cs typeface="2  Nazanin" panose="00000400000000000000" pitchFamily="2" charset="-78"/>
              </a:rPr>
              <a:t>تعریف سطح آزمون (مقدماتی یا پیشرفته)</a:t>
            </a:r>
            <a:endParaRPr lang="en-US" kern="100">
              <a:effectLst/>
              <a:latin typeface="Arial" panose="020B0604020202020204" pitchFamily="34" charset="0"/>
              <a:ea typeface="Aptos" panose="020B0004020202020204" pitchFamily="34" charset="0"/>
              <a:cs typeface="2  Nazanin" panose="00000400000000000000" pitchFamily="2" charset="-78"/>
            </a:endParaRPr>
          </a:p>
          <a:p>
            <a:pPr marL="742950" lvl="1" indent="-285750" algn="r" rtl="1">
              <a:buFont typeface="+mj-lt"/>
              <a:buAutoNum type="arabicPeriod"/>
              <a:tabLst>
                <a:tab pos="914400" algn="l"/>
              </a:tabLst>
            </a:pPr>
            <a:r>
              <a:rPr lang="ar-SA" kern="100">
                <a:effectLst/>
                <a:latin typeface="Arial" panose="020B0604020202020204" pitchFamily="34" charset="0"/>
                <a:ea typeface="Aptos" panose="020B0004020202020204" pitchFamily="34" charset="0"/>
                <a:cs typeface="2  Nazanin" panose="00000400000000000000" pitchFamily="2" charset="-78"/>
              </a:rPr>
              <a:t>تولید سوالات توسط </a:t>
            </a:r>
            <a:r>
              <a:rPr lang="en-US" kern="100">
                <a:effectLst/>
                <a:latin typeface="Arial" panose="020B0604020202020204" pitchFamily="34" charset="0"/>
                <a:ea typeface="Aptos" panose="020B0004020202020204" pitchFamily="34" charset="0"/>
                <a:cs typeface="2  Nazanin" panose="00000400000000000000" pitchFamily="2" charset="-78"/>
              </a:rPr>
              <a:t>GPT</a:t>
            </a:r>
            <a:r>
              <a:rPr lang="fa-IR" kern="100">
                <a:effectLst/>
                <a:latin typeface="Arial" panose="020B0604020202020204" pitchFamily="34" charset="0"/>
                <a:ea typeface="Aptos" panose="020B0004020202020204" pitchFamily="34" charset="0"/>
                <a:cs typeface="2  Nazanin" panose="00000400000000000000" pitchFamily="2" charset="-78"/>
              </a:rPr>
              <a:t> (</a:t>
            </a:r>
            <a:r>
              <a:rPr lang="ar-SA" kern="100">
                <a:effectLst/>
                <a:latin typeface="Arial" panose="020B0604020202020204" pitchFamily="34" charset="0"/>
                <a:ea typeface="Aptos" panose="020B0004020202020204" pitchFamily="34" charset="0"/>
                <a:cs typeface="2  Nazanin" panose="00000400000000000000" pitchFamily="2" charset="-78"/>
              </a:rPr>
              <a:t>با سطح‌بندی </a:t>
            </a:r>
            <a:r>
              <a:rPr lang="en-US" kern="100">
                <a:effectLst/>
                <a:latin typeface="Arial" panose="020B0604020202020204" pitchFamily="34" charset="0"/>
                <a:ea typeface="Aptos" panose="020B0004020202020204" pitchFamily="34" charset="0"/>
                <a:cs typeface="2  Nazanin" panose="00000400000000000000" pitchFamily="2" charset="-78"/>
              </a:rPr>
              <a:t>Bloom</a:t>
            </a:r>
            <a:r>
              <a:rPr lang="fa-IR" kern="100">
                <a:effectLst/>
                <a:latin typeface="Arial" panose="020B0604020202020204" pitchFamily="34" charset="0"/>
                <a:ea typeface="Aptos" panose="020B0004020202020204" pitchFamily="34" charset="0"/>
                <a:cs typeface="2  Nazanin" panose="00000400000000000000" pitchFamily="2" charset="-78"/>
              </a:rPr>
              <a:t>)</a:t>
            </a:r>
            <a:endParaRPr lang="en-US" kern="100">
              <a:effectLst/>
              <a:latin typeface="Arial" panose="020B0604020202020204" pitchFamily="34" charset="0"/>
              <a:ea typeface="Aptos" panose="020B0004020202020204" pitchFamily="34" charset="0"/>
              <a:cs typeface="2  Nazanin" panose="00000400000000000000" pitchFamily="2" charset="-78"/>
            </a:endParaRPr>
          </a:p>
          <a:p>
            <a:pPr marL="742950" lvl="1" indent="-285750" algn="r" rtl="1">
              <a:buFont typeface="+mj-lt"/>
              <a:buAutoNum type="arabicPeriod"/>
              <a:tabLst>
                <a:tab pos="914400" algn="l"/>
              </a:tabLst>
            </a:pPr>
            <a:r>
              <a:rPr lang="ar-SA" kern="100">
                <a:effectLst/>
                <a:latin typeface="Arial" panose="020B0604020202020204" pitchFamily="34" charset="0"/>
                <a:ea typeface="Aptos" panose="020B0004020202020204" pitchFamily="34" charset="0"/>
                <a:cs typeface="2  Nazanin" panose="00000400000000000000" pitchFamily="2" charset="-78"/>
              </a:rPr>
              <a:t>خروجی گرفتن در قالب </a:t>
            </a:r>
            <a:r>
              <a:rPr lang="en-US" kern="100">
                <a:effectLst/>
                <a:latin typeface="Arial" panose="020B0604020202020204" pitchFamily="34" charset="0"/>
                <a:ea typeface="Aptos" panose="020B0004020202020204" pitchFamily="34" charset="0"/>
                <a:cs typeface="2  Nazanin" panose="00000400000000000000" pitchFamily="2" charset="-78"/>
              </a:rPr>
              <a:t>Word</a:t>
            </a:r>
            <a:r>
              <a:rPr lang="en-US" kern="100">
                <a:effectLst/>
                <a:latin typeface="2  Nazanin" panose="00000400000000000000" pitchFamily="2" charset="-78"/>
                <a:ea typeface="Aptos" panose="020B0004020202020204" pitchFamily="34" charset="0"/>
                <a:cs typeface="2  Nazanin" panose="00000400000000000000" pitchFamily="2" charset="-78"/>
              </a:rPr>
              <a:t> </a:t>
            </a:r>
            <a:r>
              <a:rPr lang="ar-SA" kern="100">
                <a:effectLst/>
                <a:latin typeface="Arial" panose="020B0604020202020204" pitchFamily="34" charset="0"/>
                <a:ea typeface="Aptos" panose="020B0004020202020204" pitchFamily="34" charset="0"/>
                <a:cs typeface="2  Nazanin" panose="00000400000000000000" pitchFamily="2" charset="-78"/>
              </a:rPr>
              <a:t>یا </a:t>
            </a:r>
            <a:r>
              <a:rPr lang="en-US" kern="100">
                <a:effectLst/>
                <a:latin typeface="Arial" panose="020B0604020202020204" pitchFamily="34" charset="0"/>
                <a:ea typeface="Aptos" panose="020B0004020202020204" pitchFamily="34" charset="0"/>
                <a:cs typeface="2  Nazanin" panose="00000400000000000000" pitchFamily="2" charset="-78"/>
              </a:rPr>
              <a:t>Google Form</a:t>
            </a:r>
          </a:p>
          <a:p>
            <a:pPr algn="r" rtl="1">
              <a:buNone/>
            </a:pPr>
            <a:r>
              <a:rPr lang="ar-SA" b="1">
                <a:effectLst/>
                <a:latin typeface="Arial" panose="020B0604020202020204" pitchFamily="34" charset="0"/>
                <a:ea typeface="Aptos" panose="020B0004020202020204" pitchFamily="34" charset="0"/>
                <a:cs typeface="2  Nazanin" panose="00000400000000000000" pitchFamily="2" charset="-78"/>
              </a:rPr>
              <a:t>ارزشیابی</a:t>
            </a:r>
            <a:r>
              <a:rPr lang="fa-IR" b="1">
                <a:effectLst/>
                <a:latin typeface="Arial" panose="020B0604020202020204" pitchFamily="34" charset="0"/>
                <a:ea typeface="Aptos" panose="020B0004020202020204" pitchFamily="34" charset="0"/>
                <a:cs typeface="2  Nazanin" panose="00000400000000000000" pitchFamily="2" charset="-78"/>
              </a:rPr>
              <a:t>:</a:t>
            </a:r>
            <a:r>
              <a:rPr lang="fa-IR">
                <a:effectLst/>
                <a:latin typeface="Arial" panose="020B0604020202020204" pitchFamily="34" charset="0"/>
                <a:ea typeface="Aptos" panose="020B0004020202020204" pitchFamily="34" charset="0"/>
                <a:cs typeface="2  Nazanin" panose="00000400000000000000" pitchFamily="2" charset="-78"/>
              </a:rPr>
              <a:t> </a:t>
            </a:r>
            <a:r>
              <a:rPr lang="ar-SA">
                <a:effectLst/>
                <a:latin typeface="Arial" panose="020B0604020202020204" pitchFamily="34" charset="0"/>
                <a:ea typeface="Aptos" panose="020B0004020202020204" pitchFamily="34" charset="0"/>
                <a:cs typeface="2  Nazanin" panose="00000400000000000000" pitchFamily="2" charset="-78"/>
              </a:rPr>
              <a:t>تنوع و دقت سوالات، وضوح گزینه‌ها، پوشش محتوایی</a:t>
            </a:r>
            <a:endParaRPr lang="fa-IR"/>
          </a:p>
        </p:txBody>
      </p:sp>
      <p:sp>
        <p:nvSpPr>
          <p:cNvPr id="2" name="TextBox 1">
            <a:extLst>
              <a:ext uri="{FF2B5EF4-FFF2-40B4-BE49-F238E27FC236}">
                <a16:creationId xmlns:a16="http://schemas.microsoft.com/office/drawing/2014/main" id="{FD885797-3C3C-0DC3-9456-6BF3C8AC159E}"/>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66</a:t>
            </a:r>
            <a:endParaRPr lang="fa-IR" sz="1200"/>
          </a:p>
        </p:txBody>
      </p:sp>
    </p:spTree>
    <p:extLst>
      <p:ext uri="{BB962C8B-B14F-4D97-AF65-F5344CB8AC3E}">
        <p14:creationId xmlns:p14="http://schemas.microsoft.com/office/powerpoint/2010/main" val="177343735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D8A84-3542-0ED9-08F7-8C0BCCABEE5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C92B525-836C-33BB-04FA-98F26B57FEB5}"/>
              </a:ext>
            </a:extLst>
          </p:cNvPr>
          <p:cNvSpPr txBox="1"/>
          <p:nvPr/>
        </p:nvSpPr>
        <p:spPr>
          <a:xfrm>
            <a:off x="536028" y="343663"/>
            <a:ext cx="8276896" cy="640175"/>
          </a:xfrm>
          <a:prstGeom prst="rect">
            <a:avLst/>
          </a:prstGeom>
          <a:noFill/>
        </p:spPr>
        <p:txBody>
          <a:bodyPr wrap="square">
            <a:spAutoFit/>
          </a:bodyPr>
          <a:lstStyle/>
          <a:p>
            <a:pPr algn="r" rtl="1">
              <a:lnSpc>
                <a:spcPct val="115000"/>
              </a:lnSpc>
              <a:spcAft>
                <a:spcPts val="800"/>
              </a:spcAft>
            </a:pPr>
            <a:r>
              <a:rPr lang="ar-SA" sz="3200" b="1" kern="100">
                <a:effectLst/>
                <a:latin typeface="Arial" panose="020B0604020202020204" pitchFamily="34" charset="0"/>
                <a:ea typeface="Aptos" panose="020B0004020202020204" pitchFamily="34" charset="0"/>
                <a:cs typeface="2  Titr" panose="00000700000000000000" pitchFamily="2" charset="-78"/>
              </a:rPr>
              <a:t>💡 چند پروژه پیشنهادی استاندارد </a:t>
            </a:r>
            <a:r>
              <a:rPr lang="fa-IR" sz="3200" b="1" kern="100">
                <a:effectLst/>
                <a:latin typeface="Arial" panose="020B0604020202020204" pitchFamily="34" charset="0"/>
                <a:ea typeface="Aptos" panose="020B0004020202020204" pitchFamily="34" charset="0"/>
                <a:cs typeface="2  Titr" panose="00000700000000000000" pitchFamily="2" charset="-78"/>
              </a:rPr>
              <a:t>نویسی</a:t>
            </a:r>
            <a:endParaRPr lang="en-US" sz="3600" kern="100">
              <a:effectLst/>
              <a:latin typeface="Arial" panose="020B0604020202020204" pitchFamily="34" charset="0"/>
              <a:ea typeface="Aptos" panose="020B0004020202020204" pitchFamily="34" charset="0"/>
              <a:cs typeface="2  Nazanin" panose="00000400000000000000" pitchFamily="2" charset="-78"/>
            </a:endParaRPr>
          </a:p>
        </p:txBody>
      </p:sp>
      <p:sp>
        <p:nvSpPr>
          <p:cNvPr id="4" name="TextBox 3">
            <a:extLst>
              <a:ext uri="{FF2B5EF4-FFF2-40B4-BE49-F238E27FC236}">
                <a16:creationId xmlns:a16="http://schemas.microsoft.com/office/drawing/2014/main" id="{8D50F9FA-C69E-F3D6-2B41-521010FE85C3}"/>
              </a:ext>
            </a:extLst>
          </p:cNvPr>
          <p:cNvSpPr txBox="1"/>
          <p:nvPr/>
        </p:nvSpPr>
        <p:spPr>
          <a:xfrm>
            <a:off x="1497724" y="1204562"/>
            <a:ext cx="7315200" cy="2487861"/>
          </a:xfrm>
          <a:prstGeom prst="rect">
            <a:avLst/>
          </a:prstGeom>
          <a:noFill/>
        </p:spPr>
        <p:txBody>
          <a:bodyPr wrap="square">
            <a:spAutoFit/>
          </a:bodyPr>
          <a:lstStyle/>
          <a:p>
            <a:pPr algn="r" rtl="1">
              <a:spcAft>
                <a:spcPts val="200"/>
              </a:spcAft>
              <a:buNone/>
            </a:pPr>
            <a:r>
              <a:rPr lang="fa-IR" b="1" kern="100">
                <a:effectLst/>
                <a:latin typeface="Arial" panose="020B0604020202020204" pitchFamily="34" charset="0"/>
                <a:ea typeface="Aptos" panose="020B0004020202020204" pitchFamily="34" charset="0"/>
                <a:cs typeface="Segoe UI Emoji" panose="020B0502040204020203" pitchFamily="34" charset="0"/>
              </a:rPr>
              <a:t>✅</a:t>
            </a:r>
            <a:r>
              <a:rPr lang="fa-IR" b="1" kern="100">
                <a:effectLst/>
                <a:latin typeface="Arial" panose="020B0604020202020204" pitchFamily="34" charset="0"/>
                <a:ea typeface="Aptos" panose="020B0004020202020204" pitchFamily="34" charset="0"/>
                <a:cs typeface="Times New Roman" panose="02020603050405020304" pitchFamily="18" charset="0"/>
              </a:rPr>
              <a:t> </a:t>
            </a:r>
            <a:r>
              <a:rPr lang="ar-SA" b="1" kern="100">
                <a:effectLst/>
                <a:latin typeface="Arial" panose="020B0604020202020204" pitchFamily="34" charset="0"/>
                <a:ea typeface="Aptos" panose="020B0004020202020204" pitchFamily="34" charset="0"/>
                <a:cs typeface="2  Nazanin" panose="00000400000000000000" pitchFamily="2" charset="-78"/>
              </a:rPr>
              <a:t>پروژه 3: مشاوره شغلی با </a:t>
            </a:r>
            <a:r>
              <a:rPr lang="en-US" b="1" kern="100">
                <a:effectLst/>
                <a:latin typeface="Arial" panose="020B0604020202020204" pitchFamily="34" charset="0"/>
                <a:ea typeface="Aptos" panose="020B0004020202020204" pitchFamily="34" charset="0"/>
                <a:cs typeface="2  Nazanin" panose="00000400000000000000" pitchFamily="2" charset="-78"/>
              </a:rPr>
              <a:t>GPT</a:t>
            </a:r>
            <a:endParaRPr lang="en-US" kern="100">
              <a:effectLst/>
              <a:latin typeface="Arial" panose="020B0604020202020204" pitchFamily="34" charset="0"/>
              <a:ea typeface="Aptos" panose="020B0004020202020204" pitchFamily="34" charset="0"/>
              <a:cs typeface="2  Nazanin" panose="00000400000000000000" pitchFamily="2" charset="-78"/>
            </a:endParaRPr>
          </a:p>
          <a:p>
            <a:pPr algn="r" rtl="1">
              <a:spcAft>
                <a:spcPts val="200"/>
              </a:spcAft>
              <a:buNone/>
            </a:pPr>
            <a:r>
              <a:rPr lang="en-US" b="1" kern="100">
                <a:effectLst/>
                <a:latin typeface="Arial" panose="020B0604020202020204" pitchFamily="34" charset="0"/>
                <a:ea typeface="Aptos" panose="020B0004020202020204" pitchFamily="34" charset="0"/>
                <a:cs typeface="2  Nazanin" panose="00000400000000000000" pitchFamily="2" charset="-78"/>
              </a:rPr>
              <a:t>GPT</a:t>
            </a:r>
            <a:r>
              <a:rPr lang="en-US" b="1" kern="100">
                <a:effectLst/>
                <a:latin typeface="2  Nazanin" panose="00000400000000000000" pitchFamily="2" charset="-78"/>
                <a:ea typeface="Aptos" panose="020B0004020202020204" pitchFamily="34" charset="0"/>
                <a:cs typeface="2  Nazanin" panose="00000400000000000000" pitchFamily="2" charset="-78"/>
              </a:rPr>
              <a:t> </a:t>
            </a:r>
            <a:r>
              <a:rPr lang="ar-SA" b="1" kern="100">
                <a:effectLst/>
                <a:latin typeface="Arial" panose="020B0604020202020204" pitchFamily="34" charset="0"/>
                <a:ea typeface="Aptos" panose="020B0004020202020204" pitchFamily="34" charset="0"/>
                <a:cs typeface="2  Nazanin" panose="00000400000000000000" pitchFamily="2" charset="-78"/>
              </a:rPr>
              <a:t>پیشنهادی</a:t>
            </a:r>
            <a:r>
              <a:rPr lang="fa-IR" b="1" kern="100">
                <a:effectLst/>
                <a:latin typeface="Arial" panose="020B0604020202020204" pitchFamily="34" charset="0"/>
                <a:ea typeface="Aptos" panose="020B0004020202020204" pitchFamily="34" charset="0"/>
                <a:cs typeface="2  Nazanin" panose="00000400000000000000" pitchFamily="2" charset="-78"/>
              </a:rPr>
              <a:t>:</a:t>
            </a:r>
            <a:r>
              <a:rPr lang="fa-IR" kern="100">
                <a:effectLst/>
                <a:latin typeface="Arial" panose="020B0604020202020204" pitchFamily="34" charset="0"/>
                <a:ea typeface="Aptos" panose="020B0004020202020204" pitchFamily="34" charset="0"/>
                <a:cs typeface="2  Nazanin" panose="00000400000000000000" pitchFamily="2" charset="-78"/>
              </a:rPr>
              <a:t> </a:t>
            </a:r>
            <a:r>
              <a:rPr lang="en-US" kern="100">
                <a:effectLst/>
                <a:latin typeface="Arial" panose="020B0604020202020204" pitchFamily="34" charset="0"/>
                <a:ea typeface="Aptos" panose="020B0004020202020204" pitchFamily="34" charset="0"/>
                <a:cs typeface="2  Nazanin" panose="00000400000000000000" pitchFamily="2" charset="-78"/>
              </a:rPr>
              <a:t>Career Coach GPT</a:t>
            </a:r>
          </a:p>
          <a:p>
            <a:pPr marL="342900" lvl="0" indent="-342900" algn="r" rtl="1">
              <a:spcAft>
                <a:spcPts val="200"/>
              </a:spcAft>
              <a:buSzPts val="1000"/>
              <a:buFont typeface="Symbol" panose="05050102010706020507" pitchFamily="18" charset="2"/>
              <a:buChar char=""/>
              <a:tabLst>
                <a:tab pos="457200" algn="l"/>
              </a:tabLst>
            </a:pPr>
            <a:r>
              <a:rPr lang="ar-SA" b="1" kern="100">
                <a:effectLst/>
                <a:latin typeface="Arial" panose="020B0604020202020204" pitchFamily="34" charset="0"/>
                <a:ea typeface="Aptos" panose="020B0004020202020204" pitchFamily="34" charset="0"/>
                <a:cs typeface="2  Nazanin" panose="00000400000000000000" pitchFamily="2" charset="-78"/>
              </a:rPr>
              <a:t>هدف</a:t>
            </a:r>
            <a:r>
              <a:rPr lang="fa-IR" b="1" kern="100">
                <a:effectLst/>
                <a:latin typeface="Arial" panose="020B0604020202020204" pitchFamily="34" charset="0"/>
                <a:ea typeface="Aptos" panose="020B0004020202020204" pitchFamily="34" charset="0"/>
                <a:cs typeface="2  Nazanin" panose="00000400000000000000" pitchFamily="2" charset="-78"/>
              </a:rPr>
              <a:t>:</a:t>
            </a:r>
            <a:r>
              <a:rPr lang="fa-IR" kern="100">
                <a:effectLst/>
                <a:latin typeface="Arial" panose="020B0604020202020204" pitchFamily="34" charset="0"/>
                <a:ea typeface="Aptos" panose="020B0004020202020204" pitchFamily="34" charset="0"/>
                <a:cs typeface="2  Nazanin" panose="00000400000000000000" pitchFamily="2" charset="-78"/>
              </a:rPr>
              <a:t> </a:t>
            </a:r>
            <a:r>
              <a:rPr lang="ar-SA" kern="100">
                <a:effectLst/>
                <a:latin typeface="Arial" panose="020B0604020202020204" pitchFamily="34" charset="0"/>
                <a:ea typeface="Aptos" panose="020B0004020202020204" pitchFamily="34" charset="0"/>
                <a:cs typeface="2  Nazanin" panose="00000400000000000000" pitchFamily="2" charset="-78"/>
              </a:rPr>
              <a:t>راهنمایی یک هنرجو برای مسیر شغلی با کمک </a:t>
            </a:r>
            <a:r>
              <a:rPr lang="en-US" kern="100">
                <a:effectLst/>
                <a:latin typeface="Arial" panose="020B0604020202020204" pitchFamily="34" charset="0"/>
                <a:ea typeface="Aptos" panose="020B0004020202020204" pitchFamily="34" charset="0"/>
                <a:cs typeface="2  Nazanin" panose="00000400000000000000" pitchFamily="2" charset="-78"/>
              </a:rPr>
              <a:t>GPT</a:t>
            </a:r>
          </a:p>
          <a:p>
            <a:pPr marL="342900" lvl="0" indent="-342900" algn="r" rtl="1">
              <a:spcAft>
                <a:spcPts val="200"/>
              </a:spcAft>
              <a:buSzPts val="1000"/>
              <a:buFont typeface="Symbol" panose="05050102010706020507" pitchFamily="18" charset="2"/>
              <a:buChar char=""/>
              <a:tabLst>
                <a:tab pos="457200" algn="l"/>
              </a:tabLst>
            </a:pPr>
            <a:r>
              <a:rPr lang="ar-SA" b="1" kern="100">
                <a:effectLst/>
                <a:latin typeface="Arial" panose="020B0604020202020204" pitchFamily="34" charset="0"/>
                <a:ea typeface="Aptos" panose="020B0004020202020204" pitchFamily="34" charset="0"/>
                <a:cs typeface="2  Nazanin" panose="00000400000000000000" pitchFamily="2" charset="-78"/>
              </a:rPr>
              <a:t>مراحل</a:t>
            </a:r>
            <a:r>
              <a:rPr lang="fa-IR" b="1" kern="100">
                <a:effectLst/>
                <a:latin typeface="Arial" panose="020B0604020202020204" pitchFamily="34" charset="0"/>
                <a:ea typeface="Aptos" panose="020B0004020202020204" pitchFamily="34" charset="0"/>
                <a:cs typeface="2  Nazanin" panose="00000400000000000000" pitchFamily="2" charset="-78"/>
              </a:rPr>
              <a:t>:</a:t>
            </a:r>
            <a:endParaRPr lang="en-US" kern="100">
              <a:effectLst/>
              <a:latin typeface="Arial" panose="020B0604020202020204" pitchFamily="34" charset="0"/>
              <a:ea typeface="Aptos" panose="020B0004020202020204" pitchFamily="34" charset="0"/>
              <a:cs typeface="2  Nazanin" panose="00000400000000000000" pitchFamily="2" charset="-78"/>
            </a:endParaRPr>
          </a:p>
          <a:p>
            <a:pPr marL="742950" lvl="1" indent="-285750" algn="r" rtl="1">
              <a:spcAft>
                <a:spcPts val="200"/>
              </a:spcAft>
              <a:buFont typeface="+mj-lt"/>
              <a:buAutoNum type="arabicPeriod"/>
              <a:tabLst>
                <a:tab pos="914400" algn="l"/>
              </a:tabLst>
            </a:pPr>
            <a:r>
              <a:rPr lang="ar-SA" kern="100">
                <a:effectLst/>
                <a:latin typeface="Arial" panose="020B0604020202020204" pitchFamily="34" charset="0"/>
                <a:ea typeface="Aptos" panose="020B0004020202020204" pitchFamily="34" charset="0"/>
                <a:cs typeface="2  Nazanin" panose="00000400000000000000" pitchFamily="2" charset="-78"/>
              </a:rPr>
              <a:t>ورود اطلاعات فردی هنرآموز به </a:t>
            </a:r>
            <a:r>
              <a:rPr lang="en-US" kern="100">
                <a:effectLst/>
                <a:latin typeface="Arial" panose="020B0604020202020204" pitchFamily="34" charset="0"/>
                <a:ea typeface="Aptos" panose="020B0004020202020204" pitchFamily="34" charset="0"/>
                <a:cs typeface="2  Nazanin" panose="00000400000000000000" pitchFamily="2" charset="-78"/>
              </a:rPr>
              <a:t>GPT</a:t>
            </a:r>
          </a:p>
          <a:p>
            <a:pPr marL="742950" lvl="1" indent="-285750" algn="r" rtl="1">
              <a:spcAft>
                <a:spcPts val="200"/>
              </a:spcAft>
              <a:buFont typeface="+mj-lt"/>
              <a:buAutoNum type="arabicPeriod"/>
              <a:tabLst>
                <a:tab pos="914400" algn="l"/>
              </a:tabLst>
            </a:pPr>
            <a:r>
              <a:rPr lang="ar-SA" kern="100">
                <a:effectLst/>
                <a:latin typeface="Arial" panose="020B0604020202020204" pitchFamily="34" charset="0"/>
                <a:ea typeface="Aptos" panose="020B0004020202020204" pitchFamily="34" charset="0"/>
                <a:cs typeface="2  Nazanin" panose="00000400000000000000" pitchFamily="2" charset="-78"/>
              </a:rPr>
              <a:t>دریافت تحلیل علایق، مهارت‌ها، و پیشنهاد مسیر شغلی</a:t>
            </a:r>
            <a:endParaRPr lang="en-US" kern="100">
              <a:effectLst/>
              <a:latin typeface="Arial" panose="020B0604020202020204" pitchFamily="34" charset="0"/>
              <a:ea typeface="Aptos" panose="020B0004020202020204" pitchFamily="34" charset="0"/>
              <a:cs typeface="2  Nazanin" panose="00000400000000000000" pitchFamily="2" charset="-78"/>
            </a:endParaRPr>
          </a:p>
          <a:p>
            <a:pPr marL="742950" lvl="1" indent="-285750" algn="r" rtl="1">
              <a:spcAft>
                <a:spcPts val="200"/>
              </a:spcAft>
              <a:buFont typeface="+mj-lt"/>
              <a:buAutoNum type="arabicPeriod"/>
              <a:tabLst>
                <a:tab pos="914400" algn="l"/>
              </a:tabLst>
            </a:pPr>
            <a:r>
              <a:rPr lang="ar-SA" kern="100">
                <a:effectLst/>
                <a:latin typeface="Arial" panose="020B0604020202020204" pitchFamily="34" charset="0"/>
                <a:ea typeface="Aptos" panose="020B0004020202020204" pitchFamily="34" charset="0"/>
                <a:cs typeface="2  Nazanin" panose="00000400000000000000" pitchFamily="2" charset="-78"/>
              </a:rPr>
              <a:t>تهیه گزارش مشاوره برای ارائه به مربی یا مشاور مدرسه</a:t>
            </a:r>
            <a:endParaRPr lang="en-US" kern="100">
              <a:effectLst/>
              <a:latin typeface="Arial" panose="020B0604020202020204" pitchFamily="34" charset="0"/>
              <a:ea typeface="Aptos" panose="020B0004020202020204" pitchFamily="34" charset="0"/>
              <a:cs typeface="2  Nazanin" panose="00000400000000000000" pitchFamily="2" charset="-78"/>
            </a:endParaRPr>
          </a:p>
          <a:p>
            <a:pPr marL="342900" lvl="0" indent="-342900" algn="r" rtl="1">
              <a:spcAft>
                <a:spcPts val="200"/>
              </a:spcAft>
              <a:buSzPts val="1000"/>
              <a:buFont typeface="Symbol" panose="05050102010706020507" pitchFamily="18" charset="2"/>
              <a:buChar char=""/>
              <a:tabLst>
                <a:tab pos="457200" algn="l"/>
              </a:tabLst>
            </a:pPr>
            <a:r>
              <a:rPr lang="ar-SA" b="1" kern="100">
                <a:effectLst/>
                <a:latin typeface="Arial" panose="020B0604020202020204" pitchFamily="34" charset="0"/>
                <a:ea typeface="Aptos" panose="020B0004020202020204" pitchFamily="34" charset="0"/>
                <a:cs typeface="2  Nazanin" panose="00000400000000000000" pitchFamily="2" charset="-78"/>
              </a:rPr>
              <a:t>ارزشیابی</a:t>
            </a:r>
            <a:r>
              <a:rPr lang="fa-IR" b="1" kern="100">
                <a:effectLst/>
                <a:latin typeface="Arial" panose="020B0604020202020204" pitchFamily="34" charset="0"/>
                <a:ea typeface="Aptos" panose="020B0004020202020204" pitchFamily="34" charset="0"/>
                <a:cs typeface="2  Nazanin" panose="00000400000000000000" pitchFamily="2" charset="-78"/>
              </a:rPr>
              <a:t>:</a:t>
            </a:r>
            <a:r>
              <a:rPr lang="fa-IR" kern="100">
                <a:effectLst/>
                <a:latin typeface="Arial" panose="020B0604020202020204" pitchFamily="34" charset="0"/>
                <a:ea typeface="Aptos" panose="020B0004020202020204" pitchFamily="34" charset="0"/>
                <a:cs typeface="2  Nazanin" panose="00000400000000000000" pitchFamily="2" charset="-78"/>
              </a:rPr>
              <a:t> </a:t>
            </a:r>
            <a:r>
              <a:rPr lang="ar-SA" kern="100">
                <a:effectLst/>
                <a:latin typeface="Arial" panose="020B0604020202020204" pitchFamily="34" charset="0"/>
                <a:ea typeface="Aptos" panose="020B0004020202020204" pitchFamily="34" charset="0"/>
                <a:cs typeface="2  Nazanin" panose="00000400000000000000" pitchFamily="2" charset="-78"/>
              </a:rPr>
              <a:t>دقت تحلیل و تناسب مسیر شغلی با مهارت‌های فرد</a:t>
            </a:r>
            <a:endParaRPr lang="en-US" kern="100">
              <a:effectLst/>
              <a:latin typeface="Arial" panose="020B0604020202020204" pitchFamily="34" charset="0"/>
              <a:ea typeface="Aptos" panose="020B0004020202020204" pitchFamily="34" charset="0"/>
              <a:cs typeface="2  Nazanin" panose="00000400000000000000" pitchFamily="2" charset="-78"/>
            </a:endParaRPr>
          </a:p>
        </p:txBody>
      </p:sp>
      <p:sp>
        <p:nvSpPr>
          <p:cNvPr id="6" name="TextBox 5">
            <a:extLst>
              <a:ext uri="{FF2B5EF4-FFF2-40B4-BE49-F238E27FC236}">
                <a16:creationId xmlns:a16="http://schemas.microsoft.com/office/drawing/2014/main" id="{759F6221-152C-9F4B-CC4E-E8DA041D7E6F}"/>
              </a:ext>
            </a:extLst>
          </p:cNvPr>
          <p:cNvSpPr txBox="1"/>
          <p:nvPr/>
        </p:nvSpPr>
        <p:spPr>
          <a:xfrm>
            <a:off x="1891862" y="3913147"/>
            <a:ext cx="6921062" cy="2487861"/>
          </a:xfrm>
          <a:prstGeom prst="rect">
            <a:avLst/>
          </a:prstGeom>
          <a:noFill/>
        </p:spPr>
        <p:txBody>
          <a:bodyPr wrap="square">
            <a:spAutoFit/>
          </a:bodyPr>
          <a:lstStyle/>
          <a:p>
            <a:pPr algn="r" rtl="1">
              <a:spcAft>
                <a:spcPts val="200"/>
              </a:spcAft>
              <a:buNone/>
            </a:pPr>
            <a:r>
              <a:rPr lang="fa-IR" b="1" kern="100">
                <a:effectLst/>
                <a:latin typeface="Arial" panose="020B0604020202020204" pitchFamily="34" charset="0"/>
                <a:ea typeface="Aptos" panose="020B0004020202020204" pitchFamily="34" charset="0"/>
                <a:cs typeface="Segoe UI Emoji" panose="020B0502040204020203" pitchFamily="34" charset="0"/>
              </a:rPr>
              <a:t>✅</a:t>
            </a:r>
            <a:r>
              <a:rPr lang="fa-IR" b="1" kern="100">
                <a:effectLst/>
                <a:latin typeface="Arial" panose="020B0604020202020204" pitchFamily="34" charset="0"/>
                <a:ea typeface="Aptos" panose="020B0004020202020204" pitchFamily="34" charset="0"/>
                <a:cs typeface="Times New Roman" panose="02020603050405020304" pitchFamily="18" charset="0"/>
              </a:rPr>
              <a:t> </a:t>
            </a:r>
            <a:r>
              <a:rPr lang="ar-SA" b="1" kern="100">
                <a:effectLst/>
                <a:latin typeface="Arial" panose="020B0604020202020204" pitchFamily="34" charset="0"/>
                <a:ea typeface="Aptos" panose="020B0004020202020204" pitchFamily="34" charset="0"/>
                <a:cs typeface="2  Nazanin" panose="00000400000000000000" pitchFamily="2" charset="-78"/>
              </a:rPr>
              <a:t>پروژه 4: مربی دیجیتال </a:t>
            </a:r>
            <a:r>
              <a:rPr lang="en-US" b="1" kern="100">
                <a:effectLst/>
                <a:latin typeface="Arial" panose="020B0604020202020204" pitchFamily="34" charset="0"/>
                <a:ea typeface="Aptos" panose="020B0004020202020204" pitchFamily="34" charset="0"/>
                <a:cs typeface="2  Nazanin" panose="00000400000000000000" pitchFamily="2" charset="-78"/>
              </a:rPr>
              <a:t>ICDL</a:t>
            </a:r>
            <a:endParaRPr lang="en-US" kern="100">
              <a:effectLst/>
              <a:latin typeface="Arial" panose="020B0604020202020204" pitchFamily="34" charset="0"/>
              <a:ea typeface="Aptos" panose="020B0004020202020204" pitchFamily="34" charset="0"/>
              <a:cs typeface="2  Nazanin" panose="00000400000000000000" pitchFamily="2" charset="-78"/>
            </a:endParaRPr>
          </a:p>
          <a:p>
            <a:pPr algn="r" rtl="1">
              <a:spcAft>
                <a:spcPts val="200"/>
              </a:spcAft>
              <a:buNone/>
            </a:pPr>
            <a:r>
              <a:rPr lang="en-US" b="1" kern="100">
                <a:effectLst/>
                <a:latin typeface="Arial" panose="020B0604020202020204" pitchFamily="34" charset="0"/>
                <a:ea typeface="Aptos" panose="020B0004020202020204" pitchFamily="34" charset="0"/>
                <a:cs typeface="2  Nazanin" panose="00000400000000000000" pitchFamily="2" charset="-78"/>
              </a:rPr>
              <a:t>GPT</a:t>
            </a:r>
            <a:r>
              <a:rPr lang="en-US" b="1" kern="100">
                <a:effectLst/>
                <a:latin typeface="2  Nazanin" panose="00000400000000000000" pitchFamily="2" charset="-78"/>
                <a:ea typeface="Aptos" panose="020B0004020202020204" pitchFamily="34" charset="0"/>
                <a:cs typeface="2  Nazanin" panose="00000400000000000000" pitchFamily="2" charset="-78"/>
              </a:rPr>
              <a:t> </a:t>
            </a:r>
            <a:r>
              <a:rPr lang="ar-SA" b="1" kern="100">
                <a:effectLst/>
                <a:latin typeface="Arial" panose="020B0604020202020204" pitchFamily="34" charset="0"/>
                <a:ea typeface="Aptos" panose="020B0004020202020204" pitchFamily="34" charset="0"/>
                <a:cs typeface="2  Nazanin" panose="00000400000000000000" pitchFamily="2" charset="-78"/>
              </a:rPr>
              <a:t>پیشنهادی</a:t>
            </a:r>
            <a:r>
              <a:rPr lang="fa-IR" b="1" kern="100">
                <a:effectLst/>
                <a:latin typeface="Arial" panose="020B0604020202020204" pitchFamily="34" charset="0"/>
                <a:ea typeface="Aptos" panose="020B0004020202020204" pitchFamily="34" charset="0"/>
                <a:cs typeface="2  Nazanin" panose="00000400000000000000" pitchFamily="2" charset="-78"/>
              </a:rPr>
              <a:t>:</a:t>
            </a:r>
            <a:r>
              <a:rPr lang="fa-IR" kern="100">
                <a:effectLst/>
                <a:latin typeface="Arial" panose="020B0604020202020204" pitchFamily="34" charset="0"/>
                <a:ea typeface="Aptos" panose="020B0004020202020204" pitchFamily="34" charset="0"/>
                <a:cs typeface="2  Nazanin" panose="00000400000000000000" pitchFamily="2" charset="-78"/>
              </a:rPr>
              <a:t> </a:t>
            </a:r>
            <a:r>
              <a:rPr lang="en-US" kern="100">
                <a:effectLst/>
                <a:latin typeface="Arial" panose="020B0604020202020204" pitchFamily="34" charset="0"/>
                <a:ea typeface="Aptos" panose="020B0004020202020204" pitchFamily="34" charset="0"/>
                <a:cs typeface="2  Nazanin" panose="00000400000000000000" pitchFamily="2" charset="-78"/>
              </a:rPr>
              <a:t>ICDL Examiner by Worker2025</a:t>
            </a:r>
          </a:p>
          <a:p>
            <a:pPr marL="342900" lvl="0" indent="-342900" algn="r" rtl="1">
              <a:spcAft>
                <a:spcPts val="200"/>
              </a:spcAft>
              <a:buSzPts val="1000"/>
              <a:buFont typeface="Symbol" panose="05050102010706020507" pitchFamily="18" charset="2"/>
              <a:buChar char=""/>
              <a:tabLst>
                <a:tab pos="457200" algn="l"/>
              </a:tabLst>
            </a:pPr>
            <a:r>
              <a:rPr lang="ar-SA" b="1" kern="100">
                <a:effectLst/>
                <a:latin typeface="Arial" panose="020B0604020202020204" pitchFamily="34" charset="0"/>
                <a:ea typeface="Aptos" panose="020B0004020202020204" pitchFamily="34" charset="0"/>
                <a:cs typeface="2  Nazanin" panose="00000400000000000000" pitchFamily="2" charset="-78"/>
              </a:rPr>
              <a:t>هدف</a:t>
            </a:r>
            <a:r>
              <a:rPr lang="fa-IR" b="1" kern="100">
                <a:effectLst/>
                <a:latin typeface="Arial" panose="020B0604020202020204" pitchFamily="34" charset="0"/>
                <a:ea typeface="Aptos" panose="020B0004020202020204" pitchFamily="34" charset="0"/>
                <a:cs typeface="2  Nazanin" panose="00000400000000000000" pitchFamily="2" charset="-78"/>
              </a:rPr>
              <a:t>:</a:t>
            </a:r>
            <a:r>
              <a:rPr lang="fa-IR" kern="100">
                <a:effectLst/>
                <a:latin typeface="Arial" panose="020B0604020202020204" pitchFamily="34" charset="0"/>
                <a:ea typeface="Aptos" panose="020B0004020202020204" pitchFamily="34" charset="0"/>
                <a:cs typeface="2  Nazanin" panose="00000400000000000000" pitchFamily="2" charset="-78"/>
              </a:rPr>
              <a:t> </a:t>
            </a:r>
            <a:r>
              <a:rPr lang="ar-SA" kern="100">
                <a:effectLst/>
                <a:latin typeface="Arial" panose="020B0604020202020204" pitchFamily="34" charset="0"/>
                <a:ea typeface="Aptos" panose="020B0004020202020204" pitchFamily="34" charset="0"/>
                <a:cs typeface="2  Nazanin" panose="00000400000000000000" pitchFamily="2" charset="-78"/>
              </a:rPr>
              <a:t>سنجش مهارت </a:t>
            </a:r>
            <a:r>
              <a:rPr lang="en-US" kern="100">
                <a:effectLst/>
                <a:latin typeface="Arial" panose="020B0604020202020204" pitchFamily="34" charset="0"/>
                <a:ea typeface="Aptos" panose="020B0004020202020204" pitchFamily="34" charset="0"/>
                <a:cs typeface="2  Nazanin" panose="00000400000000000000" pitchFamily="2" charset="-78"/>
              </a:rPr>
              <a:t>ICDL</a:t>
            </a:r>
            <a:r>
              <a:rPr lang="en-US" kern="100">
                <a:effectLst/>
                <a:latin typeface="2  Nazanin" panose="00000400000000000000" pitchFamily="2" charset="-78"/>
                <a:ea typeface="Aptos" panose="020B0004020202020204" pitchFamily="34" charset="0"/>
                <a:cs typeface="2  Nazanin" panose="00000400000000000000" pitchFamily="2" charset="-78"/>
              </a:rPr>
              <a:t> </a:t>
            </a:r>
            <a:r>
              <a:rPr lang="ar-SA" kern="100">
                <a:effectLst/>
                <a:latin typeface="Arial" panose="020B0604020202020204" pitchFamily="34" charset="0"/>
                <a:ea typeface="Aptos" panose="020B0004020202020204" pitchFamily="34" charset="0"/>
                <a:cs typeface="2  Nazanin" panose="00000400000000000000" pitchFamily="2" charset="-78"/>
              </a:rPr>
              <a:t>با یک </a:t>
            </a:r>
            <a:r>
              <a:rPr lang="en-US" kern="100">
                <a:effectLst/>
                <a:latin typeface="Arial" panose="020B0604020202020204" pitchFamily="34" charset="0"/>
                <a:ea typeface="Aptos" panose="020B0004020202020204" pitchFamily="34" charset="0"/>
                <a:cs typeface="2  Nazanin" panose="00000400000000000000" pitchFamily="2" charset="-78"/>
              </a:rPr>
              <a:t>GPT</a:t>
            </a:r>
            <a:r>
              <a:rPr lang="en-US" kern="100">
                <a:effectLst/>
                <a:latin typeface="2  Nazanin" panose="00000400000000000000" pitchFamily="2" charset="-78"/>
                <a:ea typeface="Aptos" panose="020B0004020202020204" pitchFamily="34" charset="0"/>
                <a:cs typeface="2  Nazanin" panose="00000400000000000000" pitchFamily="2" charset="-78"/>
              </a:rPr>
              <a:t> </a:t>
            </a:r>
            <a:r>
              <a:rPr lang="ar-SA" kern="100">
                <a:effectLst/>
                <a:latin typeface="Arial" panose="020B0604020202020204" pitchFamily="34" charset="0"/>
                <a:ea typeface="Aptos" panose="020B0004020202020204" pitchFamily="34" charset="0"/>
                <a:cs typeface="2  Nazanin" panose="00000400000000000000" pitchFamily="2" charset="-78"/>
              </a:rPr>
              <a:t>شبیه‌ساز آزمون</a:t>
            </a:r>
            <a:endParaRPr lang="en-US" kern="100">
              <a:effectLst/>
              <a:latin typeface="Arial" panose="020B0604020202020204" pitchFamily="34" charset="0"/>
              <a:ea typeface="Aptos" panose="020B0004020202020204" pitchFamily="34" charset="0"/>
              <a:cs typeface="2  Nazanin" panose="00000400000000000000" pitchFamily="2" charset="-78"/>
            </a:endParaRPr>
          </a:p>
          <a:p>
            <a:pPr marL="342900" lvl="0" indent="-342900" algn="r" rtl="1">
              <a:spcAft>
                <a:spcPts val="200"/>
              </a:spcAft>
              <a:buSzPts val="1000"/>
              <a:buFont typeface="Symbol" panose="05050102010706020507" pitchFamily="18" charset="2"/>
              <a:buChar char=""/>
              <a:tabLst>
                <a:tab pos="457200" algn="l"/>
              </a:tabLst>
            </a:pPr>
            <a:r>
              <a:rPr lang="ar-SA" b="1" kern="100">
                <a:effectLst/>
                <a:latin typeface="Arial" panose="020B0604020202020204" pitchFamily="34" charset="0"/>
                <a:ea typeface="Aptos" panose="020B0004020202020204" pitchFamily="34" charset="0"/>
                <a:cs typeface="2  Nazanin" panose="00000400000000000000" pitchFamily="2" charset="-78"/>
              </a:rPr>
              <a:t>مراحل</a:t>
            </a:r>
            <a:r>
              <a:rPr lang="fa-IR" b="1" kern="100">
                <a:effectLst/>
                <a:latin typeface="Arial" panose="020B0604020202020204" pitchFamily="34" charset="0"/>
                <a:ea typeface="Aptos" panose="020B0004020202020204" pitchFamily="34" charset="0"/>
                <a:cs typeface="2  Nazanin" panose="00000400000000000000" pitchFamily="2" charset="-78"/>
              </a:rPr>
              <a:t>:</a:t>
            </a:r>
            <a:endParaRPr lang="en-US" kern="100">
              <a:effectLst/>
              <a:latin typeface="Arial" panose="020B0604020202020204" pitchFamily="34" charset="0"/>
              <a:ea typeface="Aptos" panose="020B0004020202020204" pitchFamily="34" charset="0"/>
              <a:cs typeface="2  Nazanin" panose="00000400000000000000" pitchFamily="2" charset="-78"/>
            </a:endParaRPr>
          </a:p>
          <a:p>
            <a:pPr marL="742950" lvl="1" indent="-285750" algn="r" rtl="1">
              <a:spcAft>
                <a:spcPts val="200"/>
              </a:spcAft>
              <a:buFont typeface="+mj-lt"/>
              <a:buAutoNum type="arabicPeriod"/>
              <a:tabLst>
                <a:tab pos="914400" algn="l"/>
              </a:tabLst>
            </a:pPr>
            <a:r>
              <a:rPr lang="ar-SA" kern="100">
                <a:effectLst/>
                <a:latin typeface="Arial" panose="020B0604020202020204" pitchFamily="34" charset="0"/>
                <a:ea typeface="Aptos" panose="020B0004020202020204" pitchFamily="34" charset="0"/>
                <a:cs typeface="2  Nazanin" panose="00000400000000000000" pitchFamily="2" charset="-78"/>
              </a:rPr>
              <a:t>راه‌اندازی </a:t>
            </a:r>
            <a:r>
              <a:rPr lang="en-US" kern="100">
                <a:effectLst/>
                <a:latin typeface="Arial" panose="020B0604020202020204" pitchFamily="34" charset="0"/>
                <a:ea typeface="Aptos" panose="020B0004020202020204" pitchFamily="34" charset="0"/>
                <a:cs typeface="2  Nazanin" panose="00000400000000000000" pitchFamily="2" charset="-78"/>
              </a:rPr>
              <a:t>GPT</a:t>
            </a:r>
            <a:r>
              <a:rPr lang="en-US" kern="100">
                <a:effectLst/>
                <a:latin typeface="2  Nazanin" panose="00000400000000000000" pitchFamily="2" charset="-78"/>
                <a:ea typeface="Aptos" panose="020B0004020202020204" pitchFamily="34" charset="0"/>
                <a:cs typeface="2  Nazanin" panose="00000400000000000000" pitchFamily="2" charset="-78"/>
              </a:rPr>
              <a:t> </a:t>
            </a:r>
            <a:r>
              <a:rPr lang="ar-SA" kern="100">
                <a:effectLst/>
                <a:latin typeface="Arial" panose="020B0604020202020204" pitchFamily="34" charset="0"/>
                <a:ea typeface="Aptos" panose="020B0004020202020204" pitchFamily="34" charset="0"/>
                <a:cs typeface="2  Nazanin" panose="00000400000000000000" pitchFamily="2" charset="-78"/>
              </a:rPr>
              <a:t>سفارشی در محیط </a:t>
            </a:r>
            <a:r>
              <a:rPr lang="en-US" kern="100">
                <a:effectLst/>
                <a:latin typeface="Arial" panose="020B0604020202020204" pitchFamily="34" charset="0"/>
                <a:ea typeface="Aptos" panose="020B0004020202020204" pitchFamily="34" charset="0"/>
                <a:cs typeface="2  Nazanin" panose="00000400000000000000" pitchFamily="2" charset="-78"/>
              </a:rPr>
              <a:t>ChatGPT</a:t>
            </a:r>
          </a:p>
          <a:p>
            <a:pPr marL="742950" lvl="1" indent="-285750" algn="r" rtl="1">
              <a:spcAft>
                <a:spcPts val="200"/>
              </a:spcAft>
              <a:buFont typeface="+mj-lt"/>
              <a:buAutoNum type="arabicPeriod"/>
              <a:tabLst>
                <a:tab pos="914400" algn="l"/>
              </a:tabLst>
            </a:pPr>
            <a:r>
              <a:rPr lang="ar-SA" kern="100">
                <a:effectLst/>
                <a:latin typeface="Arial" panose="020B0604020202020204" pitchFamily="34" charset="0"/>
                <a:ea typeface="Aptos" panose="020B0004020202020204" pitchFamily="34" charset="0"/>
                <a:cs typeface="2  Nazanin" panose="00000400000000000000" pitchFamily="2" charset="-78"/>
              </a:rPr>
              <a:t>اجرای آزمون برای کارآموزان</a:t>
            </a:r>
            <a:endParaRPr lang="en-US" kern="100">
              <a:effectLst/>
              <a:latin typeface="Arial" panose="020B0604020202020204" pitchFamily="34" charset="0"/>
              <a:ea typeface="Aptos" panose="020B0004020202020204" pitchFamily="34" charset="0"/>
              <a:cs typeface="2  Nazanin" panose="00000400000000000000" pitchFamily="2" charset="-78"/>
            </a:endParaRPr>
          </a:p>
          <a:p>
            <a:pPr marL="742950" lvl="1" indent="-285750" algn="r" rtl="1">
              <a:spcAft>
                <a:spcPts val="200"/>
              </a:spcAft>
              <a:buFont typeface="+mj-lt"/>
              <a:buAutoNum type="arabicPeriod"/>
              <a:tabLst>
                <a:tab pos="914400" algn="l"/>
              </a:tabLst>
            </a:pPr>
            <a:r>
              <a:rPr lang="ar-SA" kern="100">
                <a:effectLst/>
                <a:latin typeface="Arial" panose="020B0604020202020204" pitchFamily="34" charset="0"/>
                <a:ea typeface="Aptos" panose="020B0004020202020204" pitchFamily="34" charset="0"/>
                <a:cs typeface="2  Nazanin" panose="00000400000000000000" pitchFamily="2" charset="-78"/>
              </a:rPr>
              <a:t>تحلیل پاسخ‌ها و گزارش خودکار عملکرد</a:t>
            </a:r>
            <a:endParaRPr lang="en-US" kern="100">
              <a:effectLst/>
              <a:latin typeface="Arial" panose="020B0604020202020204" pitchFamily="34" charset="0"/>
              <a:ea typeface="Aptos" panose="020B0004020202020204" pitchFamily="34" charset="0"/>
              <a:cs typeface="2  Nazanin" panose="00000400000000000000" pitchFamily="2" charset="-78"/>
            </a:endParaRPr>
          </a:p>
          <a:p>
            <a:pPr marL="342900" lvl="0" indent="-342900" algn="r" rtl="1">
              <a:spcAft>
                <a:spcPts val="200"/>
              </a:spcAft>
              <a:buSzPts val="1000"/>
              <a:buFont typeface="Symbol" panose="05050102010706020507" pitchFamily="18" charset="2"/>
              <a:buChar char=""/>
              <a:tabLst>
                <a:tab pos="457200" algn="l"/>
              </a:tabLst>
            </a:pPr>
            <a:r>
              <a:rPr lang="ar-SA" b="1" kern="100">
                <a:effectLst/>
                <a:latin typeface="Arial" panose="020B0604020202020204" pitchFamily="34" charset="0"/>
                <a:ea typeface="Aptos" panose="020B0004020202020204" pitchFamily="34" charset="0"/>
                <a:cs typeface="2  Nazanin" panose="00000400000000000000" pitchFamily="2" charset="-78"/>
              </a:rPr>
              <a:t>ارزشیابی</a:t>
            </a:r>
            <a:r>
              <a:rPr lang="fa-IR" b="1" kern="100">
                <a:effectLst/>
                <a:latin typeface="Arial" panose="020B0604020202020204" pitchFamily="34" charset="0"/>
                <a:ea typeface="Aptos" panose="020B0004020202020204" pitchFamily="34" charset="0"/>
                <a:cs typeface="2  Nazanin" panose="00000400000000000000" pitchFamily="2" charset="-78"/>
              </a:rPr>
              <a:t>:</a:t>
            </a:r>
            <a:r>
              <a:rPr lang="fa-IR" kern="100">
                <a:effectLst/>
                <a:latin typeface="Arial" panose="020B0604020202020204" pitchFamily="34" charset="0"/>
                <a:ea typeface="Aptos" panose="020B0004020202020204" pitchFamily="34" charset="0"/>
                <a:cs typeface="2  Nazanin" panose="00000400000000000000" pitchFamily="2" charset="-78"/>
              </a:rPr>
              <a:t> </a:t>
            </a:r>
            <a:r>
              <a:rPr lang="ar-SA" kern="100">
                <a:effectLst/>
                <a:latin typeface="Arial" panose="020B0604020202020204" pitchFamily="34" charset="0"/>
                <a:ea typeface="Aptos" panose="020B0004020202020204" pitchFamily="34" charset="0"/>
                <a:cs typeface="2  Nazanin" panose="00000400000000000000" pitchFamily="2" charset="-78"/>
              </a:rPr>
              <a:t>صحت پاسخ‌گویی، تعامل مؤثر </a:t>
            </a:r>
            <a:r>
              <a:rPr lang="en-US" kern="100">
                <a:effectLst/>
                <a:latin typeface="Arial" panose="020B0604020202020204" pitchFamily="34" charset="0"/>
                <a:ea typeface="Aptos" panose="020B0004020202020204" pitchFamily="34" charset="0"/>
                <a:cs typeface="2  Nazanin" panose="00000400000000000000" pitchFamily="2" charset="-78"/>
              </a:rPr>
              <a:t>GPT</a:t>
            </a:r>
            <a:r>
              <a:rPr lang="ar-SA" kern="100">
                <a:effectLst/>
                <a:latin typeface="Arial" panose="020B0604020202020204" pitchFamily="34" charset="0"/>
                <a:ea typeface="Aptos" panose="020B0004020202020204" pitchFamily="34" charset="0"/>
                <a:cs typeface="2  Nazanin" panose="00000400000000000000" pitchFamily="2" charset="-78"/>
              </a:rPr>
              <a:t>، دقت ارزیابی</a:t>
            </a:r>
            <a:endParaRPr lang="en-US" kern="100">
              <a:effectLst/>
              <a:latin typeface="Arial" panose="020B0604020202020204" pitchFamily="34" charset="0"/>
              <a:ea typeface="Aptos" panose="020B0004020202020204" pitchFamily="34" charset="0"/>
              <a:cs typeface="2  Nazanin" panose="00000400000000000000" pitchFamily="2" charset="-78"/>
            </a:endParaRPr>
          </a:p>
        </p:txBody>
      </p:sp>
      <p:sp>
        <p:nvSpPr>
          <p:cNvPr id="3" name="TextBox 2">
            <a:extLst>
              <a:ext uri="{FF2B5EF4-FFF2-40B4-BE49-F238E27FC236}">
                <a16:creationId xmlns:a16="http://schemas.microsoft.com/office/drawing/2014/main" id="{9040F76C-0EED-2C61-29D3-5AF10EA5E236}"/>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67</a:t>
            </a:r>
            <a:endParaRPr lang="fa-IR" sz="1200"/>
          </a:p>
        </p:txBody>
      </p:sp>
    </p:spTree>
    <p:extLst>
      <p:ext uri="{BB962C8B-B14F-4D97-AF65-F5344CB8AC3E}">
        <p14:creationId xmlns:p14="http://schemas.microsoft.com/office/powerpoint/2010/main" val="279893770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2EFFD-44CE-94F8-3C9E-F1D5B216ECD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2FA9201-770B-25E1-A85F-AE381DF720B9}"/>
              </a:ext>
            </a:extLst>
          </p:cNvPr>
          <p:cNvSpPr txBox="1"/>
          <p:nvPr/>
        </p:nvSpPr>
        <p:spPr>
          <a:xfrm>
            <a:off x="536028" y="343663"/>
            <a:ext cx="8276896" cy="640175"/>
          </a:xfrm>
          <a:prstGeom prst="rect">
            <a:avLst/>
          </a:prstGeom>
          <a:noFill/>
        </p:spPr>
        <p:txBody>
          <a:bodyPr wrap="square">
            <a:spAutoFit/>
          </a:bodyPr>
          <a:lstStyle/>
          <a:p>
            <a:pPr algn="r" rtl="1">
              <a:lnSpc>
                <a:spcPct val="115000"/>
              </a:lnSpc>
              <a:spcAft>
                <a:spcPts val="800"/>
              </a:spcAft>
            </a:pPr>
            <a:r>
              <a:rPr lang="ar-SA" sz="3200" b="1" kern="100">
                <a:effectLst/>
                <a:latin typeface="Arial" panose="020B0604020202020204" pitchFamily="34" charset="0"/>
                <a:ea typeface="Aptos" panose="020B0004020202020204" pitchFamily="34" charset="0"/>
                <a:cs typeface="2  Titr" panose="00000700000000000000" pitchFamily="2" charset="-78"/>
              </a:rPr>
              <a:t>چند پروژه برای ایجاد </a:t>
            </a:r>
            <a:r>
              <a:rPr lang="en-US" sz="3200" b="1" kern="100">
                <a:effectLst/>
                <a:latin typeface="Arial" panose="020B0604020202020204" pitchFamily="34" charset="0"/>
                <a:ea typeface="Aptos" panose="020B0004020202020204" pitchFamily="34" charset="0"/>
                <a:cs typeface="2  Titr" panose="00000700000000000000" pitchFamily="2" charset="-78"/>
              </a:rPr>
              <a:t>GPT </a:t>
            </a:r>
            <a:r>
              <a:rPr lang="fa-IR" sz="3200" b="1" kern="100">
                <a:effectLst/>
                <a:latin typeface="Arial" panose="020B0604020202020204" pitchFamily="34" charset="0"/>
                <a:ea typeface="Aptos" panose="020B0004020202020204" pitchFamily="34" charset="0"/>
                <a:cs typeface="2  Titr" panose="00000700000000000000" pitchFamily="2" charset="-78"/>
              </a:rPr>
              <a:t> </a:t>
            </a:r>
            <a:r>
              <a:rPr lang="ar-SA" sz="3200" b="1" kern="100">
                <a:effectLst/>
                <a:latin typeface="Arial" panose="020B0604020202020204" pitchFamily="34" charset="0"/>
                <a:ea typeface="Aptos" panose="020B0004020202020204" pitchFamily="34" charset="0"/>
                <a:cs typeface="2  Titr" panose="00000700000000000000" pitchFamily="2" charset="-78"/>
              </a:rPr>
              <a:t>جدید:</a:t>
            </a:r>
            <a:endParaRPr lang="en-US" sz="3600" kern="100">
              <a:effectLst/>
              <a:latin typeface="Arial" panose="020B0604020202020204" pitchFamily="34" charset="0"/>
              <a:ea typeface="Aptos" panose="020B0004020202020204" pitchFamily="34" charset="0"/>
              <a:cs typeface="2  Nazanin" panose="00000400000000000000" pitchFamily="2" charset="-78"/>
            </a:endParaRPr>
          </a:p>
        </p:txBody>
      </p:sp>
      <p:sp>
        <p:nvSpPr>
          <p:cNvPr id="5" name="TextBox 4">
            <a:extLst>
              <a:ext uri="{FF2B5EF4-FFF2-40B4-BE49-F238E27FC236}">
                <a16:creationId xmlns:a16="http://schemas.microsoft.com/office/drawing/2014/main" id="{E5AE589D-D81A-BE81-6263-F29F7D8FC9F3}"/>
              </a:ext>
            </a:extLst>
          </p:cNvPr>
          <p:cNvSpPr txBox="1"/>
          <p:nvPr/>
        </p:nvSpPr>
        <p:spPr>
          <a:xfrm>
            <a:off x="331076" y="1268504"/>
            <a:ext cx="8481848" cy="3995966"/>
          </a:xfrm>
          <a:prstGeom prst="rect">
            <a:avLst/>
          </a:prstGeom>
          <a:noFill/>
        </p:spPr>
        <p:txBody>
          <a:bodyPr wrap="square">
            <a:spAutoFit/>
          </a:bodyPr>
          <a:lstStyle/>
          <a:p>
            <a:pPr algn="r" rtl="1">
              <a:lnSpc>
                <a:spcPct val="115000"/>
              </a:lnSpc>
              <a:spcAft>
                <a:spcPts val="800"/>
              </a:spcAft>
              <a:buNone/>
            </a:pPr>
            <a:r>
              <a:rPr lang="ar-SA" sz="1800" b="1" kern="100">
                <a:effectLst/>
                <a:latin typeface="Arial" panose="020B0604020202020204" pitchFamily="34" charset="0"/>
                <a:ea typeface="Aptos" panose="020B0004020202020204" pitchFamily="34" charset="0"/>
                <a:cs typeface="2  Nazanin" panose="00000400000000000000" pitchFamily="2" charset="-78"/>
              </a:rPr>
              <a:t>پروژه </a:t>
            </a:r>
            <a:r>
              <a:rPr lang="fa-IR" sz="1800" b="1" kern="100">
                <a:effectLst/>
                <a:latin typeface="Arial" panose="020B0604020202020204" pitchFamily="34" charset="0"/>
                <a:ea typeface="Aptos" panose="020B0004020202020204" pitchFamily="34" charset="0"/>
                <a:cs typeface="2  Nazanin" panose="00000400000000000000" pitchFamily="2" charset="-78"/>
              </a:rPr>
              <a:t>۱: </a:t>
            </a:r>
            <a:r>
              <a:rPr lang="ar-SA" sz="1800" b="1" kern="100">
                <a:effectLst/>
                <a:latin typeface="Arial" panose="020B0604020202020204" pitchFamily="34" charset="0"/>
                <a:ea typeface="Aptos" panose="020B0004020202020204" pitchFamily="34" charset="0"/>
                <a:cs typeface="2  Nazanin" panose="00000400000000000000" pitchFamily="2" charset="-78"/>
              </a:rPr>
              <a:t>ساخت </a:t>
            </a:r>
            <a:r>
              <a:rPr lang="en-US" sz="1800" b="1" kern="100">
                <a:effectLst/>
                <a:latin typeface="Arial" panose="020B0604020202020204" pitchFamily="34" charset="0"/>
                <a:ea typeface="Aptos" panose="020B0004020202020204" pitchFamily="34" charset="0"/>
                <a:cs typeface="2  Nazanin" panose="00000400000000000000" pitchFamily="2" charset="-78"/>
              </a:rPr>
              <a:t>GPT</a:t>
            </a:r>
            <a:r>
              <a:rPr lang="en-US" sz="1800" b="1" kern="100">
                <a:effectLst/>
                <a:latin typeface="2  Nazanin" panose="00000400000000000000" pitchFamily="2" charset="-78"/>
                <a:ea typeface="Aptos" panose="020B0004020202020204" pitchFamily="34" charset="0"/>
                <a:cs typeface="2  Nazanin" panose="00000400000000000000" pitchFamily="2" charset="-78"/>
              </a:rPr>
              <a:t> </a:t>
            </a:r>
            <a:r>
              <a:rPr lang="ar-SA" sz="1800" b="1" kern="100">
                <a:effectLst/>
                <a:latin typeface="Arial" panose="020B0604020202020204" pitchFamily="34" charset="0"/>
                <a:ea typeface="Aptos" panose="020B0004020202020204" pitchFamily="34" charset="0"/>
                <a:cs typeface="2  Nazanin" panose="00000400000000000000" pitchFamily="2" charset="-78"/>
              </a:rPr>
              <a:t>شخصی "مربی آیلتس</a:t>
            </a:r>
            <a:r>
              <a:rPr lang="fa-IR" sz="1800" b="1" kern="100">
                <a:effectLst/>
                <a:latin typeface="Arial" panose="020B0604020202020204" pitchFamily="34" charset="0"/>
                <a:ea typeface="Aptos" panose="020B0004020202020204" pitchFamily="34" charset="0"/>
                <a:cs typeface="2  Nazanin" panose="00000400000000000000" pitchFamily="2" charset="-78"/>
              </a:rPr>
              <a:t>"</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algn="r" rtl="1">
              <a:lnSpc>
                <a:spcPct val="115000"/>
              </a:lnSpc>
              <a:spcAft>
                <a:spcPts val="800"/>
              </a:spcAft>
              <a:buNone/>
            </a:pPr>
            <a:r>
              <a:rPr lang="ar-SA" sz="1800" b="1" kern="100">
                <a:effectLst/>
                <a:latin typeface="Arial" panose="020B0604020202020204" pitchFamily="34" charset="0"/>
                <a:ea typeface="Aptos" panose="020B0004020202020204" pitchFamily="34" charset="0"/>
                <a:cs typeface="2  Nazanin" panose="00000400000000000000" pitchFamily="2" charset="-78"/>
              </a:rPr>
              <a:t>هدف</a:t>
            </a:r>
            <a:r>
              <a:rPr lang="fa-IR" sz="1800" b="1" kern="100">
                <a:effectLst/>
                <a:latin typeface="Arial" panose="020B0604020202020204" pitchFamily="34" charset="0"/>
                <a:ea typeface="Aptos" panose="020B0004020202020204" pitchFamily="34" charset="0"/>
                <a:cs typeface="2  Nazanin" panose="00000400000000000000" pitchFamily="2" charset="-78"/>
              </a:rPr>
              <a:t>:</a:t>
            </a:r>
            <a:r>
              <a:rPr lang="fa-IR" sz="1800" kern="100">
                <a:effectLst/>
                <a:latin typeface="Arial" panose="020B0604020202020204" pitchFamily="34" charset="0"/>
                <a:ea typeface="Aptos" panose="020B0004020202020204" pitchFamily="34" charset="0"/>
                <a:cs typeface="2  Nazanin" panose="00000400000000000000" pitchFamily="2" charset="-78"/>
              </a:rPr>
              <a:t> </a:t>
            </a:r>
            <a:r>
              <a:rPr lang="ar-SA" sz="1800" kern="100">
                <a:effectLst/>
                <a:latin typeface="Arial" panose="020B0604020202020204" pitchFamily="34" charset="0"/>
                <a:ea typeface="Aptos" panose="020B0004020202020204" pitchFamily="34" charset="0"/>
                <a:cs typeface="2  Nazanin" panose="00000400000000000000" pitchFamily="2" charset="-78"/>
              </a:rPr>
              <a:t>ساخت یک مربی مجازی برای تمرین زبان انگلیسی</a:t>
            </a:r>
            <a:br>
              <a:rPr lang="en-US" sz="1800" kern="100">
                <a:effectLst/>
                <a:latin typeface="Arial" panose="020B0604020202020204" pitchFamily="34" charset="0"/>
                <a:ea typeface="Aptos" panose="020B0004020202020204" pitchFamily="34" charset="0"/>
                <a:cs typeface="2  Nazanin" panose="00000400000000000000" pitchFamily="2" charset="-78"/>
              </a:rPr>
            </a:br>
            <a:r>
              <a:rPr lang="ar-SA" sz="1800" b="1" kern="100">
                <a:effectLst/>
                <a:latin typeface="Arial" panose="020B0604020202020204" pitchFamily="34" charset="0"/>
                <a:ea typeface="Aptos" panose="020B0004020202020204" pitchFamily="34" charset="0"/>
                <a:cs typeface="2  Nazanin" panose="00000400000000000000" pitchFamily="2" charset="-78"/>
              </a:rPr>
              <a:t>مراحل</a:t>
            </a:r>
            <a:r>
              <a:rPr lang="fa-IR" sz="1800" b="1" kern="100">
                <a:effectLst/>
                <a:latin typeface="Arial" panose="020B0604020202020204" pitchFamily="34" charset="0"/>
                <a:ea typeface="Aptos" panose="020B0004020202020204" pitchFamily="34" charset="0"/>
                <a:cs typeface="2  Nazanin" panose="00000400000000000000" pitchFamily="2" charset="-78"/>
              </a:rPr>
              <a:t>:</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marL="342900" lvl="0" indent="-342900" algn="r" rtl="1">
              <a:lnSpc>
                <a:spcPct val="115000"/>
              </a:lnSpc>
              <a:spcAft>
                <a:spcPts val="800"/>
              </a:spcAft>
              <a:buFont typeface="+mj-lt"/>
              <a:buAutoNum type="arabicPeriod"/>
              <a:tabLst>
                <a:tab pos="457200" algn="l"/>
              </a:tabLst>
            </a:pPr>
            <a:r>
              <a:rPr lang="ar-SA" sz="1800" kern="100">
                <a:effectLst/>
                <a:latin typeface="Arial" panose="020B0604020202020204" pitchFamily="34" charset="0"/>
                <a:ea typeface="Aptos" panose="020B0004020202020204" pitchFamily="34" charset="0"/>
                <a:cs typeface="2  Nazanin" panose="00000400000000000000" pitchFamily="2" charset="-78"/>
              </a:rPr>
              <a:t>ورود به </a:t>
            </a:r>
            <a:r>
              <a:rPr lang="en-US" sz="1800" u="sng" kern="100">
                <a:solidFill>
                  <a:srgbClr val="467886"/>
                </a:solidFill>
                <a:effectLst/>
                <a:latin typeface="Arial" panose="020B0604020202020204" pitchFamily="34" charset="0"/>
                <a:ea typeface="Aptos" panose="020B0004020202020204" pitchFamily="34" charset="0"/>
                <a:cs typeface="2  Nazanin" panose="00000400000000000000" pitchFamily="2" charset="-78"/>
                <a:hlinkClick r:id="rId2"/>
              </a:rPr>
              <a:t>https://chat.openai.com/gpts</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marL="342900" lvl="0" indent="-342900" algn="r" rtl="1">
              <a:lnSpc>
                <a:spcPct val="115000"/>
              </a:lnSpc>
              <a:spcAft>
                <a:spcPts val="800"/>
              </a:spcAft>
              <a:buFont typeface="+mj-lt"/>
              <a:buAutoNum type="arabicPeriod"/>
              <a:tabLst>
                <a:tab pos="457200" algn="l"/>
              </a:tabLst>
            </a:pPr>
            <a:r>
              <a:rPr lang="ar-SA" sz="1800" kern="100">
                <a:effectLst/>
                <a:latin typeface="Arial" panose="020B0604020202020204" pitchFamily="34" charset="0"/>
                <a:ea typeface="Aptos" panose="020B0004020202020204" pitchFamily="34" charset="0"/>
                <a:cs typeface="2  Nazanin" panose="00000400000000000000" pitchFamily="2" charset="-78"/>
              </a:rPr>
              <a:t>کلیک روی</a:t>
            </a:r>
            <a:r>
              <a:rPr lang="fa-IR" sz="1800" kern="100">
                <a:effectLst/>
                <a:latin typeface="Arial" panose="020B0604020202020204" pitchFamily="34" charset="0"/>
                <a:ea typeface="Aptos" panose="020B0004020202020204" pitchFamily="34" charset="0"/>
                <a:cs typeface="2  Nazanin" panose="00000400000000000000" pitchFamily="2" charset="-78"/>
              </a:rPr>
              <a:t> "</a:t>
            </a:r>
            <a:r>
              <a:rPr lang="en-US" sz="1800" kern="100">
                <a:effectLst/>
                <a:latin typeface="Arial" panose="020B0604020202020204" pitchFamily="34" charset="0"/>
                <a:ea typeface="Aptos" panose="020B0004020202020204" pitchFamily="34" charset="0"/>
                <a:cs typeface="2  Nazanin" panose="00000400000000000000" pitchFamily="2" charset="-78"/>
              </a:rPr>
              <a:t>Create a GPT</a:t>
            </a:r>
            <a:r>
              <a:rPr lang="fa-IR" sz="1800" kern="100">
                <a:effectLst/>
                <a:latin typeface="Arial" panose="020B0604020202020204" pitchFamily="34" charset="0"/>
                <a:ea typeface="Aptos" panose="020B0004020202020204" pitchFamily="34" charset="0"/>
                <a:cs typeface="2  Nazanin" panose="00000400000000000000" pitchFamily="2" charset="-78"/>
              </a:rPr>
              <a:t>"</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marL="342900" lvl="0" indent="-342900" algn="r" rtl="1">
              <a:lnSpc>
                <a:spcPct val="115000"/>
              </a:lnSpc>
              <a:spcAft>
                <a:spcPts val="800"/>
              </a:spcAft>
              <a:buFont typeface="+mj-lt"/>
              <a:buAutoNum type="arabicPeriod"/>
              <a:tabLst>
                <a:tab pos="457200" algn="l"/>
              </a:tabLst>
            </a:pPr>
            <a:r>
              <a:rPr lang="ar-SA" sz="1800" kern="100">
                <a:effectLst/>
                <a:latin typeface="Arial" panose="020B0604020202020204" pitchFamily="34" charset="0"/>
                <a:ea typeface="Aptos" panose="020B0004020202020204" pitchFamily="34" charset="0"/>
                <a:cs typeface="2  Nazanin" panose="00000400000000000000" pitchFamily="2" charset="-78"/>
              </a:rPr>
              <a:t>در بخش دستورالعمل، بنویسید</a:t>
            </a:r>
            <a:r>
              <a:rPr lang="fa-IR" sz="1800" kern="100">
                <a:effectLst/>
                <a:latin typeface="Arial" panose="020B0604020202020204" pitchFamily="34" charset="0"/>
                <a:ea typeface="Aptos" panose="020B0004020202020204" pitchFamily="34" charset="0"/>
                <a:cs typeface="2  Nazanin" panose="00000400000000000000" pitchFamily="2" charset="-78"/>
              </a:rPr>
              <a:t>:</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a:lnSpc>
                <a:spcPct val="115000"/>
              </a:lnSpc>
              <a:spcAft>
                <a:spcPts val="800"/>
              </a:spcAft>
              <a:buNone/>
            </a:pPr>
            <a:r>
              <a:rPr lang="fa-IR" sz="1800" kern="100">
                <a:effectLst/>
                <a:latin typeface="Arial" panose="020B0604020202020204" pitchFamily="34" charset="0"/>
                <a:ea typeface="Aptos" panose="020B0004020202020204" pitchFamily="34" charset="0"/>
                <a:cs typeface="2  Nazanin" panose="00000400000000000000" pitchFamily="2" charset="-78"/>
              </a:rPr>
              <a:t>"</a:t>
            </a:r>
            <a:r>
              <a:rPr lang="en-US" sz="1800" kern="100">
                <a:effectLst/>
                <a:latin typeface="Arial" panose="020B0604020202020204" pitchFamily="34" charset="0"/>
                <a:ea typeface="Aptos" panose="020B0004020202020204" pitchFamily="34" charset="0"/>
                <a:cs typeface="2  Nazanin" panose="00000400000000000000" pitchFamily="2" charset="-78"/>
              </a:rPr>
              <a:t>Act as an IELTS speaking examiner. Ask me speaking part 1, 2, and 3 questions and give me feedback based on the IELTS criteria</a:t>
            </a:r>
            <a:r>
              <a:rPr lang="fa-IR" sz="1800" kern="100">
                <a:effectLst/>
                <a:latin typeface="Arial" panose="020B0604020202020204" pitchFamily="34" charset="0"/>
                <a:ea typeface="Aptos" panose="020B0004020202020204" pitchFamily="34" charset="0"/>
                <a:cs typeface="2  Nazanin" panose="00000400000000000000" pitchFamily="2" charset="-78"/>
              </a:rPr>
              <a:t>."</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marL="342900" lvl="0" indent="-342900" algn="r" rtl="1">
              <a:lnSpc>
                <a:spcPct val="115000"/>
              </a:lnSpc>
              <a:spcAft>
                <a:spcPts val="800"/>
              </a:spcAft>
              <a:buFont typeface="+mj-lt"/>
              <a:buAutoNum type="arabicPeriod" startAt="4"/>
              <a:tabLst>
                <a:tab pos="457200" algn="l"/>
              </a:tabLst>
            </a:pPr>
            <a:r>
              <a:rPr lang="ar-SA" sz="1800" kern="100">
                <a:effectLst/>
                <a:latin typeface="Arial" panose="020B0604020202020204" pitchFamily="34" charset="0"/>
                <a:ea typeface="Aptos" panose="020B0004020202020204" pitchFamily="34" charset="0"/>
                <a:cs typeface="2  Nazanin" panose="00000400000000000000" pitchFamily="2" charset="-78"/>
              </a:rPr>
              <a:t>افزودن ابزارهای دلخواه</a:t>
            </a:r>
            <a:r>
              <a:rPr lang="fa-IR" sz="1800" kern="100">
                <a:effectLst/>
                <a:latin typeface="Arial" panose="020B0604020202020204" pitchFamily="34" charset="0"/>
                <a:ea typeface="Aptos" panose="020B0004020202020204" pitchFamily="34" charset="0"/>
                <a:cs typeface="2  Nazanin" panose="00000400000000000000" pitchFamily="2" charset="-78"/>
              </a:rPr>
              <a:t> (</a:t>
            </a:r>
            <a:r>
              <a:rPr lang="ar-SA" sz="1800" kern="100">
                <a:effectLst/>
                <a:latin typeface="Arial" panose="020B0604020202020204" pitchFamily="34" charset="0"/>
                <a:ea typeface="Aptos" panose="020B0004020202020204" pitchFamily="34" charset="0"/>
                <a:cs typeface="2  Nazanin" panose="00000400000000000000" pitchFamily="2" charset="-78"/>
              </a:rPr>
              <a:t>مثلاً </a:t>
            </a:r>
            <a:r>
              <a:rPr lang="en-US" sz="1800" kern="100">
                <a:effectLst/>
                <a:latin typeface="Arial" panose="020B0604020202020204" pitchFamily="34" charset="0"/>
                <a:ea typeface="Aptos" panose="020B0004020202020204" pitchFamily="34" charset="0"/>
                <a:cs typeface="2  Nazanin" panose="00000400000000000000" pitchFamily="2" charset="-78"/>
              </a:rPr>
              <a:t>DALL·E</a:t>
            </a:r>
            <a:r>
              <a:rPr lang="en-US" sz="1800" kern="100">
                <a:effectLst/>
                <a:latin typeface="2  Nazanin" panose="00000400000000000000" pitchFamily="2" charset="-78"/>
                <a:ea typeface="Aptos" panose="020B0004020202020204" pitchFamily="34" charset="0"/>
                <a:cs typeface="2  Nazanin" panose="00000400000000000000" pitchFamily="2" charset="-78"/>
              </a:rPr>
              <a:t> </a:t>
            </a:r>
            <a:r>
              <a:rPr lang="fa-IR" sz="1800" kern="100">
                <a:effectLst/>
                <a:latin typeface="2  Nazanin" panose="00000400000000000000" pitchFamily="2" charset="-78"/>
                <a:ea typeface="Aptos" panose="020B0004020202020204" pitchFamily="34" charset="0"/>
                <a:cs typeface="2  Nazanin" panose="00000400000000000000" pitchFamily="2" charset="-78"/>
              </a:rPr>
              <a:t> </a:t>
            </a:r>
            <a:r>
              <a:rPr lang="ar-SA" sz="1800" kern="100">
                <a:effectLst/>
                <a:latin typeface="Arial" panose="020B0604020202020204" pitchFamily="34" charset="0"/>
                <a:ea typeface="Aptos" panose="020B0004020202020204" pitchFamily="34" charset="0"/>
                <a:cs typeface="2  Nazanin" panose="00000400000000000000" pitchFamily="2" charset="-78"/>
              </a:rPr>
              <a:t>برای تصویرسازی کلمات</a:t>
            </a:r>
            <a:r>
              <a:rPr lang="fa-IR" sz="1800" kern="100">
                <a:effectLst/>
                <a:latin typeface="Arial" panose="020B0604020202020204" pitchFamily="34" charset="0"/>
                <a:ea typeface="Aptos" panose="020B0004020202020204" pitchFamily="34" charset="0"/>
                <a:cs typeface="2  Nazanin" panose="00000400000000000000" pitchFamily="2" charset="-78"/>
              </a:rPr>
              <a:t>)</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marL="342900" lvl="0" indent="-342900" algn="r" rtl="1">
              <a:lnSpc>
                <a:spcPct val="115000"/>
              </a:lnSpc>
              <a:spcAft>
                <a:spcPts val="800"/>
              </a:spcAft>
              <a:buFont typeface="+mj-lt"/>
              <a:buAutoNum type="arabicPeriod" startAt="4"/>
              <a:tabLst>
                <a:tab pos="457200" algn="l"/>
              </a:tabLst>
            </a:pPr>
            <a:r>
              <a:rPr lang="ar-SA" sz="1800" kern="100">
                <a:effectLst/>
                <a:latin typeface="Arial" panose="020B0604020202020204" pitchFamily="34" charset="0"/>
                <a:ea typeface="Aptos" panose="020B0004020202020204" pitchFamily="34" charset="0"/>
                <a:cs typeface="2  Nazanin" panose="00000400000000000000" pitchFamily="2" charset="-78"/>
              </a:rPr>
              <a:t>آزمایش، ذخیره و اشتراک‌گذاری لینک </a:t>
            </a:r>
            <a:r>
              <a:rPr lang="en-US" sz="1800" kern="100">
                <a:effectLst/>
                <a:latin typeface="Arial" panose="020B0604020202020204" pitchFamily="34" charset="0"/>
                <a:ea typeface="Aptos" panose="020B0004020202020204" pitchFamily="34" charset="0"/>
                <a:cs typeface="2  Nazanin" panose="00000400000000000000" pitchFamily="2" charset="-78"/>
              </a:rPr>
              <a:t>GPT</a:t>
            </a:r>
            <a:endParaRPr lang="en-US" sz="2000" kern="100">
              <a:effectLst/>
              <a:latin typeface="Arial" panose="020B0604020202020204" pitchFamily="34" charset="0"/>
              <a:ea typeface="Aptos" panose="020B0004020202020204" pitchFamily="34" charset="0"/>
              <a:cs typeface="2  Nazanin" panose="00000400000000000000" pitchFamily="2" charset="-78"/>
            </a:endParaRPr>
          </a:p>
        </p:txBody>
      </p:sp>
      <p:sp>
        <p:nvSpPr>
          <p:cNvPr id="3" name="TextBox 2">
            <a:extLst>
              <a:ext uri="{FF2B5EF4-FFF2-40B4-BE49-F238E27FC236}">
                <a16:creationId xmlns:a16="http://schemas.microsoft.com/office/drawing/2014/main" id="{9F17B25B-9F43-55E5-16ED-67A30DD48AA6}"/>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68</a:t>
            </a:r>
            <a:endParaRPr lang="fa-IR" sz="1200"/>
          </a:p>
        </p:txBody>
      </p:sp>
    </p:spTree>
    <p:extLst>
      <p:ext uri="{BB962C8B-B14F-4D97-AF65-F5344CB8AC3E}">
        <p14:creationId xmlns:p14="http://schemas.microsoft.com/office/powerpoint/2010/main" val="848027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717C2-100D-EC91-FA16-0D632A5B847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358FA9F-6ECA-B06C-20F2-DD86C58915B8}"/>
              </a:ext>
            </a:extLst>
          </p:cNvPr>
          <p:cNvSpPr txBox="1"/>
          <p:nvPr/>
        </p:nvSpPr>
        <p:spPr>
          <a:xfrm>
            <a:off x="536028" y="343663"/>
            <a:ext cx="8276896" cy="640175"/>
          </a:xfrm>
          <a:prstGeom prst="rect">
            <a:avLst/>
          </a:prstGeom>
          <a:noFill/>
        </p:spPr>
        <p:txBody>
          <a:bodyPr wrap="square">
            <a:spAutoFit/>
          </a:bodyPr>
          <a:lstStyle/>
          <a:p>
            <a:pPr algn="r" rtl="1">
              <a:lnSpc>
                <a:spcPct val="115000"/>
              </a:lnSpc>
              <a:spcAft>
                <a:spcPts val="800"/>
              </a:spcAft>
            </a:pPr>
            <a:r>
              <a:rPr lang="ar-SA" sz="3200" b="1" kern="100">
                <a:effectLst/>
                <a:latin typeface="Arial" panose="020B0604020202020204" pitchFamily="34" charset="0"/>
                <a:ea typeface="Aptos" panose="020B0004020202020204" pitchFamily="34" charset="0"/>
                <a:cs typeface="2  Titr" panose="00000700000000000000" pitchFamily="2" charset="-78"/>
              </a:rPr>
              <a:t>چند پروژه برای ایجاد </a:t>
            </a:r>
            <a:r>
              <a:rPr lang="en-US" sz="3200" b="1" kern="100">
                <a:effectLst/>
                <a:latin typeface="Arial" panose="020B0604020202020204" pitchFamily="34" charset="0"/>
                <a:ea typeface="Aptos" panose="020B0004020202020204" pitchFamily="34" charset="0"/>
                <a:cs typeface="2  Titr" panose="00000700000000000000" pitchFamily="2" charset="-78"/>
              </a:rPr>
              <a:t>GPT </a:t>
            </a:r>
            <a:r>
              <a:rPr lang="fa-IR" sz="3200" b="1" kern="100">
                <a:effectLst/>
                <a:latin typeface="Arial" panose="020B0604020202020204" pitchFamily="34" charset="0"/>
                <a:ea typeface="Aptos" panose="020B0004020202020204" pitchFamily="34" charset="0"/>
                <a:cs typeface="2  Titr" panose="00000700000000000000" pitchFamily="2" charset="-78"/>
              </a:rPr>
              <a:t> </a:t>
            </a:r>
            <a:r>
              <a:rPr lang="ar-SA" sz="3200" b="1" kern="100">
                <a:effectLst/>
                <a:latin typeface="Arial" panose="020B0604020202020204" pitchFamily="34" charset="0"/>
                <a:ea typeface="Aptos" panose="020B0004020202020204" pitchFamily="34" charset="0"/>
                <a:cs typeface="2  Titr" panose="00000700000000000000" pitchFamily="2" charset="-78"/>
              </a:rPr>
              <a:t>جدید:</a:t>
            </a:r>
            <a:endParaRPr lang="en-US" sz="3600" kern="100">
              <a:effectLst/>
              <a:latin typeface="Arial" panose="020B0604020202020204" pitchFamily="34" charset="0"/>
              <a:ea typeface="Aptos" panose="020B0004020202020204" pitchFamily="34" charset="0"/>
              <a:cs typeface="2  Nazanin" panose="00000400000000000000" pitchFamily="2" charset="-78"/>
            </a:endParaRPr>
          </a:p>
        </p:txBody>
      </p:sp>
      <p:sp>
        <p:nvSpPr>
          <p:cNvPr id="4" name="TextBox 3">
            <a:extLst>
              <a:ext uri="{FF2B5EF4-FFF2-40B4-BE49-F238E27FC236}">
                <a16:creationId xmlns:a16="http://schemas.microsoft.com/office/drawing/2014/main" id="{1041B282-444E-57A2-F8F4-25D9B2D36AC7}"/>
              </a:ext>
            </a:extLst>
          </p:cNvPr>
          <p:cNvSpPr txBox="1"/>
          <p:nvPr/>
        </p:nvSpPr>
        <p:spPr>
          <a:xfrm>
            <a:off x="2475186" y="1190007"/>
            <a:ext cx="6337738" cy="2516586"/>
          </a:xfrm>
          <a:prstGeom prst="rect">
            <a:avLst/>
          </a:prstGeom>
          <a:noFill/>
        </p:spPr>
        <p:txBody>
          <a:bodyPr wrap="square">
            <a:spAutoFit/>
          </a:bodyPr>
          <a:lstStyle/>
          <a:p>
            <a:pPr algn="r" rtl="1">
              <a:lnSpc>
                <a:spcPct val="115000"/>
              </a:lnSpc>
              <a:spcAft>
                <a:spcPts val="800"/>
              </a:spcAft>
              <a:buNone/>
            </a:pPr>
            <a:r>
              <a:rPr lang="fa-IR" sz="1800" kern="100">
                <a:effectLst/>
                <a:latin typeface="Arial" panose="020B0604020202020204" pitchFamily="34" charset="0"/>
                <a:ea typeface="Aptos" panose="020B0004020202020204" pitchFamily="34" charset="0"/>
                <a:cs typeface="Segoe UI Emoji" panose="020B0502040204020203" pitchFamily="34" charset="0"/>
              </a:rPr>
              <a:t>✅</a:t>
            </a:r>
            <a:r>
              <a:rPr lang="fa-IR" sz="1800" kern="100">
                <a:effectLst/>
                <a:latin typeface="Arial" panose="020B0604020202020204" pitchFamily="34" charset="0"/>
                <a:ea typeface="Aptos" panose="020B0004020202020204" pitchFamily="34" charset="0"/>
                <a:cs typeface="Times New Roman" panose="02020603050405020304" pitchFamily="18" charset="0"/>
              </a:rPr>
              <a:t> </a:t>
            </a:r>
            <a:r>
              <a:rPr lang="ar-SA" sz="1800" kern="100">
                <a:effectLst/>
                <a:latin typeface="Arial" panose="020B0604020202020204" pitchFamily="34" charset="0"/>
                <a:ea typeface="Aptos" panose="020B0004020202020204" pitchFamily="34" charset="0"/>
                <a:cs typeface="2  Nazanin" panose="00000400000000000000" pitchFamily="2" charset="-78"/>
              </a:rPr>
              <a:t>پروژه </a:t>
            </a:r>
            <a:r>
              <a:rPr lang="fa-IR" sz="1800" kern="100">
                <a:effectLst/>
                <a:latin typeface="Arial" panose="020B0604020202020204" pitchFamily="34" charset="0"/>
                <a:ea typeface="Aptos" panose="020B0004020202020204" pitchFamily="34" charset="0"/>
                <a:cs typeface="2  Nazanin" panose="00000400000000000000" pitchFamily="2" charset="-78"/>
              </a:rPr>
              <a:t>۲: </a:t>
            </a:r>
            <a:r>
              <a:rPr lang="ar-SA" sz="1800" kern="100">
                <a:effectLst/>
                <a:latin typeface="Arial" panose="020B0604020202020204" pitchFamily="34" charset="0"/>
                <a:ea typeface="Aptos" panose="020B0004020202020204" pitchFamily="34" charset="0"/>
                <a:cs typeface="2  Nazanin" panose="00000400000000000000" pitchFamily="2" charset="-78"/>
              </a:rPr>
              <a:t>ساخت </a:t>
            </a:r>
            <a:r>
              <a:rPr lang="en-US" sz="1800" kern="100">
                <a:effectLst/>
                <a:latin typeface="Arial" panose="020B0604020202020204" pitchFamily="34" charset="0"/>
                <a:ea typeface="Aptos" panose="020B0004020202020204" pitchFamily="34" charset="0"/>
                <a:cs typeface="2  Nazanin" panose="00000400000000000000" pitchFamily="2" charset="-78"/>
              </a:rPr>
              <a:t>GPT</a:t>
            </a:r>
            <a:r>
              <a:rPr lang="en-US" sz="1800" kern="100">
                <a:effectLst/>
                <a:latin typeface="2  Nazanin" panose="00000400000000000000" pitchFamily="2" charset="-78"/>
                <a:ea typeface="Aptos" panose="020B0004020202020204" pitchFamily="34" charset="0"/>
                <a:cs typeface="2  Nazanin" panose="00000400000000000000" pitchFamily="2" charset="-78"/>
              </a:rPr>
              <a:t> </a:t>
            </a:r>
            <a:r>
              <a:rPr lang="fa-IR" sz="1800" kern="100">
                <a:effectLst/>
                <a:latin typeface="2  Nazanin" panose="00000400000000000000" pitchFamily="2" charset="-78"/>
                <a:ea typeface="Aptos" panose="020B0004020202020204" pitchFamily="34" charset="0"/>
                <a:cs typeface="2  Nazanin" panose="00000400000000000000" pitchFamily="2" charset="-78"/>
              </a:rPr>
              <a:t> </a:t>
            </a:r>
            <a:r>
              <a:rPr lang="ar-SA" sz="1800" kern="100">
                <a:effectLst/>
                <a:latin typeface="Arial" panose="020B0604020202020204" pitchFamily="34" charset="0"/>
                <a:ea typeface="Aptos" panose="020B0004020202020204" pitchFamily="34" charset="0"/>
                <a:cs typeface="2  Nazanin" panose="00000400000000000000" pitchFamily="2" charset="-78"/>
              </a:rPr>
              <a:t>مخصوص مشاوره‌ی تغذیه و سلامت</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algn="r" rtl="1">
              <a:lnSpc>
                <a:spcPct val="115000"/>
              </a:lnSpc>
              <a:spcAft>
                <a:spcPts val="800"/>
              </a:spcAft>
              <a:buNone/>
            </a:pPr>
            <a:r>
              <a:rPr lang="fa-IR" sz="1800" kern="100">
                <a:effectLst/>
                <a:latin typeface="Arial" panose="020B0604020202020204" pitchFamily="34" charset="0"/>
                <a:ea typeface="Aptos" panose="020B0004020202020204" pitchFamily="34" charset="0"/>
                <a:cs typeface="Segoe UI Emoji" panose="020B0502040204020203" pitchFamily="34" charset="0"/>
              </a:rPr>
              <a:t>✅</a:t>
            </a:r>
            <a:r>
              <a:rPr lang="fa-IR" sz="1800" kern="100">
                <a:effectLst/>
                <a:latin typeface="Arial" panose="020B0604020202020204" pitchFamily="34" charset="0"/>
                <a:ea typeface="Aptos" panose="020B0004020202020204" pitchFamily="34" charset="0"/>
                <a:cs typeface="Times New Roman" panose="02020603050405020304" pitchFamily="18" charset="0"/>
              </a:rPr>
              <a:t> </a:t>
            </a:r>
            <a:r>
              <a:rPr lang="ar-SA" sz="1800" kern="100">
                <a:effectLst/>
                <a:latin typeface="Arial" panose="020B0604020202020204" pitchFamily="34" charset="0"/>
                <a:ea typeface="Aptos" panose="020B0004020202020204" pitchFamily="34" charset="0"/>
                <a:cs typeface="2  Nazanin" panose="00000400000000000000" pitchFamily="2" charset="-78"/>
              </a:rPr>
              <a:t>پروژه </a:t>
            </a:r>
            <a:r>
              <a:rPr lang="fa-IR" sz="1800" kern="100">
                <a:effectLst/>
                <a:latin typeface="Arial" panose="020B0604020202020204" pitchFamily="34" charset="0"/>
                <a:ea typeface="Aptos" panose="020B0004020202020204" pitchFamily="34" charset="0"/>
                <a:cs typeface="2  Nazanin" panose="00000400000000000000" pitchFamily="2" charset="-78"/>
              </a:rPr>
              <a:t>۳: </a:t>
            </a:r>
            <a:r>
              <a:rPr lang="ar-SA" sz="1800" kern="100">
                <a:effectLst/>
                <a:latin typeface="Arial" panose="020B0604020202020204" pitchFamily="34" charset="0"/>
                <a:ea typeface="Aptos" panose="020B0004020202020204" pitchFamily="34" charset="0"/>
                <a:cs typeface="2  Nazanin" panose="00000400000000000000" pitchFamily="2" charset="-78"/>
              </a:rPr>
              <a:t>ساخت </a:t>
            </a:r>
            <a:r>
              <a:rPr lang="en-US" sz="1800" kern="100">
                <a:effectLst/>
                <a:latin typeface="Arial" panose="020B0604020202020204" pitchFamily="34" charset="0"/>
                <a:ea typeface="Aptos" panose="020B0004020202020204" pitchFamily="34" charset="0"/>
                <a:cs typeface="2  Nazanin" panose="00000400000000000000" pitchFamily="2" charset="-78"/>
              </a:rPr>
              <a:t>GPT</a:t>
            </a:r>
            <a:r>
              <a:rPr lang="en-US" sz="1800" kern="100">
                <a:effectLst/>
                <a:latin typeface="2  Nazanin" panose="00000400000000000000" pitchFamily="2" charset="-78"/>
                <a:ea typeface="Aptos" panose="020B0004020202020204" pitchFamily="34" charset="0"/>
                <a:cs typeface="2  Nazanin" panose="00000400000000000000" pitchFamily="2" charset="-78"/>
              </a:rPr>
              <a:t> </a:t>
            </a:r>
            <a:r>
              <a:rPr lang="fa-IR" sz="1800" kern="100">
                <a:effectLst/>
                <a:latin typeface="2  Nazanin" panose="00000400000000000000" pitchFamily="2" charset="-78"/>
                <a:ea typeface="Aptos" panose="020B0004020202020204" pitchFamily="34" charset="0"/>
                <a:cs typeface="2  Nazanin" panose="00000400000000000000" pitchFamily="2" charset="-78"/>
              </a:rPr>
              <a:t> </a:t>
            </a:r>
            <a:r>
              <a:rPr lang="ar-SA" sz="1800" kern="100">
                <a:effectLst/>
                <a:latin typeface="Arial" panose="020B0604020202020204" pitchFamily="34" charset="0"/>
                <a:ea typeface="Aptos" panose="020B0004020202020204" pitchFamily="34" charset="0"/>
                <a:cs typeface="2  Nazanin" panose="00000400000000000000" pitchFamily="2" charset="-78"/>
              </a:rPr>
              <a:t>برای تمرین کدنویسی پایتون</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algn="r" rtl="1">
              <a:lnSpc>
                <a:spcPct val="115000"/>
              </a:lnSpc>
              <a:spcAft>
                <a:spcPts val="800"/>
              </a:spcAft>
              <a:buNone/>
            </a:pPr>
            <a:r>
              <a:rPr lang="fa-IR" sz="1800" kern="100">
                <a:effectLst/>
                <a:latin typeface="Arial" panose="020B0604020202020204" pitchFamily="34" charset="0"/>
                <a:ea typeface="Aptos" panose="020B0004020202020204" pitchFamily="34" charset="0"/>
                <a:cs typeface="Segoe UI Emoji" panose="020B0502040204020203" pitchFamily="34" charset="0"/>
              </a:rPr>
              <a:t>✅</a:t>
            </a:r>
            <a:r>
              <a:rPr lang="fa-IR" sz="1800" kern="100">
                <a:effectLst/>
                <a:latin typeface="Arial" panose="020B0604020202020204" pitchFamily="34" charset="0"/>
                <a:ea typeface="Aptos" panose="020B0004020202020204" pitchFamily="34" charset="0"/>
                <a:cs typeface="Times New Roman" panose="02020603050405020304" pitchFamily="18" charset="0"/>
              </a:rPr>
              <a:t> </a:t>
            </a:r>
            <a:r>
              <a:rPr lang="ar-SA" sz="1800" kern="100">
                <a:effectLst/>
                <a:latin typeface="Arial" panose="020B0604020202020204" pitchFamily="34" charset="0"/>
                <a:ea typeface="Aptos" panose="020B0004020202020204" pitchFamily="34" charset="0"/>
                <a:cs typeface="2  Nazanin" panose="00000400000000000000" pitchFamily="2" charset="-78"/>
              </a:rPr>
              <a:t>پروژه </a:t>
            </a:r>
            <a:r>
              <a:rPr lang="fa-IR" sz="1800" kern="100">
                <a:effectLst/>
                <a:latin typeface="Arial" panose="020B0604020202020204" pitchFamily="34" charset="0"/>
                <a:ea typeface="Aptos" panose="020B0004020202020204" pitchFamily="34" charset="0"/>
                <a:cs typeface="2  Nazanin" panose="00000400000000000000" pitchFamily="2" charset="-78"/>
              </a:rPr>
              <a:t>۴: </a:t>
            </a:r>
            <a:r>
              <a:rPr lang="ar-SA" sz="1800" kern="100">
                <a:effectLst/>
                <a:latin typeface="Arial" panose="020B0604020202020204" pitchFamily="34" charset="0"/>
                <a:ea typeface="Aptos" panose="020B0004020202020204" pitchFamily="34" charset="0"/>
                <a:cs typeface="2  Nazanin" panose="00000400000000000000" pitchFamily="2" charset="-78"/>
              </a:rPr>
              <a:t>ساخت </a:t>
            </a:r>
            <a:r>
              <a:rPr lang="en-US" sz="1800" kern="100">
                <a:effectLst/>
                <a:latin typeface="Arial" panose="020B0604020202020204" pitchFamily="34" charset="0"/>
                <a:ea typeface="Aptos" panose="020B0004020202020204" pitchFamily="34" charset="0"/>
                <a:cs typeface="2  Nazanin" panose="00000400000000000000" pitchFamily="2" charset="-78"/>
              </a:rPr>
              <a:t>GPT</a:t>
            </a:r>
            <a:r>
              <a:rPr lang="en-US" sz="1800" kern="100">
                <a:effectLst/>
                <a:latin typeface="2  Nazanin" panose="00000400000000000000" pitchFamily="2" charset="-78"/>
                <a:ea typeface="Aptos" panose="020B0004020202020204" pitchFamily="34" charset="0"/>
                <a:cs typeface="2  Nazanin" panose="00000400000000000000" pitchFamily="2" charset="-78"/>
              </a:rPr>
              <a:t> </a:t>
            </a:r>
            <a:r>
              <a:rPr lang="fa-IR" sz="1800" kern="100">
                <a:effectLst/>
                <a:latin typeface="2  Nazanin" panose="00000400000000000000" pitchFamily="2" charset="-78"/>
                <a:ea typeface="Aptos" panose="020B0004020202020204" pitchFamily="34" charset="0"/>
                <a:cs typeface="2  Nazanin" panose="00000400000000000000" pitchFamily="2" charset="-78"/>
              </a:rPr>
              <a:t> </a:t>
            </a:r>
            <a:r>
              <a:rPr lang="ar-SA" sz="1800" kern="100">
                <a:effectLst/>
                <a:latin typeface="Arial" panose="020B0604020202020204" pitchFamily="34" charset="0"/>
                <a:ea typeface="Aptos" panose="020B0004020202020204" pitchFamily="34" charset="0"/>
                <a:cs typeface="2  Nazanin" panose="00000400000000000000" pitchFamily="2" charset="-78"/>
              </a:rPr>
              <a:t>طراح رزومه برای مشاغل مختلف</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algn="r" rtl="1">
              <a:lnSpc>
                <a:spcPct val="115000"/>
              </a:lnSpc>
              <a:spcAft>
                <a:spcPts val="800"/>
              </a:spcAft>
              <a:buNone/>
            </a:pPr>
            <a:r>
              <a:rPr lang="fa-IR" sz="1800" kern="100">
                <a:effectLst/>
                <a:latin typeface="Arial" panose="020B0604020202020204" pitchFamily="34" charset="0"/>
                <a:ea typeface="Aptos" panose="020B0004020202020204" pitchFamily="34" charset="0"/>
                <a:cs typeface="Segoe UI Emoji" panose="020B0502040204020203" pitchFamily="34" charset="0"/>
              </a:rPr>
              <a:t>✅</a:t>
            </a:r>
            <a:r>
              <a:rPr lang="fa-IR" sz="1800" kern="100">
                <a:effectLst/>
                <a:latin typeface="Arial" panose="020B0604020202020204" pitchFamily="34" charset="0"/>
                <a:ea typeface="Aptos" panose="020B0004020202020204" pitchFamily="34" charset="0"/>
                <a:cs typeface="Times New Roman" panose="02020603050405020304" pitchFamily="18" charset="0"/>
              </a:rPr>
              <a:t> </a:t>
            </a:r>
            <a:r>
              <a:rPr lang="ar-SA" sz="1800" kern="100">
                <a:effectLst/>
                <a:latin typeface="Arial" panose="020B0604020202020204" pitchFamily="34" charset="0"/>
                <a:ea typeface="Aptos" panose="020B0004020202020204" pitchFamily="34" charset="0"/>
                <a:cs typeface="2  Nazanin" panose="00000400000000000000" pitchFamily="2" charset="-78"/>
              </a:rPr>
              <a:t>پروژه </a:t>
            </a:r>
            <a:r>
              <a:rPr lang="fa-IR" sz="1800" kern="100">
                <a:effectLst/>
                <a:latin typeface="Arial" panose="020B0604020202020204" pitchFamily="34" charset="0"/>
                <a:ea typeface="Aptos" panose="020B0004020202020204" pitchFamily="34" charset="0"/>
                <a:cs typeface="2  Nazanin" panose="00000400000000000000" pitchFamily="2" charset="-78"/>
              </a:rPr>
              <a:t>۵: </a:t>
            </a:r>
            <a:r>
              <a:rPr lang="ar-SA" sz="1800" kern="100">
                <a:effectLst/>
                <a:latin typeface="Arial" panose="020B0604020202020204" pitchFamily="34" charset="0"/>
                <a:ea typeface="Aptos" panose="020B0004020202020204" pitchFamily="34" charset="0"/>
                <a:cs typeface="2  Nazanin" panose="00000400000000000000" pitchFamily="2" charset="-78"/>
              </a:rPr>
              <a:t>ساخت </a:t>
            </a:r>
            <a:r>
              <a:rPr lang="en-US" sz="1800" kern="100">
                <a:effectLst/>
                <a:latin typeface="Arial" panose="020B0604020202020204" pitchFamily="34" charset="0"/>
                <a:ea typeface="Aptos" panose="020B0004020202020204" pitchFamily="34" charset="0"/>
                <a:cs typeface="2  Nazanin" panose="00000400000000000000" pitchFamily="2" charset="-78"/>
              </a:rPr>
              <a:t>GPT</a:t>
            </a:r>
            <a:r>
              <a:rPr lang="en-US" sz="1800" kern="100">
                <a:effectLst/>
                <a:latin typeface="2  Nazanin" panose="00000400000000000000" pitchFamily="2" charset="-78"/>
                <a:ea typeface="Aptos" panose="020B0004020202020204" pitchFamily="34" charset="0"/>
                <a:cs typeface="2  Nazanin" panose="00000400000000000000" pitchFamily="2" charset="-78"/>
              </a:rPr>
              <a:t> </a:t>
            </a:r>
            <a:r>
              <a:rPr lang="fa-IR" sz="1800" kern="100">
                <a:effectLst/>
                <a:latin typeface="2  Nazanin" panose="00000400000000000000" pitchFamily="2" charset="-78"/>
                <a:ea typeface="Aptos" panose="020B0004020202020204" pitchFamily="34" charset="0"/>
                <a:cs typeface="2  Nazanin" panose="00000400000000000000" pitchFamily="2" charset="-78"/>
              </a:rPr>
              <a:t> </a:t>
            </a:r>
            <a:r>
              <a:rPr lang="ar-SA" sz="1800" kern="100">
                <a:effectLst/>
                <a:latin typeface="Arial" panose="020B0604020202020204" pitchFamily="34" charset="0"/>
                <a:ea typeface="Aptos" panose="020B0004020202020204" pitchFamily="34" charset="0"/>
                <a:cs typeface="2  Nazanin" panose="00000400000000000000" pitchFamily="2" charset="-78"/>
              </a:rPr>
              <a:t>مخصوص مشاوره‌ی کتاب و مطالعه</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algn="r" rtl="1">
              <a:lnSpc>
                <a:spcPct val="115000"/>
              </a:lnSpc>
              <a:spcAft>
                <a:spcPts val="800"/>
              </a:spcAft>
              <a:buNone/>
            </a:pPr>
            <a:r>
              <a:rPr lang="fa-IR" sz="1800" kern="100">
                <a:effectLst/>
                <a:latin typeface="Arial" panose="020B0604020202020204" pitchFamily="34" charset="0"/>
                <a:ea typeface="Aptos" panose="020B0004020202020204" pitchFamily="34" charset="0"/>
                <a:cs typeface="Segoe UI Emoji" panose="020B0502040204020203" pitchFamily="34" charset="0"/>
              </a:rPr>
              <a:t>✅</a:t>
            </a:r>
            <a:r>
              <a:rPr lang="fa-IR" sz="1800" kern="100">
                <a:effectLst/>
                <a:latin typeface="Arial" panose="020B0604020202020204" pitchFamily="34" charset="0"/>
                <a:ea typeface="Aptos" panose="020B0004020202020204" pitchFamily="34" charset="0"/>
                <a:cs typeface="Times New Roman" panose="02020603050405020304" pitchFamily="18" charset="0"/>
              </a:rPr>
              <a:t> </a:t>
            </a:r>
            <a:r>
              <a:rPr lang="ar-SA" sz="1800" kern="100">
                <a:effectLst/>
                <a:latin typeface="Arial" panose="020B0604020202020204" pitchFamily="34" charset="0"/>
                <a:ea typeface="Aptos" panose="020B0004020202020204" pitchFamily="34" charset="0"/>
                <a:cs typeface="2  Nazanin" panose="00000400000000000000" pitchFamily="2" charset="-78"/>
              </a:rPr>
              <a:t>پروژه </a:t>
            </a:r>
            <a:r>
              <a:rPr lang="fa-IR" sz="1800" kern="100">
                <a:effectLst/>
                <a:latin typeface="Arial" panose="020B0604020202020204" pitchFamily="34" charset="0"/>
                <a:ea typeface="Aptos" panose="020B0004020202020204" pitchFamily="34" charset="0"/>
                <a:cs typeface="2  Nazanin" panose="00000400000000000000" pitchFamily="2" charset="-78"/>
              </a:rPr>
              <a:t>۶: </a:t>
            </a:r>
            <a:r>
              <a:rPr lang="ar-SA" sz="1800" kern="100">
                <a:effectLst/>
                <a:latin typeface="Arial" panose="020B0604020202020204" pitchFamily="34" charset="0"/>
                <a:ea typeface="Aptos" panose="020B0004020202020204" pitchFamily="34" charset="0"/>
                <a:cs typeface="2  Nazanin" panose="00000400000000000000" pitchFamily="2" charset="-78"/>
              </a:rPr>
              <a:t>ساخت </a:t>
            </a:r>
            <a:r>
              <a:rPr lang="en-US" sz="1800" kern="100">
                <a:effectLst/>
                <a:latin typeface="Arial" panose="020B0604020202020204" pitchFamily="34" charset="0"/>
                <a:ea typeface="Aptos" panose="020B0004020202020204" pitchFamily="34" charset="0"/>
                <a:cs typeface="2  Nazanin" panose="00000400000000000000" pitchFamily="2" charset="-78"/>
              </a:rPr>
              <a:t>GPT</a:t>
            </a:r>
            <a:r>
              <a:rPr lang="en-US" sz="1800" kern="100">
                <a:effectLst/>
                <a:latin typeface="2  Nazanin" panose="00000400000000000000" pitchFamily="2" charset="-78"/>
                <a:ea typeface="Aptos" panose="020B0004020202020204" pitchFamily="34" charset="0"/>
                <a:cs typeface="2  Nazanin" panose="00000400000000000000" pitchFamily="2" charset="-78"/>
              </a:rPr>
              <a:t> </a:t>
            </a:r>
            <a:r>
              <a:rPr lang="fa-IR" sz="1800" kern="100">
                <a:effectLst/>
                <a:latin typeface="2  Nazanin" panose="00000400000000000000" pitchFamily="2" charset="-78"/>
                <a:ea typeface="Aptos" panose="020B0004020202020204" pitchFamily="34" charset="0"/>
                <a:cs typeface="2  Nazanin" panose="00000400000000000000" pitchFamily="2" charset="-78"/>
              </a:rPr>
              <a:t> </a:t>
            </a:r>
            <a:r>
              <a:rPr lang="ar-SA" sz="1800" kern="100">
                <a:effectLst/>
                <a:latin typeface="Arial" panose="020B0604020202020204" pitchFamily="34" charset="0"/>
                <a:ea typeface="Aptos" panose="020B0004020202020204" pitchFamily="34" charset="0"/>
                <a:cs typeface="2  Nazanin" panose="00000400000000000000" pitchFamily="2" charset="-78"/>
              </a:rPr>
              <a:t>داستان‌نویس برای کودکان</a:t>
            </a:r>
            <a:endParaRPr lang="en-US" sz="2000" kern="100">
              <a:effectLst/>
              <a:latin typeface="Arial" panose="020B0604020202020204" pitchFamily="34" charset="0"/>
              <a:ea typeface="Aptos" panose="020B0004020202020204" pitchFamily="34" charset="0"/>
              <a:cs typeface="2  Nazanin" panose="00000400000000000000" pitchFamily="2" charset="-78"/>
            </a:endParaRPr>
          </a:p>
          <a:p>
            <a:pPr algn="r" rtl="1">
              <a:lnSpc>
                <a:spcPct val="115000"/>
              </a:lnSpc>
              <a:spcAft>
                <a:spcPts val="800"/>
              </a:spcAft>
            </a:pPr>
            <a:r>
              <a:rPr lang="fa-IR" sz="1800" kern="100">
                <a:effectLst/>
                <a:latin typeface="Arial" panose="020B0604020202020204" pitchFamily="34" charset="0"/>
                <a:ea typeface="Aptos" panose="020B0004020202020204" pitchFamily="34" charset="0"/>
                <a:cs typeface="Segoe UI Emoji" panose="020B0502040204020203" pitchFamily="34" charset="0"/>
              </a:rPr>
              <a:t>✅</a:t>
            </a:r>
            <a:r>
              <a:rPr lang="fa-IR" sz="1800" kern="100">
                <a:effectLst/>
                <a:latin typeface="Arial" panose="020B0604020202020204" pitchFamily="34" charset="0"/>
                <a:ea typeface="Aptos" panose="020B0004020202020204" pitchFamily="34" charset="0"/>
                <a:cs typeface="2  Nazanin" panose="00000400000000000000" pitchFamily="2" charset="-78"/>
              </a:rPr>
              <a:t> </a:t>
            </a:r>
            <a:r>
              <a:rPr lang="ar-SA" sz="1800" kern="100">
                <a:effectLst/>
                <a:latin typeface="Arial" panose="020B0604020202020204" pitchFamily="34" charset="0"/>
                <a:ea typeface="Aptos" panose="020B0004020202020204" pitchFamily="34" charset="0"/>
                <a:cs typeface="2  Nazanin" panose="00000400000000000000" pitchFamily="2" charset="-78"/>
              </a:rPr>
              <a:t>ابزارهای قابل افزودن به </a:t>
            </a:r>
            <a:r>
              <a:rPr lang="en-US" sz="1800" kern="100">
                <a:effectLst/>
                <a:latin typeface="Arial" panose="020B0604020202020204" pitchFamily="34" charset="0"/>
                <a:ea typeface="Aptos" panose="020B0004020202020204" pitchFamily="34" charset="0"/>
                <a:cs typeface="2  Nazanin" panose="00000400000000000000" pitchFamily="2" charset="-78"/>
              </a:rPr>
              <a:t>GPT</a:t>
            </a:r>
            <a:r>
              <a:rPr lang="en-US" sz="1800" kern="100">
                <a:effectLst/>
                <a:latin typeface="2  Nazanin" panose="00000400000000000000" pitchFamily="2" charset="-78"/>
                <a:ea typeface="Aptos" panose="020B0004020202020204" pitchFamily="34" charset="0"/>
                <a:cs typeface="2  Nazanin" panose="00000400000000000000" pitchFamily="2" charset="-78"/>
              </a:rPr>
              <a:t> </a:t>
            </a:r>
            <a:r>
              <a:rPr lang="fa-IR" sz="1800" kern="100">
                <a:effectLst/>
                <a:latin typeface="2  Nazanin" panose="00000400000000000000" pitchFamily="2" charset="-78"/>
                <a:ea typeface="Aptos" panose="020B0004020202020204" pitchFamily="34" charset="0"/>
                <a:cs typeface="2  Nazanin" panose="00000400000000000000" pitchFamily="2" charset="-78"/>
              </a:rPr>
              <a:t> </a:t>
            </a:r>
            <a:r>
              <a:rPr lang="ar-SA" sz="1800" kern="100">
                <a:effectLst/>
                <a:latin typeface="Arial" panose="020B0604020202020204" pitchFamily="34" charset="0"/>
                <a:ea typeface="Aptos" panose="020B0004020202020204" pitchFamily="34" charset="0"/>
                <a:cs typeface="2  Nazanin" panose="00000400000000000000" pitchFamily="2" charset="-78"/>
              </a:rPr>
              <a:t>سفارشی</a:t>
            </a:r>
            <a:r>
              <a:rPr lang="fa-IR" sz="1800" kern="100">
                <a:effectLst/>
                <a:latin typeface="Arial" panose="020B0604020202020204" pitchFamily="34" charset="0"/>
                <a:ea typeface="Aptos" panose="020B0004020202020204" pitchFamily="34" charset="0"/>
                <a:cs typeface="2  Nazanin" panose="00000400000000000000" pitchFamily="2" charset="-78"/>
              </a:rPr>
              <a:t>:</a:t>
            </a:r>
            <a:endParaRPr lang="en-US" sz="2000" kern="100">
              <a:effectLst/>
              <a:latin typeface="Arial" panose="020B0604020202020204" pitchFamily="34" charset="0"/>
              <a:ea typeface="Aptos" panose="020B0004020202020204" pitchFamily="34" charset="0"/>
              <a:cs typeface="2  Nazanin" panose="00000400000000000000" pitchFamily="2" charset="-78"/>
            </a:endParaRPr>
          </a:p>
        </p:txBody>
      </p:sp>
      <p:graphicFrame>
        <p:nvGraphicFramePr>
          <p:cNvPr id="6" name="Table 5">
            <a:extLst>
              <a:ext uri="{FF2B5EF4-FFF2-40B4-BE49-F238E27FC236}">
                <a16:creationId xmlns:a16="http://schemas.microsoft.com/office/drawing/2014/main" id="{691851E4-EEF5-0774-782B-DBEF988640A3}"/>
              </a:ext>
            </a:extLst>
          </p:cNvPr>
          <p:cNvGraphicFramePr>
            <a:graphicFrameLocks noGrp="1"/>
          </p:cNvGraphicFramePr>
          <p:nvPr>
            <p:extLst>
              <p:ext uri="{D42A27DB-BD31-4B8C-83A1-F6EECF244321}">
                <p14:modId xmlns:p14="http://schemas.microsoft.com/office/powerpoint/2010/main" val="3450837506"/>
              </p:ext>
            </p:extLst>
          </p:nvPr>
        </p:nvGraphicFramePr>
        <p:xfrm>
          <a:off x="1797268" y="3912762"/>
          <a:ext cx="6560426" cy="2516587"/>
        </p:xfrm>
        <a:graphic>
          <a:graphicData uri="http://schemas.openxmlformats.org/drawingml/2006/table">
            <a:tbl>
              <a:tblPr rtl="1" firstRow="1" firstCol="1" bandRow="1">
                <a:tableStyleId>{5C22544A-7EE6-4342-B048-85BDC9FD1C3A}</a:tableStyleId>
              </a:tblPr>
              <a:tblGrid>
                <a:gridCol w="3280213">
                  <a:extLst>
                    <a:ext uri="{9D8B030D-6E8A-4147-A177-3AD203B41FA5}">
                      <a16:colId xmlns:a16="http://schemas.microsoft.com/office/drawing/2014/main" val="3243985945"/>
                    </a:ext>
                  </a:extLst>
                </a:gridCol>
                <a:gridCol w="3280213">
                  <a:extLst>
                    <a:ext uri="{9D8B030D-6E8A-4147-A177-3AD203B41FA5}">
                      <a16:colId xmlns:a16="http://schemas.microsoft.com/office/drawing/2014/main" val="1859831333"/>
                    </a:ext>
                  </a:extLst>
                </a:gridCol>
              </a:tblGrid>
              <a:tr h="494347">
                <a:tc>
                  <a:txBody>
                    <a:bodyPr/>
                    <a:lstStyle/>
                    <a:p>
                      <a:pPr algn="ctr" rtl="1">
                        <a:lnSpc>
                          <a:spcPct val="115000"/>
                        </a:lnSpc>
                        <a:spcAft>
                          <a:spcPts val="800"/>
                        </a:spcAft>
                        <a:buNone/>
                      </a:pPr>
                      <a:r>
                        <a:rPr lang="ar-SA" sz="1800" kern="100">
                          <a:effectLst/>
                        </a:rPr>
                        <a:t>ابزار</a:t>
                      </a:r>
                      <a:endParaRPr lang="en-US" sz="1800" kern="100">
                        <a:effectLst/>
                        <a:latin typeface="Arial" panose="020B0604020202020204" pitchFamily="34" charset="0"/>
                        <a:ea typeface="Aptos" panose="020B0004020202020204" pitchFamily="34" charset="0"/>
                        <a:cs typeface="2  Nazanin" panose="00000400000000000000" pitchFamily="2" charset="-78"/>
                      </a:endParaRPr>
                    </a:p>
                  </a:txBody>
                  <a:tcPr marL="68580" marR="68580" marT="0" marB="0"/>
                </a:tc>
                <a:tc>
                  <a:txBody>
                    <a:bodyPr/>
                    <a:lstStyle/>
                    <a:p>
                      <a:pPr algn="ctr" rtl="1">
                        <a:lnSpc>
                          <a:spcPct val="115000"/>
                        </a:lnSpc>
                        <a:spcAft>
                          <a:spcPts val="800"/>
                        </a:spcAft>
                        <a:buNone/>
                      </a:pPr>
                      <a:r>
                        <a:rPr lang="ar-SA" sz="1800" kern="100">
                          <a:effectLst/>
                        </a:rPr>
                        <a:t>کاربرد</a:t>
                      </a:r>
                      <a:endParaRPr lang="en-US" sz="1800" kern="100">
                        <a:effectLst/>
                        <a:latin typeface="Arial" panose="020B0604020202020204" pitchFamily="34" charset="0"/>
                        <a:ea typeface="Aptos" panose="020B0004020202020204" pitchFamily="34" charset="0"/>
                        <a:cs typeface="2  Nazanin" panose="00000400000000000000" pitchFamily="2" charset="-78"/>
                      </a:endParaRPr>
                    </a:p>
                  </a:txBody>
                  <a:tcPr marL="68580" marR="68580" marT="0" marB="0"/>
                </a:tc>
                <a:extLst>
                  <a:ext uri="{0D108BD9-81ED-4DB2-BD59-A6C34878D82A}">
                    <a16:rowId xmlns:a16="http://schemas.microsoft.com/office/drawing/2014/main" val="652003197"/>
                  </a:ext>
                </a:extLst>
              </a:tr>
              <a:tr h="505560">
                <a:tc>
                  <a:txBody>
                    <a:bodyPr/>
                    <a:lstStyle/>
                    <a:p>
                      <a:pPr algn="ctr" rtl="1">
                        <a:lnSpc>
                          <a:spcPct val="115000"/>
                        </a:lnSpc>
                        <a:spcAft>
                          <a:spcPts val="800"/>
                        </a:spcAft>
                        <a:buNone/>
                      </a:pPr>
                      <a:r>
                        <a:rPr lang="en-US" sz="1800" kern="100">
                          <a:effectLst/>
                        </a:rPr>
                        <a:t>Python</a:t>
                      </a:r>
                      <a:endParaRPr lang="en-US" sz="1800" kern="100">
                        <a:effectLst/>
                        <a:latin typeface="Arial" panose="020B0604020202020204" pitchFamily="34" charset="0"/>
                        <a:ea typeface="Aptos" panose="020B0004020202020204" pitchFamily="34" charset="0"/>
                        <a:cs typeface="2  Nazanin" panose="00000400000000000000" pitchFamily="2" charset="-78"/>
                      </a:endParaRPr>
                    </a:p>
                  </a:txBody>
                  <a:tcPr marL="68580" marR="68580" marT="0" marB="0"/>
                </a:tc>
                <a:tc>
                  <a:txBody>
                    <a:bodyPr/>
                    <a:lstStyle/>
                    <a:p>
                      <a:pPr algn="ctr" rtl="1">
                        <a:lnSpc>
                          <a:spcPct val="115000"/>
                        </a:lnSpc>
                        <a:spcAft>
                          <a:spcPts val="800"/>
                        </a:spcAft>
                        <a:buNone/>
                      </a:pPr>
                      <a:r>
                        <a:rPr lang="ar-SA" sz="1800" kern="100">
                          <a:effectLst/>
                        </a:rPr>
                        <a:t>اجرای کد و تحلیل داده</a:t>
                      </a:r>
                      <a:endParaRPr lang="en-US" sz="1800" kern="100">
                        <a:effectLst/>
                        <a:latin typeface="Arial" panose="020B0604020202020204" pitchFamily="34" charset="0"/>
                        <a:ea typeface="Aptos" panose="020B0004020202020204" pitchFamily="34" charset="0"/>
                        <a:cs typeface="2  Nazanin" panose="00000400000000000000" pitchFamily="2" charset="-78"/>
                      </a:endParaRPr>
                    </a:p>
                  </a:txBody>
                  <a:tcPr marL="68580" marR="68580" marT="0" marB="0"/>
                </a:tc>
                <a:extLst>
                  <a:ext uri="{0D108BD9-81ED-4DB2-BD59-A6C34878D82A}">
                    <a16:rowId xmlns:a16="http://schemas.microsoft.com/office/drawing/2014/main" val="3238391195"/>
                  </a:ext>
                </a:extLst>
              </a:tr>
              <a:tr h="505560">
                <a:tc>
                  <a:txBody>
                    <a:bodyPr/>
                    <a:lstStyle/>
                    <a:p>
                      <a:pPr algn="ctr" rtl="1">
                        <a:lnSpc>
                          <a:spcPct val="115000"/>
                        </a:lnSpc>
                        <a:spcAft>
                          <a:spcPts val="800"/>
                        </a:spcAft>
                        <a:buNone/>
                      </a:pPr>
                      <a:r>
                        <a:rPr lang="en-US" sz="1800" kern="100">
                          <a:effectLst/>
                        </a:rPr>
                        <a:t>DALL·E</a:t>
                      </a:r>
                      <a:endParaRPr lang="en-US" sz="1800" kern="100">
                        <a:effectLst/>
                        <a:latin typeface="Arial" panose="020B0604020202020204" pitchFamily="34" charset="0"/>
                        <a:ea typeface="Aptos" panose="020B0004020202020204" pitchFamily="34" charset="0"/>
                        <a:cs typeface="2  Nazanin" panose="00000400000000000000" pitchFamily="2" charset="-78"/>
                      </a:endParaRPr>
                    </a:p>
                  </a:txBody>
                  <a:tcPr marL="68580" marR="68580" marT="0" marB="0"/>
                </a:tc>
                <a:tc>
                  <a:txBody>
                    <a:bodyPr/>
                    <a:lstStyle/>
                    <a:p>
                      <a:pPr algn="ctr" rtl="1">
                        <a:lnSpc>
                          <a:spcPct val="115000"/>
                        </a:lnSpc>
                        <a:spcAft>
                          <a:spcPts val="800"/>
                        </a:spcAft>
                        <a:buNone/>
                      </a:pPr>
                      <a:r>
                        <a:rPr lang="ar-SA" sz="1800" kern="100">
                          <a:effectLst/>
                        </a:rPr>
                        <a:t>ساخت تصویر از روی متن</a:t>
                      </a:r>
                      <a:endParaRPr lang="en-US" sz="1800" kern="100">
                        <a:effectLst/>
                        <a:latin typeface="Arial" panose="020B0604020202020204" pitchFamily="34" charset="0"/>
                        <a:ea typeface="Aptos" panose="020B0004020202020204" pitchFamily="34" charset="0"/>
                        <a:cs typeface="2  Nazanin" panose="00000400000000000000" pitchFamily="2" charset="-78"/>
                      </a:endParaRPr>
                    </a:p>
                  </a:txBody>
                  <a:tcPr marL="68580" marR="68580" marT="0" marB="0"/>
                </a:tc>
                <a:extLst>
                  <a:ext uri="{0D108BD9-81ED-4DB2-BD59-A6C34878D82A}">
                    <a16:rowId xmlns:a16="http://schemas.microsoft.com/office/drawing/2014/main" val="1463960147"/>
                  </a:ext>
                </a:extLst>
              </a:tr>
              <a:tr h="505560">
                <a:tc>
                  <a:txBody>
                    <a:bodyPr/>
                    <a:lstStyle/>
                    <a:p>
                      <a:pPr algn="ctr" rtl="1">
                        <a:lnSpc>
                          <a:spcPct val="115000"/>
                        </a:lnSpc>
                        <a:spcAft>
                          <a:spcPts val="800"/>
                        </a:spcAft>
                        <a:buNone/>
                      </a:pPr>
                      <a:r>
                        <a:rPr lang="en-US" sz="1800" kern="100">
                          <a:effectLst/>
                        </a:rPr>
                        <a:t>Browser</a:t>
                      </a:r>
                      <a:endParaRPr lang="en-US" sz="1800" kern="100">
                        <a:effectLst/>
                        <a:latin typeface="Arial" panose="020B0604020202020204" pitchFamily="34" charset="0"/>
                        <a:ea typeface="Aptos" panose="020B0004020202020204" pitchFamily="34" charset="0"/>
                        <a:cs typeface="2  Nazanin" panose="00000400000000000000" pitchFamily="2" charset="-78"/>
                      </a:endParaRPr>
                    </a:p>
                  </a:txBody>
                  <a:tcPr marL="68580" marR="68580" marT="0" marB="0"/>
                </a:tc>
                <a:tc>
                  <a:txBody>
                    <a:bodyPr/>
                    <a:lstStyle/>
                    <a:p>
                      <a:pPr algn="ctr" rtl="1">
                        <a:lnSpc>
                          <a:spcPct val="115000"/>
                        </a:lnSpc>
                        <a:spcAft>
                          <a:spcPts val="800"/>
                        </a:spcAft>
                        <a:buNone/>
                      </a:pPr>
                      <a:r>
                        <a:rPr lang="ar-SA" sz="1800" kern="100">
                          <a:effectLst/>
                        </a:rPr>
                        <a:t>جست‌وجوی اطلاعات جدید</a:t>
                      </a:r>
                      <a:endParaRPr lang="en-US" sz="1800" kern="100">
                        <a:effectLst/>
                        <a:latin typeface="Arial" panose="020B0604020202020204" pitchFamily="34" charset="0"/>
                        <a:ea typeface="Aptos" panose="020B0004020202020204" pitchFamily="34" charset="0"/>
                        <a:cs typeface="2  Nazanin" panose="00000400000000000000" pitchFamily="2" charset="-78"/>
                      </a:endParaRPr>
                    </a:p>
                  </a:txBody>
                  <a:tcPr marL="68580" marR="68580" marT="0" marB="0"/>
                </a:tc>
                <a:extLst>
                  <a:ext uri="{0D108BD9-81ED-4DB2-BD59-A6C34878D82A}">
                    <a16:rowId xmlns:a16="http://schemas.microsoft.com/office/drawing/2014/main" val="707170196"/>
                  </a:ext>
                </a:extLst>
              </a:tr>
              <a:tr h="505560">
                <a:tc>
                  <a:txBody>
                    <a:bodyPr/>
                    <a:lstStyle/>
                    <a:p>
                      <a:pPr algn="ctr" rtl="1">
                        <a:lnSpc>
                          <a:spcPct val="115000"/>
                        </a:lnSpc>
                        <a:spcAft>
                          <a:spcPts val="800"/>
                        </a:spcAft>
                        <a:buNone/>
                      </a:pPr>
                      <a:r>
                        <a:rPr lang="en-US" sz="1800" kern="100">
                          <a:effectLst/>
                        </a:rPr>
                        <a:t>Code interpreter</a:t>
                      </a:r>
                      <a:endParaRPr lang="en-US" sz="1800" kern="100">
                        <a:effectLst/>
                        <a:latin typeface="Arial" panose="020B0604020202020204" pitchFamily="34" charset="0"/>
                        <a:ea typeface="Aptos" panose="020B0004020202020204" pitchFamily="34" charset="0"/>
                        <a:cs typeface="2  Nazanin" panose="00000400000000000000" pitchFamily="2" charset="-78"/>
                      </a:endParaRPr>
                    </a:p>
                  </a:txBody>
                  <a:tcPr marL="68580" marR="68580" marT="0" marB="0"/>
                </a:tc>
                <a:tc>
                  <a:txBody>
                    <a:bodyPr/>
                    <a:lstStyle/>
                    <a:p>
                      <a:pPr algn="ctr" rtl="1">
                        <a:lnSpc>
                          <a:spcPct val="115000"/>
                        </a:lnSpc>
                        <a:spcAft>
                          <a:spcPts val="800"/>
                        </a:spcAft>
                        <a:buNone/>
                      </a:pPr>
                      <a:r>
                        <a:rPr lang="ar-SA" sz="1800" kern="100">
                          <a:effectLst/>
                        </a:rPr>
                        <a:t>تحلیل داده‌ها، رسم نمودار، فایل‌های </a:t>
                      </a:r>
                      <a:r>
                        <a:rPr lang="en-US" sz="1800" kern="100">
                          <a:effectLst/>
                        </a:rPr>
                        <a:t>CSV</a:t>
                      </a:r>
                      <a:endParaRPr lang="en-US" sz="1800" kern="100">
                        <a:effectLst/>
                        <a:latin typeface="Arial" panose="020B0604020202020204" pitchFamily="34" charset="0"/>
                        <a:ea typeface="Aptos" panose="020B0004020202020204" pitchFamily="34" charset="0"/>
                        <a:cs typeface="2  Nazanin" panose="00000400000000000000" pitchFamily="2" charset="-78"/>
                      </a:endParaRPr>
                    </a:p>
                  </a:txBody>
                  <a:tcPr marL="68580" marR="68580" marT="0" marB="0"/>
                </a:tc>
                <a:extLst>
                  <a:ext uri="{0D108BD9-81ED-4DB2-BD59-A6C34878D82A}">
                    <a16:rowId xmlns:a16="http://schemas.microsoft.com/office/drawing/2014/main" val="3360780511"/>
                  </a:ext>
                </a:extLst>
              </a:tr>
            </a:tbl>
          </a:graphicData>
        </a:graphic>
      </p:graphicFrame>
      <p:sp>
        <p:nvSpPr>
          <p:cNvPr id="3" name="TextBox 2">
            <a:extLst>
              <a:ext uri="{FF2B5EF4-FFF2-40B4-BE49-F238E27FC236}">
                <a16:creationId xmlns:a16="http://schemas.microsoft.com/office/drawing/2014/main" id="{BB3FBDD1-C9D6-C7E6-D59C-04FBDFA1380C}"/>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69</a:t>
            </a:r>
            <a:endParaRPr lang="fa-IR" sz="1200"/>
          </a:p>
        </p:txBody>
      </p:sp>
    </p:spTree>
    <p:extLst>
      <p:ext uri="{BB962C8B-B14F-4D97-AF65-F5344CB8AC3E}">
        <p14:creationId xmlns:p14="http://schemas.microsoft.com/office/powerpoint/2010/main" val="2226478343"/>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29AF8C"/>
      </a:accent1>
      <a:accent2>
        <a:srgbClr val="97BE49"/>
      </a:accent2>
      <a:accent3>
        <a:srgbClr val="3D9CCC"/>
      </a:accent3>
      <a:accent4>
        <a:srgbClr val="7C60C6"/>
      </a:accent4>
      <a:accent5>
        <a:srgbClr val="C9492C"/>
      </a:accent5>
      <a:accent6>
        <a:srgbClr val="D58C2E"/>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3E4F19A7-A959-40BB-972C-4880BAF8EB0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2258</TotalTime>
  <Words>6577</Words>
  <Application>Microsoft Office PowerPoint</Application>
  <PresentationFormat>On-screen Show (4:3)</PresentationFormat>
  <Paragraphs>903</Paragraphs>
  <Slides>69</Slides>
  <Notes>2</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69</vt:i4>
      </vt:variant>
    </vt:vector>
  </HeadingPairs>
  <TitlesOfParts>
    <vt:vector size="83" baseType="lpstr">
      <vt:lpstr>2  Nazanin</vt:lpstr>
      <vt:lpstr>2  Titr</vt:lpstr>
      <vt:lpstr>Aptos</vt:lpstr>
      <vt:lpstr>Arial</vt:lpstr>
      <vt:lpstr>Arial Black</vt:lpstr>
      <vt:lpstr>Calibri</vt:lpstr>
      <vt:lpstr>Calibri Light</vt:lpstr>
      <vt:lpstr>Google Sans</vt:lpstr>
      <vt:lpstr>Nazanin</vt:lpstr>
      <vt:lpstr>Symbol</vt:lpstr>
      <vt:lpstr>Times New Roman</vt:lpstr>
      <vt:lpstr>Titr</vt:lpstr>
      <vt:lpstr>Wingdings</vt:lpstr>
      <vt:lpstr>Office 2013 - 2022 Theme</vt:lpstr>
      <vt:lpstr>ابزارهای هوش مصنوعی مولد برای آموزش مربیان</vt:lpstr>
      <vt:lpstr>⚠️ این اطلاعات را هرگز با چت‌بات‌ها به اشتراک نگذارید!</vt:lpstr>
      <vt:lpstr>پیش‌نیازهای استفاده از ابزارهای هوش مصنوعی مولد</vt:lpstr>
      <vt:lpstr>افزونه‌های هوشمند برای مرورگر</vt:lpstr>
      <vt:lpstr>ابزارهای تبدیل گفتار به متن و ترجمه</vt:lpstr>
      <vt:lpstr>PowerPoint Presentation</vt:lpstr>
      <vt:lpstr>ابزارهای یادداشت‌برداری و مزرعه نکات</vt:lpstr>
      <vt:lpstr>PowerPoint Presentation</vt:lpstr>
      <vt:lpstr>PowerPoint Presentation</vt:lpstr>
      <vt:lpstr>توصیه‌هایی برای تدریس AI-ICDL در عصر</vt:lpstr>
      <vt:lpstr>افزودنی‌های MS-Word را دریابید!</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ابزارهای هوش مصنوعی در گوشی یا لپ‌تاپ</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مهندسی درخواست (Prompt Engineering)</vt:lpstr>
      <vt:lpstr>مهندسی درخواست (Prompt Engineering)</vt:lpstr>
      <vt:lpstr>مهندسی درخواست (Prompt Engineering)</vt:lpstr>
      <vt:lpstr>مهندسی درخواست</vt:lpstr>
      <vt:lpstr>مهندسی درخواست</vt:lpstr>
      <vt:lpstr>مهندسی درخواست</vt:lpstr>
      <vt:lpstr>مهندسی درخواست</vt:lpstr>
      <vt:lpstr>مهندسی درخواست</vt:lpstr>
      <vt:lpstr>مهندسی درخواست</vt:lpstr>
      <vt:lpstr>مهندسی درخواست</vt:lpstr>
      <vt:lpstr>مهندسی درخواست</vt:lpstr>
      <vt:lpstr>مهندسی درخواست</vt:lpstr>
      <vt:lpstr>مهندسی درخواست</vt:lpstr>
      <vt:lpstr>مهندسی درخواست</vt:lpstr>
      <vt:lpstr>مهندسی درخواست</vt:lpstr>
      <vt:lpstr>PowerPoint Presentation</vt:lpstr>
      <vt:lpstr>مهندسی درخواست</vt:lpstr>
      <vt:lpstr>مهندسی درخواست</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Tirotir</dc:creator>
  <cp:keywords/>
  <dc:description>generated using python-pptx</dc:description>
  <cp:lastModifiedBy>Jazireh</cp:lastModifiedBy>
  <cp:revision>196</cp:revision>
  <dcterms:created xsi:type="dcterms:W3CDTF">2013-01-27T09:14:16Z</dcterms:created>
  <dcterms:modified xsi:type="dcterms:W3CDTF">2025-09-15T11:56:42Z</dcterms:modified>
  <cp:category/>
</cp:coreProperties>
</file>